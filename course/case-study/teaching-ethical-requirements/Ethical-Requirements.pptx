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48" r:id="rId5"/>
    <p:sldMasterId id="2147483665" r:id="rId6"/>
    <p:sldMasterId id="2147483681"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 id="285" r:id="rId38"/>
    <p:sldId id="286" r:id="rId39"/>
    <p:sldId id="287" r:id="rId40"/>
    <p:sldId id="288" r:id="rId41"/>
    <p:sldId id="289" r:id="rId42"/>
    <p:sldId id="290" r:id="rId43"/>
    <p:sldId id="291" r:id="rId44"/>
    <p:sldId id="292" r:id="rId45"/>
    <p:sldId id="293" r:id="rId46"/>
    <p:sldId id="294" r:id="rId47"/>
    <p:sldId id="295" r:id="rId48"/>
    <p:sldId id="296" r:id="rId49"/>
    <p:sldId id="297" r:id="rId50"/>
    <p:sldId id="298" r:id="rId51"/>
    <p:sldId id="299" r:id="rId52"/>
    <p:sldId id="300" r:id="rId53"/>
    <p:sldId id="301" r:id="rId54"/>
    <p:sldId id="302" r:id="rId55"/>
    <p:sldId id="303" r:id="rId56"/>
    <p:sldId id="304" r:id="rId57"/>
    <p:sldId id="305" r:id="rId58"/>
    <p:sldId id="306" r:id="rId59"/>
    <p:sldId id="307" r:id="rId60"/>
    <p:sldId id="308" r:id="rId61"/>
    <p:sldId id="309" r:id="rId62"/>
    <p:sldId id="310" r:id="rId63"/>
    <p:sldId id="311" r:id="rId64"/>
    <p:sldId id="312" r:id="rId65"/>
    <p:sldId id="313" r:id="rId66"/>
    <p:sldId id="314" r:id="rId67"/>
    <p:sldId id="315" r:id="rId68"/>
    <p:sldId id="316" r:id="rId69"/>
    <p:sldId id="317" r:id="rId70"/>
    <p:sldId id="318" r:id="rId71"/>
    <p:sldId id="319" r:id="rId72"/>
    <p:sldId id="320" r:id="rId73"/>
    <p:sldId id="321" r:id="rId74"/>
  </p:sldIdLst>
  <p:sldSz cy="6858000" cx="9906000"/>
  <p:notesSz cx="7099300" cy="10234600"/>
  <p:embeddedFontLst>
    <p:embeddedFont>
      <p:font typeface="Arial Black"/>
      <p:regular r:id="rId7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120">
          <p15:clr>
            <a:srgbClr val="A4A3A4"/>
          </p15:clr>
        </p15:guide>
      </p15:sldGuideLst>
    </p:ext>
    <p:ext uri="{2D200454-40CA-4A62-9FC3-DE9A4176ACB9}">
      <p15:notesGuideLst>
        <p15:guide id="1" orient="horz" pos="3223">
          <p15:clr>
            <a:srgbClr val="A4A3A4"/>
          </p15:clr>
        </p15:guide>
        <p15:guide id="2" pos="2236">
          <p15:clr>
            <a:srgbClr val="A4A3A4"/>
          </p15:clr>
        </p15:guide>
      </p15:notesGuideLst>
    </p:ext>
    <p:ext uri="GoogleSlidesCustomDataVersion2">
      <go:slidesCustomData xmlns:go="http://customooxmlschemas.google.com/" r:id="rId76" roundtripDataSignature="AMtx7miwyk10VEC4FmLVSwZecKW0XmUn/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0916073-6137-4BFC-AC2B-91BFF95D4831}">
  <a:tblStyle styleId="{50916073-6137-4BFC-AC2B-91BFF95D4831}"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3CD9C4C2-9404-43FE-B6C3-7E77CC52F599}" styleName="Table_1">
    <a:wholeTbl>
      <a:tcTxStyle>
        <a:font>
          <a:latin typeface="Arial"/>
          <a:ea typeface="Arial"/>
          <a:cs typeface="Arial"/>
        </a:font>
        <a:srgbClr val="000000"/>
      </a:tcTxStyle>
      <a:tcStyle>
        <a:tcBdr>
          <a:left>
            <a:ln cap="flat" cmpd="sng" w="12700">
              <a:solidFill>
                <a:srgbClr val="000000"/>
              </a:solidFill>
              <a:prstDash val="solid"/>
              <a:round/>
              <a:headEnd len="sm" w="sm" type="none"/>
              <a:tailEnd len="sm" w="sm" type="none"/>
            </a:ln>
          </a:left>
          <a:right>
            <a:ln cap="flat" cmpd="sng" w="12700">
              <a:solidFill>
                <a:srgbClr val="000000"/>
              </a:solidFill>
              <a:prstDash val="solid"/>
              <a:round/>
              <a:headEnd len="sm" w="sm" type="none"/>
              <a:tailEnd len="sm" w="sm" type="none"/>
            </a:ln>
          </a:right>
          <a:top>
            <a:ln cap="flat" cmpd="sng" w="12700">
              <a:solidFill>
                <a:srgbClr val="000000"/>
              </a:solidFill>
              <a:prstDash val="solid"/>
              <a:round/>
              <a:headEnd len="sm" w="sm" type="none"/>
              <a:tailEnd len="sm" w="sm" type="none"/>
            </a:ln>
          </a:top>
          <a:bottom>
            <a:ln cap="flat" cmpd="sng" w="12700">
              <a:solidFill>
                <a:srgbClr val="000000"/>
              </a:solidFill>
              <a:prstDash val="solid"/>
              <a:round/>
              <a:headEnd len="sm" w="sm" type="none"/>
              <a:tailEnd len="sm" w="sm" type="none"/>
            </a:ln>
          </a:bottom>
          <a:insideH>
            <a:ln cap="flat" cmpd="sng" w="12700">
              <a:solidFill>
                <a:srgbClr val="000000"/>
              </a:solidFill>
              <a:prstDash val="solid"/>
              <a:round/>
              <a:headEnd len="sm" w="sm" type="none"/>
              <a:tailEnd len="sm" w="sm" type="none"/>
            </a:ln>
          </a:insideH>
          <a:insideV>
            <a:ln cap="flat" cmpd="sng" w="12700">
              <a:solidFill>
                <a:srgbClr val="000000"/>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2736B423-FCC7-43BB-9A58-3EA48F6894B7}" styleName="Table_2">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120"/>
      </p:guideLst>
    </p:cSldViewPr>
  </p:slideViewPr>
  <p:notesViewPr>
    <p:cSldViewPr snapToGrid="0">
      <p:cViewPr varScale="1">
        <p:scale>
          <a:sx n="100" d="100"/>
          <a:sy n="100" d="100"/>
        </p:scale>
        <p:origin x="0" y="0"/>
      </p:cViewPr>
      <p:guideLst>
        <p:guide pos="3223" orient="horz"/>
        <p:guide pos="2236"/>
      </p:guideLst>
    </p:cSldViewPr>
  </p:notesViewPr>
</p:viewPr>
</file>

<file path=ppt/_rels/presentation.xml.rels><?xml version="1.0" encoding="UTF-8" standalone="yes"?><Relationships xmlns="http://schemas.openxmlformats.org/package/2006/relationships"><Relationship Id="rId40" Type="http://schemas.openxmlformats.org/officeDocument/2006/relationships/slide" Target="slides/slide32.xml"/><Relationship Id="rId42" Type="http://schemas.openxmlformats.org/officeDocument/2006/relationships/slide" Target="slides/slide34.xml"/><Relationship Id="rId41" Type="http://schemas.openxmlformats.org/officeDocument/2006/relationships/slide" Target="slides/slide33.xml"/><Relationship Id="rId44" Type="http://schemas.openxmlformats.org/officeDocument/2006/relationships/slide" Target="slides/slide36.xml"/><Relationship Id="rId43" Type="http://schemas.openxmlformats.org/officeDocument/2006/relationships/slide" Target="slides/slide35.xml"/><Relationship Id="rId46" Type="http://schemas.openxmlformats.org/officeDocument/2006/relationships/slide" Target="slides/slide38.xml"/><Relationship Id="rId45" Type="http://schemas.openxmlformats.org/officeDocument/2006/relationships/slide" Target="slides/slide3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1.xml"/><Relationship Id="rId48" Type="http://schemas.openxmlformats.org/officeDocument/2006/relationships/slide" Target="slides/slide40.xml"/><Relationship Id="rId47" Type="http://schemas.openxmlformats.org/officeDocument/2006/relationships/slide" Target="slides/slide39.xml"/><Relationship Id="rId49" Type="http://schemas.openxmlformats.org/officeDocument/2006/relationships/slide" Target="slides/slide41.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slideMaster" Target="slideMasters/slideMaster3.xml"/><Relationship Id="rId8" Type="http://schemas.openxmlformats.org/officeDocument/2006/relationships/notesMaster" Target="notesMasters/notesMaster1.xml"/><Relationship Id="rId73" Type="http://schemas.openxmlformats.org/officeDocument/2006/relationships/slide" Target="slides/slide65.xml"/><Relationship Id="rId72" Type="http://schemas.openxmlformats.org/officeDocument/2006/relationships/slide" Target="slides/slide64.xml"/><Relationship Id="rId31" Type="http://schemas.openxmlformats.org/officeDocument/2006/relationships/slide" Target="slides/slide23.xml"/><Relationship Id="rId75" Type="http://schemas.openxmlformats.org/officeDocument/2006/relationships/font" Target="fonts/ArialBlack-regular.fntdata"/><Relationship Id="rId30" Type="http://schemas.openxmlformats.org/officeDocument/2006/relationships/slide" Target="slides/slide22.xml"/><Relationship Id="rId74" Type="http://schemas.openxmlformats.org/officeDocument/2006/relationships/slide" Target="slides/slide66.xml"/><Relationship Id="rId33" Type="http://schemas.openxmlformats.org/officeDocument/2006/relationships/slide" Target="slides/slide25.xml"/><Relationship Id="rId32" Type="http://schemas.openxmlformats.org/officeDocument/2006/relationships/slide" Target="slides/slide24.xml"/><Relationship Id="rId76" Type="http://customschemas.google.com/relationships/presentationmetadata" Target="metadata"/><Relationship Id="rId35" Type="http://schemas.openxmlformats.org/officeDocument/2006/relationships/slide" Target="slides/slide27.xml"/><Relationship Id="rId34" Type="http://schemas.openxmlformats.org/officeDocument/2006/relationships/slide" Target="slides/slide26.xml"/><Relationship Id="rId71" Type="http://schemas.openxmlformats.org/officeDocument/2006/relationships/slide" Target="slides/slide63.xml"/><Relationship Id="rId70" Type="http://schemas.openxmlformats.org/officeDocument/2006/relationships/slide" Target="slides/slide62.xml"/><Relationship Id="rId37" Type="http://schemas.openxmlformats.org/officeDocument/2006/relationships/slide" Target="slides/slide29.xml"/><Relationship Id="rId36" Type="http://schemas.openxmlformats.org/officeDocument/2006/relationships/slide" Target="slides/slide28.xml"/><Relationship Id="rId39" Type="http://schemas.openxmlformats.org/officeDocument/2006/relationships/slide" Target="slides/slide31.xml"/><Relationship Id="rId38" Type="http://schemas.openxmlformats.org/officeDocument/2006/relationships/slide" Target="slides/slide30.xml"/><Relationship Id="rId62" Type="http://schemas.openxmlformats.org/officeDocument/2006/relationships/slide" Target="slides/slide54.xml"/><Relationship Id="rId61" Type="http://schemas.openxmlformats.org/officeDocument/2006/relationships/slide" Target="slides/slide53.xml"/><Relationship Id="rId20" Type="http://schemas.openxmlformats.org/officeDocument/2006/relationships/slide" Target="slides/slide12.xml"/><Relationship Id="rId64" Type="http://schemas.openxmlformats.org/officeDocument/2006/relationships/slide" Target="slides/slide56.xml"/><Relationship Id="rId63" Type="http://schemas.openxmlformats.org/officeDocument/2006/relationships/slide" Target="slides/slide55.xml"/><Relationship Id="rId22" Type="http://schemas.openxmlformats.org/officeDocument/2006/relationships/slide" Target="slides/slide14.xml"/><Relationship Id="rId66" Type="http://schemas.openxmlformats.org/officeDocument/2006/relationships/slide" Target="slides/slide58.xml"/><Relationship Id="rId21" Type="http://schemas.openxmlformats.org/officeDocument/2006/relationships/slide" Target="slides/slide13.xml"/><Relationship Id="rId65" Type="http://schemas.openxmlformats.org/officeDocument/2006/relationships/slide" Target="slides/slide57.xml"/><Relationship Id="rId24" Type="http://schemas.openxmlformats.org/officeDocument/2006/relationships/slide" Target="slides/slide16.xml"/><Relationship Id="rId68" Type="http://schemas.openxmlformats.org/officeDocument/2006/relationships/slide" Target="slides/slide60.xml"/><Relationship Id="rId23" Type="http://schemas.openxmlformats.org/officeDocument/2006/relationships/slide" Target="slides/slide15.xml"/><Relationship Id="rId67" Type="http://schemas.openxmlformats.org/officeDocument/2006/relationships/slide" Target="slides/slide59.xml"/><Relationship Id="rId60" Type="http://schemas.openxmlformats.org/officeDocument/2006/relationships/slide" Target="slides/slide52.xml"/><Relationship Id="rId26" Type="http://schemas.openxmlformats.org/officeDocument/2006/relationships/slide" Target="slides/slide18.xml"/><Relationship Id="rId25" Type="http://schemas.openxmlformats.org/officeDocument/2006/relationships/slide" Target="slides/slide17.xml"/><Relationship Id="rId69" Type="http://schemas.openxmlformats.org/officeDocument/2006/relationships/slide" Target="slides/slide61.xml"/><Relationship Id="rId28" Type="http://schemas.openxmlformats.org/officeDocument/2006/relationships/slide" Target="slides/slide20.xml"/><Relationship Id="rId27" Type="http://schemas.openxmlformats.org/officeDocument/2006/relationships/slide" Target="slides/slide19.xml"/><Relationship Id="rId29" Type="http://schemas.openxmlformats.org/officeDocument/2006/relationships/slide" Target="slides/slide21.xml"/><Relationship Id="rId51" Type="http://schemas.openxmlformats.org/officeDocument/2006/relationships/slide" Target="slides/slide43.xml"/><Relationship Id="rId50" Type="http://schemas.openxmlformats.org/officeDocument/2006/relationships/slide" Target="slides/slide42.xml"/><Relationship Id="rId53" Type="http://schemas.openxmlformats.org/officeDocument/2006/relationships/slide" Target="slides/slide45.xml"/><Relationship Id="rId52" Type="http://schemas.openxmlformats.org/officeDocument/2006/relationships/slide" Target="slides/slide44.xml"/><Relationship Id="rId11" Type="http://schemas.openxmlformats.org/officeDocument/2006/relationships/slide" Target="slides/slide3.xml"/><Relationship Id="rId55" Type="http://schemas.openxmlformats.org/officeDocument/2006/relationships/slide" Target="slides/slide47.xml"/><Relationship Id="rId10" Type="http://schemas.openxmlformats.org/officeDocument/2006/relationships/slide" Target="slides/slide2.xml"/><Relationship Id="rId54" Type="http://schemas.openxmlformats.org/officeDocument/2006/relationships/slide" Target="slides/slide46.xml"/><Relationship Id="rId13" Type="http://schemas.openxmlformats.org/officeDocument/2006/relationships/slide" Target="slides/slide5.xml"/><Relationship Id="rId57" Type="http://schemas.openxmlformats.org/officeDocument/2006/relationships/slide" Target="slides/slide49.xml"/><Relationship Id="rId12" Type="http://schemas.openxmlformats.org/officeDocument/2006/relationships/slide" Target="slides/slide4.xml"/><Relationship Id="rId56" Type="http://schemas.openxmlformats.org/officeDocument/2006/relationships/slide" Target="slides/slide48.xml"/><Relationship Id="rId15" Type="http://schemas.openxmlformats.org/officeDocument/2006/relationships/slide" Target="slides/slide7.xml"/><Relationship Id="rId59" Type="http://schemas.openxmlformats.org/officeDocument/2006/relationships/slide" Target="slides/slide51.xml"/><Relationship Id="rId14" Type="http://schemas.openxmlformats.org/officeDocument/2006/relationships/slide" Target="slides/slide6.xml"/><Relationship Id="rId58" Type="http://schemas.openxmlformats.org/officeDocument/2006/relationships/slide" Target="slides/slide50.xml"/><Relationship Id="rId17" Type="http://schemas.openxmlformats.org/officeDocument/2006/relationships/slide" Target="slides/slide9.xml"/><Relationship Id="rId16" Type="http://schemas.openxmlformats.org/officeDocument/2006/relationships/slide" Target="slides/slide8.xml"/><Relationship Id="rId19" Type="http://schemas.openxmlformats.org/officeDocument/2006/relationships/slide" Target="slides/slide11.xml"/><Relationship Id="rId18"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076793" cy="512518"/>
          </a:xfrm>
          <a:prstGeom prst="rect">
            <a:avLst/>
          </a:prstGeom>
          <a:noFill/>
          <a:ln>
            <a:noFill/>
          </a:ln>
        </p:spPr>
        <p:txBody>
          <a:bodyPr anchorCtr="0" anchor="t" bIns="49500" lIns="99025" spcFirstLastPara="1" rIns="99025" wrap="square" tIns="49500">
            <a:noAutofit/>
          </a:bodyPr>
          <a:lstStyle>
            <a:lvl1pPr lvl="0" marR="0" rtl="0" algn="l">
              <a:lnSpc>
                <a:spcPct val="100000"/>
              </a:lnSpc>
              <a:spcBef>
                <a:spcPts val="0"/>
              </a:spcBef>
              <a:spcAft>
                <a:spcPts val="0"/>
              </a:spcAft>
              <a:buClr>
                <a:srgbClr val="000000"/>
              </a:buClr>
              <a:buSzPts val="1400"/>
              <a:buFont typeface="Arial"/>
              <a:buNone/>
              <a:defRPr b="0" i="0" sz="13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4020899" y="0"/>
            <a:ext cx="3076793" cy="512518"/>
          </a:xfrm>
          <a:prstGeom prst="rect">
            <a:avLst/>
          </a:prstGeom>
          <a:noFill/>
          <a:ln>
            <a:noFill/>
          </a:ln>
        </p:spPr>
        <p:txBody>
          <a:bodyPr anchorCtr="0" anchor="t" bIns="49500" lIns="99025" spcFirstLastPara="1" rIns="99025" wrap="square" tIns="49500">
            <a:noAutofit/>
          </a:bodyPr>
          <a:lstStyle>
            <a:lvl1pPr lvl="0" marR="0" rtl="0" algn="r">
              <a:lnSpc>
                <a:spcPct val="100000"/>
              </a:lnSpc>
              <a:spcBef>
                <a:spcPts val="0"/>
              </a:spcBef>
              <a:spcAft>
                <a:spcPts val="0"/>
              </a:spcAft>
              <a:buClr>
                <a:srgbClr val="000000"/>
              </a:buClr>
              <a:buSzPts val="1400"/>
              <a:buFont typeface="Arial"/>
              <a:buNone/>
              <a:defRPr b="0" i="0" sz="13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779463" y="768350"/>
            <a:ext cx="5540375" cy="38369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709287" y="4861048"/>
            <a:ext cx="5680727" cy="4605663"/>
          </a:xfrm>
          <a:prstGeom prst="rect">
            <a:avLst/>
          </a:prstGeom>
          <a:noFill/>
          <a:ln>
            <a:noFill/>
          </a:ln>
        </p:spPr>
        <p:txBody>
          <a:bodyPr anchorCtr="0" anchor="t" bIns="49500" lIns="99025" spcFirstLastPara="1" rIns="99025" wrap="square" tIns="49500">
            <a:normAutofit/>
          </a:bodyPr>
          <a:lstStyle>
            <a:lvl1pPr indent="-228600" lvl="0" marL="457200" marR="0" rtl="0" algn="l">
              <a:lnSpc>
                <a:spcPct val="100000"/>
              </a:lnSpc>
              <a:spcBef>
                <a:spcPts val="390"/>
              </a:spcBef>
              <a:spcAft>
                <a:spcPts val="0"/>
              </a:spcAft>
              <a:buClr>
                <a:srgbClr val="000000"/>
              </a:buClr>
              <a:buSzPts val="1400"/>
              <a:buFont typeface="Arial"/>
              <a:buNone/>
              <a:defRPr b="0" i="0" sz="1300" u="none" cap="none" strike="noStrike">
                <a:solidFill>
                  <a:schemeClr val="dk1"/>
                </a:solidFill>
                <a:latin typeface="Calibri"/>
                <a:ea typeface="Calibri"/>
                <a:cs typeface="Calibri"/>
                <a:sym typeface="Calibri"/>
              </a:defRPr>
            </a:lvl1pPr>
            <a:lvl2pPr indent="-228600" lvl="1" marL="914400" marR="0" rtl="0" algn="l">
              <a:lnSpc>
                <a:spcPct val="100000"/>
              </a:lnSpc>
              <a:spcBef>
                <a:spcPts val="390"/>
              </a:spcBef>
              <a:spcAft>
                <a:spcPts val="0"/>
              </a:spcAft>
              <a:buClr>
                <a:srgbClr val="000000"/>
              </a:buClr>
              <a:buSzPts val="1400"/>
              <a:buFont typeface="Arial"/>
              <a:buNone/>
              <a:defRPr b="0" i="0" sz="13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390"/>
              </a:spcBef>
              <a:spcAft>
                <a:spcPts val="0"/>
              </a:spcAft>
              <a:buClr>
                <a:srgbClr val="000000"/>
              </a:buClr>
              <a:buSzPts val="1400"/>
              <a:buFont typeface="Arial"/>
              <a:buNone/>
              <a:defRPr b="0" i="0" sz="13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390"/>
              </a:spcBef>
              <a:spcAft>
                <a:spcPts val="0"/>
              </a:spcAft>
              <a:buClr>
                <a:srgbClr val="000000"/>
              </a:buClr>
              <a:buSzPts val="1400"/>
              <a:buFont typeface="Arial"/>
              <a:buNone/>
              <a:defRPr b="0" i="0" sz="13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390"/>
              </a:spcBef>
              <a:spcAft>
                <a:spcPts val="0"/>
              </a:spcAft>
              <a:buClr>
                <a:srgbClr val="000000"/>
              </a:buClr>
              <a:buSzPts val="1400"/>
              <a:buFont typeface="Arial"/>
              <a:buNone/>
              <a:defRPr b="0" i="0" sz="13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3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3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3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3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9720347"/>
            <a:ext cx="3076793" cy="512517"/>
          </a:xfrm>
          <a:prstGeom prst="rect">
            <a:avLst/>
          </a:prstGeom>
          <a:noFill/>
          <a:ln>
            <a:noFill/>
          </a:ln>
        </p:spPr>
        <p:txBody>
          <a:bodyPr anchorCtr="0" anchor="b" bIns="49500" lIns="99025" spcFirstLastPara="1" rIns="99025" wrap="square" tIns="49500">
            <a:noAutofit/>
          </a:bodyPr>
          <a:lstStyle>
            <a:lvl1pPr lvl="0" marR="0" rtl="0" algn="l">
              <a:lnSpc>
                <a:spcPct val="100000"/>
              </a:lnSpc>
              <a:spcBef>
                <a:spcPts val="0"/>
              </a:spcBef>
              <a:spcAft>
                <a:spcPts val="0"/>
              </a:spcAft>
              <a:buClr>
                <a:srgbClr val="000000"/>
              </a:buClr>
              <a:buSzPts val="1400"/>
              <a:buFont typeface="Arial"/>
              <a:buNone/>
              <a:defRPr b="0" i="0" sz="13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4020899" y="9720347"/>
            <a:ext cx="3076793" cy="512517"/>
          </a:xfrm>
          <a:prstGeom prst="rect">
            <a:avLst/>
          </a:prstGeom>
          <a:noFill/>
          <a:ln>
            <a:noFill/>
          </a:ln>
        </p:spPr>
        <p:txBody>
          <a:bodyPr anchorCtr="0" anchor="b" bIns="49500" lIns="99025" spcFirstLastPara="1" rIns="99025" wrap="square" tIns="49500">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US" sz="1300" u="none" cap="none" strike="noStrike">
                <a:solidFill>
                  <a:schemeClr val="dk1"/>
                </a:solidFill>
                <a:latin typeface="Calibri"/>
                <a:ea typeface="Calibri"/>
                <a:cs typeface="Calibri"/>
                <a:sym typeface="Calibri"/>
              </a:rPr>
              <a:t>‹#›</a:t>
            </a:fld>
            <a:endParaRPr b="0" i="0" sz="13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p1:notes"/>
          <p:cNvSpPr/>
          <p:nvPr>
            <p:ph idx="2" type="sldImg"/>
          </p:nvPr>
        </p:nvSpPr>
        <p:spPr>
          <a:xfrm>
            <a:off x="779463" y="768350"/>
            <a:ext cx="5540400" cy="3837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9" name="Google Shape;409;p1:notes"/>
          <p:cNvSpPr txBox="1"/>
          <p:nvPr>
            <p:ph idx="1" type="body"/>
          </p:nvPr>
        </p:nvSpPr>
        <p:spPr>
          <a:xfrm>
            <a:off x="709287" y="4861048"/>
            <a:ext cx="5680800" cy="4605600"/>
          </a:xfrm>
          <a:prstGeom prst="rect">
            <a:avLst/>
          </a:prstGeom>
          <a:noFill/>
          <a:ln>
            <a:noFill/>
          </a:ln>
        </p:spPr>
        <p:txBody>
          <a:bodyPr anchorCtr="0" anchor="t" bIns="49500" lIns="99025" spcFirstLastPara="1" rIns="99025" wrap="square" tIns="49500">
            <a:normAutofit/>
          </a:bodyPr>
          <a:lstStyle/>
          <a:p>
            <a:pPr indent="0" lvl="0" marL="0" rtl="0" algn="l">
              <a:lnSpc>
                <a:spcPct val="100000"/>
              </a:lnSpc>
              <a:spcBef>
                <a:spcPts val="0"/>
              </a:spcBef>
              <a:spcAft>
                <a:spcPts val="0"/>
              </a:spcAft>
              <a:buSzPts val="1400"/>
              <a:buNone/>
            </a:pPr>
            <a:r>
              <a:t/>
            </a:r>
            <a:endParaRPr/>
          </a:p>
        </p:txBody>
      </p:sp>
      <p:sp>
        <p:nvSpPr>
          <p:cNvPr id="410" name="Google Shape;410;p1:notes"/>
          <p:cNvSpPr txBox="1"/>
          <p:nvPr>
            <p:ph idx="12" type="sldNum"/>
          </p:nvPr>
        </p:nvSpPr>
        <p:spPr>
          <a:xfrm>
            <a:off x="4020899" y="9720347"/>
            <a:ext cx="3076800" cy="512400"/>
          </a:xfrm>
          <a:prstGeom prst="rect">
            <a:avLst/>
          </a:prstGeom>
          <a:noFill/>
          <a:ln>
            <a:noFill/>
          </a:ln>
        </p:spPr>
        <p:txBody>
          <a:bodyPr anchorCtr="0" anchor="b" bIns="49500" lIns="99025" spcFirstLastPara="1" rIns="99025" wrap="square" tIns="495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g3e2ebeee225_0_0:notes"/>
          <p:cNvSpPr txBox="1"/>
          <p:nvPr>
            <p:ph idx="1" type="body"/>
          </p:nvPr>
        </p:nvSpPr>
        <p:spPr>
          <a:xfrm>
            <a:off x="709287" y="4861048"/>
            <a:ext cx="5680800" cy="4605600"/>
          </a:xfrm>
          <a:prstGeom prst="rect">
            <a:avLst/>
          </a:prstGeom>
          <a:noFill/>
          <a:ln>
            <a:noFill/>
          </a:ln>
        </p:spPr>
        <p:txBody>
          <a:bodyPr anchorCtr="0" anchor="t" bIns="49500" lIns="99025" spcFirstLastPara="1" rIns="99025" wrap="square" tIns="49500">
            <a:noAutofit/>
          </a:bodyPr>
          <a:lstStyle/>
          <a:p>
            <a:pPr indent="0" lvl="0" marL="0" rtl="0" algn="l">
              <a:lnSpc>
                <a:spcPct val="100000"/>
              </a:lnSpc>
              <a:spcBef>
                <a:spcPts val="390"/>
              </a:spcBef>
              <a:spcAft>
                <a:spcPts val="0"/>
              </a:spcAft>
              <a:buSzPts val="1400"/>
              <a:buNone/>
            </a:pPr>
            <a:r>
              <a:t/>
            </a:r>
            <a:endParaRPr/>
          </a:p>
        </p:txBody>
      </p:sp>
      <p:sp>
        <p:nvSpPr>
          <p:cNvPr id="423" name="Google Shape;423;g3e2ebeee225_0_0:notes"/>
          <p:cNvSpPr/>
          <p:nvPr>
            <p:ph idx="2" type="sldImg"/>
          </p:nvPr>
        </p:nvSpPr>
        <p:spPr>
          <a:xfrm>
            <a:off x="779463" y="768350"/>
            <a:ext cx="5540400" cy="3837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p2:notes"/>
          <p:cNvSpPr txBox="1"/>
          <p:nvPr>
            <p:ph idx="1" type="body"/>
          </p:nvPr>
        </p:nvSpPr>
        <p:spPr>
          <a:xfrm>
            <a:off x="709287" y="4861048"/>
            <a:ext cx="5680800" cy="4605600"/>
          </a:xfrm>
          <a:prstGeom prst="rect">
            <a:avLst/>
          </a:prstGeom>
          <a:noFill/>
          <a:ln>
            <a:noFill/>
          </a:ln>
        </p:spPr>
        <p:txBody>
          <a:bodyPr anchorCtr="0" anchor="t" bIns="49500" lIns="99025" spcFirstLastPara="1" rIns="99025" wrap="square" tIns="49500">
            <a:noAutofit/>
          </a:bodyPr>
          <a:lstStyle/>
          <a:p>
            <a:pPr indent="0" lvl="0" marL="0" rtl="0" algn="l">
              <a:lnSpc>
                <a:spcPct val="100000"/>
              </a:lnSpc>
              <a:spcBef>
                <a:spcPts val="390"/>
              </a:spcBef>
              <a:spcAft>
                <a:spcPts val="0"/>
              </a:spcAft>
              <a:buSzPts val="1400"/>
              <a:buNone/>
            </a:pPr>
            <a:r>
              <a:t/>
            </a:r>
            <a:endParaRPr/>
          </a:p>
        </p:txBody>
      </p:sp>
      <p:sp>
        <p:nvSpPr>
          <p:cNvPr id="437" name="Google Shape;437;p2:notes"/>
          <p:cNvSpPr/>
          <p:nvPr>
            <p:ph idx="2" type="sldImg"/>
          </p:nvPr>
        </p:nvSpPr>
        <p:spPr>
          <a:xfrm>
            <a:off x="779463" y="768350"/>
            <a:ext cx="5540400" cy="3837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g3e3a61befe4_0_3850:notes"/>
          <p:cNvSpPr txBox="1"/>
          <p:nvPr>
            <p:ph idx="1" type="body"/>
          </p:nvPr>
        </p:nvSpPr>
        <p:spPr>
          <a:xfrm>
            <a:off x="709287" y="4861048"/>
            <a:ext cx="5680800" cy="4605600"/>
          </a:xfrm>
          <a:prstGeom prst="rect">
            <a:avLst/>
          </a:prstGeom>
          <a:noFill/>
          <a:ln>
            <a:noFill/>
          </a:ln>
        </p:spPr>
        <p:txBody>
          <a:bodyPr anchorCtr="0" anchor="t" bIns="49500" lIns="99025" spcFirstLastPara="1" rIns="99025" wrap="square" tIns="49500">
            <a:noAutofit/>
          </a:bodyPr>
          <a:lstStyle/>
          <a:p>
            <a:pPr indent="0" lvl="0" marL="0" rtl="0" algn="l">
              <a:lnSpc>
                <a:spcPct val="100000"/>
              </a:lnSpc>
              <a:spcBef>
                <a:spcPts val="390"/>
              </a:spcBef>
              <a:spcAft>
                <a:spcPts val="0"/>
              </a:spcAft>
              <a:buSzPts val="1400"/>
              <a:buNone/>
            </a:pPr>
            <a:r>
              <a:t/>
            </a:r>
            <a:endParaRPr/>
          </a:p>
        </p:txBody>
      </p:sp>
      <p:sp>
        <p:nvSpPr>
          <p:cNvPr id="460" name="Google Shape;460;g3e3a61befe4_0_3850:notes"/>
          <p:cNvSpPr/>
          <p:nvPr>
            <p:ph idx="2" type="sldImg"/>
          </p:nvPr>
        </p:nvSpPr>
        <p:spPr>
          <a:xfrm>
            <a:off x="779463" y="768350"/>
            <a:ext cx="5540400" cy="3837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8" name="Shape 478"/>
        <p:cNvGrpSpPr/>
        <p:nvPr/>
      </p:nvGrpSpPr>
      <p:grpSpPr>
        <a:xfrm>
          <a:off x="0" y="0"/>
          <a:ext cx="0" cy="0"/>
          <a:chOff x="0" y="0"/>
          <a:chExt cx="0" cy="0"/>
        </a:xfrm>
      </p:grpSpPr>
      <p:sp>
        <p:nvSpPr>
          <p:cNvPr id="479" name="Google Shape;479;g3e33499f370_0_375:notes"/>
          <p:cNvSpPr txBox="1"/>
          <p:nvPr>
            <p:ph idx="1" type="body"/>
          </p:nvPr>
        </p:nvSpPr>
        <p:spPr>
          <a:xfrm>
            <a:off x="709287" y="4861048"/>
            <a:ext cx="5680800" cy="4605600"/>
          </a:xfrm>
          <a:prstGeom prst="rect">
            <a:avLst/>
          </a:prstGeom>
          <a:noFill/>
          <a:ln>
            <a:noFill/>
          </a:ln>
        </p:spPr>
        <p:txBody>
          <a:bodyPr anchorCtr="0" anchor="t" bIns="49500" lIns="99025" spcFirstLastPara="1" rIns="99025" wrap="square" tIns="49500">
            <a:noAutofit/>
          </a:bodyPr>
          <a:lstStyle/>
          <a:p>
            <a:pPr indent="0" lvl="0" marL="0" rtl="0" algn="l">
              <a:lnSpc>
                <a:spcPct val="100000"/>
              </a:lnSpc>
              <a:spcBef>
                <a:spcPts val="390"/>
              </a:spcBef>
              <a:spcAft>
                <a:spcPts val="0"/>
              </a:spcAft>
              <a:buSzPts val="1400"/>
              <a:buNone/>
            </a:pPr>
            <a:r>
              <a:t/>
            </a:r>
            <a:endParaRPr/>
          </a:p>
        </p:txBody>
      </p:sp>
      <p:sp>
        <p:nvSpPr>
          <p:cNvPr id="480" name="Google Shape;480;g3e33499f370_0_375:notes"/>
          <p:cNvSpPr/>
          <p:nvPr>
            <p:ph idx="2" type="sldImg"/>
          </p:nvPr>
        </p:nvSpPr>
        <p:spPr>
          <a:xfrm>
            <a:off x="779463" y="768350"/>
            <a:ext cx="5540400" cy="3837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0" name="Shape 510"/>
        <p:cNvGrpSpPr/>
        <p:nvPr/>
      </p:nvGrpSpPr>
      <p:grpSpPr>
        <a:xfrm>
          <a:off x="0" y="0"/>
          <a:ext cx="0" cy="0"/>
          <a:chOff x="0" y="0"/>
          <a:chExt cx="0" cy="0"/>
        </a:xfrm>
      </p:grpSpPr>
      <p:sp>
        <p:nvSpPr>
          <p:cNvPr id="511" name="Google Shape;511;g3e3a61befe4_0_3800:notes"/>
          <p:cNvSpPr txBox="1"/>
          <p:nvPr>
            <p:ph idx="1" type="body"/>
          </p:nvPr>
        </p:nvSpPr>
        <p:spPr>
          <a:xfrm>
            <a:off x="709287" y="4861048"/>
            <a:ext cx="5680800" cy="4605600"/>
          </a:xfrm>
          <a:prstGeom prst="rect">
            <a:avLst/>
          </a:prstGeom>
          <a:noFill/>
          <a:ln>
            <a:noFill/>
          </a:ln>
        </p:spPr>
        <p:txBody>
          <a:bodyPr anchorCtr="0" anchor="t" bIns="49500" lIns="99025" spcFirstLastPara="1" rIns="99025" wrap="square" tIns="49500">
            <a:noAutofit/>
          </a:bodyPr>
          <a:lstStyle/>
          <a:p>
            <a:pPr indent="0" lvl="0" marL="0" rtl="0" algn="l">
              <a:lnSpc>
                <a:spcPct val="100000"/>
              </a:lnSpc>
              <a:spcBef>
                <a:spcPts val="390"/>
              </a:spcBef>
              <a:spcAft>
                <a:spcPts val="0"/>
              </a:spcAft>
              <a:buSzPts val="1400"/>
              <a:buNone/>
            </a:pPr>
            <a:r>
              <a:t/>
            </a:r>
            <a:endParaRPr/>
          </a:p>
        </p:txBody>
      </p:sp>
      <p:sp>
        <p:nvSpPr>
          <p:cNvPr id="512" name="Google Shape;512;g3e3a61befe4_0_3800:notes"/>
          <p:cNvSpPr/>
          <p:nvPr>
            <p:ph idx="2" type="sldImg"/>
          </p:nvPr>
        </p:nvSpPr>
        <p:spPr>
          <a:xfrm>
            <a:off x="779463" y="768350"/>
            <a:ext cx="5540400" cy="3837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0" name="Shape 530"/>
        <p:cNvGrpSpPr/>
        <p:nvPr/>
      </p:nvGrpSpPr>
      <p:grpSpPr>
        <a:xfrm>
          <a:off x="0" y="0"/>
          <a:ext cx="0" cy="0"/>
          <a:chOff x="0" y="0"/>
          <a:chExt cx="0" cy="0"/>
        </a:xfrm>
      </p:grpSpPr>
      <p:sp>
        <p:nvSpPr>
          <p:cNvPr id="531" name="Google Shape;531;g3e387427cbb_136_622:notes"/>
          <p:cNvSpPr txBox="1"/>
          <p:nvPr>
            <p:ph idx="1" type="body"/>
          </p:nvPr>
        </p:nvSpPr>
        <p:spPr>
          <a:xfrm>
            <a:off x="709287" y="4861048"/>
            <a:ext cx="5680800" cy="4605600"/>
          </a:xfrm>
          <a:prstGeom prst="rect">
            <a:avLst/>
          </a:prstGeom>
          <a:noFill/>
          <a:ln>
            <a:noFill/>
          </a:ln>
        </p:spPr>
        <p:txBody>
          <a:bodyPr anchorCtr="0" anchor="t" bIns="49500" lIns="99025" spcFirstLastPara="1" rIns="99025" wrap="square" tIns="49500">
            <a:noAutofit/>
          </a:bodyPr>
          <a:lstStyle/>
          <a:p>
            <a:pPr indent="0" lvl="0" marL="0" rtl="0" algn="l">
              <a:lnSpc>
                <a:spcPct val="100000"/>
              </a:lnSpc>
              <a:spcBef>
                <a:spcPts val="390"/>
              </a:spcBef>
              <a:spcAft>
                <a:spcPts val="0"/>
              </a:spcAft>
              <a:buSzPts val="1400"/>
              <a:buNone/>
            </a:pPr>
            <a:r>
              <a:t/>
            </a:r>
            <a:endParaRPr/>
          </a:p>
        </p:txBody>
      </p:sp>
      <p:sp>
        <p:nvSpPr>
          <p:cNvPr id="532" name="Google Shape;532;g3e387427cbb_136_622:notes"/>
          <p:cNvSpPr/>
          <p:nvPr>
            <p:ph idx="2" type="sldImg"/>
          </p:nvPr>
        </p:nvSpPr>
        <p:spPr>
          <a:xfrm>
            <a:off x="779463" y="768350"/>
            <a:ext cx="5540400" cy="3837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3" name="Shape 553"/>
        <p:cNvGrpSpPr/>
        <p:nvPr/>
      </p:nvGrpSpPr>
      <p:grpSpPr>
        <a:xfrm>
          <a:off x="0" y="0"/>
          <a:ext cx="0" cy="0"/>
          <a:chOff x="0" y="0"/>
          <a:chExt cx="0" cy="0"/>
        </a:xfrm>
      </p:grpSpPr>
      <p:sp>
        <p:nvSpPr>
          <p:cNvPr id="554" name="Google Shape;554;g3e3a61befe4_0_3825:notes"/>
          <p:cNvSpPr txBox="1"/>
          <p:nvPr>
            <p:ph idx="1" type="body"/>
          </p:nvPr>
        </p:nvSpPr>
        <p:spPr>
          <a:xfrm>
            <a:off x="709287" y="4861048"/>
            <a:ext cx="5680800" cy="4605600"/>
          </a:xfrm>
          <a:prstGeom prst="rect">
            <a:avLst/>
          </a:prstGeom>
          <a:noFill/>
          <a:ln>
            <a:noFill/>
          </a:ln>
        </p:spPr>
        <p:txBody>
          <a:bodyPr anchorCtr="0" anchor="t" bIns="49500" lIns="99025" spcFirstLastPara="1" rIns="99025" wrap="square" tIns="49500">
            <a:noAutofit/>
          </a:bodyPr>
          <a:lstStyle/>
          <a:p>
            <a:pPr indent="0" lvl="0" marL="0" rtl="0" algn="l">
              <a:lnSpc>
                <a:spcPct val="100000"/>
              </a:lnSpc>
              <a:spcBef>
                <a:spcPts val="390"/>
              </a:spcBef>
              <a:spcAft>
                <a:spcPts val="0"/>
              </a:spcAft>
              <a:buSzPts val="1400"/>
              <a:buNone/>
            </a:pPr>
            <a:r>
              <a:t/>
            </a:r>
            <a:endParaRPr/>
          </a:p>
        </p:txBody>
      </p:sp>
      <p:sp>
        <p:nvSpPr>
          <p:cNvPr id="555" name="Google Shape;555;g3e3a61befe4_0_3825:notes"/>
          <p:cNvSpPr/>
          <p:nvPr>
            <p:ph idx="2" type="sldImg"/>
          </p:nvPr>
        </p:nvSpPr>
        <p:spPr>
          <a:xfrm>
            <a:off x="779463" y="768350"/>
            <a:ext cx="5540400" cy="3837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9" name="Shape 579"/>
        <p:cNvGrpSpPr/>
        <p:nvPr/>
      </p:nvGrpSpPr>
      <p:grpSpPr>
        <a:xfrm>
          <a:off x="0" y="0"/>
          <a:ext cx="0" cy="0"/>
          <a:chOff x="0" y="0"/>
          <a:chExt cx="0" cy="0"/>
        </a:xfrm>
      </p:grpSpPr>
      <p:sp>
        <p:nvSpPr>
          <p:cNvPr id="580" name="Google Shape;580;g3e292f661c6_30_1016:notes"/>
          <p:cNvSpPr txBox="1"/>
          <p:nvPr>
            <p:ph idx="1" type="body"/>
          </p:nvPr>
        </p:nvSpPr>
        <p:spPr>
          <a:xfrm>
            <a:off x="709287" y="4861048"/>
            <a:ext cx="5680800" cy="4605600"/>
          </a:xfrm>
          <a:prstGeom prst="rect">
            <a:avLst/>
          </a:prstGeom>
          <a:noFill/>
          <a:ln>
            <a:noFill/>
          </a:ln>
        </p:spPr>
        <p:txBody>
          <a:bodyPr anchorCtr="0" anchor="t" bIns="49500" lIns="99025" spcFirstLastPara="1" rIns="99025" wrap="square" tIns="49500">
            <a:noAutofit/>
          </a:bodyPr>
          <a:lstStyle/>
          <a:p>
            <a:pPr indent="0" lvl="0" marL="0" rtl="0" algn="l">
              <a:lnSpc>
                <a:spcPct val="100000"/>
              </a:lnSpc>
              <a:spcBef>
                <a:spcPts val="390"/>
              </a:spcBef>
              <a:spcAft>
                <a:spcPts val="0"/>
              </a:spcAft>
              <a:buSzPts val="1400"/>
              <a:buNone/>
            </a:pPr>
            <a:r>
              <a:t/>
            </a:r>
            <a:endParaRPr/>
          </a:p>
        </p:txBody>
      </p:sp>
      <p:sp>
        <p:nvSpPr>
          <p:cNvPr id="581" name="Google Shape;581;g3e292f661c6_30_1016:notes"/>
          <p:cNvSpPr/>
          <p:nvPr>
            <p:ph idx="2" type="sldImg"/>
          </p:nvPr>
        </p:nvSpPr>
        <p:spPr>
          <a:xfrm>
            <a:off x="779463" y="768350"/>
            <a:ext cx="5540400" cy="3837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4" name="Shape 594"/>
        <p:cNvGrpSpPr/>
        <p:nvPr/>
      </p:nvGrpSpPr>
      <p:grpSpPr>
        <a:xfrm>
          <a:off x="0" y="0"/>
          <a:ext cx="0" cy="0"/>
          <a:chOff x="0" y="0"/>
          <a:chExt cx="0" cy="0"/>
        </a:xfrm>
      </p:grpSpPr>
      <p:sp>
        <p:nvSpPr>
          <p:cNvPr id="595" name="Google Shape;595;g3e33499f370_0_470:notes"/>
          <p:cNvSpPr txBox="1"/>
          <p:nvPr>
            <p:ph idx="1" type="body"/>
          </p:nvPr>
        </p:nvSpPr>
        <p:spPr>
          <a:xfrm>
            <a:off x="709287" y="4861048"/>
            <a:ext cx="5680800" cy="4605600"/>
          </a:xfrm>
          <a:prstGeom prst="rect">
            <a:avLst/>
          </a:prstGeom>
          <a:noFill/>
          <a:ln>
            <a:noFill/>
          </a:ln>
        </p:spPr>
        <p:txBody>
          <a:bodyPr anchorCtr="0" anchor="t" bIns="49500" lIns="99025" spcFirstLastPara="1" rIns="99025" wrap="square" tIns="49500">
            <a:noAutofit/>
          </a:bodyPr>
          <a:lstStyle/>
          <a:p>
            <a:pPr indent="0" lvl="0" marL="0" rtl="0" algn="l">
              <a:lnSpc>
                <a:spcPct val="100000"/>
              </a:lnSpc>
              <a:spcBef>
                <a:spcPts val="390"/>
              </a:spcBef>
              <a:spcAft>
                <a:spcPts val="0"/>
              </a:spcAft>
              <a:buSzPts val="1400"/>
              <a:buNone/>
            </a:pPr>
            <a:r>
              <a:t/>
            </a:r>
            <a:endParaRPr/>
          </a:p>
        </p:txBody>
      </p:sp>
      <p:sp>
        <p:nvSpPr>
          <p:cNvPr id="596" name="Google Shape;596;g3e33499f370_0_470:notes"/>
          <p:cNvSpPr/>
          <p:nvPr>
            <p:ph idx="2" type="sldImg"/>
          </p:nvPr>
        </p:nvSpPr>
        <p:spPr>
          <a:xfrm>
            <a:off x="779463" y="768350"/>
            <a:ext cx="5540400" cy="3837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8" name="Shape 618"/>
        <p:cNvGrpSpPr/>
        <p:nvPr/>
      </p:nvGrpSpPr>
      <p:grpSpPr>
        <a:xfrm>
          <a:off x="0" y="0"/>
          <a:ext cx="0" cy="0"/>
          <a:chOff x="0" y="0"/>
          <a:chExt cx="0" cy="0"/>
        </a:xfrm>
      </p:grpSpPr>
      <p:sp>
        <p:nvSpPr>
          <p:cNvPr id="619" name="Google Shape;619;g3e36394e788_0_508:notes"/>
          <p:cNvSpPr txBox="1"/>
          <p:nvPr>
            <p:ph idx="1" type="body"/>
          </p:nvPr>
        </p:nvSpPr>
        <p:spPr>
          <a:xfrm>
            <a:off x="709287" y="4861048"/>
            <a:ext cx="5680800" cy="4605600"/>
          </a:xfrm>
          <a:prstGeom prst="rect">
            <a:avLst/>
          </a:prstGeom>
          <a:noFill/>
          <a:ln>
            <a:noFill/>
          </a:ln>
        </p:spPr>
        <p:txBody>
          <a:bodyPr anchorCtr="0" anchor="t" bIns="49500" lIns="99025" spcFirstLastPara="1" rIns="99025" wrap="square" tIns="49500">
            <a:noAutofit/>
          </a:bodyPr>
          <a:lstStyle/>
          <a:p>
            <a:pPr indent="0" lvl="0" marL="0" rtl="0" algn="l">
              <a:lnSpc>
                <a:spcPct val="100000"/>
              </a:lnSpc>
              <a:spcBef>
                <a:spcPts val="390"/>
              </a:spcBef>
              <a:spcAft>
                <a:spcPts val="0"/>
              </a:spcAft>
              <a:buSzPts val="1400"/>
              <a:buNone/>
            </a:pPr>
            <a:r>
              <a:t/>
            </a:r>
            <a:endParaRPr/>
          </a:p>
        </p:txBody>
      </p:sp>
      <p:sp>
        <p:nvSpPr>
          <p:cNvPr id="620" name="Google Shape;620;g3e36394e788_0_508:notes"/>
          <p:cNvSpPr/>
          <p:nvPr>
            <p:ph idx="2" type="sldImg"/>
          </p:nvPr>
        </p:nvSpPr>
        <p:spPr>
          <a:xfrm>
            <a:off x="779463" y="768350"/>
            <a:ext cx="5540400" cy="3837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5" name="Shape 645"/>
        <p:cNvGrpSpPr/>
        <p:nvPr/>
      </p:nvGrpSpPr>
      <p:grpSpPr>
        <a:xfrm>
          <a:off x="0" y="0"/>
          <a:ext cx="0" cy="0"/>
          <a:chOff x="0" y="0"/>
          <a:chExt cx="0" cy="0"/>
        </a:xfrm>
      </p:grpSpPr>
      <p:sp>
        <p:nvSpPr>
          <p:cNvPr id="646" name="Google Shape;646;g3e36394e788_0_519:notes"/>
          <p:cNvSpPr txBox="1"/>
          <p:nvPr>
            <p:ph idx="1" type="body"/>
          </p:nvPr>
        </p:nvSpPr>
        <p:spPr>
          <a:xfrm>
            <a:off x="709287" y="4861048"/>
            <a:ext cx="5680800" cy="4605600"/>
          </a:xfrm>
          <a:prstGeom prst="rect">
            <a:avLst/>
          </a:prstGeom>
          <a:noFill/>
          <a:ln>
            <a:noFill/>
          </a:ln>
        </p:spPr>
        <p:txBody>
          <a:bodyPr anchorCtr="0" anchor="t" bIns="49500" lIns="99025" spcFirstLastPara="1" rIns="99025" wrap="square" tIns="49500">
            <a:noAutofit/>
          </a:bodyPr>
          <a:lstStyle/>
          <a:p>
            <a:pPr indent="0" lvl="0" marL="0" rtl="0" algn="l">
              <a:lnSpc>
                <a:spcPct val="100000"/>
              </a:lnSpc>
              <a:spcBef>
                <a:spcPts val="390"/>
              </a:spcBef>
              <a:spcAft>
                <a:spcPts val="0"/>
              </a:spcAft>
              <a:buSzPts val="1400"/>
              <a:buNone/>
            </a:pPr>
            <a:r>
              <a:t/>
            </a:r>
            <a:endParaRPr/>
          </a:p>
        </p:txBody>
      </p:sp>
      <p:sp>
        <p:nvSpPr>
          <p:cNvPr id="647" name="Google Shape;647;g3e36394e788_0_519:notes"/>
          <p:cNvSpPr/>
          <p:nvPr>
            <p:ph idx="2" type="sldImg"/>
          </p:nvPr>
        </p:nvSpPr>
        <p:spPr>
          <a:xfrm>
            <a:off x="779463" y="768350"/>
            <a:ext cx="5540400" cy="3837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5" name="Shape 665"/>
        <p:cNvGrpSpPr/>
        <p:nvPr/>
      </p:nvGrpSpPr>
      <p:grpSpPr>
        <a:xfrm>
          <a:off x="0" y="0"/>
          <a:ext cx="0" cy="0"/>
          <a:chOff x="0" y="0"/>
          <a:chExt cx="0" cy="0"/>
        </a:xfrm>
      </p:grpSpPr>
      <p:sp>
        <p:nvSpPr>
          <p:cNvPr id="666" name="Google Shape;666;g3e36394e788_0_530:notes"/>
          <p:cNvSpPr txBox="1"/>
          <p:nvPr>
            <p:ph idx="1" type="body"/>
          </p:nvPr>
        </p:nvSpPr>
        <p:spPr>
          <a:xfrm>
            <a:off x="709287" y="4861048"/>
            <a:ext cx="5680800" cy="4605600"/>
          </a:xfrm>
          <a:prstGeom prst="rect">
            <a:avLst/>
          </a:prstGeom>
          <a:noFill/>
          <a:ln>
            <a:noFill/>
          </a:ln>
        </p:spPr>
        <p:txBody>
          <a:bodyPr anchorCtr="0" anchor="t" bIns="49500" lIns="99025" spcFirstLastPara="1" rIns="99025" wrap="square" tIns="49500">
            <a:noAutofit/>
          </a:bodyPr>
          <a:lstStyle/>
          <a:p>
            <a:pPr indent="0" lvl="0" marL="0" rtl="0" algn="l">
              <a:lnSpc>
                <a:spcPct val="100000"/>
              </a:lnSpc>
              <a:spcBef>
                <a:spcPts val="390"/>
              </a:spcBef>
              <a:spcAft>
                <a:spcPts val="0"/>
              </a:spcAft>
              <a:buSzPts val="1400"/>
              <a:buNone/>
            </a:pPr>
            <a:r>
              <a:t/>
            </a:r>
            <a:endParaRPr/>
          </a:p>
        </p:txBody>
      </p:sp>
      <p:sp>
        <p:nvSpPr>
          <p:cNvPr id="667" name="Google Shape;667;g3e36394e788_0_530:notes"/>
          <p:cNvSpPr/>
          <p:nvPr>
            <p:ph idx="2" type="sldImg"/>
          </p:nvPr>
        </p:nvSpPr>
        <p:spPr>
          <a:xfrm>
            <a:off x="779463" y="768350"/>
            <a:ext cx="5540400" cy="3837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0" name="Shape 690"/>
        <p:cNvGrpSpPr/>
        <p:nvPr/>
      </p:nvGrpSpPr>
      <p:grpSpPr>
        <a:xfrm>
          <a:off x="0" y="0"/>
          <a:ext cx="0" cy="0"/>
          <a:chOff x="0" y="0"/>
          <a:chExt cx="0" cy="0"/>
        </a:xfrm>
      </p:grpSpPr>
      <p:sp>
        <p:nvSpPr>
          <p:cNvPr id="691" name="Google Shape;691;g3e36394e788_0_541:notes"/>
          <p:cNvSpPr txBox="1"/>
          <p:nvPr>
            <p:ph idx="1" type="body"/>
          </p:nvPr>
        </p:nvSpPr>
        <p:spPr>
          <a:xfrm>
            <a:off x="709287" y="4861048"/>
            <a:ext cx="5680800" cy="4605600"/>
          </a:xfrm>
          <a:prstGeom prst="rect">
            <a:avLst/>
          </a:prstGeom>
          <a:noFill/>
          <a:ln>
            <a:noFill/>
          </a:ln>
        </p:spPr>
        <p:txBody>
          <a:bodyPr anchorCtr="0" anchor="t" bIns="49500" lIns="99025" spcFirstLastPara="1" rIns="99025" wrap="square" tIns="49500">
            <a:noAutofit/>
          </a:bodyPr>
          <a:lstStyle/>
          <a:p>
            <a:pPr indent="0" lvl="0" marL="0" rtl="0" algn="l">
              <a:lnSpc>
                <a:spcPct val="100000"/>
              </a:lnSpc>
              <a:spcBef>
                <a:spcPts val="390"/>
              </a:spcBef>
              <a:spcAft>
                <a:spcPts val="0"/>
              </a:spcAft>
              <a:buSzPts val="1400"/>
              <a:buNone/>
            </a:pPr>
            <a:r>
              <a:t/>
            </a:r>
            <a:endParaRPr/>
          </a:p>
        </p:txBody>
      </p:sp>
      <p:sp>
        <p:nvSpPr>
          <p:cNvPr id="692" name="Google Shape;692;g3e36394e788_0_541:notes"/>
          <p:cNvSpPr/>
          <p:nvPr>
            <p:ph idx="2" type="sldImg"/>
          </p:nvPr>
        </p:nvSpPr>
        <p:spPr>
          <a:xfrm>
            <a:off x="779463" y="768350"/>
            <a:ext cx="5540400" cy="3837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0" name="Shape 710"/>
        <p:cNvGrpSpPr/>
        <p:nvPr/>
      </p:nvGrpSpPr>
      <p:grpSpPr>
        <a:xfrm>
          <a:off x="0" y="0"/>
          <a:ext cx="0" cy="0"/>
          <a:chOff x="0" y="0"/>
          <a:chExt cx="0" cy="0"/>
        </a:xfrm>
      </p:grpSpPr>
      <p:sp>
        <p:nvSpPr>
          <p:cNvPr id="711" name="Google Shape;711;g3e36394e788_0_552:notes"/>
          <p:cNvSpPr txBox="1"/>
          <p:nvPr>
            <p:ph idx="1" type="body"/>
          </p:nvPr>
        </p:nvSpPr>
        <p:spPr>
          <a:xfrm>
            <a:off x="709287" y="4861048"/>
            <a:ext cx="5680800" cy="4605600"/>
          </a:xfrm>
          <a:prstGeom prst="rect">
            <a:avLst/>
          </a:prstGeom>
          <a:noFill/>
          <a:ln>
            <a:noFill/>
          </a:ln>
        </p:spPr>
        <p:txBody>
          <a:bodyPr anchorCtr="0" anchor="t" bIns="49500" lIns="99025" spcFirstLastPara="1" rIns="99025" wrap="square" tIns="49500">
            <a:noAutofit/>
          </a:bodyPr>
          <a:lstStyle/>
          <a:p>
            <a:pPr indent="0" lvl="0" marL="0" rtl="0" algn="l">
              <a:lnSpc>
                <a:spcPct val="100000"/>
              </a:lnSpc>
              <a:spcBef>
                <a:spcPts val="390"/>
              </a:spcBef>
              <a:spcAft>
                <a:spcPts val="0"/>
              </a:spcAft>
              <a:buSzPts val="1400"/>
              <a:buNone/>
            </a:pPr>
            <a:r>
              <a:t/>
            </a:r>
            <a:endParaRPr/>
          </a:p>
        </p:txBody>
      </p:sp>
      <p:sp>
        <p:nvSpPr>
          <p:cNvPr id="712" name="Google Shape;712;g3e36394e788_0_552:notes"/>
          <p:cNvSpPr/>
          <p:nvPr>
            <p:ph idx="2" type="sldImg"/>
          </p:nvPr>
        </p:nvSpPr>
        <p:spPr>
          <a:xfrm>
            <a:off x="779463" y="768350"/>
            <a:ext cx="5540400" cy="3837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2" name="Shape 732"/>
        <p:cNvGrpSpPr/>
        <p:nvPr/>
      </p:nvGrpSpPr>
      <p:grpSpPr>
        <a:xfrm>
          <a:off x="0" y="0"/>
          <a:ext cx="0" cy="0"/>
          <a:chOff x="0" y="0"/>
          <a:chExt cx="0" cy="0"/>
        </a:xfrm>
      </p:grpSpPr>
      <p:sp>
        <p:nvSpPr>
          <p:cNvPr id="733" name="Google Shape;733;g3e36394e788_0_563:notes"/>
          <p:cNvSpPr txBox="1"/>
          <p:nvPr>
            <p:ph idx="1" type="body"/>
          </p:nvPr>
        </p:nvSpPr>
        <p:spPr>
          <a:xfrm>
            <a:off x="709287" y="4861048"/>
            <a:ext cx="5680800" cy="4605600"/>
          </a:xfrm>
          <a:prstGeom prst="rect">
            <a:avLst/>
          </a:prstGeom>
          <a:noFill/>
          <a:ln>
            <a:noFill/>
          </a:ln>
        </p:spPr>
        <p:txBody>
          <a:bodyPr anchorCtr="0" anchor="t" bIns="49500" lIns="99025" spcFirstLastPara="1" rIns="99025" wrap="square" tIns="49500">
            <a:noAutofit/>
          </a:bodyPr>
          <a:lstStyle/>
          <a:p>
            <a:pPr indent="0" lvl="0" marL="0" rtl="0" algn="l">
              <a:lnSpc>
                <a:spcPct val="100000"/>
              </a:lnSpc>
              <a:spcBef>
                <a:spcPts val="390"/>
              </a:spcBef>
              <a:spcAft>
                <a:spcPts val="0"/>
              </a:spcAft>
              <a:buSzPts val="1400"/>
              <a:buNone/>
            </a:pPr>
            <a:r>
              <a:t/>
            </a:r>
            <a:endParaRPr/>
          </a:p>
        </p:txBody>
      </p:sp>
      <p:sp>
        <p:nvSpPr>
          <p:cNvPr id="734" name="Google Shape;734;g3e36394e788_0_563:notes"/>
          <p:cNvSpPr/>
          <p:nvPr>
            <p:ph idx="2" type="sldImg"/>
          </p:nvPr>
        </p:nvSpPr>
        <p:spPr>
          <a:xfrm>
            <a:off x="779463" y="768350"/>
            <a:ext cx="5540400" cy="3837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6" name="Shape 756"/>
        <p:cNvGrpSpPr/>
        <p:nvPr/>
      </p:nvGrpSpPr>
      <p:grpSpPr>
        <a:xfrm>
          <a:off x="0" y="0"/>
          <a:ext cx="0" cy="0"/>
          <a:chOff x="0" y="0"/>
          <a:chExt cx="0" cy="0"/>
        </a:xfrm>
      </p:grpSpPr>
      <p:sp>
        <p:nvSpPr>
          <p:cNvPr id="757" name="Google Shape;757;g3e36394e788_0_574:notes"/>
          <p:cNvSpPr txBox="1"/>
          <p:nvPr>
            <p:ph idx="1" type="body"/>
          </p:nvPr>
        </p:nvSpPr>
        <p:spPr>
          <a:xfrm>
            <a:off x="709287" y="4861048"/>
            <a:ext cx="5680800" cy="4605600"/>
          </a:xfrm>
          <a:prstGeom prst="rect">
            <a:avLst/>
          </a:prstGeom>
          <a:noFill/>
          <a:ln>
            <a:noFill/>
          </a:ln>
        </p:spPr>
        <p:txBody>
          <a:bodyPr anchorCtr="0" anchor="t" bIns="49500" lIns="99025" spcFirstLastPara="1" rIns="99025" wrap="square" tIns="49500">
            <a:noAutofit/>
          </a:bodyPr>
          <a:lstStyle/>
          <a:p>
            <a:pPr indent="0" lvl="0" marL="0" rtl="0" algn="l">
              <a:lnSpc>
                <a:spcPct val="100000"/>
              </a:lnSpc>
              <a:spcBef>
                <a:spcPts val="390"/>
              </a:spcBef>
              <a:spcAft>
                <a:spcPts val="0"/>
              </a:spcAft>
              <a:buSzPts val="1400"/>
              <a:buNone/>
            </a:pPr>
            <a:r>
              <a:t/>
            </a:r>
            <a:endParaRPr/>
          </a:p>
        </p:txBody>
      </p:sp>
      <p:sp>
        <p:nvSpPr>
          <p:cNvPr id="758" name="Google Shape;758;g3e36394e788_0_574:notes"/>
          <p:cNvSpPr/>
          <p:nvPr>
            <p:ph idx="2" type="sldImg"/>
          </p:nvPr>
        </p:nvSpPr>
        <p:spPr>
          <a:xfrm>
            <a:off x="779463" y="768350"/>
            <a:ext cx="5540400" cy="3837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1" name="Shape 781"/>
        <p:cNvGrpSpPr/>
        <p:nvPr/>
      </p:nvGrpSpPr>
      <p:grpSpPr>
        <a:xfrm>
          <a:off x="0" y="0"/>
          <a:ext cx="0" cy="0"/>
          <a:chOff x="0" y="0"/>
          <a:chExt cx="0" cy="0"/>
        </a:xfrm>
      </p:grpSpPr>
      <p:sp>
        <p:nvSpPr>
          <p:cNvPr id="782" name="Google Shape;782;g3e36394e788_0_585:notes"/>
          <p:cNvSpPr txBox="1"/>
          <p:nvPr>
            <p:ph idx="1" type="body"/>
          </p:nvPr>
        </p:nvSpPr>
        <p:spPr>
          <a:xfrm>
            <a:off x="709287" y="4861048"/>
            <a:ext cx="5680800" cy="4605600"/>
          </a:xfrm>
          <a:prstGeom prst="rect">
            <a:avLst/>
          </a:prstGeom>
          <a:noFill/>
          <a:ln>
            <a:noFill/>
          </a:ln>
        </p:spPr>
        <p:txBody>
          <a:bodyPr anchorCtr="0" anchor="t" bIns="49500" lIns="99025" spcFirstLastPara="1" rIns="99025" wrap="square" tIns="49500">
            <a:noAutofit/>
          </a:bodyPr>
          <a:lstStyle/>
          <a:p>
            <a:pPr indent="0" lvl="0" marL="0" rtl="0" algn="l">
              <a:lnSpc>
                <a:spcPct val="100000"/>
              </a:lnSpc>
              <a:spcBef>
                <a:spcPts val="390"/>
              </a:spcBef>
              <a:spcAft>
                <a:spcPts val="0"/>
              </a:spcAft>
              <a:buSzPts val="1400"/>
              <a:buNone/>
            </a:pPr>
            <a:r>
              <a:t/>
            </a:r>
            <a:endParaRPr/>
          </a:p>
        </p:txBody>
      </p:sp>
      <p:sp>
        <p:nvSpPr>
          <p:cNvPr id="783" name="Google Shape;783;g3e36394e788_0_585:notes"/>
          <p:cNvSpPr/>
          <p:nvPr>
            <p:ph idx="2" type="sldImg"/>
          </p:nvPr>
        </p:nvSpPr>
        <p:spPr>
          <a:xfrm>
            <a:off x="779463" y="768350"/>
            <a:ext cx="5540400" cy="3837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5" name="Shape 805"/>
        <p:cNvGrpSpPr/>
        <p:nvPr/>
      </p:nvGrpSpPr>
      <p:grpSpPr>
        <a:xfrm>
          <a:off x="0" y="0"/>
          <a:ext cx="0" cy="0"/>
          <a:chOff x="0" y="0"/>
          <a:chExt cx="0" cy="0"/>
        </a:xfrm>
      </p:grpSpPr>
      <p:sp>
        <p:nvSpPr>
          <p:cNvPr id="806" name="Google Shape;806;g3e36394e788_0_596:notes"/>
          <p:cNvSpPr txBox="1"/>
          <p:nvPr>
            <p:ph idx="1" type="body"/>
          </p:nvPr>
        </p:nvSpPr>
        <p:spPr>
          <a:xfrm>
            <a:off x="709287" y="4861048"/>
            <a:ext cx="5680800" cy="4605600"/>
          </a:xfrm>
          <a:prstGeom prst="rect">
            <a:avLst/>
          </a:prstGeom>
          <a:noFill/>
          <a:ln>
            <a:noFill/>
          </a:ln>
        </p:spPr>
        <p:txBody>
          <a:bodyPr anchorCtr="0" anchor="t" bIns="49500" lIns="99025" spcFirstLastPara="1" rIns="99025" wrap="square" tIns="49500">
            <a:noAutofit/>
          </a:bodyPr>
          <a:lstStyle/>
          <a:p>
            <a:pPr indent="0" lvl="0" marL="0" rtl="0" algn="l">
              <a:lnSpc>
                <a:spcPct val="100000"/>
              </a:lnSpc>
              <a:spcBef>
                <a:spcPts val="390"/>
              </a:spcBef>
              <a:spcAft>
                <a:spcPts val="0"/>
              </a:spcAft>
              <a:buSzPts val="1400"/>
              <a:buNone/>
            </a:pPr>
            <a:r>
              <a:t/>
            </a:r>
            <a:endParaRPr/>
          </a:p>
        </p:txBody>
      </p:sp>
      <p:sp>
        <p:nvSpPr>
          <p:cNvPr id="807" name="Google Shape;807;g3e36394e788_0_596:notes"/>
          <p:cNvSpPr/>
          <p:nvPr>
            <p:ph idx="2" type="sldImg"/>
          </p:nvPr>
        </p:nvSpPr>
        <p:spPr>
          <a:xfrm>
            <a:off x="779463" y="768350"/>
            <a:ext cx="5540400" cy="3837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0" name="Shape 830"/>
        <p:cNvGrpSpPr/>
        <p:nvPr/>
      </p:nvGrpSpPr>
      <p:grpSpPr>
        <a:xfrm>
          <a:off x="0" y="0"/>
          <a:ext cx="0" cy="0"/>
          <a:chOff x="0" y="0"/>
          <a:chExt cx="0" cy="0"/>
        </a:xfrm>
      </p:grpSpPr>
      <p:sp>
        <p:nvSpPr>
          <p:cNvPr id="831" name="Google Shape;831;g3e36394e788_0_607:notes"/>
          <p:cNvSpPr txBox="1"/>
          <p:nvPr>
            <p:ph idx="1" type="body"/>
          </p:nvPr>
        </p:nvSpPr>
        <p:spPr>
          <a:xfrm>
            <a:off x="709287" y="4861048"/>
            <a:ext cx="5680800" cy="4605600"/>
          </a:xfrm>
          <a:prstGeom prst="rect">
            <a:avLst/>
          </a:prstGeom>
          <a:noFill/>
          <a:ln>
            <a:noFill/>
          </a:ln>
        </p:spPr>
        <p:txBody>
          <a:bodyPr anchorCtr="0" anchor="t" bIns="49500" lIns="99025" spcFirstLastPara="1" rIns="99025" wrap="square" tIns="49500">
            <a:noAutofit/>
          </a:bodyPr>
          <a:lstStyle/>
          <a:p>
            <a:pPr indent="0" lvl="0" marL="0" rtl="0" algn="l">
              <a:lnSpc>
                <a:spcPct val="100000"/>
              </a:lnSpc>
              <a:spcBef>
                <a:spcPts val="390"/>
              </a:spcBef>
              <a:spcAft>
                <a:spcPts val="0"/>
              </a:spcAft>
              <a:buSzPts val="1400"/>
              <a:buNone/>
            </a:pPr>
            <a:r>
              <a:t/>
            </a:r>
            <a:endParaRPr/>
          </a:p>
        </p:txBody>
      </p:sp>
      <p:sp>
        <p:nvSpPr>
          <p:cNvPr id="832" name="Google Shape;832;g3e36394e788_0_607:notes"/>
          <p:cNvSpPr/>
          <p:nvPr>
            <p:ph idx="2" type="sldImg"/>
          </p:nvPr>
        </p:nvSpPr>
        <p:spPr>
          <a:xfrm>
            <a:off x="779463" y="768350"/>
            <a:ext cx="5540400" cy="3837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6" name="Shape 846"/>
        <p:cNvGrpSpPr/>
        <p:nvPr/>
      </p:nvGrpSpPr>
      <p:grpSpPr>
        <a:xfrm>
          <a:off x="0" y="0"/>
          <a:ext cx="0" cy="0"/>
          <a:chOff x="0" y="0"/>
          <a:chExt cx="0" cy="0"/>
        </a:xfrm>
      </p:grpSpPr>
      <p:sp>
        <p:nvSpPr>
          <p:cNvPr id="847" name="Google Shape;847;g3e36394e788_0_618:notes"/>
          <p:cNvSpPr txBox="1"/>
          <p:nvPr>
            <p:ph idx="1" type="body"/>
          </p:nvPr>
        </p:nvSpPr>
        <p:spPr>
          <a:xfrm>
            <a:off x="709287" y="4861048"/>
            <a:ext cx="5680800" cy="4605600"/>
          </a:xfrm>
          <a:prstGeom prst="rect">
            <a:avLst/>
          </a:prstGeom>
          <a:noFill/>
          <a:ln>
            <a:noFill/>
          </a:ln>
        </p:spPr>
        <p:txBody>
          <a:bodyPr anchorCtr="0" anchor="t" bIns="49500" lIns="99025" spcFirstLastPara="1" rIns="99025" wrap="square" tIns="49500">
            <a:noAutofit/>
          </a:bodyPr>
          <a:lstStyle/>
          <a:p>
            <a:pPr indent="0" lvl="0" marL="0" rtl="0" algn="l">
              <a:lnSpc>
                <a:spcPct val="100000"/>
              </a:lnSpc>
              <a:spcBef>
                <a:spcPts val="390"/>
              </a:spcBef>
              <a:spcAft>
                <a:spcPts val="0"/>
              </a:spcAft>
              <a:buSzPts val="1400"/>
              <a:buNone/>
            </a:pPr>
            <a:r>
              <a:t/>
            </a:r>
            <a:endParaRPr/>
          </a:p>
        </p:txBody>
      </p:sp>
      <p:sp>
        <p:nvSpPr>
          <p:cNvPr id="848" name="Google Shape;848;g3e36394e788_0_618:notes"/>
          <p:cNvSpPr/>
          <p:nvPr>
            <p:ph idx="2" type="sldImg"/>
          </p:nvPr>
        </p:nvSpPr>
        <p:spPr>
          <a:xfrm>
            <a:off x="779463" y="768350"/>
            <a:ext cx="5540400" cy="3837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9" name="Shape 869"/>
        <p:cNvGrpSpPr/>
        <p:nvPr/>
      </p:nvGrpSpPr>
      <p:grpSpPr>
        <a:xfrm>
          <a:off x="0" y="0"/>
          <a:ext cx="0" cy="0"/>
          <a:chOff x="0" y="0"/>
          <a:chExt cx="0" cy="0"/>
        </a:xfrm>
      </p:grpSpPr>
      <p:sp>
        <p:nvSpPr>
          <p:cNvPr id="870" name="Google Shape;870;g3e36394e788_0_629:notes"/>
          <p:cNvSpPr txBox="1"/>
          <p:nvPr>
            <p:ph idx="1" type="body"/>
          </p:nvPr>
        </p:nvSpPr>
        <p:spPr>
          <a:xfrm>
            <a:off x="709287" y="4861048"/>
            <a:ext cx="5680800" cy="4605600"/>
          </a:xfrm>
          <a:prstGeom prst="rect">
            <a:avLst/>
          </a:prstGeom>
          <a:noFill/>
          <a:ln>
            <a:noFill/>
          </a:ln>
        </p:spPr>
        <p:txBody>
          <a:bodyPr anchorCtr="0" anchor="t" bIns="49500" lIns="99025" spcFirstLastPara="1" rIns="99025" wrap="square" tIns="49500">
            <a:noAutofit/>
          </a:bodyPr>
          <a:lstStyle/>
          <a:p>
            <a:pPr indent="0" lvl="0" marL="0" rtl="0" algn="l">
              <a:lnSpc>
                <a:spcPct val="100000"/>
              </a:lnSpc>
              <a:spcBef>
                <a:spcPts val="390"/>
              </a:spcBef>
              <a:spcAft>
                <a:spcPts val="0"/>
              </a:spcAft>
              <a:buSzPts val="1400"/>
              <a:buNone/>
            </a:pPr>
            <a:r>
              <a:t/>
            </a:r>
            <a:endParaRPr/>
          </a:p>
        </p:txBody>
      </p:sp>
      <p:sp>
        <p:nvSpPr>
          <p:cNvPr id="871" name="Google Shape;871;g3e36394e788_0_629:notes"/>
          <p:cNvSpPr/>
          <p:nvPr>
            <p:ph idx="2" type="sldImg"/>
          </p:nvPr>
        </p:nvSpPr>
        <p:spPr>
          <a:xfrm>
            <a:off x="779463" y="768350"/>
            <a:ext cx="5540400" cy="3837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2" name="Shape 892"/>
        <p:cNvGrpSpPr/>
        <p:nvPr/>
      </p:nvGrpSpPr>
      <p:grpSpPr>
        <a:xfrm>
          <a:off x="0" y="0"/>
          <a:ext cx="0" cy="0"/>
          <a:chOff x="0" y="0"/>
          <a:chExt cx="0" cy="0"/>
        </a:xfrm>
      </p:grpSpPr>
      <p:sp>
        <p:nvSpPr>
          <p:cNvPr id="893" name="Google Shape;893;g3e3a61befe4_0_3881:notes"/>
          <p:cNvSpPr txBox="1"/>
          <p:nvPr>
            <p:ph idx="1" type="body"/>
          </p:nvPr>
        </p:nvSpPr>
        <p:spPr>
          <a:xfrm>
            <a:off x="709287" y="4861048"/>
            <a:ext cx="5680800" cy="4605600"/>
          </a:xfrm>
          <a:prstGeom prst="rect">
            <a:avLst/>
          </a:prstGeom>
          <a:noFill/>
          <a:ln>
            <a:noFill/>
          </a:ln>
        </p:spPr>
        <p:txBody>
          <a:bodyPr anchorCtr="0" anchor="t" bIns="49500" lIns="99025" spcFirstLastPara="1" rIns="99025" wrap="square" tIns="49500">
            <a:noAutofit/>
          </a:bodyPr>
          <a:lstStyle/>
          <a:p>
            <a:pPr indent="0" lvl="0" marL="0" rtl="0" algn="l">
              <a:lnSpc>
                <a:spcPct val="100000"/>
              </a:lnSpc>
              <a:spcBef>
                <a:spcPts val="390"/>
              </a:spcBef>
              <a:spcAft>
                <a:spcPts val="0"/>
              </a:spcAft>
              <a:buSzPts val="1400"/>
              <a:buNone/>
            </a:pPr>
            <a:r>
              <a:t/>
            </a:r>
            <a:endParaRPr/>
          </a:p>
        </p:txBody>
      </p:sp>
      <p:sp>
        <p:nvSpPr>
          <p:cNvPr id="894" name="Google Shape;894;g3e3a61befe4_0_3881:notes"/>
          <p:cNvSpPr/>
          <p:nvPr>
            <p:ph idx="2" type="sldImg"/>
          </p:nvPr>
        </p:nvSpPr>
        <p:spPr>
          <a:xfrm>
            <a:off x="779463" y="768350"/>
            <a:ext cx="5540400" cy="3837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8" name="Shape 908"/>
        <p:cNvGrpSpPr/>
        <p:nvPr/>
      </p:nvGrpSpPr>
      <p:grpSpPr>
        <a:xfrm>
          <a:off x="0" y="0"/>
          <a:ext cx="0" cy="0"/>
          <a:chOff x="0" y="0"/>
          <a:chExt cx="0" cy="0"/>
        </a:xfrm>
      </p:grpSpPr>
      <p:sp>
        <p:nvSpPr>
          <p:cNvPr id="909" name="Google Shape;909;g3e33499f370_0_414:notes"/>
          <p:cNvSpPr txBox="1"/>
          <p:nvPr>
            <p:ph idx="1" type="body"/>
          </p:nvPr>
        </p:nvSpPr>
        <p:spPr>
          <a:xfrm>
            <a:off x="709287" y="4861048"/>
            <a:ext cx="5680800" cy="4605600"/>
          </a:xfrm>
          <a:prstGeom prst="rect">
            <a:avLst/>
          </a:prstGeom>
          <a:noFill/>
          <a:ln>
            <a:noFill/>
          </a:ln>
        </p:spPr>
        <p:txBody>
          <a:bodyPr anchorCtr="0" anchor="t" bIns="49500" lIns="99025" spcFirstLastPara="1" rIns="99025" wrap="square" tIns="49500">
            <a:noAutofit/>
          </a:bodyPr>
          <a:lstStyle/>
          <a:p>
            <a:pPr indent="0" lvl="0" marL="0" rtl="0" algn="l">
              <a:lnSpc>
                <a:spcPct val="100000"/>
              </a:lnSpc>
              <a:spcBef>
                <a:spcPts val="390"/>
              </a:spcBef>
              <a:spcAft>
                <a:spcPts val="0"/>
              </a:spcAft>
              <a:buSzPts val="1400"/>
              <a:buNone/>
            </a:pPr>
            <a:r>
              <a:t/>
            </a:r>
            <a:endParaRPr/>
          </a:p>
        </p:txBody>
      </p:sp>
      <p:sp>
        <p:nvSpPr>
          <p:cNvPr id="910" name="Google Shape;910;g3e33499f370_0_414:notes"/>
          <p:cNvSpPr/>
          <p:nvPr>
            <p:ph idx="2" type="sldImg"/>
          </p:nvPr>
        </p:nvSpPr>
        <p:spPr>
          <a:xfrm>
            <a:off x="779463" y="768350"/>
            <a:ext cx="5540400" cy="3837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8" name="Shape 928"/>
        <p:cNvGrpSpPr/>
        <p:nvPr/>
      </p:nvGrpSpPr>
      <p:grpSpPr>
        <a:xfrm>
          <a:off x="0" y="0"/>
          <a:ext cx="0" cy="0"/>
          <a:chOff x="0" y="0"/>
          <a:chExt cx="0" cy="0"/>
        </a:xfrm>
      </p:grpSpPr>
      <p:sp>
        <p:nvSpPr>
          <p:cNvPr id="929" name="Google Shape;929;g3e387427cbb_120_588:notes"/>
          <p:cNvSpPr txBox="1"/>
          <p:nvPr>
            <p:ph idx="1" type="body"/>
          </p:nvPr>
        </p:nvSpPr>
        <p:spPr>
          <a:xfrm>
            <a:off x="709287" y="4861048"/>
            <a:ext cx="5680800" cy="4605600"/>
          </a:xfrm>
          <a:prstGeom prst="rect">
            <a:avLst/>
          </a:prstGeom>
          <a:noFill/>
          <a:ln>
            <a:noFill/>
          </a:ln>
        </p:spPr>
        <p:txBody>
          <a:bodyPr anchorCtr="0" anchor="t" bIns="49500" lIns="99025" spcFirstLastPara="1" rIns="99025" wrap="square" tIns="49500">
            <a:noAutofit/>
          </a:bodyPr>
          <a:lstStyle/>
          <a:p>
            <a:pPr indent="0" lvl="0" marL="0" rtl="0" algn="l">
              <a:lnSpc>
                <a:spcPct val="100000"/>
              </a:lnSpc>
              <a:spcBef>
                <a:spcPts val="390"/>
              </a:spcBef>
              <a:spcAft>
                <a:spcPts val="0"/>
              </a:spcAft>
              <a:buSzPts val="1400"/>
              <a:buNone/>
            </a:pPr>
            <a:r>
              <a:t/>
            </a:r>
            <a:endParaRPr/>
          </a:p>
        </p:txBody>
      </p:sp>
      <p:sp>
        <p:nvSpPr>
          <p:cNvPr id="930" name="Google Shape;930;g3e387427cbb_120_588:notes"/>
          <p:cNvSpPr/>
          <p:nvPr>
            <p:ph idx="2" type="sldImg"/>
          </p:nvPr>
        </p:nvSpPr>
        <p:spPr>
          <a:xfrm>
            <a:off x="779463" y="768350"/>
            <a:ext cx="5540400" cy="3837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2" name="Shape 942"/>
        <p:cNvGrpSpPr/>
        <p:nvPr/>
      </p:nvGrpSpPr>
      <p:grpSpPr>
        <a:xfrm>
          <a:off x="0" y="0"/>
          <a:ext cx="0" cy="0"/>
          <a:chOff x="0" y="0"/>
          <a:chExt cx="0" cy="0"/>
        </a:xfrm>
      </p:grpSpPr>
      <p:sp>
        <p:nvSpPr>
          <p:cNvPr id="943" name="Google Shape;943;g3e3a61befe4_0_3900:notes"/>
          <p:cNvSpPr txBox="1"/>
          <p:nvPr>
            <p:ph idx="1" type="body"/>
          </p:nvPr>
        </p:nvSpPr>
        <p:spPr>
          <a:xfrm>
            <a:off x="709287" y="4861048"/>
            <a:ext cx="5680800" cy="4605600"/>
          </a:xfrm>
          <a:prstGeom prst="rect">
            <a:avLst/>
          </a:prstGeom>
          <a:noFill/>
          <a:ln>
            <a:noFill/>
          </a:ln>
        </p:spPr>
        <p:txBody>
          <a:bodyPr anchorCtr="0" anchor="t" bIns="49500" lIns="99025" spcFirstLastPara="1" rIns="99025" wrap="square" tIns="49500">
            <a:noAutofit/>
          </a:bodyPr>
          <a:lstStyle/>
          <a:p>
            <a:pPr indent="0" lvl="0" marL="0" rtl="0" algn="l">
              <a:lnSpc>
                <a:spcPct val="100000"/>
              </a:lnSpc>
              <a:spcBef>
                <a:spcPts val="390"/>
              </a:spcBef>
              <a:spcAft>
                <a:spcPts val="0"/>
              </a:spcAft>
              <a:buSzPts val="1400"/>
              <a:buNone/>
            </a:pPr>
            <a:r>
              <a:t/>
            </a:r>
            <a:endParaRPr/>
          </a:p>
        </p:txBody>
      </p:sp>
      <p:sp>
        <p:nvSpPr>
          <p:cNvPr id="944" name="Google Shape;944;g3e3a61befe4_0_3900:notes"/>
          <p:cNvSpPr/>
          <p:nvPr>
            <p:ph idx="2" type="sldImg"/>
          </p:nvPr>
        </p:nvSpPr>
        <p:spPr>
          <a:xfrm>
            <a:off x="779463" y="768350"/>
            <a:ext cx="5540400" cy="3837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5" name="Shape 955"/>
        <p:cNvGrpSpPr/>
        <p:nvPr/>
      </p:nvGrpSpPr>
      <p:grpSpPr>
        <a:xfrm>
          <a:off x="0" y="0"/>
          <a:ext cx="0" cy="0"/>
          <a:chOff x="0" y="0"/>
          <a:chExt cx="0" cy="0"/>
        </a:xfrm>
      </p:grpSpPr>
      <p:sp>
        <p:nvSpPr>
          <p:cNvPr id="956" name="Google Shape;956;g3e387427cbb_128_595:notes"/>
          <p:cNvSpPr txBox="1"/>
          <p:nvPr>
            <p:ph idx="1" type="body"/>
          </p:nvPr>
        </p:nvSpPr>
        <p:spPr>
          <a:xfrm>
            <a:off x="709287" y="4861048"/>
            <a:ext cx="5680800" cy="4605600"/>
          </a:xfrm>
          <a:prstGeom prst="rect">
            <a:avLst/>
          </a:prstGeom>
          <a:noFill/>
          <a:ln>
            <a:noFill/>
          </a:ln>
        </p:spPr>
        <p:txBody>
          <a:bodyPr anchorCtr="0" anchor="t" bIns="49500" lIns="99025" spcFirstLastPara="1" rIns="99025" wrap="square" tIns="49500">
            <a:noAutofit/>
          </a:bodyPr>
          <a:lstStyle/>
          <a:p>
            <a:pPr indent="0" lvl="0" marL="0" rtl="0" algn="l">
              <a:lnSpc>
                <a:spcPct val="100000"/>
              </a:lnSpc>
              <a:spcBef>
                <a:spcPts val="390"/>
              </a:spcBef>
              <a:spcAft>
                <a:spcPts val="0"/>
              </a:spcAft>
              <a:buSzPts val="1400"/>
              <a:buNone/>
            </a:pPr>
            <a:r>
              <a:t/>
            </a:r>
            <a:endParaRPr/>
          </a:p>
        </p:txBody>
      </p:sp>
      <p:sp>
        <p:nvSpPr>
          <p:cNvPr id="957" name="Google Shape;957;g3e387427cbb_128_595:notes"/>
          <p:cNvSpPr/>
          <p:nvPr>
            <p:ph idx="2" type="sldImg"/>
          </p:nvPr>
        </p:nvSpPr>
        <p:spPr>
          <a:xfrm>
            <a:off x="779463" y="768350"/>
            <a:ext cx="5540400" cy="3837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9" name="Shape 969"/>
        <p:cNvGrpSpPr/>
        <p:nvPr/>
      </p:nvGrpSpPr>
      <p:grpSpPr>
        <a:xfrm>
          <a:off x="0" y="0"/>
          <a:ext cx="0" cy="0"/>
          <a:chOff x="0" y="0"/>
          <a:chExt cx="0" cy="0"/>
        </a:xfrm>
      </p:grpSpPr>
      <p:sp>
        <p:nvSpPr>
          <p:cNvPr id="970" name="Google Shape;970;g3e27de7754e_0_90:notes"/>
          <p:cNvSpPr txBox="1"/>
          <p:nvPr>
            <p:ph idx="1" type="body"/>
          </p:nvPr>
        </p:nvSpPr>
        <p:spPr>
          <a:xfrm>
            <a:off x="709287" y="4861048"/>
            <a:ext cx="5680800" cy="4605600"/>
          </a:xfrm>
          <a:prstGeom prst="rect">
            <a:avLst/>
          </a:prstGeom>
          <a:noFill/>
          <a:ln>
            <a:noFill/>
          </a:ln>
        </p:spPr>
        <p:txBody>
          <a:bodyPr anchorCtr="0" anchor="t" bIns="49500" lIns="99025" spcFirstLastPara="1" rIns="99025" wrap="square" tIns="49500">
            <a:noAutofit/>
          </a:bodyPr>
          <a:lstStyle/>
          <a:p>
            <a:pPr indent="0" lvl="0" marL="0" rtl="0" algn="l">
              <a:lnSpc>
                <a:spcPct val="100000"/>
              </a:lnSpc>
              <a:spcBef>
                <a:spcPts val="390"/>
              </a:spcBef>
              <a:spcAft>
                <a:spcPts val="0"/>
              </a:spcAft>
              <a:buSzPts val="1400"/>
              <a:buNone/>
            </a:pPr>
            <a:r>
              <a:t/>
            </a:r>
            <a:endParaRPr/>
          </a:p>
        </p:txBody>
      </p:sp>
      <p:sp>
        <p:nvSpPr>
          <p:cNvPr id="971" name="Google Shape;971;g3e27de7754e_0_90:notes"/>
          <p:cNvSpPr/>
          <p:nvPr>
            <p:ph idx="2" type="sldImg"/>
          </p:nvPr>
        </p:nvSpPr>
        <p:spPr>
          <a:xfrm>
            <a:off x="779463" y="768350"/>
            <a:ext cx="5540400" cy="3837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2" name="Shape 982"/>
        <p:cNvGrpSpPr/>
        <p:nvPr/>
      </p:nvGrpSpPr>
      <p:grpSpPr>
        <a:xfrm>
          <a:off x="0" y="0"/>
          <a:ext cx="0" cy="0"/>
          <a:chOff x="0" y="0"/>
          <a:chExt cx="0" cy="0"/>
        </a:xfrm>
      </p:grpSpPr>
      <p:sp>
        <p:nvSpPr>
          <p:cNvPr id="983" name="Google Shape;983;g3e09165f504_0_58:notes"/>
          <p:cNvSpPr txBox="1"/>
          <p:nvPr>
            <p:ph idx="1" type="body"/>
          </p:nvPr>
        </p:nvSpPr>
        <p:spPr>
          <a:xfrm>
            <a:off x="709287" y="4861048"/>
            <a:ext cx="5680800" cy="4605600"/>
          </a:xfrm>
          <a:prstGeom prst="rect">
            <a:avLst/>
          </a:prstGeom>
          <a:noFill/>
          <a:ln>
            <a:noFill/>
          </a:ln>
        </p:spPr>
        <p:txBody>
          <a:bodyPr anchorCtr="0" anchor="t" bIns="49500" lIns="99025" spcFirstLastPara="1" rIns="99025" wrap="square" tIns="49500">
            <a:noAutofit/>
          </a:bodyPr>
          <a:lstStyle/>
          <a:p>
            <a:pPr indent="0" lvl="0" marL="0" rtl="0" algn="l">
              <a:lnSpc>
                <a:spcPct val="100000"/>
              </a:lnSpc>
              <a:spcBef>
                <a:spcPts val="390"/>
              </a:spcBef>
              <a:spcAft>
                <a:spcPts val="0"/>
              </a:spcAft>
              <a:buSzPts val="1400"/>
              <a:buNone/>
            </a:pPr>
            <a:r>
              <a:t/>
            </a:r>
            <a:endParaRPr/>
          </a:p>
        </p:txBody>
      </p:sp>
      <p:sp>
        <p:nvSpPr>
          <p:cNvPr id="984" name="Google Shape;984;g3e09165f504_0_58:notes"/>
          <p:cNvSpPr/>
          <p:nvPr>
            <p:ph idx="2" type="sldImg"/>
          </p:nvPr>
        </p:nvSpPr>
        <p:spPr>
          <a:xfrm>
            <a:off x="779463" y="768350"/>
            <a:ext cx="5540400" cy="3837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6" name="Shape 996"/>
        <p:cNvGrpSpPr/>
        <p:nvPr/>
      </p:nvGrpSpPr>
      <p:grpSpPr>
        <a:xfrm>
          <a:off x="0" y="0"/>
          <a:ext cx="0" cy="0"/>
          <a:chOff x="0" y="0"/>
          <a:chExt cx="0" cy="0"/>
        </a:xfrm>
      </p:grpSpPr>
      <p:sp>
        <p:nvSpPr>
          <p:cNvPr id="997" name="Google Shape;997;g3e33499f370_0_295:notes"/>
          <p:cNvSpPr txBox="1"/>
          <p:nvPr>
            <p:ph idx="1" type="body"/>
          </p:nvPr>
        </p:nvSpPr>
        <p:spPr>
          <a:xfrm>
            <a:off x="709287" y="4861048"/>
            <a:ext cx="5680800" cy="4605600"/>
          </a:xfrm>
          <a:prstGeom prst="rect">
            <a:avLst/>
          </a:prstGeom>
          <a:noFill/>
          <a:ln>
            <a:noFill/>
          </a:ln>
        </p:spPr>
        <p:txBody>
          <a:bodyPr anchorCtr="0" anchor="t" bIns="49500" lIns="99025" spcFirstLastPara="1" rIns="99025" wrap="square" tIns="49500">
            <a:noAutofit/>
          </a:bodyPr>
          <a:lstStyle/>
          <a:p>
            <a:pPr indent="0" lvl="0" marL="0" rtl="0" algn="l">
              <a:lnSpc>
                <a:spcPct val="100000"/>
              </a:lnSpc>
              <a:spcBef>
                <a:spcPts val="390"/>
              </a:spcBef>
              <a:spcAft>
                <a:spcPts val="0"/>
              </a:spcAft>
              <a:buSzPts val="1400"/>
              <a:buNone/>
            </a:pPr>
            <a:r>
              <a:t/>
            </a:r>
            <a:endParaRPr/>
          </a:p>
        </p:txBody>
      </p:sp>
      <p:sp>
        <p:nvSpPr>
          <p:cNvPr id="998" name="Google Shape;998;g3e33499f370_0_295:notes"/>
          <p:cNvSpPr/>
          <p:nvPr>
            <p:ph idx="2" type="sldImg"/>
          </p:nvPr>
        </p:nvSpPr>
        <p:spPr>
          <a:xfrm>
            <a:off x="779463" y="768350"/>
            <a:ext cx="5540400" cy="3837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9" name="Shape 1009"/>
        <p:cNvGrpSpPr/>
        <p:nvPr/>
      </p:nvGrpSpPr>
      <p:grpSpPr>
        <a:xfrm>
          <a:off x="0" y="0"/>
          <a:ext cx="0" cy="0"/>
          <a:chOff x="0" y="0"/>
          <a:chExt cx="0" cy="0"/>
        </a:xfrm>
      </p:grpSpPr>
      <p:sp>
        <p:nvSpPr>
          <p:cNvPr id="1010" name="Google Shape;1010;g3e3096c156c_0_19:notes"/>
          <p:cNvSpPr txBox="1"/>
          <p:nvPr>
            <p:ph idx="1" type="body"/>
          </p:nvPr>
        </p:nvSpPr>
        <p:spPr>
          <a:xfrm>
            <a:off x="709287" y="4861048"/>
            <a:ext cx="5680800" cy="4605600"/>
          </a:xfrm>
          <a:prstGeom prst="rect">
            <a:avLst/>
          </a:prstGeom>
          <a:noFill/>
          <a:ln>
            <a:noFill/>
          </a:ln>
        </p:spPr>
        <p:txBody>
          <a:bodyPr anchorCtr="0" anchor="t" bIns="49500" lIns="99025" spcFirstLastPara="1" rIns="99025" wrap="square" tIns="49500">
            <a:noAutofit/>
          </a:bodyPr>
          <a:lstStyle/>
          <a:p>
            <a:pPr indent="0" lvl="0" marL="0" rtl="0" algn="l">
              <a:lnSpc>
                <a:spcPct val="100000"/>
              </a:lnSpc>
              <a:spcBef>
                <a:spcPts val="390"/>
              </a:spcBef>
              <a:spcAft>
                <a:spcPts val="0"/>
              </a:spcAft>
              <a:buSzPts val="1400"/>
              <a:buNone/>
            </a:pPr>
            <a:r>
              <a:t/>
            </a:r>
            <a:endParaRPr/>
          </a:p>
        </p:txBody>
      </p:sp>
      <p:sp>
        <p:nvSpPr>
          <p:cNvPr id="1011" name="Google Shape;1011;g3e3096c156c_0_19:notes"/>
          <p:cNvSpPr/>
          <p:nvPr>
            <p:ph idx="2" type="sldImg"/>
          </p:nvPr>
        </p:nvSpPr>
        <p:spPr>
          <a:xfrm>
            <a:off x="779463" y="768350"/>
            <a:ext cx="5540400" cy="3837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3" name="Shape 1023"/>
        <p:cNvGrpSpPr/>
        <p:nvPr/>
      </p:nvGrpSpPr>
      <p:grpSpPr>
        <a:xfrm>
          <a:off x="0" y="0"/>
          <a:ext cx="0" cy="0"/>
          <a:chOff x="0" y="0"/>
          <a:chExt cx="0" cy="0"/>
        </a:xfrm>
      </p:grpSpPr>
      <p:sp>
        <p:nvSpPr>
          <p:cNvPr id="1024" name="Google Shape;1024;g3e292f661c6_30_1206:notes"/>
          <p:cNvSpPr txBox="1"/>
          <p:nvPr>
            <p:ph idx="1" type="body"/>
          </p:nvPr>
        </p:nvSpPr>
        <p:spPr>
          <a:xfrm>
            <a:off x="709287" y="4861048"/>
            <a:ext cx="5680800" cy="4605600"/>
          </a:xfrm>
          <a:prstGeom prst="rect">
            <a:avLst/>
          </a:prstGeom>
          <a:noFill/>
          <a:ln>
            <a:noFill/>
          </a:ln>
        </p:spPr>
        <p:txBody>
          <a:bodyPr anchorCtr="0" anchor="t" bIns="49500" lIns="99025" spcFirstLastPara="1" rIns="99025" wrap="square" tIns="49500">
            <a:noAutofit/>
          </a:bodyPr>
          <a:lstStyle/>
          <a:p>
            <a:pPr indent="0" lvl="0" marL="0" rtl="0" algn="l">
              <a:lnSpc>
                <a:spcPct val="100000"/>
              </a:lnSpc>
              <a:spcBef>
                <a:spcPts val="390"/>
              </a:spcBef>
              <a:spcAft>
                <a:spcPts val="0"/>
              </a:spcAft>
              <a:buSzPts val="1400"/>
              <a:buNone/>
            </a:pPr>
            <a:r>
              <a:t/>
            </a:r>
            <a:endParaRPr/>
          </a:p>
        </p:txBody>
      </p:sp>
      <p:sp>
        <p:nvSpPr>
          <p:cNvPr id="1025" name="Google Shape;1025;g3e292f661c6_30_1206:notes"/>
          <p:cNvSpPr/>
          <p:nvPr>
            <p:ph idx="2" type="sldImg"/>
          </p:nvPr>
        </p:nvSpPr>
        <p:spPr>
          <a:xfrm>
            <a:off x="779463" y="768350"/>
            <a:ext cx="5540400" cy="3837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6" name="Shape 1036"/>
        <p:cNvGrpSpPr/>
        <p:nvPr/>
      </p:nvGrpSpPr>
      <p:grpSpPr>
        <a:xfrm>
          <a:off x="0" y="0"/>
          <a:ext cx="0" cy="0"/>
          <a:chOff x="0" y="0"/>
          <a:chExt cx="0" cy="0"/>
        </a:xfrm>
      </p:grpSpPr>
      <p:sp>
        <p:nvSpPr>
          <p:cNvPr id="1037" name="Google Shape;1037;g3e27de7754e_0_34:notes"/>
          <p:cNvSpPr txBox="1"/>
          <p:nvPr>
            <p:ph idx="1" type="body"/>
          </p:nvPr>
        </p:nvSpPr>
        <p:spPr>
          <a:xfrm>
            <a:off x="709287" y="4861048"/>
            <a:ext cx="5680800" cy="4605600"/>
          </a:xfrm>
          <a:prstGeom prst="rect">
            <a:avLst/>
          </a:prstGeom>
          <a:noFill/>
          <a:ln>
            <a:noFill/>
          </a:ln>
        </p:spPr>
        <p:txBody>
          <a:bodyPr anchorCtr="0" anchor="t" bIns="49500" lIns="99025" spcFirstLastPara="1" rIns="99025" wrap="square" tIns="49500">
            <a:noAutofit/>
          </a:bodyPr>
          <a:lstStyle/>
          <a:p>
            <a:pPr indent="0" lvl="0" marL="0" rtl="0" algn="l">
              <a:lnSpc>
                <a:spcPct val="100000"/>
              </a:lnSpc>
              <a:spcBef>
                <a:spcPts val="390"/>
              </a:spcBef>
              <a:spcAft>
                <a:spcPts val="0"/>
              </a:spcAft>
              <a:buSzPts val="1400"/>
              <a:buNone/>
            </a:pPr>
            <a:r>
              <a:t/>
            </a:r>
            <a:endParaRPr/>
          </a:p>
        </p:txBody>
      </p:sp>
      <p:sp>
        <p:nvSpPr>
          <p:cNvPr id="1038" name="Google Shape;1038;g3e27de7754e_0_34:notes"/>
          <p:cNvSpPr/>
          <p:nvPr>
            <p:ph idx="2" type="sldImg"/>
          </p:nvPr>
        </p:nvSpPr>
        <p:spPr>
          <a:xfrm>
            <a:off x="779463" y="768350"/>
            <a:ext cx="5540400" cy="3837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9" name="Shape 1049"/>
        <p:cNvGrpSpPr/>
        <p:nvPr/>
      </p:nvGrpSpPr>
      <p:grpSpPr>
        <a:xfrm>
          <a:off x="0" y="0"/>
          <a:ext cx="0" cy="0"/>
          <a:chOff x="0" y="0"/>
          <a:chExt cx="0" cy="0"/>
        </a:xfrm>
      </p:grpSpPr>
      <p:sp>
        <p:nvSpPr>
          <p:cNvPr id="1050" name="Google Shape;1050;g3e292f661c6_30_1218:notes"/>
          <p:cNvSpPr txBox="1"/>
          <p:nvPr>
            <p:ph idx="1" type="body"/>
          </p:nvPr>
        </p:nvSpPr>
        <p:spPr>
          <a:xfrm>
            <a:off x="709287" y="4861048"/>
            <a:ext cx="5680800" cy="4605600"/>
          </a:xfrm>
          <a:prstGeom prst="rect">
            <a:avLst/>
          </a:prstGeom>
          <a:noFill/>
          <a:ln>
            <a:noFill/>
          </a:ln>
        </p:spPr>
        <p:txBody>
          <a:bodyPr anchorCtr="0" anchor="t" bIns="49500" lIns="99025" spcFirstLastPara="1" rIns="99025" wrap="square" tIns="49500">
            <a:noAutofit/>
          </a:bodyPr>
          <a:lstStyle/>
          <a:p>
            <a:pPr indent="0" lvl="0" marL="0" rtl="0" algn="l">
              <a:lnSpc>
                <a:spcPct val="100000"/>
              </a:lnSpc>
              <a:spcBef>
                <a:spcPts val="390"/>
              </a:spcBef>
              <a:spcAft>
                <a:spcPts val="0"/>
              </a:spcAft>
              <a:buSzPts val="1400"/>
              <a:buNone/>
            </a:pPr>
            <a:r>
              <a:t/>
            </a:r>
            <a:endParaRPr/>
          </a:p>
        </p:txBody>
      </p:sp>
      <p:sp>
        <p:nvSpPr>
          <p:cNvPr id="1051" name="Google Shape;1051;g3e292f661c6_30_1218:notes"/>
          <p:cNvSpPr/>
          <p:nvPr>
            <p:ph idx="2" type="sldImg"/>
          </p:nvPr>
        </p:nvSpPr>
        <p:spPr>
          <a:xfrm>
            <a:off x="779463" y="768350"/>
            <a:ext cx="5540400" cy="3837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2" name="Shape 1062"/>
        <p:cNvGrpSpPr/>
        <p:nvPr/>
      </p:nvGrpSpPr>
      <p:grpSpPr>
        <a:xfrm>
          <a:off x="0" y="0"/>
          <a:ext cx="0" cy="0"/>
          <a:chOff x="0" y="0"/>
          <a:chExt cx="0" cy="0"/>
        </a:xfrm>
      </p:grpSpPr>
      <p:sp>
        <p:nvSpPr>
          <p:cNvPr id="1063" name="Google Shape;1063;g3e292f661c6_30_1230:notes"/>
          <p:cNvSpPr txBox="1"/>
          <p:nvPr>
            <p:ph idx="1" type="body"/>
          </p:nvPr>
        </p:nvSpPr>
        <p:spPr>
          <a:xfrm>
            <a:off x="709287" y="4861048"/>
            <a:ext cx="5680800" cy="4605600"/>
          </a:xfrm>
          <a:prstGeom prst="rect">
            <a:avLst/>
          </a:prstGeom>
          <a:noFill/>
          <a:ln>
            <a:noFill/>
          </a:ln>
        </p:spPr>
        <p:txBody>
          <a:bodyPr anchorCtr="0" anchor="t" bIns="49500" lIns="99025" spcFirstLastPara="1" rIns="99025" wrap="square" tIns="49500">
            <a:noAutofit/>
          </a:bodyPr>
          <a:lstStyle/>
          <a:p>
            <a:pPr indent="0" lvl="0" marL="0" rtl="0" algn="l">
              <a:lnSpc>
                <a:spcPct val="100000"/>
              </a:lnSpc>
              <a:spcBef>
                <a:spcPts val="390"/>
              </a:spcBef>
              <a:spcAft>
                <a:spcPts val="0"/>
              </a:spcAft>
              <a:buSzPts val="1400"/>
              <a:buNone/>
            </a:pPr>
            <a:r>
              <a:t/>
            </a:r>
            <a:endParaRPr/>
          </a:p>
        </p:txBody>
      </p:sp>
      <p:sp>
        <p:nvSpPr>
          <p:cNvPr id="1064" name="Google Shape;1064;g3e292f661c6_30_1230:notes"/>
          <p:cNvSpPr/>
          <p:nvPr>
            <p:ph idx="2" type="sldImg"/>
          </p:nvPr>
        </p:nvSpPr>
        <p:spPr>
          <a:xfrm>
            <a:off x="779463" y="768350"/>
            <a:ext cx="5540400" cy="3837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4" name="Shape 1084"/>
        <p:cNvGrpSpPr/>
        <p:nvPr/>
      </p:nvGrpSpPr>
      <p:grpSpPr>
        <a:xfrm>
          <a:off x="0" y="0"/>
          <a:ext cx="0" cy="0"/>
          <a:chOff x="0" y="0"/>
          <a:chExt cx="0" cy="0"/>
        </a:xfrm>
      </p:grpSpPr>
      <p:sp>
        <p:nvSpPr>
          <p:cNvPr id="1085" name="Google Shape;1085;g3e33499f370_0_308:notes"/>
          <p:cNvSpPr txBox="1"/>
          <p:nvPr>
            <p:ph idx="1" type="body"/>
          </p:nvPr>
        </p:nvSpPr>
        <p:spPr>
          <a:xfrm>
            <a:off x="709287" y="4861048"/>
            <a:ext cx="5680800" cy="4605600"/>
          </a:xfrm>
          <a:prstGeom prst="rect">
            <a:avLst/>
          </a:prstGeom>
          <a:noFill/>
          <a:ln>
            <a:noFill/>
          </a:ln>
        </p:spPr>
        <p:txBody>
          <a:bodyPr anchorCtr="0" anchor="t" bIns="49500" lIns="99025" spcFirstLastPara="1" rIns="99025" wrap="square" tIns="49500">
            <a:noAutofit/>
          </a:bodyPr>
          <a:lstStyle/>
          <a:p>
            <a:pPr indent="0" lvl="0" marL="0" rtl="0" algn="l">
              <a:lnSpc>
                <a:spcPct val="100000"/>
              </a:lnSpc>
              <a:spcBef>
                <a:spcPts val="390"/>
              </a:spcBef>
              <a:spcAft>
                <a:spcPts val="0"/>
              </a:spcAft>
              <a:buSzPts val="1400"/>
              <a:buNone/>
            </a:pPr>
            <a:r>
              <a:t/>
            </a:r>
            <a:endParaRPr/>
          </a:p>
        </p:txBody>
      </p:sp>
      <p:sp>
        <p:nvSpPr>
          <p:cNvPr id="1086" name="Google Shape;1086;g3e33499f370_0_308:notes"/>
          <p:cNvSpPr/>
          <p:nvPr>
            <p:ph idx="2" type="sldImg"/>
          </p:nvPr>
        </p:nvSpPr>
        <p:spPr>
          <a:xfrm>
            <a:off x="779463" y="768350"/>
            <a:ext cx="5540400" cy="3837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2" name="Shape 1102"/>
        <p:cNvGrpSpPr/>
        <p:nvPr/>
      </p:nvGrpSpPr>
      <p:grpSpPr>
        <a:xfrm>
          <a:off x="0" y="0"/>
          <a:ext cx="0" cy="0"/>
          <a:chOff x="0" y="0"/>
          <a:chExt cx="0" cy="0"/>
        </a:xfrm>
      </p:grpSpPr>
      <p:sp>
        <p:nvSpPr>
          <p:cNvPr id="1103" name="Google Shape;1103;g3e33499f370_0_326:notes"/>
          <p:cNvSpPr txBox="1"/>
          <p:nvPr>
            <p:ph idx="1" type="body"/>
          </p:nvPr>
        </p:nvSpPr>
        <p:spPr>
          <a:xfrm>
            <a:off x="709287" y="4861048"/>
            <a:ext cx="5680800" cy="4605600"/>
          </a:xfrm>
          <a:prstGeom prst="rect">
            <a:avLst/>
          </a:prstGeom>
          <a:noFill/>
          <a:ln>
            <a:noFill/>
          </a:ln>
        </p:spPr>
        <p:txBody>
          <a:bodyPr anchorCtr="0" anchor="t" bIns="49500" lIns="99025" spcFirstLastPara="1" rIns="99025" wrap="square" tIns="49500">
            <a:noAutofit/>
          </a:bodyPr>
          <a:lstStyle/>
          <a:p>
            <a:pPr indent="0" lvl="0" marL="0" rtl="0" algn="l">
              <a:lnSpc>
                <a:spcPct val="100000"/>
              </a:lnSpc>
              <a:spcBef>
                <a:spcPts val="390"/>
              </a:spcBef>
              <a:spcAft>
                <a:spcPts val="0"/>
              </a:spcAft>
              <a:buSzPts val="1400"/>
              <a:buNone/>
            </a:pPr>
            <a:r>
              <a:t/>
            </a:r>
            <a:endParaRPr/>
          </a:p>
        </p:txBody>
      </p:sp>
      <p:sp>
        <p:nvSpPr>
          <p:cNvPr id="1104" name="Google Shape;1104;g3e33499f370_0_326:notes"/>
          <p:cNvSpPr/>
          <p:nvPr>
            <p:ph idx="2" type="sldImg"/>
          </p:nvPr>
        </p:nvSpPr>
        <p:spPr>
          <a:xfrm>
            <a:off x="779463" y="768350"/>
            <a:ext cx="5540400" cy="3837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8" name="Shape 1118"/>
        <p:cNvGrpSpPr/>
        <p:nvPr/>
      </p:nvGrpSpPr>
      <p:grpSpPr>
        <a:xfrm>
          <a:off x="0" y="0"/>
          <a:ext cx="0" cy="0"/>
          <a:chOff x="0" y="0"/>
          <a:chExt cx="0" cy="0"/>
        </a:xfrm>
      </p:grpSpPr>
      <p:sp>
        <p:nvSpPr>
          <p:cNvPr id="1119" name="Google Shape;1119;g3e33499f370_0_344:notes"/>
          <p:cNvSpPr txBox="1"/>
          <p:nvPr>
            <p:ph idx="1" type="body"/>
          </p:nvPr>
        </p:nvSpPr>
        <p:spPr>
          <a:xfrm>
            <a:off x="709287" y="4861048"/>
            <a:ext cx="5680800" cy="4605600"/>
          </a:xfrm>
          <a:prstGeom prst="rect">
            <a:avLst/>
          </a:prstGeom>
          <a:noFill/>
          <a:ln>
            <a:noFill/>
          </a:ln>
        </p:spPr>
        <p:txBody>
          <a:bodyPr anchorCtr="0" anchor="t" bIns="49500" lIns="99025" spcFirstLastPara="1" rIns="99025" wrap="square" tIns="49500">
            <a:noAutofit/>
          </a:bodyPr>
          <a:lstStyle/>
          <a:p>
            <a:pPr indent="0" lvl="0" marL="0" rtl="0" algn="l">
              <a:lnSpc>
                <a:spcPct val="100000"/>
              </a:lnSpc>
              <a:spcBef>
                <a:spcPts val="390"/>
              </a:spcBef>
              <a:spcAft>
                <a:spcPts val="0"/>
              </a:spcAft>
              <a:buSzPts val="1400"/>
              <a:buNone/>
            </a:pPr>
            <a:r>
              <a:t/>
            </a:r>
            <a:endParaRPr/>
          </a:p>
        </p:txBody>
      </p:sp>
      <p:sp>
        <p:nvSpPr>
          <p:cNvPr id="1120" name="Google Shape;1120;g3e33499f370_0_344:notes"/>
          <p:cNvSpPr/>
          <p:nvPr>
            <p:ph idx="2" type="sldImg"/>
          </p:nvPr>
        </p:nvSpPr>
        <p:spPr>
          <a:xfrm>
            <a:off x="779463" y="768350"/>
            <a:ext cx="5540400" cy="3837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4" name="Shape 1134"/>
        <p:cNvGrpSpPr/>
        <p:nvPr/>
      </p:nvGrpSpPr>
      <p:grpSpPr>
        <a:xfrm>
          <a:off x="0" y="0"/>
          <a:ext cx="0" cy="0"/>
          <a:chOff x="0" y="0"/>
          <a:chExt cx="0" cy="0"/>
        </a:xfrm>
      </p:grpSpPr>
      <p:sp>
        <p:nvSpPr>
          <p:cNvPr id="1135" name="Google Shape;1135;g3e33499f370_0_14:notes"/>
          <p:cNvSpPr txBox="1"/>
          <p:nvPr>
            <p:ph idx="1" type="body"/>
          </p:nvPr>
        </p:nvSpPr>
        <p:spPr>
          <a:xfrm>
            <a:off x="709287" y="4861048"/>
            <a:ext cx="5680800" cy="4605600"/>
          </a:xfrm>
          <a:prstGeom prst="rect">
            <a:avLst/>
          </a:prstGeom>
          <a:noFill/>
          <a:ln>
            <a:noFill/>
          </a:ln>
        </p:spPr>
        <p:txBody>
          <a:bodyPr anchorCtr="0" anchor="t" bIns="49500" lIns="99025" spcFirstLastPara="1" rIns="99025" wrap="square" tIns="49500">
            <a:noAutofit/>
          </a:bodyPr>
          <a:lstStyle/>
          <a:p>
            <a:pPr indent="0" lvl="0" marL="0" rtl="0" algn="l">
              <a:lnSpc>
                <a:spcPct val="100000"/>
              </a:lnSpc>
              <a:spcBef>
                <a:spcPts val="390"/>
              </a:spcBef>
              <a:spcAft>
                <a:spcPts val="0"/>
              </a:spcAft>
              <a:buSzPts val="1400"/>
              <a:buNone/>
            </a:pPr>
            <a:r>
              <a:t/>
            </a:r>
            <a:endParaRPr/>
          </a:p>
        </p:txBody>
      </p:sp>
      <p:sp>
        <p:nvSpPr>
          <p:cNvPr id="1136" name="Google Shape;1136;g3e33499f370_0_14:notes"/>
          <p:cNvSpPr/>
          <p:nvPr>
            <p:ph idx="2" type="sldImg"/>
          </p:nvPr>
        </p:nvSpPr>
        <p:spPr>
          <a:xfrm>
            <a:off x="779463" y="768350"/>
            <a:ext cx="5540400" cy="3837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8" name="Shape 1158"/>
        <p:cNvGrpSpPr/>
        <p:nvPr/>
      </p:nvGrpSpPr>
      <p:grpSpPr>
        <a:xfrm>
          <a:off x="0" y="0"/>
          <a:ext cx="0" cy="0"/>
          <a:chOff x="0" y="0"/>
          <a:chExt cx="0" cy="0"/>
        </a:xfrm>
      </p:grpSpPr>
      <p:sp>
        <p:nvSpPr>
          <p:cNvPr id="1159" name="Google Shape;1159;g3e3a61befe4_0_3952:notes"/>
          <p:cNvSpPr txBox="1"/>
          <p:nvPr>
            <p:ph idx="1" type="body"/>
          </p:nvPr>
        </p:nvSpPr>
        <p:spPr>
          <a:xfrm>
            <a:off x="709287" y="4861048"/>
            <a:ext cx="5680800" cy="4605600"/>
          </a:xfrm>
          <a:prstGeom prst="rect">
            <a:avLst/>
          </a:prstGeom>
          <a:noFill/>
          <a:ln>
            <a:noFill/>
          </a:ln>
        </p:spPr>
        <p:txBody>
          <a:bodyPr anchorCtr="0" anchor="t" bIns="49500" lIns="99025" spcFirstLastPara="1" rIns="99025" wrap="square" tIns="49500">
            <a:noAutofit/>
          </a:bodyPr>
          <a:lstStyle/>
          <a:p>
            <a:pPr indent="0" lvl="0" marL="0" rtl="0" algn="l">
              <a:lnSpc>
                <a:spcPct val="100000"/>
              </a:lnSpc>
              <a:spcBef>
                <a:spcPts val="390"/>
              </a:spcBef>
              <a:spcAft>
                <a:spcPts val="0"/>
              </a:spcAft>
              <a:buSzPts val="1400"/>
              <a:buNone/>
            </a:pPr>
            <a:r>
              <a:t/>
            </a:r>
            <a:endParaRPr/>
          </a:p>
        </p:txBody>
      </p:sp>
      <p:sp>
        <p:nvSpPr>
          <p:cNvPr id="1160" name="Google Shape;1160;g3e3a61befe4_0_3952:notes"/>
          <p:cNvSpPr/>
          <p:nvPr>
            <p:ph idx="2" type="sldImg"/>
          </p:nvPr>
        </p:nvSpPr>
        <p:spPr>
          <a:xfrm>
            <a:off x="779463" y="768350"/>
            <a:ext cx="5540400" cy="3837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4" name="Shape 1184"/>
        <p:cNvGrpSpPr/>
        <p:nvPr/>
      </p:nvGrpSpPr>
      <p:grpSpPr>
        <a:xfrm>
          <a:off x="0" y="0"/>
          <a:ext cx="0" cy="0"/>
          <a:chOff x="0" y="0"/>
          <a:chExt cx="0" cy="0"/>
        </a:xfrm>
      </p:grpSpPr>
      <p:sp>
        <p:nvSpPr>
          <p:cNvPr id="1185" name="Google Shape;1185;g3e3a61befe4_0_3979:notes"/>
          <p:cNvSpPr txBox="1"/>
          <p:nvPr>
            <p:ph idx="1" type="body"/>
          </p:nvPr>
        </p:nvSpPr>
        <p:spPr>
          <a:xfrm>
            <a:off x="709287" y="4861048"/>
            <a:ext cx="5680800" cy="4605600"/>
          </a:xfrm>
          <a:prstGeom prst="rect">
            <a:avLst/>
          </a:prstGeom>
          <a:noFill/>
          <a:ln>
            <a:noFill/>
          </a:ln>
        </p:spPr>
        <p:txBody>
          <a:bodyPr anchorCtr="0" anchor="t" bIns="49500" lIns="99025" spcFirstLastPara="1" rIns="99025" wrap="square" tIns="49500">
            <a:noAutofit/>
          </a:bodyPr>
          <a:lstStyle/>
          <a:p>
            <a:pPr indent="0" lvl="0" marL="0" rtl="0" algn="l">
              <a:lnSpc>
                <a:spcPct val="100000"/>
              </a:lnSpc>
              <a:spcBef>
                <a:spcPts val="390"/>
              </a:spcBef>
              <a:spcAft>
                <a:spcPts val="0"/>
              </a:spcAft>
              <a:buSzPts val="1400"/>
              <a:buNone/>
            </a:pPr>
            <a:r>
              <a:t/>
            </a:r>
            <a:endParaRPr/>
          </a:p>
        </p:txBody>
      </p:sp>
      <p:sp>
        <p:nvSpPr>
          <p:cNvPr id="1186" name="Google Shape;1186;g3e3a61befe4_0_3979:notes"/>
          <p:cNvSpPr/>
          <p:nvPr>
            <p:ph idx="2" type="sldImg"/>
          </p:nvPr>
        </p:nvSpPr>
        <p:spPr>
          <a:xfrm>
            <a:off x="779463" y="768350"/>
            <a:ext cx="5540400" cy="3837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2" name="Shape 1212"/>
        <p:cNvGrpSpPr/>
        <p:nvPr/>
      </p:nvGrpSpPr>
      <p:grpSpPr>
        <a:xfrm>
          <a:off x="0" y="0"/>
          <a:ext cx="0" cy="0"/>
          <a:chOff x="0" y="0"/>
          <a:chExt cx="0" cy="0"/>
        </a:xfrm>
      </p:grpSpPr>
      <p:sp>
        <p:nvSpPr>
          <p:cNvPr id="1213" name="Google Shape;1213;g3e3a61befe4_0_3913:notes"/>
          <p:cNvSpPr txBox="1"/>
          <p:nvPr>
            <p:ph idx="1" type="body"/>
          </p:nvPr>
        </p:nvSpPr>
        <p:spPr>
          <a:xfrm>
            <a:off x="709287" y="4861048"/>
            <a:ext cx="5680800" cy="4605600"/>
          </a:xfrm>
          <a:prstGeom prst="rect">
            <a:avLst/>
          </a:prstGeom>
          <a:noFill/>
          <a:ln>
            <a:noFill/>
          </a:ln>
        </p:spPr>
        <p:txBody>
          <a:bodyPr anchorCtr="0" anchor="t" bIns="49500" lIns="99025" spcFirstLastPara="1" rIns="99025" wrap="square" tIns="49500">
            <a:noAutofit/>
          </a:bodyPr>
          <a:lstStyle/>
          <a:p>
            <a:pPr indent="0" lvl="0" marL="0" rtl="0" algn="l">
              <a:lnSpc>
                <a:spcPct val="100000"/>
              </a:lnSpc>
              <a:spcBef>
                <a:spcPts val="390"/>
              </a:spcBef>
              <a:spcAft>
                <a:spcPts val="0"/>
              </a:spcAft>
              <a:buSzPts val="1400"/>
              <a:buNone/>
            </a:pPr>
            <a:r>
              <a:t/>
            </a:r>
            <a:endParaRPr/>
          </a:p>
        </p:txBody>
      </p:sp>
      <p:sp>
        <p:nvSpPr>
          <p:cNvPr id="1214" name="Google Shape;1214;g3e3a61befe4_0_3913:notes"/>
          <p:cNvSpPr/>
          <p:nvPr>
            <p:ph idx="2" type="sldImg"/>
          </p:nvPr>
        </p:nvSpPr>
        <p:spPr>
          <a:xfrm>
            <a:off x="779463" y="768350"/>
            <a:ext cx="5540400" cy="3837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2" name="Shape 1242"/>
        <p:cNvGrpSpPr/>
        <p:nvPr/>
      </p:nvGrpSpPr>
      <p:grpSpPr>
        <a:xfrm>
          <a:off x="0" y="0"/>
          <a:ext cx="0" cy="0"/>
          <a:chOff x="0" y="0"/>
          <a:chExt cx="0" cy="0"/>
        </a:xfrm>
      </p:grpSpPr>
      <p:sp>
        <p:nvSpPr>
          <p:cNvPr id="1243" name="Google Shape;1243;g3e3a61befe4_0_4007:notes"/>
          <p:cNvSpPr txBox="1"/>
          <p:nvPr>
            <p:ph idx="1" type="body"/>
          </p:nvPr>
        </p:nvSpPr>
        <p:spPr>
          <a:xfrm>
            <a:off x="709287" y="4861048"/>
            <a:ext cx="5680800" cy="4605600"/>
          </a:xfrm>
          <a:prstGeom prst="rect">
            <a:avLst/>
          </a:prstGeom>
          <a:noFill/>
          <a:ln>
            <a:noFill/>
          </a:ln>
        </p:spPr>
        <p:txBody>
          <a:bodyPr anchorCtr="0" anchor="t" bIns="49500" lIns="99025" spcFirstLastPara="1" rIns="99025" wrap="square" tIns="49500">
            <a:noAutofit/>
          </a:bodyPr>
          <a:lstStyle/>
          <a:p>
            <a:pPr indent="0" lvl="0" marL="0" rtl="0" algn="l">
              <a:lnSpc>
                <a:spcPct val="100000"/>
              </a:lnSpc>
              <a:spcBef>
                <a:spcPts val="390"/>
              </a:spcBef>
              <a:spcAft>
                <a:spcPts val="0"/>
              </a:spcAft>
              <a:buSzPts val="1400"/>
              <a:buNone/>
            </a:pPr>
            <a:r>
              <a:t/>
            </a:r>
            <a:endParaRPr/>
          </a:p>
        </p:txBody>
      </p:sp>
      <p:sp>
        <p:nvSpPr>
          <p:cNvPr id="1244" name="Google Shape;1244;g3e3a61befe4_0_4007:notes"/>
          <p:cNvSpPr/>
          <p:nvPr>
            <p:ph idx="2" type="sldImg"/>
          </p:nvPr>
        </p:nvSpPr>
        <p:spPr>
          <a:xfrm>
            <a:off x="779463" y="768350"/>
            <a:ext cx="5540400" cy="3837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4" name="Shape 1274"/>
        <p:cNvGrpSpPr/>
        <p:nvPr/>
      </p:nvGrpSpPr>
      <p:grpSpPr>
        <a:xfrm>
          <a:off x="0" y="0"/>
          <a:ext cx="0" cy="0"/>
          <a:chOff x="0" y="0"/>
          <a:chExt cx="0" cy="0"/>
        </a:xfrm>
      </p:grpSpPr>
      <p:sp>
        <p:nvSpPr>
          <p:cNvPr id="1275" name="Google Shape;1275;g3e3a61befe4_0_4085:notes"/>
          <p:cNvSpPr txBox="1"/>
          <p:nvPr>
            <p:ph idx="1" type="body"/>
          </p:nvPr>
        </p:nvSpPr>
        <p:spPr>
          <a:xfrm>
            <a:off x="709287" y="4861048"/>
            <a:ext cx="5680800" cy="4605600"/>
          </a:xfrm>
          <a:prstGeom prst="rect">
            <a:avLst/>
          </a:prstGeom>
          <a:noFill/>
          <a:ln>
            <a:noFill/>
          </a:ln>
        </p:spPr>
        <p:txBody>
          <a:bodyPr anchorCtr="0" anchor="t" bIns="49500" lIns="99025" spcFirstLastPara="1" rIns="99025" wrap="square" tIns="49500">
            <a:noAutofit/>
          </a:bodyPr>
          <a:lstStyle/>
          <a:p>
            <a:pPr indent="0" lvl="0" marL="0" rtl="0" algn="l">
              <a:lnSpc>
                <a:spcPct val="100000"/>
              </a:lnSpc>
              <a:spcBef>
                <a:spcPts val="390"/>
              </a:spcBef>
              <a:spcAft>
                <a:spcPts val="0"/>
              </a:spcAft>
              <a:buSzPts val="1400"/>
              <a:buNone/>
            </a:pPr>
            <a:r>
              <a:t/>
            </a:r>
            <a:endParaRPr/>
          </a:p>
        </p:txBody>
      </p:sp>
      <p:sp>
        <p:nvSpPr>
          <p:cNvPr id="1276" name="Google Shape;1276;g3e3a61befe4_0_4085:notes"/>
          <p:cNvSpPr/>
          <p:nvPr>
            <p:ph idx="2" type="sldImg"/>
          </p:nvPr>
        </p:nvSpPr>
        <p:spPr>
          <a:xfrm>
            <a:off x="779463" y="768350"/>
            <a:ext cx="5540400" cy="3837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8" name="Shape 1308"/>
        <p:cNvGrpSpPr/>
        <p:nvPr/>
      </p:nvGrpSpPr>
      <p:grpSpPr>
        <a:xfrm>
          <a:off x="0" y="0"/>
          <a:ext cx="0" cy="0"/>
          <a:chOff x="0" y="0"/>
          <a:chExt cx="0" cy="0"/>
        </a:xfrm>
      </p:grpSpPr>
      <p:sp>
        <p:nvSpPr>
          <p:cNvPr id="1309" name="Google Shape;1309;g3e3a61befe4_0_4118:notes"/>
          <p:cNvSpPr txBox="1"/>
          <p:nvPr>
            <p:ph idx="1" type="body"/>
          </p:nvPr>
        </p:nvSpPr>
        <p:spPr>
          <a:xfrm>
            <a:off x="709287" y="4861048"/>
            <a:ext cx="5680800" cy="4605600"/>
          </a:xfrm>
          <a:prstGeom prst="rect">
            <a:avLst/>
          </a:prstGeom>
          <a:noFill/>
          <a:ln>
            <a:noFill/>
          </a:ln>
        </p:spPr>
        <p:txBody>
          <a:bodyPr anchorCtr="0" anchor="t" bIns="49500" lIns="99025" spcFirstLastPara="1" rIns="99025" wrap="square" tIns="49500">
            <a:noAutofit/>
          </a:bodyPr>
          <a:lstStyle/>
          <a:p>
            <a:pPr indent="0" lvl="0" marL="0" rtl="0" algn="l">
              <a:lnSpc>
                <a:spcPct val="100000"/>
              </a:lnSpc>
              <a:spcBef>
                <a:spcPts val="390"/>
              </a:spcBef>
              <a:spcAft>
                <a:spcPts val="0"/>
              </a:spcAft>
              <a:buSzPts val="1400"/>
              <a:buNone/>
            </a:pPr>
            <a:r>
              <a:t/>
            </a:r>
            <a:endParaRPr/>
          </a:p>
        </p:txBody>
      </p:sp>
      <p:sp>
        <p:nvSpPr>
          <p:cNvPr id="1310" name="Google Shape;1310;g3e3a61befe4_0_4118:notes"/>
          <p:cNvSpPr/>
          <p:nvPr>
            <p:ph idx="2" type="sldImg"/>
          </p:nvPr>
        </p:nvSpPr>
        <p:spPr>
          <a:xfrm>
            <a:off x="779463" y="768350"/>
            <a:ext cx="5540400" cy="3837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4" name="Shape 1344"/>
        <p:cNvGrpSpPr/>
        <p:nvPr/>
      </p:nvGrpSpPr>
      <p:grpSpPr>
        <a:xfrm>
          <a:off x="0" y="0"/>
          <a:ext cx="0" cy="0"/>
          <a:chOff x="0" y="0"/>
          <a:chExt cx="0" cy="0"/>
        </a:xfrm>
      </p:grpSpPr>
      <p:sp>
        <p:nvSpPr>
          <p:cNvPr id="1345" name="Google Shape;1345;g3e3a61befe4_0_4046:notes"/>
          <p:cNvSpPr txBox="1"/>
          <p:nvPr>
            <p:ph idx="1" type="body"/>
          </p:nvPr>
        </p:nvSpPr>
        <p:spPr>
          <a:xfrm>
            <a:off x="709287" y="4861048"/>
            <a:ext cx="5680800" cy="4605600"/>
          </a:xfrm>
          <a:prstGeom prst="rect">
            <a:avLst/>
          </a:prstGeom>
          <a:noFill/>
          <a:ln>
            <a:noFill/>
          </a:ln>
        </p:spPr>
        <p:txBody>
          <a:bodyPr anchorCtr="0" anchor="t" bIns="49500" lIns="99025" spcFirstLastPara="1" rIns="99025" wrap="square" tIns="49500">
            <a:noAutofit/>
          </a:bodyPr>
          <a:lstStyle/>
          <a:p>
            <a:pPr indent="0" lvl="0" marL="0" rtl="0" algn="l">
              <a:lnSpc>
                <a:spcPct val="100000"/>
              </a:lnSpc>
              <a:spcBef>
                <a:spcPts val="390"/>
              </a:spcBef>
              <a:spcAft>
                <a:spcPts val="0"/>
              </a:spcAft>
              <a:buSzPts val="1400"/>
              <a:buNone/>
            </a:pPr>
            <a:r>
              <a:t/>
            </a:r>
            <a:endParaRPr/>
          </a:p>
        </p:txBody>
      </p:sp>
      <p:sp>
        <p:nvSpPr>
          <p:cNvPr id="1346" name="Google Shape;1346;g3e3a61befe4_0_4046:notes"/>
          <p:cNvSpPr/>
          <p:nvPr>
            <p:ph idx="2" type="sldImg"/>
          </p:nvPr>
        </p:nvSpPr>
        <p:spPr>
          <a:xfrm>
            <a:off x="779463" y="768350"/>
            <a:ext cx="5540400" cy="3837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2" name="Shape 1382"/>
        <p:cNvGrpSpPr/>
        <p:nvPr/>
      </p:nvGrpSpPr>
      <p:grpSpPr>
        <a:xfrm>
          <a:off x="0" y="0"/>
          <a:ext cx="0" cy="0"/>
          <a:chOff x="0" y="0"/>
          <a:chExt cx="0" cy="0"/>
        </a:xfrm>
      </p:grpSpPr>
      <p:sp>
        <p:nvSpPr>
          <p:cNvPr id="1383" name="Google Shape;1383;g3e3a61befe4_0_4157:notes"/>
          <p:cNvSpPr txBox="1"/>
          <p:nvPr>
            <p:ph idx="1" type="body"/>
          </p:nvPr>
        </p:nvSpPr>
        <p:spPr>
          <a:xfrm>
            <a:off x="709287" y="4861048"/>
            <a:ext cx="5680800" cy="4605600"/>
          </a:xfrm>
          <a:prstGeom prst="rect">
            <a:avLst/>
          </a:prstGeom>
          <a:noFill/>
          <a:ln>
            <a:noFill/>
          </a:ln>
        </p:spPr>
        <p:txBody>
          <a:bodyPr anchorCtr="0" anchor="t" bIns="49500" lIns="99025" spcFirstLastPara="1" rIns="99025" wrap="square" tIns="49500">
            <a:noAutofit/>
          </a:bodyPr>
          <a:lstStyle/>
          <a:p>
            <a:pPr indent="0" lvl="0" marL="0" rtl="0" algn="l">
              <a:lnSpc>
                <a:spcPct val="100000"/>
              </a:lnSpc>
              <a:spcBef>
                <a:spcPts val="390"/>
              </a:spcBef>
              <a:spcAft>
                <a:spcPts val="0"/>
              </a:spcAft>
              <a:buSzPts val="1400"/>
              <a:buNone/>
            </a:pPr>
            <a:r>
              <a:t/>
            </a:r>
            <a:endParaRPr/>
          </a:p>
        </p:txBody>
      </p:sp>
      <p:sp>
        <p:nvSpPr>
          <p:cNvPr id="1384" name="Google Shape;1384;g3e3a61befe4_0_4157:notes"/>
          <p:cNvSpPr/>
          <p:nvPr>
            <p:ph idx="2" type="sldImg"/>
          </p:nvPr>
        </p:nvSpPr>
        <p:spPr>
          <a:xfrm>
            <a:off x="779463" y="768350"/>
            <a:ext cx="5540400" cy="3837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2" name="Shape 1422"/>
        <p:cNvGrpSpPr/>
        <p:nvPr/>
      </p:nvGrpSpPr>
      <p:grpSpPr>
        <a:xfrm>
          <a:off x="0" y="0"/>
          <a:ext cx="0" cy="0"/>
          <a:chOff x="0" y="0"/>
          <a:chExt cx="0" cy="0"/>
        </a:xfrm>
      </p:grpSpPr>
      <p:sp>
        <p:nvSpPr>
          <p:cNvPr id="1423" name="Google Shape;1423;g3e3a61befe4_0_4196:notes"/>
          <p:cNvSpPr txBox="1"/>
          <p:nvPr>
            <p:ph idx="1" type="body"/>
          </p:nvPr>
        </p:nvSpPr>
        <p:spPr>
          <a:xfrm>
            <a:off x="709287" y="4861048"/>
            <a:ext cx="5680800" cy="4605600"/>
          </a:xfrm>
          <a:prstGeom prst="rect">
            <a:avLst/>
          </a:prstGeom>
          <a:noFill/>
          <a:ln>
            <a:noFill/>
          </a:ln>
        </p:spPr>
        <p:txBody>
          <a:bodyPr anchorCtr="0" anchor="t" bIns="49500" lIns="99025" spcFirstLastPara="1" rIns="99025" wrap="square" tIns="49500">
            <a:noAutofit/>
          </a:bodyPr>
          <a:lstStyle/>
          <a:p>
            <a:pPr indent="0" lvl="0" marL="0" rtl="0" algn="l">
              <a:lnSpc>
                <a:spcPct val="100000"/>
              </a:lnSpc>
              <a:spcBef>
                <a:spcPts val="390"/>
              </a:spcBef>
              <a:spcAft>
                <a:spcPts val="0"/>
              </a:spcAft>
              <a:buSzPts val="1400"/>
              <a:buNone/>
            </a:pPr>
            <a:r>
              <a:t/>
            </a:r>
            <a:endParaRPr/>
          </a:p>
        </p:txBody>
      </p:sp>
      <p:sp>
        <p:nvSpPr>
          <p:cNvPr id="1424" name="Google Shape;1424;g3e3a61befe4_0_4196:notes"/>
          <p:cNvSpPr/>
          <p:nvPr>
            <p:ph idx="2" type="sldImg"/>
          </p:nvPr>
        </p:nvSpPr>
        <p:spPr>
          <a:xfrm>
            <a:off x="779463" y="768350"/>
            <a:ext cx="5540400" cy="3837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5" name="Shape 1435"/>
        <p:cNvGrpSpPr/>
        <p:nvPr/>
      </p:nvGrpSpPr>
      <p:grpSpPr>
        <a:xfrm>
          <a:off x="0" y="0"/>
          <a:ext cx="0" cy="0"/>
          <a:chOff x="0" y="0"/>
          <a:chExt cx="0" cy="0"/>
        </a:xfrm>
      </p:grpSpPr>
      <p:sp>
        <p:nvSpPr>
          <p:cNvPr id="1436" name="Google Shape;1436;g3e292f661c6_30_1078:notes"/>
          <p:cNvSpPr txBox="1"/>
          <p:nvPr>
            <p:ph idx="1" type="body"/>
          </p:nvPr>
        </p:nvSpPr>
        <p:spPr>
          <a:xfrm>
            <a:off x="709287" y="4861048"/>
            <a:ext cx="5680800" cy="4605600"/>
          </a:xfrm>
          <a:prstGeom prst="rect">
            <a:avLst/>
          </a:prstGeom>
          <a:noFill/>
          <a:ln>
            <a:noFill/>
          </a:ln>
        </p:spPr>
        <p:txBody>
          <a:bodyPr anchorCtr="0" anchor="t" bIns="49500" lIns="99025" spcFirstLastPara="1" rIns="99025" wrap="square" tIns="49500">
            <a:noAutofit/>
          </a:bodyPr>
          <a:lstStyle/>
          <a:p>
            <a:pPr indent="0" lvl="0" marL="0" rtl="0" algn="l">
              <a:lnSpc>
                <a:spcPct val="100000"/>
              </a:lnSpc>
              <a:spcBef>
                <a:spcPts val="390"/>
              </a:spcBef>
              <a:spcAft>
                <a:spcPts val="0"/>
              </a:spcAft>
              <a:buSzPts val="1400"/>
              <a:buNone/>
            </a:pPr>
            <a:r>
              <a:t/>
            </a:r>
            <a:endParaRPr/>
          </a:p>
        </p:txBody>
      </p:sp>
      <p:sp>
        <p:nvSpPr>
          <p:cNvPr id="1437" name="Google Shape;1437;g3e292f661c6_30_1078:notes"/>
          <p:cNvSpPr/>
          <p:nvPr>
            <p:ph idx="2" type="sldImg"/>
          </p:nvPr>
        </p:nvSpPr>
        <p:spPr>
          <a:xfrm>
            <a:off x="779463" y="768350"/>
            <a:ext cx="5540400" cy="3837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8" name="Shape 1448"/>
        <p:cNvGrpSpPr/>
        <p:nvPr/>
      </p:nvGrpSpPr>
      <p:grpSpPr>
        <a:xfrm>
          <a:off x="0" y="0"/>
          <a:ext cx="0" cy="0"/>
          <a:chOff x="0" y="0"/>
          <a:chExt cx="0" cy="0"/>
        </a:xfrm>
      </p:grpSpPr>
      <p:sp>
        <p:nvSpPr>
          <p:cNvPr id="1449" name="Google Shape;1449;g3e3a61befe4_0_4208:notes"/>
          <p:cNvSpPr txBox="1"/>
          <p:nvPr>
            <p:ph idx="1" type="body"/>
          </p:nvPr>
        </p:nvSpPr>
        <p:spPr>
          <a:xfrm>
            <a:off x="709287" y="4861048"/>
            <a:ext cx="5680800" cy="4605600"/>
          </a:xfrm>
          <a:prstGeom prst="rect">
            <a:avLst/>
          </a:prstGeom>
          <a:noFill/>
          <a:ln>
            <a:noFill/>
          </a:ln>
        </p:spPr>
        <p:txBody>
          <a:bodyPr anchorCtr="0" anchor="t" bIns="49500" lIns="99025" spcFirstLastPara="1" rIns="99025" wrap="square" tIns="49500">
            <a:noAutofit/>
          </a:bodyPr>
          <a:lstStyle/>
          <a:p>
            <a:pPr indent="0" lvl="0" marL="0" rtl="0" algn="l">
              <a:lnSpc>
                <a:spcPct val="100000"/>
              </a:lnSpc>
              <a:spcBef>
                <a:spcPts val="390"/>
              </a:spcBef>
              <a:spcAft>
                <a:spcPts val="0"/>
              </a:spcAft>
              <a:buSzPts val="1400"/>
              <a:buNone/>
            </a:pPr>
            <a:r>
              <a:t/>
            </a:r>
            <a:endParaRPr/>
          </a:p>
        </p:txBody>
      </p:sp>
      <p:sp>
        <p:nvSpPr>
          <p:cNvPr id="1450" name="Google Shape;1450;g3e3a61befe4_0_4208:notes"/>
          <p:cNvSpPr/>
          <p:nvPr>
            <p:ph idx="2" type="sldImg"/>
          </p:nvPr>
        </p:nvSpPr>
        <p:spPr>
          <a:xfrm>
            <a:off x="779463" y="768350"/>
            <a:ext cx="5540400" cy="3837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1" name="Shape 1461"/>
        <p:cNvGrpSpPr/>
        <p:nvPr/>
      </p:nvGrpSpPr>
      <p:grpSpPr>
        <a:xfrm>
          <a:off x="0" y="0"/>
          <a:ext cx="0" cy="0"/>
          <a:chOff x="0" y="0"/>
          <a:chExt cx="0" cy="0"/>
        </a:xfrm>
      </p:grpSpPr>
      <p:sp>
        <p:nvSpPr>
          <p:cNvPr id="1462" name="Google Shape;1462;g3e33499f370_0_102:notes"/>
          <p:cNvSpPr txBox="1"/>
          <p:nvPr>
            <p:ph idx="1" type="body"/>
          </p:nvPr>
        </p:nvSpPr>
        <p:spPr>
          <a:xfrm>
            <a:off x="709287" y="4861048"/>
            <a:ext cx="5680800" cy="4605600"/>
          </a:xfrm>
          <a:prstGeom prst="rect">
            <a:avLst/>
          </a:prstGeom>
          <a:noFill/>
          <a:ln>
            <a:noFill/>
          </a:ln>
        </p:spPr>
        <p:txBody>
          <a:bodyPr anchorCtr="0" anchor="t" bIns="49500" lIns="99025" spcFirstLastPara="1" rIns="99025" wrap="square" tIns="49500">
            <a:noAutofit/>
          </a:bodyPr>
          <a:lstStyle/>
          <a:p>
            <a:pPr indent="0" lvl="0" marL="0" rtl="0" algn="l">
              <a:lnSpc>
                <a:spcPct val="100000"/>
              </a:lnSpc>
              <a:spcBef>
                <a:spcPts val="390"/>
              </a:spcBef>
              <a:spcAft>
                <a:spcPts val="0"/>
              </a:spcAft>
              <a:buSzPts val="1400"/>
              <a:buNone/>
            </a:pPr>
            <a:r>
              <a:t/>
            </a:r>
            <a:endParaRPr/>
          </a:p>
        </p:txBody>
      </p:sp>
      <p:sp>
        <p:nvSpPr>
          <p:cNvPr id="1463" name="Google Shape;1463;g3e33499f370_0_102:notes"/>
          <p:cNvSpPr/>
          <p:nvPr>
            <p:ph idx="2" type="sldImg"/>
          </p:nvPr>
        </p:nvSpPr>
        <p:spPr>
          <a:xfrm>
            <a:off x="779463" y="768350"/>
            <a:ext cx="5540400" cy="3837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0" name="Shape 1490"/>
        <p:cNvGrpSpPr/>
        <p:nvPr/>
      </p:nvGrpSpPr>
      <p:grpSpPr>
        <a:xfrm>
          <a:off x="0" y="0"/>
          <a:ext cx="0" cy="0"/>
          <a:chOff x="0" y="0"/>
          <a:chExt cx="0" cy="0"/>
        </a:xfrm>
      </p:grpSpPr>
      <p:sp>
        <p:nvSpPr>
          <p:cNvPr id="1491" name="Google Shape;1491;g3e3a61befe4_0_4286:notes"/>
          <p:cNvSpPr txBox="1"/>
          <p:nvPr>
            <p:ph idx="1" type="body"/>
          </p:nvPr>
        </p:nvSpPr>
        <p:spPr>
          <a:xfrm>
            <a:off x="709287" y="4861048"/>
            <a:ext cx="5680800" cy="4605600"/>
          </a:xfrm>
          <a:prstGeom prst="rect">
            <a:avLst/>
          </a:prstGeom>
          <a:noFill/>
          <a:ln>
            <a:noFill/>
          </a:ln>
        </p:spPr>
        <p:txBody>
          <a:bodyPr anchorCtr="0" anchor="t" bIns="49500" lIns="99025" spcFirstLastPara="1" rIns="99025" wrap="square" tIns="49500">
            <a:noAutofit/>
          </a:bodyPr>
          <a:lstStyle/>
          <a:p>
            <a:pPr indent="0" lvl="0" marL="0" rtl="0" algn="l">
              <a:lnSpc>
                <a:spcPct val="100000"/>
              </a:lnSpc>
              <a:spcBef>
                <a:spcPts val="390"/>
              </a:spcBef>
              <a:spcAft>
                <a:spcPts val="0"/>
              </a:spcAft>
              <a:buSzPts val="1400"/>
              <a:buNone/>
            </a:pPr>
            <a:r>
              <a:t/>
            </a:r>
            <a:endParaRPr/>
          </a:p>
        </p:txBody>
      </p:sp>
      <p:sp>
        <p:nvSpPr>
          <p:cNvPr id="1492" name="Google Shape;1492;g3e3a61befe4_0_4286:notes"/>
          <p:cNvSpPr/>
          <p:nvPr>
            <p:ph idx="2" type="sldImg"/>
          </p:nvPr>
        </p:nvSpPr>
        <p:spPr>
          <a:xfrm>
            <a:off x="779463" y="768350"/>
            <a:ext cx="5540400" cy="3837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0" name="Shape 1520"/>
        <p:cNvGrpSpPr/>
        <p:nvPr/>
      </p:nvGrpSpPr>
      <p:grpSpPr>
        <a:xfrm>
          <a:off x="0" y="0"/>
          <a:ext cx="0" cy="0"/>
          <a:chOff x="0" y="0"/>
          <a:chExt cx="0" cy="0"/>
        </a:xfrm>
      </p:grpSpPr>
      <p:sp>
        <p:nvSpPr>
          <p:cNvPr id="1521" name="Google Shape;1521;g3e3a61befe4_0_4220:notes"/>
          <p:cNvSpPr txBox="1"/>
          <p:nvPr>
            <p:ph idx="1" type="body"/>
          </p:nvPr>
        </p:nvSpPr>
        <p:spPr>
          <a:xfrm>
            <a:off x="709287" y="4861048"/>
            <a:ext cx="5680800" cy="4605600"/>
          </a:xfrm>
          <a:prstGeom prst="rect">
            <a:avLst/>
          </a:prstGeom>
          <a:noFill/>
          <a:ln>
            <a:noFill/>
          </a:ln>
        </p:spPr>
        <p:txBody>
          <a:bodyPr anchorCtr="0" anchor="t" bIns="49500" lIns="99025" spcFirstLastPara="1" rIns="99025" wrap="square" tIns="49500">
            <a:noAutofit/>
          </a:bodyPr>
          <a:lstStyle/>
          <a:p>
            <a:pPr indent="0" lvl="0" marL="0" rtl="0" algn="l">
              <a:lnSpc>
                <a:spcPct val="100000"/>
              </a:lnSpc>
              <a:spcBef>
                <a:spcPts val="390"/>
              </a:spcBef>
              <a:spcAft>
                <a:spcPts val="0"/>
              </a:spcAft>
              <a:buSzPts val="1400"/>
              <a:buNone/>
            </a:pPr>
            <a:r>
              <a:t/>
            </a:r>
            <a:endParaRPr/>
          </a:p>
        </p:txBody>
      </p:sp>
      <p:sp>
        <p:nvSpPr>
          <p:cNvPr id="1522" name="Google Shape;1522;g3e3a61befe4_0_4220:notes"/>
          <p:cNvSpPr/>
          <p:nvPr>
            <p:ph idx="2" type="sldImg"/>
          </p:nvPr>
        </p:nvSpPr>
        <p:spPr>
          <a:xfrm>
            <a:off x="779463" y="768350"/>
            <a:ext cx="5540400" cy="3837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1" name="Shape 1551"/>
        <p:cNvGrpSpPr/>
        <p:nvPr/>
      </p:nvGrpSpPr>
      <p:grpSpPr>
        <a:xfrm>
          <a:off x="0" y="0"/>
          <a:ext cx="0" cy="0"/>
          <a:chOff x="0" y="0"/>
          <a:chExt cx="0" cy="0"/>
        </a:xfrm>
      </p:grpSpPr>
      <p:sp>
        <p:nvSpPr>
          <p:cNvPr id="1552" name="Google Shape;1552;g3e3a61befe4_0_4253:notes"/>
          <p:cNvSpPr txBox="1"/>
          <p:nvPr>
            <p:ph idx="1" type="body"/>
          </p:nvPr>
        </p:nvSpPr>
        <p:spPr>
          <a:xfrm>
            <a:off x="709287" y="4861048"/>
            <a:ext cx="5680800" cy="4605600"/>
          </a:xfrm>
          <a:prstGeom prst="rect">
            <a:avLst/>
          </a:prstGeom>
          <a:noFill/>
          <a:ln>
            <a:noFill/>
          </a:ln>
        </p:spPr>
        <p:txBody>
          <a:bodyPr anchorCtr="0" anchor="t" bIns="49500" lIns="99025" spcFirstLastPara="1" rIns="99025" wrap="square" tIns="49500">
            <a:noAutofit/>
          </a:bodyPr>
          <a:lstStyle/>
          <a:p>
            <a:pPr indent="0" lvl="0" marL="0" rtl="0" algn="l">
              <a:lnSpc>
                <a:spcPct val="100000"/>
              </a:lnSpc>
              <a:spcBef>
                <a:spcPts val="390"/>
              </a:spcBef>
              <a:spcAft>
                <a:spcPts val="0"/>
              </a:spcAft>
              <a:buSzPts val="1400"/>
              <a:buNone/>
            </a:pPr>
            <a:r>
              <a:t/>
            </a:r>
            <a:endParaRPr/>
          </a:p>
        </p:txBody>
      </p:sp>
      <p:sp>
        <p:nvSpPr>
          <p:cNvPr id="1553" name="Google Shape;1553;g3e3a61befe4_0_4253:notes"/>
          <p:cNvSpPr/>
          <p:nvPr>
            <p:ph idx="2" type="sldImg"/>
          </p:nvPr>
        </p:nvSpPr>
        <p:spPr>
          <a:xfrm>
            <a:off x="779463" y="768350"/>
            <a:ext cx="5540400" cy="3837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3" name="Shape 1583"/>
        <p:cNvGrpSpPr/>
        <p:nvPr/>
      </p:nvGrpSpPr>
      <p:grpSpPr>
        <a:xfrm>
          <a:off x="0" y="0"/>
          <a:ext cx="0" cy="0"/>
          <a:chOff x="0" y="0"/>
          <a:chExt cx="0" cy="0"/>
        </a:xfrm>
      </p:grpSpPr>
      <p:sp>
        <p:nvSpPr>
          <p:cNvPr id="1584" name="Google Shape;1584;g3e3a61befe4_0_4316:notes"/>
          <p:cNvSpPr txBox="1"/>
          <p:nvPr>
            <p:ph idx="1" type="body"/>
          </p:nvPr>
        </p:nvSpPr>
        <p:spPr>
          <a:xfrm>
            <a:off x="709287" y="4861048"/>
            <a:ext cx="5680800" cy="4605600"/>
          </a:xfrm>
          <a:prstGeom prst="rect">
            <a:avLst/>
          </a:prstGeom>
          <a:noFill/>
          <a:ln>
            <a:noFill/>
          </a:ln>
        </p:spPr>
        <p:txBody>
          <a:bodyPr anchorCtr="0" anchor="t" bIns="49500" lIns="99025" spcFirstLastPara="1" rIns="99025" wrap="square" tIns="49500">
            <a:noAutofit/>
          </a:bodyPr>
          <a:lstStyle/>
          <a:p>
            <a:pPr indent="0" lvl="0" marL="0" rtl="0" algn="l">
              <a:lnSpc>
                <a:spcPct val="100000"/>
              </a:lnSpc>
              <a:spcBef>
                <a:spcPts val="390"/>
              </a:spcBef>
              <a:spcAft>
                <a:spcPts val="0"/>
              </a:spcAft>
              <a:buSzPts val="1400"/>
              <a:buNone/>
            </a:pPr>
            <a:r>
              <a:t/>
            </a:r>
            <a:endParaRPr/>
          </a:p>
        </p:txBody>
      </p:sp>
      <p:sp>
        <p:nvSpPr>
          <p:cNvPr id="1585" name="Google Shape;1585;g3e3a61befe4_0_4316:notes"/>
          <p:cNvSpPr/>
          <p:nvPr>
            <p:ph idx="2" type="sldImg"/>
          </p:nvPr>
        </p:nvSpPr>
        <p:spPr>
          <a:xfrm>
            <a:off x="779463" y="768350"/>
            <a:ext cx="5540400" cy="3837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6" name="Shape 1616"/>
        <p:cNvGrpSpPr/>
        <p:nvPr/>
      </p:nvGrpSpPr>
      <p:grpSpPr>
        <a:xfrm>
          <a:off x="0" y="0"/>
          <a:ext cx="0" cy="0"/>
          <a:chOff x="0" y="0"/>
          <a:chExt cx="0" cy="0"/>
        </a:xfrm>
      </p:grpSpPr>
      <p:sp>
        <p:nvSpPr>
          <p:cNvPr id="1617" name="Google Shape;1617;g3e3a61befe4_0_4349:notes"/>
          <p:cNvSpPr txBox="1"/>
          <p:nvPr>
            <p:ph idx="1" type="body"/>
          </p:nvPr>
        </p:nvSpPr>
        <p:spPr>
          <a:xfrm>
            <a:off x="709287" y="4861048"/>
            <a:ext cx="5680800" cy="4605600"/>
          </a:xfrm>
          <a:prstGeom prst="rect">
            <a:avLst/>
          </a:prstGeom>
          <a:noFill/>
          <a:ln>
            <a:noFill/>
          </a:ln>
        </p:spPr>
        <p:txBody>
          <a:bodyPr anchorCtr="0" anchor="t" bIns="49500" lIns="99025" spcFirstLastPara="1" rIns="99025" wrap="square" tIns="49500">
            <a:noAutofit/>
          </a:bodyPr>
          <a:lstStyle/>
          <a:p>
            <a:pPr indent="0" lvl="0" marL="0" rtl="0" algn="l">
              <a:lnSpc>
                <a:spcPct val="100000"/>
              </a:lnSpc>
              <a:spcBef>
                <a:spcPts val="390"/>
              </a:spcBef>
              <a:spcAft>
                <a:spcPts val="0"/>
              </a:spcAft>
              <a:buSzPts val="1400"/>
              <a:buNone/>
            </a:pPr>
            <a:r>
              <a:t/>
            </a:r>
            <a:endParaRPr/>
          </a:p>
        </p:txBody>
      </p:sp>
      <p:sp>
        <p:nvSpPr>
          <p:cNvPr id="1618" name="Google Shape;1618;g3e3a61befe4_0_4349:notes"/>
          <p:cNvSpPr/>
          <p:nvPr>
            <p:ph idx="2" type="sldImg"/>
          </p:nvPr>
        </p:nvSpPr>
        <p:spPr>
          <a:xfrm>
            <a:off x="779463" y="768350"/>
            <a:ext cx="5540400" cy="3837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0" name="Shape 1650"/>
        <p:cNvGrpSpPr/>
        <p:nvPr/>
      </p:nvGrpSpPr>
      <p:grpSpPr>
        <a:xfrm>
          <a:off x="0" y="0"/>
          <a:ext cx="0" cy="0"/>
          <a:chOff x="0" y="0"/>
          <a:chExt cx="0" cy="0"/>
        </a:xfrm>
      </p:grpSpPr>
      <p:sp>
        <p:nvSpPr>
          <p:cNvPr id="1651" name="Google Shape;1651;g3e33499f370_0_231:notes"/>
          <p:cNvSpPr txBox="1"/>
          <p:nvPr>
            <p:ph idx="1" type="body"/>
          </p:nvPr>
        </p:nvSpPr>
        <p:spPr>
          <a:xfrm>
            <a:off x="709287" y="4861048"/>
            <a:ext cx="5680800" cy="4605600"/>
          </a:xfrm>
          <a:prstGeom prst="rect">
            <a:avLst/>
          </a:prstGeom>
          <a:noFill/>
          <a:ln>
            <a:noFill/>
          </a:ln>
        </p:spPr>
        <p:txBody>
          <a:bodyPr anchorCtr="0" anchor="t" bIns="49500" lIns="99025" spcFirstLastPara="1" rIns="99025" wrap="square" tIns="49500">
            <a:noAutofit/>
          </a:bodyPr>
          <a:lstStyle/>
          <a:p>
            <a:pPr indent="0" lvl="0" marL="0" rtl="0" algn="l">
              <a:lnSpc>
                <a:spcPct val="100000"/>
              </a:lnSpc>
              <a:spcBef>
                <a:spcPts val="390"/>
              </a:spcBef>
              <a:spcAft>
                <a:spcPts val="0"/>
              </a:spcAft>
              <a:buSzPts val="1400"/>
              <a:buNone/>
            </a:pPr>
            <a:r>
              <a:t/>
            </a:r>
            <a:endParaRPr/>
          </a:p>
        </p:txBody>
      </p:sp>
      <p:sp>
        <p:nvSpPr>
          <p:cNvPr id="1652" name="Google Shape;1652;g3e33499f370_0_231:notes"/>
          <p:cNvSpPr/>
          <p:nvPr>
            <p:ph idx="2" type="sldImg"/>
          </p:nvPr>
        </p:nvSpPr>
        <p:spPr>
          <a:xfrm>
            <a:off x="779463" y="768350"/>
            <a:ext cx="5540400" cy="3837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4" name="Shape 1664"/>
        <p:cNvGrpSpPr/>
        <p:nvPr/>
      </p:nvGrpSpPr>
      <p:grpSpPr>
        <a:xfrm>
          <a:off x="0" y="0"/>
          <a:ext cx="0" cy="0"/>
          <a:chOff x="0" y="0"/>
          <a:chExt cx="0" cy="0"/>
        </a:xfrm>
      </p:grpSpPr>
      <p:sp>
        <p:nvSpPr>
          <p:cNvPr id="1665" name="Google Shape;1665;g3e3a61befe4_0_4404:notes"/>
          <p:cNvSpPr txBox="1"/>
          <p:nvPr>
            <p:ph idx="1" type="body"/>
          </p:nvPr>
        </p:nvSpPr>
        <p:spPr>
          <a:xfrm>
            <a:off x="709287" y="4861048"/>
            <a:ext cx="5680800" cy="4605600"/>
          </a:xfrm>
          <a:prstGeom prst="rect">
            <a:avLst/>
          </a:prstGeom>
          <a:noFill/>
          <a:ln>
            <a:noFill/>
          </a:ln>
        </p:spPr>
        <p:txBody>
          <a:bodyPr anchorCtr="0" anchor="t" bIns="49500" lIns="99025" spcFirstLastPara="1" rIns="99025" wrap="square" tIns="49500">
            <a:noAutofit/>
          </a:bodyPr>
          <a:lstStyle/>
          <a:p>
            <a:pPr indent="0" lvl="0" marL="0" rtl="0" algn="l">
              <a:lnSpc>
                <a:spcPct val="100000"/>
              </a:lnSpc>
              <a:spcBef>
                <a:spcPts val="390"/>
              </a:spcBef>
              <a:spcAft>
                <a:spcPts val="0"/>
              </a:spcAft>
              <a:buSzPts val="1400"/>
              <a:buNone/>
            </a:pPr>
            <a:r>
              <a:t/>
            </a:r>
            <a:endParaRPr/>
          </a:p>
        </p:txBody>
      </p:sp>
      <p:sp>
        <p:nvSpPr>
          <p:cNvPr id="1666" name="Google Shape;1666;g3e3a61befe4_0_4404:notes"/>
          <p:cNvSpPr/>
          <p:nvPr>
            <p:ph idx="2" type="sldImg"/>
          </p:nvPr>
        </p:nvSpPr>
        <p:spPr>
          <a:xfrm>
            <a:off x="779463" y="768350"/>
            <a:ext cx="5540400" cy="3837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0" name="Shape 1680"/>
        <p:cNvGrpSpPr/>
        <p:nvPr/>
      </p:nvGrpSpPr>
      <p:grpSpPr>
        <a:xfrm>
          <a:off x="0" y="0"/>
          <a:ext cx="0" cy="0"/>
          <a:chOff x="0" y="0"/>
          <a:chExt cx="0" cy="0"/>
        </a:xfrm>
      </p:grpSpPr>
      <p:sp>
        <p:nvSpPr>
          <p:cNvPr id="1681" name="Google Shape;1681;g3e3a61befe4_0_4383:notes"/>
          <p:cNvSpPr txBox="1"/>
          <p:nvPr>
            <p:ph idx="1" type="body"/>
          </p:nvPr>
        </p:nvSpPr>
        <p:spPr>
          <a:xfrm>
            <a:off x="709287" y="4861048"/>
            <a:ext cx="5680800" cy="4605600"/>
          </a:xfrm>
          <a:prstGeom prst="rect">
            <a:avLst/>
          </a:prstGeom>
          <a:noFill/>
          <a:ln>
            <a:noFill/>
          </a:ln>
        </p:spPr>
        <p:txBody>
          <a:bodyPr anchorCtr="0" anchor="t" bIns="49500" lIns="99025" spcFirstLastPara="1" rIns="99025" wrap="square" tIns="49500">
            <a:noAutofit/>
          </a:bodyPr>
          <a:lstStyle/>
          <a:p>
            <a:pPr indent="0" lvl="0" marL="0" rtl="0" algn="l">
              <a:lnSpc>
                <a:spcPct val="100000"/>
              </a:lnSpc>
              <a:spcBef>
                <a:spcPts val="390"/>
              </a:spcBef>
              <a:spcAft>
                <a:spcPts val="0"/>
              </a:spcAft>
              <a:buSzPts val="1400"/>
              <a:buNone/>
            </a:pPr>
            <a:r>
              <a:t/>
            </a:r>
            <a:endParaRPr/>
          </a:p>
        </p:txBody>
      </p:sp>
      <p:sp>
        <p:nvSpPr>
          <p:cNvPr id="1682" name="Google Shape;1682;g3e3a61befe4_0_4383:notes"/>
          <p:cNvSpPr/>
          <p:nvPr>
            <p:ph idx="2" type="sldImg"/>
          </p:nvPr>
        </p:nvSpPr>
        <p:spPr>
          <a:xfrm>
            <a:off x="779463" y="768350"/>
            <a:ext cx="5540400" cy="3837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8" name="Shape 1698"/>
        <p:cNvGrpSpPr/>
        <p:nvPr/>
      </p:nvGrpSpPr>
      <p:grpSpPr>
        <a:xfrm>
          <a:off x="0" y="0"/>
          <a:ext cx="0" cy="0"/>
          <a:chOff x="0" y="0"/>
          <a:chExt cx="0" cy="0"/>
        </a:xfrm>
      </p:grpSpPr>
      <p:sp>
        <p:nvSpPr>
          <p:cNvPr id="1699" name="Google Shape;1699;g3e3a61befe4_0_4425:notes"/>
          <p:cNvSpPr txBox="1"/>
          <p:nvPr>
            <p:ph idx="1" type="body"/>
          </p:nvPr>
        </p:nvSpPr>
        <p:spPr>
          <a:xfrm>
            <a:off x="709287" y="4861048"/>
            <a:ext cx="5680800" cy="4605600"/>
          </a:xfrm>
          <a:prstGeom prst="rect">
            <a:avLst/>
          </a:prstGeom>
          <a:noFill/>
          <a:ln>
            <a:noFill/>
          </a:ln>
        </p:spPr>
        <p:txBody>
          <a:bodyPr anchorCtr="0" anchor="t" bIns="49500" lIns="99025" spcFirstLastPara="1" rIns="99025" wrap="square" tIns="49500">
            <a:noAutofit/>
          </a:bodyPr>
          <a:lstStyle/>
          <a:p>
            <a:pPr indent="0" lvl="0" marL="0" rtl="0" algn="l">
              <a:lnSpc>
                <a:spcPct val="100000"/>
              </a:lnSpc>
              <a:spcBef>
                <a:spcPts val="390"/>
              </a:spcBef>
              <a:spcAft>
                <a:spcPts val="0"/>
              </a:spcAft>
              <a:buSzPts val="1400"/>
              <a:buNone/>
            </a:pPr>
            <a:r>
              <a:t/>
            </a:r>
            <a:endParaRPr/>
          </a:p>
        </p:txBody>
      </p:sp>
      <p:sp>
        <p:nvSpPr>
          <p:cNvPr id="1700" name="Google Shape;1700;g3e3a61befe4_0_4425:notes"/>
          <p:cNvSpPr/>
          <p:nvPr>
            <p:ph idx="2" type="sldImg"/>
          </p:nvPr>
        </p:nvSpPr>
        <p:spPr>
          <a:xfrm>
            <a:off x="779463" y="768350"/>
            <a:ext cx="5540400" cy="3837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0" name="Shape 1720"/>
        <p:cNvGrpSpPr/>
        <p:nvPr/>
      </p:nvGrpSpPr>
      <p:grpSpPr>
        <a:xfrm>
          <a:off x="0" y="0"/>
          <a:ext cx="0" cy="0"/>
          <a:chOff x="0" y="0"/>
          <a:chExt cx="0" cy="0"/>
        </a:xfrm>
      </p:grpSpPr>
      <p:sp>
        <p:nvSpPr>
          <p:cNvPr id="1721" name="Google Shape;1721;g3e3a61befe4_0_4447:notes"/>
          <p:cNvSpPr txBox="1"/>
          <p:nvPr>
            <p:ph idx="1" type="body"/>
          </p:nvPr>
        </p:nvSpPr>
        <p:spPr>
          <a:xfrm>
            <a:off x="709287" y="4861048"/>
            <a:ext cx="5680800" cy="4605600"/>
          </a:xfrm>
          <a:prstGeom prst="rect">
            <a:avLst/>
          </a:prstGeom>
          <a:noFill/>
          <a:ln>
            <a:noFill/>
          </a:ln>
        </p:spPr>
        <p:txBody>
          <a:bodyPr anchorCtr="0" anchor="t" bIns="49500" lIns="99025" spcFirstLastPara="1" rIns="99025" wrap="square" tIns="49500">
            <a:noAutofit/>
          </a:bodyPr>
          <a:lstStyle/>
          <a:p>
            <a:pPr indent="0" lvl="0" marL="0" rtl="0" algn="l">
              <a:lnSpc>
                <a:spcPct val="100000"/>
              </a:lnSpc>
              <a:spcBef>
                <a:spcPts val="390"/>
              </a:spcBef>
              <a:spcAft>
                <a:spcPts val="0"/>
              </a:spcAft>
              <a:buSzPts val="1400"/>
              <a:buNone/>
            </a:pPr>
            <a:r>
              <a:t/>
            </a:r>
            <a:endParaRPr/>
          </a:p>
        </p:txBody>
      </p:sp>
      <p:sp>
        <p:nvSpPr>
          <p:cNvPr id="1722" name="Google Shape;1722;g3e3a61befe4_0_4447:notes"/>
          <p:cNvSpPr/>
          <p:nvPr>
            <p:ph idx="2" type="sldImg"/>
          </p:nvPr>
        </p:nvSpPr>
        <p:spPr>
          <a:xfrm>
            <a:off x="779463" y="768350"/>
            <a:ext cx="5540400" cy="3837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2" name="Shape 1742"/>
        <p:cNvGrpSpPr/>
        <p:nvPr/>
      </p:nvGrpSpPr>
      <p:grpSpPr>
        <a:xfrm>
          <a:off x="0" y="0"/>
          <a:ext cx="0" cy="0"/>
          <a:chOff x="0" y="0"/>
          <a:chExt cx="0" cy="0"/>
        </a:xfrm>
      </p:grpSpPr>
      <p:sp>
        <p:nvSpPr>
          <p:cNvPr id="1743" name="Google Shape;1743;g3e3a61befe4_0_4469:notes"/>
          <p:cNvSpPr txBox="1"/>
          <p:nvPr>
            <p:ph idx="1" type="body"/>
          </p:nvPr>
        </p:nvSpPr>
        <p:spPr>
          <a:xfrm>
            <a:off x="709287" y="4861048"/>
            <a:ext cx="5680800" cy="4605600"/>
          </a:xfrm>
          <a:prstGeom prst="rect">
            <a:avLst/>
          </a:prstGeom>
          <a:noFill/>
          <a:ln>
            <a:noFill/>
          </a:ln>
        </p:spPr>
        <p:txBody>
          <a:bodyPr anchorCtr="0" anchor="t" bIns="49500" lIns="99025" spcFirstLastPara="1" rIns="99025" wrap="square" tIns="49500">
            <a:noAutofit/>
          </a:bodyPr>
          <a:lstStyle/>
          <a:p>
            <a:pPr indent="0" lvl="0" marL="0" rtl="0" algn="l">
              <a:lnSpc>
                <a:spcPct val="100000"/>
              </a:lnSpc>
              <a:spcBef>
                <a:spcPts val="390"/>
              </a:spcBef>
              <a:spcAft>
                <a:spcPts val="0"/>
              </a:spcAft>
              <a:buSzPts val="1400"/>
              <a:buNone/>
            </a:pPr>
            <a:r>
              <a:t/>
            </a:r>
            <a:endParaRPr/>
          </a:p>
        </p:txBody>
      </p:sp>
      <p:sp>
        <p:nvSpPr>
          <p:cNvPr id="1744" name="Google Shape;1744;g3e3a61befe4_0_4469:notes"/>
          <p:cNvSpPr/>
          <p:nvPr>
            <p:ph idx="2" type="sldImg"/>
          </p:nvPr>
        </p:nvSpPr>
        <p:spPr>
          <a:xfrm>
            <a:off x="779463" y="768350"/>
            <a:ext cx="5540400" cy="3837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2" name="Shape 1762"/>
        <p:cNvGrpSpPr/>
        <p:nvPr/>
      </p:nvGrpSpPr>
      <p:grpSpPr>
        <a:xfrm>
          <a:off x="0" y="0"/>
          <a:ext cx="0" cy="0"/>
          <a:chOff x="0" y="0"/>
          <a:chExt cx="0" cy="0"/>
        </a:xfrm>
      </p:grpSpPr>
      <p:sp>
        <p:nvSpPr>
          <p:cNvPr id="1763" name="Google Shape;1763;g3e387427cbb_128_611:notes"/>
          <p:cNvSpPr txBox="1"/>
          <p:nvPr>
            <p:ph idx="1" type="body"/>
          </p:nvPr>
        </p:nvSpPr>
        <p:spPr>
          <a:xfrm>
            <a:off x="709287" y="4861048"/>
            <a:ext cx="5680800" cy="4605600"/>
          </a:xfrm>
          <a:prstGeom prst="rect">
            <a:avLst/>
          </a:prstGeom>
          <a:noFill/>
          <a:ln>
            <a:noFill/>
          </a:ln>
        </p:spPr>
        <p:txBody>
          <a:bodyPr anchorCtr="0" anchor="t" bIns="49500" lIns="99025" spcFirstLastPara="1" rIns="99025" wrap="square" tIns="49500">
            <a:noAutofit/>
          </a:bodyPr>
          <a:lstStyle/>
          <a:p>
            <a:pPr indent="0" lvl="0" marL="0" rtl="0" algn="l">
              <a:lnSpc>
                <a:spcPct val="100000"/>
              </a:lnSpc>
              <a:spcBef>
                <a:spcPts val="390"/>
              </a:spcBef>
              <a:spcAft>
                <a:spcPts val="0"/>
              </a:spcAft>
              <a:buSzPts val="1400"/>
              <a:buNone/>
            </a:pPr>
            <a:r>
              <a:t/>
            </a:r>
            <a:endParaRPr/>
          </a:p>
        </p:txBody>
      </p:sp>
      <p:sp>
        <p:nvSpPr>
          <p:cNvPr id="1764" name="Google Shape;1764;g3e387427cbb_128_611:notes"/>
          <p:cNvSpPr/>
          <p:nvPr>
            <p:ph idx="2" type="sldImg"/>
          </p:nvPr>
        </p:nvSpPr>
        <p:spPr>
          <a:xfrm>
            <a:off x="779463" y="768350"/>
            <a:ext cx="5540400" cy="3837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4" name="Shape 1774"/>
        <p:cNvGrpSpPr/>
        <p:nvPr/>
      </p:nvGrpSpPr>
      <p:grpSpPr>
        <a:xfrm>
          <a:off x="0" y="0"/>
          <a:ext cx="0" cy="0"/>
          <a:chOff x="0" y="0"/>
          <a:chExt cx="0" cy="0"/>
        </a:xfrm>
      </p:grpSpPr>
      <p:sp>
        <p:nvSpPr>
          <p:cNvPr id="1775" name="Google Shape;1775;g3e387427cbb_128_622:notes"/>
          <p:cNvSpPr txBox="1"/>
          <p:nvPr>
            <p:ph idx="1" type="body"/>
          </p:nvPr>
        </p:nvSpPr>
        <p:spPr>
          <a:xfrm>
            <a:off x="709287" y="4861048"/>
            <a:ext cx="5680800" cy="4605600"/>
          </a:xfrm>
          <a:prstGeom prst="rect">
            <a:avLst/>
          </a:prstGeom>
          <a:noFill/>
          <a:ln>
            <a:noFill/>
          </a:ln>
        </p:spPr>
        <p:txBody>
          <a:bodyPr anchorCtr="0" anchor="t" bIns="49500" lIns="99025" spcFirstLastPara="1" rIns="99025" wrap="square" tIns="49500">
            <a:noAutofit/>
          </a:bodyPr>
          <a:lstStyle/>
          <a:p>
            <a:pPr indent="0" lvl="0" marL="0" rtl="0" algn="l">
              <a:lnSpc>
                <a:spcPct val="100000"/>
              </a:lnSpc>
              <a:spcBef>
                <a:spcPts val="390"/>
              </a:spcBef>
              <a:spcAft>
                <a:spcPts val="0"/>
              </a:spcAft>
              <a:buSzPts val="1400"/>
              <a:buNone/>
            </a:pPr>
            <a:r>
              <a:t/>
            </a:r>
            <a:endParaRPr/>
          </a:p>
        </p:txBody>
      </p:sp>
      <p:sp>
        <p:nvSpPr>
          <p:cNvPr id="1776" name="Google Shape;1776;g3e387427cbb_128_622:notes"/>
          <p:cNvSpPr/>
          <p:nvPr>
            <p:ph idx="2" type="sldImg"/>
          </p:nvPr>
        </p:nvSpPr>
        <p:spPr>
          <a:xfrm>
            <a:off x="779463" y="768350"/>
            <a:ext cx="5540400" cy="3837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6" name="Shape 1786"/>
        <p:cNvGrpSpPr/>
        <p:nvPr/>
      </p:nvGrpSpPr>
      <p:grpSpPr>
        <a:xfrm>
          <a:off x="0" y="0"/>
          <a:ext cx="0" cy="0"/>
          <a:chOff x="0" y="0"/>
          <a:chExt cx="0" cy="0"/>
        </a:xfrm>
      </p:grpSpPr>
      <p:sp>
        <p:nvSpPr>
          <p:cNvPr id="1787" name="Google Shape;1787;g3e387427cbb_136_603:notes"/>
          <p:cNvSpPr txBox="1"/>
          <p:nvPr>
            <p:ph idx="1" type="body"/>
          </p:nvPr>
        </p:nvSpPr>
        <p:spPr>
          <a:xfrm>
            <a:off x="709287" y="4861048"/>
            <a:ext cx="5680800" cy="4605600"/>
          </a:xfrm>
          <a:prstGeom prst="rect">
            <a:avLst/>
          </a:prstGeom>
          <a:noFill/>
          <a:ln>
            <a:noFill/>
          </a:ln>
        </p:spPr>
        <p:txBody>
          <a:bodyPr anchorCtr="0" anchor="t" bIns="49500" lIns="99025" spcFirstLastPara="1" rIns="99025" wrap="square" tIns="49500">
            <a:noAutofit/>
          </a:bodyPr>
          <a:lstStyle/>
          <a:p>
            <a:pPr indent="0" lvl="0" marL="0" rtl="0" algn="l">
              <a:lnSpc>
                <a:spcPct val="100000"/>
              </a:lnSpc>
              <a:spcBef>
                <a:spcPts val="390"/>
              </a:spcBef>
              <a:spcAft>
                <a:spcPts val="0"/>
              </a:spcAft>
              <a:buSzPts val="1400"/>
              <a:buNone/>
            </a:pPr>
            <a:r>
              <a:t/>
            </a:r>
            <a:endParaRPr/>
          </a:p>
        </p:txBody>
      </p:sp>
      <p:sp>
        <p:nvSpPr>
          <p:cNvPr id="1788" name="Google Shape;1788;g3e387427cbb_136_603:notes"/>
          <p:cNvSpPr/>
          <p:nvPr>
            <p:ph idx="2" type="sldImg"/>
          </p:nvPr>
        </p:nvSpPr>
        <p:spPr>
          <a:xfrm>
            <a:off x="779463" y="768350"/>
            <a:ext cx="5540400" cy="3837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8" name="Shape 1798"/>
        <p:cNvGrpSpPr/>
        <p:nvPr/>
      </p:nvGrpSpPr>
      <p:grpSpPr>
        <a:xfrm>
          <a:off x="0" y="0"/>
          <a:ext cx="0" cy="0"/>
          <a:chOff x="0" y="0"/>
          <a:chExt cx="0" cy="0"/>
        </a:xfrm>
      </p:grpSpPr>
      <p:sp>
        <p:nvSpPr>
          <p:cNvPr id="1799" name="Google Shape;1799;g3e33499f370_0_457:notes"/>
          <p:cNvSpPr/>
          <p:nvPr>
            <p:ph idx="2" type="sldImg"/>
          </p:nvPr>
        </p:nvSpPr>
        <p:spPr>
          <a:xfrm>
            <a:off x="779463" y="768350"/>
            <a:ext cx="5540400" cy="3837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00" name="Google Shape;1800;g3e33499f370_0_457:notes"/>
          <p:cNvSpPr txBox="1"/>
          <p:nvPr>
            <p:ph idx="1" type="body"/>
          </p:nvPr>
        </p:nvSpPr>
        <p:spPr>
          <a:xfrm>
            <a:off x="709287" y="4861048"/>
            <a:ext cx="5680800" cy="4605600"/>
          </a:xfrm>
          <a:prstGeom prst="rect">
            <a:avLst/>
          </a:prstGeom>
          <a:noFill/>
          <a:ln>
            <a:noFill/>
          </a:ln>
        </p:spPr>
        <p:txBody>
          <a:bodyPr anchorCtr="0" anchor="t" bIns="49500" lIns="99025" spcFirstLastPara="1" rIns="99025" wrap="square" tIns="49500">
            <a:noAutofit/>
          </a:bodyPr>
          <a:lstStyle/>
          <a:p>
            <a:pPr indent="0" lvl="0" marL="0" rtl="0" algn="l">
              <a:lnSpc>
                <a:spcPct val="100000"/>
              </a:lnSpc>
              <a:spcBef>
                <a:spcPts val="0"/>
              </a:spcBef>
              <a:spcAft>
                <a:spcPts val="0"/>
              </a:spcAft>
              <a:buSzPts val="1400"/>
              <a:buNone/>
            </a:pPr>
            <a:r>
              <a:t/>
            </a:r>
            <a:endParaRPr/>
          </a:p>
        </p:txBody>
      </p:sp>
      <p:sp>
        <p:nvSpPr>
          <p:cNvPr id="1801" name="Google Shape;1801;g3e33499f370_0_457:notes"/>
          <p:cNvSpPr txBox="1"/>
          <p:nvPr>
            <p:ph idx="12" type="sldNum"/>
          </p:nvPr>
        </p:nvSpPr>
        <p:spPr>
          <a:xfrm>
            <a:off x="4020899" y="9720347"/>
            <a:ext cx="3076800" cy="512400"/>
          </a:xfrm>
          <a:prstGeom prst="rect">
            <a:avLst/>
          </a:prstGeom>
          <a:noFill/>
          <a:ln>
            <a:noFill/>
          </a:ln>
        </p:spPr>
        <p:txBody>
          <a:bodyPr anchorCtr="0" anchor="b" bIns="49500" lIns="99025" spcFirstLastPara="1" rIns="99025" wrap="square" tIns="495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de título">
  <p:cSld name="Slide de título (g3db8282ec94_7_0)">
    <p:bg>
      <p:bgPr>
        <a:solidFill>
          <a:schemeClr val="dk1"/>
        </a:solidFill>
      </p:bgPr>
    </p:bg>
    <p:spTree>
      <p:nvGrpSpPr>
        <p:cNvPr id="13" name="Shape 13"/>
        <p:cNvGrpSpPr/>
        <p:nvPr/>
      </p:nvGrpSpPr>
      <p:grpSpPr>
        <a:xfrm>
          <a:off x="0" y="0"/>
          <a:ext cx="0" cy="0"/>
          <a:chOff x="0" y="0"/>
          <a:chExt cx="0" cy="0"/>
        </a:xfrm>
      </p:grpSpPr>
      <p:sp>
        <p:nvSpPr>
          <p:cNvPr id="14" name="Google Shape;14;g3db8282ec94_0_944"/>
          <p:cNvSpPr txBox="1"/>
          <p:nvPr>
            <p:ph type="ctrTitle"/>
          </p:nvPr>
        </p:nvSpPr>
        <p:spPr>
          <a:xfrm>
            <a:off x="344488" y="1412776"/>
            <a:ext cx="6393300" cy="1695000"/>
          </a:xfrm>
          <a:prstGeom prst="rect">
            <a:avLst/>
          </a:prstGeom>
          <a:solidFill>
            <a:schemeClr val="lt1">
              <a:alpha val="0"/>
            </a:schemeClr>
          </a:solidFill>
          <a:ln>
            <a:noFill/>
          </a:ln>
        </p:spPr>
        <p:txBody>
          <a:bodyPr anchorCtr="0" anchor="ctr" bIns="45700" lIns="91425" spcFirstLastPara="1" rIns="91425" wrap="square" tIns="45700">
            <a:normAutofit/>
          </a:bodyPr>
          <a:lstStyle>
            <a:lvl1pPr lvl="0" algn="r">
              <a:lnSpc>
                <a:spcPct val="90000"/>
              </a:lnSpc>
              <a:spcBef>
                <a:spcPts val="0"/>
              </a:spcBef>
              <a:spcAft>
                <a:spcPts val="0"/>
              </a:spcAft>
              <a:buClr>
                <a:srgbClr val="F2F2F2"/>
              </a:buClr>
              <a:buSzPts val="3600"/>
              <a:buFont typeface="Arial Black"/>
              <a:buNone/>
              <a:defRPr b="1" sz="3600">
                <a:solidFill>
                  <a:srgbClr val="F2F2F2"/>
                </a:solidFill>
                <a:latin typeface="Arial Black"/>
                <a:ea typeface="Arial Black"/>
                <a:cs typeface="Arial Black"/>
                <a:sym typeface="Arial Black"/>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g3db8282ec94_0_944"/>
          <p:cNvSpPr txBox="1"/>
          <p:nvPr>
            <p:ph idx="1" type="subTitle"/>
          </p:nvPr>
        </p:nvSpPr>
        <p:spPr>
          <a:xfrm>
            <a:off x="344488" y="3581716"/>
            <a:ext cx="6393300" cy="4608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Clr>
                <a:srgbClr val="D8D8D8"/>
              </a:buClr>
              <a:buSzPts val="2000"/>
              <a:buNone/>
              <a:defRPr b="1" sz="2000">
                <a:solidFill>
                  <a:srgbClr val="D8D8D8"/>
                </a:solidFill>
                <a:latin typeface="Arial"/>
                <a:ea typeface="Arial"/>
                <a:cs typeface="Arial"/>
                <a:sym typeface="Aria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6" name="Google Shape;16;g3db8282ec94_0_944"/>
          <p:cNvSpPr txBox="1"/>
          <p:nvPr>
            <p:ph idx="10" type="dt"/>
          </p:nvPr>
        </p:nvSpPr>
        <p:spPr>
          <a:xfrm>
            <a:off x="128464" y="6424086"/>
            <a:ext cx="1008000" cy="3651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7" name="Google Shape;17;g3db8282ec94_0_944"/>
          <p:cNvSpPr txBox="1"/>
          <p:nvPr>
            <p:ph idx="12" type="sldNum"/>
          </p:nvPr>
        </p:nvSpPr>
        <p:spPr>
          <a:xfrm>
            <a:off x="8749502" y="6424086"/>
            <a:ext cx="1008000" cy="365100"/>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2800"/>
              <a:buFont typeface="Arial"/>
              <a:buNone/>
              <a:defRPr b="0" i="0" sz="2800" u="none" cap="none" strike="noStrike">
                <a:solidFill>
                  <a:schemeClr val="lt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2800"/>
              <a:buFont typeface="Arial"/>
              <a:buNone/>
              <a:defRPr b="0" i="0" sz="2800" u="none" cap="none" strike="noStrike">
                <a:solidFill>
                  <a:schemeClr val="lt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2800"/>
              <a:buFont typeface="Arial"/>
              <a:buNone/>
              <a:defRPr b="0" i="0" sz="2800" u="none" cap="none" strike="noStrike">
                <a:solidFill>
                  <a:schemeClr val="lt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2800"/>
              <a:buFont typeface="Arial"/>
              <a:buNone/>
              <a:defRPr b="0" i="0" sz="2800" u="none" cap="none" strike="noStrike">
                <a:solidFill>
                  <a:schemeClr val="lt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2800"/>
              <a:buFont typeface="Arial"/>
              <a:buNone/>
              <a:defRPr b="0" i="0" sz="2800" u="none" cap="none" strike="noStrike">
                <a:solidFill>
                  <a:schemeClr val="lt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2800"/>
              <a:buFont typeface="Arial"/>
              <a:buNone/>
              <a:defRPr b="0" i="0" sz="2800" u="none" cap="none" strike="noStrike">
                <a:solidFill>
                  <a:schemeClr val="lt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2800"/>
              <a:buFont typeface="Arial"/>
              <a:buNone/>
              <a:defRPr b="0" i="0" sz="2800" u="none" cap="none" strike="noStrike">
                <a:solidFill>
                  <a:schemeClr val="lt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2800"/>
              <a:buFont typeface="Arial"/>
              <a:buNone/>
              <a:defRPr b="0" i="0" sz="2800" u="none" cap="none" strike="noStrike">
                <a:solidFill>
                  <a:schemeClr val="lt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2800"/>
              <a:buFont typeface="Arial"/>
              <a:buNone/>
              <a:defRPr b="0" i="0" sz="2800" u="none" cap="none" strike="noStrike">
                <a:solidFill>
                  <a:schemeClr val="lt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de título" type="title">
  <p:cSld name="TITLE">
    <p:bg>
      <p:bgPr>
        <a:solidFill>
          <a:schemeClr val="dk1"/>
        </a:solidFill>
      </p:bgPr>
    </p:bg>
    <p:spTree>
      <p:nvGrpSpPr>
        <p:cNvPr id="18" name="Shape 18"/>
        <p:cNvGrpSpPr/>
        <p:nvPr/>
      </p:nvGrpSpPr>
      <p:grpSpPr>
        <a:xfrm>
          <a:off x="0" y="0"/>
          <a:ext cx="0" cy="0"/>
          <a:chOff x="0" y="0"/>
          <a:chExt cx="0" cy="0"/>
        </a:xfrm>
      </p:grpSpPr>
      <p:sp>
        <p:nvSpPr>
          <p:cNvPr id="19" name="Google Shape;19;g3db8282ec94_0_838"/>
          <p:cNvSpPr txBox="1"/>
          <p:nvPr>
            <p:ph type="ctrTitle"/>
          </p:nvPr>
        </p:nvSpPr>
        <p:spPr>
          <a:xfrm>
            <a:off x="344488" y="1412776"/>
            <a:ext cx="6393300" cy="1695000"/>
          </a:xfrm>
          <a:prstGeom prst="rect">
            <a:avLst/>
          </a:prstGeom>
          <a:solidFill>
            <a:schemeClr val="lt1">
              <a:alpha val="0"/>
            </a:schemeClr>
          </a:solidFill>
          <a:ln>
            <a:noFill/>
          </a:ln>
        </p:spPr>
        <p:txBody>
          <a:bodyPr anchorCtr="0" anchor="ctr" bIns="45700" lIns="91425" spcFirstLastPara="1" rIns="91425" wrap="square" tIns="45700">
            <a:normAutofit/>
          </a:bodyPr>
          <a:lstStyle>
            <a:lvl1pPr lvl="0" algn="r">
              <a:lnSpc>
                <a:spcPct val="90000"/>
              </a:lnSpc>
              <a:spcBef>
                <a:spcPts val="0"/>
              </a:spcBef>
              <a:spcAft>
                <a:spcPts val="0"/>
              </a:spcAft>
              <a:buClr>
                <a:srgbClr val="F2F2F2"/>
              </a:buClr>
              <a:buSzPts val="3600"/>
              <a:buFont typeface="Arial Black"/>
              <a:buNone/>
              <a:defRPr b="1" sz="3600">
                <a:solidFill>
                  <a:srgbClr val="F2F2F2"/>
                </a:solidFill>
                <a:latin typeface="Arial Black"/>
                <a:ea typeface="Arial Black"/>
                <a:cs typeface="Arial Black"/>
                <a:sym typeface="Arial Black"/>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g3db8282ec94_0_838"/>
          <p:cNvSpPr txBox="1"/>
          <p:nvPr>
            <p:ph idx="1" type="subTitle"/>
          </p:nvPr>
        </p:nvSpPr>
        <p:spPr>
          <a:xfrm>
            <a:off x="344488" y="3581716"/>
            <a:ext cx="6393300" cy="4608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Clr>
                <a:srgbClr val="D8D8D8"/>
              </a:buClr>
              <a:buSzPts val="2000"/>
              <a:buNone/>
              <a:defRPr b="1" sz="2000">
                <a:solidFill>
                  <a:srgbClr val="D8D8D8"/>
                </a:solidFill>
                <a:latin typeface="Arial"/>
                <a:ea typeface="Arial"/>
                <a:cs typeface="Arial"/>
                <a:sym typeface="Aria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1" name="Google Shape;21;g3db8282ec94_0_838"/>
          <p:cNvSpPr txBox="1"/>
          <p:nvPr>
            <p:ph idx="10" type="dt"/>
          </p:nvPr>
        </p:nvSpPr>
        <p:spPr>
          <a:xfrm>
            <a:off x="128464" y="6424086"/>
            <a:ext cx="1008000" cy="3651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22" name="Google Shape;22;g3db8282ec94_0_838"/>
          <p:cNvSpPr txBox="1"/>
          <p:nvPr>
            <p:ph idx="12" type="sldNum"/>
          </p:nvPr>
        </p:nvSpPr>
        <p:spPr>
          <a:xfrm>
            <a:off x="8749502" y="6424086"/>
            <a:ext cx="1008000" cy="365100"/>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2800"/>
              <a:buFont typeface="Arial"/>
              <a:buNone/>
              <a:defRPr b="0" i="0" sz="2800" u="none" cap="none" strike="noStrike">
                <a:solidFill>
                  <a:schemeClr val="lt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2800"/>
              <a:buFont typeface="Arial"/>
              <a:buNone/>
              <a:defRPr b="0" i="0" sz="2800" u="none" cap="none" strike="noStrike">
                <a:solidFill>
                  <a:schemeClr val="lt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2800"/>
              <a:buFont typeface="Arial"/>
              <a:buNone/>
              <a:defRPr b="0" i="0" sz="2800" u="none" cap="none" strike="noStrike">
                <a:solidFill>
                  <a:schemeClr val="lt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2800"/>
              <a:buFont typeface="Arial"/>
              <a:buNone/>
              <a:defRPr b="0" i="0" sz="2800" u="none" cap="none" strike="noStrike">
                <a:solidFill>
                  <a:schemeClr val="lt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2800"/>
              <a:buFont typeface="Arial"/>
              <a:buNone/>
              <a:defRPr b="0" i="0" sz="2800" u="none" cap="none" strike="noStrike">
                <a:solidFill>
                  <a:schemeClr val="lt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2800"/>
              <a:buFont typeface="Arial"/>
              <a:buNone/>
              <a:defRPr b="0" i="0" sz="2800" u="none" cap="none" strike="noStrike">
                <a:solidFill>
                  <a:schemeClr val="lt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2800"/>
              <a:buFont typeface="Arial"/>
              <a:buNone/>
              <a:defRPr b="0" i="0" sz="2800" u="none" cap="none" strike="noStrike">
                <a:solidFill>
                  <a:schemeClr val="lt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2800"/>
              <a:buFont typeface="Arial"/>
              <a:buNone/>
              <a:defRPr b="0" i="0" sz="2800" u="none" cap="none" strike="noStrike">
                <a:solidFill>
                  <a:schemeClr val="lt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2800"/>
              <a:buFont typeface="Arial"/>
              <a:buNone/>
              <a:defRPr b="0" i="0" sz="2800" u="none" cap="none" strike="noStrike">
                <a:solidFill>
                  <a:schemeClr val="lt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pic>
        <p:nvPicPr>
          <p:cNvPr id="23" name="Google Shape;23;g3db8282ec94_0_838"/>
          <p:cNvPicPr preferRelativeResize="0"/>
          <p:nvPr/>
        </p:nvPicPr>
        <p:blipFill rotWithShape="1">
          <a:blip r:embed="rId2">
            <a:alphaModFix/>
          </a:blip>
          <a:srcRect b="0" l="17788" r="19906" t="0"/>
          <a:stretch/>
        </p:blipFill>
        <p:spPr>
          <a:xfrm>
            <a:off x="0" y="22589"/>
            <a:ext cx="1136576" cy="1387613"/>
          </a:xfrm>
          <a:prstGeom prst="rect">
            <a:avLst/>
          </a:prstGeom>
          <a:noFill/>
          <a:ln>
            <a:noFill/>
          </a:ln>
        </p:spPr>
      </p:pic>
      <p:sp>
        <p:nvSpPr>
          <p:cNvPr id="24" name="Google Shape;24;g3db8282ec94_0_838"/>
          <p:cNvSpPr/>
          <p:nvPr/>
        </p:nvSpPr>
        <p:spPr>
          <a:xfrm>
            <a:off x="4808984" y="188640"/>
            <a:ext cx="4953000" cy="8310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400"/>
              <a:buFont typeface="Arial"/>
              <a:buNone/>
            </a:pPr>
            <a:r>
              <a:rPr b="1" i="0" lang="en-US" sz="2400" u="none" cap="none" strike="noStrike">
                <a:solidFill>
                  <a:schemeClr val="lt1"/>
                </a:solidFill>
                <a:latin typeface="Arial"/>
                <a:ea typeface="Arial"/>
                <a:cs typeface="Arial"/>
                <a:sym typeface="Arial"/>
              </a:rPr>
              <a:t>IEEE Intelligence and Security Informatics (ISI) 2018</a:t>
            </a:r>
            <a:endParaRPr b="0" i="0" sz="14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ítulo e conteúdo">
  <p:cSld name="1_Título e conteúdo">
    <p:bg>
      <p:bgPr>
        <a:blipFill>
          <a:blip r:embed="rId2">
            <a:alphaModFix/>
          </a:blip>
          <a:stretch>
            <a:fillRect/>
          </a:stretch>
        </a:blipFill>
      </p:bgPr>
    </p:bg>
    <p:spTree>
      <p:nvGrpSpPr>
        <p:cNvPr id="25" name="Shape 25"/>
        <p:cNvGrpSpPr/>
        <p:nvPr/>
      </p:nvGrpSpPr>
      <p:grpSpPr>
        <a:xfrm>
          <a:off x="0" y="0"/>
          <a:ext cx="0" cy="0"/>
          <a:chOff x="0" y="0"/>
          <a:chExt cx="0" cy="0"/>
        </a:xfrm>
      </p:grpSpPr>
      <p:sp>
        <p:nvSpPr>
          <p:cNvPr id="26" name="Google Shape;26;g3db8282ec94_0_845"/>
          <p:cNvSpPr/>
          <p:nvPr/>
        </p:nvSpPr>
        <p:spPr>
          <a:xfrm>
            <a:off x="0" y="768088"/>
            <a:ext cx="9906000" cy="6090000"/>
          </a:xfrm>
          <a:prstGeom prst="rect">
            <a:avLst/>
          </a:prstGeom>
          <a:solidFill>
            <a:schemeClr val="lt1">
              <a:alpha val="6000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7" name="Google Shape;27;g3db8282ec94_0_845"/>
          <p:cNvSpPr txBox="1"/>
          <p:nvPr>
            <p:ph type="title"/>
          </p:nvPr>
        </p:nvSpPr>
        <p:spPr>
          <a:xfrm>
            <a:off x="488503" y="356138"/>
            <a:ext cx="9000900" cy="624600"/>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rgbClr val="1E4E79"/>
              </a:buClr>
              <a:buSzPts val="4000"/>
              <a:buFont typeface="Arial"/>
              <a:buNone/>
              <a:defRPr b="1" sz="4000">
                <a:solidFill>
                  <a:srgbClr val="1E4E79"/>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g3db8282ec94_0_845"/>
          <p:cNvSpPr txBox="1"/>
          <p:nvPr>
            <p:ph idx="10" type="dt"/>
          </p:nvPr>
        </p:nvSpPr>
        <p:spPr>
          <a:xfrm>
            <a:off x="681038" y="6356350"/>
            <a:ext cx="2229000" cy="3651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29" name="Google Shape;29;g3db8282ec94_0_845"/>
          <p:cNvSpPr txBox="1"/>
          <p:nvPr>
            <p:ph idx="11" type="ftr"/>
          </p:nvPr>
        </p:nvSpPr>
        <p:spPr>
          <a:xfrm>
            <a:off x="3281363" y="6356350"/>
            <a:ext cx="3343200" cy="3651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30" name="Google Shape;30;g3db8282ec94_0_845"/>
          <p:cNvSpPr txBox="1"/>
          <p:nvPr>
            <p:ph idx="12" type="sldNum"/>
          </p:nvPr>
        </p:nvSpPr>
        <p:spPr>
          <a:xfrm>
            <a:off x="6996113" y="6356350"/>
            <a:ext cx="2229000" cy="3651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31" name="Google Shape;31;g3db8282ec94_0_845"/>
          <p:cNvSpPr/>
          <p:nvPr/>
        </p:nvSpPr>
        <p:spPr>
          <a:xfrm>
            <a:off x="-13050" y="5921896"/>
            <a:ext cx="9919200" cy="936000"/>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32" name="Google Shape;32;g3db8282ec94_0_845"/>
          <p:cNvPicPr preferRelativeResize="0"/>
          <p:nvPr/>
        </p:nvPicPr>
        <p:blipFill rotWithShape="1">
          <a:blip r:embed="rId3">
            <a:alphaModFix/>
          </a:blip>
          <a:srcRect b="0" l="17788" r="19906" t="65239"/>
          <a:stretch/>
        </p:blipFill>
        <p:spPr>
          <a:xfrm>
            <a:off x="920552" y="6155677"/>
            <a:ext cx="1568747" cy="665761"/>
          </a:xfrm>
          <a:prstGeom prst="rect">
            <a:avLst/>
          </a:prstGeom>
          <a:noFill/>
          <a:ln>
            <a:noFill/>
          </a:ln>
        </p:spPr>
      </p:pic>
      <p:pic>
        <p:nvPicPr>
          <p:cNvPr id="33" name="Google Shape;33;g3db8282ec94_0_845"/>
          <p:cNvPicPr preferRelativeResize="0"/>
          <p:nvPr/>
        </p:nvPicPr>
        <p:blipFill rotWithShape="1">
          <a:blip r:embed="rId3">
            <a:alphaModFix/>
          </a:blip>
          <a:srcRect b="34761" l="25519" r="25620" t="3570"/>
          <a:stretch/>
        </p:blipFill>
        <p:spPr>
          <a:xfrm>
            <a:off x="194947" y="6056653"/>
            <a:ext cx="725605" cy="696647"/>
          </a:xfrm>
          <a:prstGeom prst="rect">
            <a:avLst/>
          </a:prstGeom>
          <a:noFill/>
          <a:ln>
            <a:noFill/>
          </a:ln>
        </p:spPr>
      </p:pic>
      <p:sp>
        <p:nvSpPr>
          <p:cNvPr id="34" name="Google Shape;34;g3db8282ec94_0_845"/>
          <p:cNvSpPr/>
          <p:nvPr/>
        </p:nvSpPr>
        <p:spPr>
          <a:xfrm>
            <a:off x="4950907" y="5989477"/>
            <a:ext cx="4953000" cy="8310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400"/>
              <a:buFont typeface="Arial"/>
              <a:buNone/>
            </a:pPr>
            <a:r>
              <a:rPr b="1" i="0" lang="en-US" sz="2400" u="none" cap="none" strike="noStrike">
                <a:solidFill>
                  <a:schemeClr val="lt1"/>
                </a:solidFill>
                <a:latin typeface="Arial"/>
                <a:ea typeface="Arial"/>
                <a:cs typeface="Arial"/>
                <a:sym typeface="Arial"/>
              </a:rPr>
              <a:t>IEEE Intelligence and Security Informatics (ISI) 2018</a:t>
            </a:r>
            <a:endParaRPr b="0" i="0" sz="14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e conteúdo" type="obj">
  <p:cSld name="OBJECT">
    <p:bg>
      <p:bgPr>
        <a:blipFill>
          <a:blip r:embed="rId2">
            <a:alphaModFix/>
          </a:blip>
          <a:stretch>
            <a:fillRect/>
          </a:stretch>
        </a:blipFill>
      </p:bgPr>
    </p:bg>
    <p:spTree>
      <p:nvGrpSpPr>
        <p:cNvPr id="35" name="Shape 35"/>
        <p:cNvGrpSpPr/>
        <p:nvPr/>
      </p:nvGrpSpPr>
      <p:grpSpPr>
        <a:xfrm>
          <a:off x="0" y="0"/>
          <a:ext cx="0" cy="0"/>
          <a:chOff x="0" y="0"/>
          <a:chExt cx="0" cy="0"/>
        </a:xfrm>
      </p:grpSpPr>
      <p:sp>
        <p:nvSpPr>
          <p:cNvPr id="36" name="Google Shape;36;g3db8282ec94_0_855"/>
          <p:cNvSpPr/>
          <p:nvPr/>
        </p:nvSpPr>
        <p:spPr>
          <a:xfrm>
            <a:off x="0" y="768088"/>
            <a:ext cx="9906000" cy="6090000"/>
          </a:xfrm>
          <a:prstGeom prst="rect">
            <a:avLst/>
          </a:prstGeom>
          <a:solidFill>
            <a:schemeClr val="lt1">
              <a:alpha val="6000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37" name="Google Shape;37;g3db8282ec94_0_855"/>
          <p:cNvSpPr txBox="1"/>
          <p:nvPr>
            <p:ph idx="1" type="body"/>
          </p:nvPr>
        </p:nvSpPr>
        <p:spPr>
          <a:xfrm>
            <a:off x="488503" y="1280425"/>
            <a:ext cx="9000900" cy="4236900"/>
          </a:xfrm>
          <a:prstGeom prst="rect">
            <a:avLst/>
          </a:prstGeom>
          <a:noFill/>
          <a:ln>
            <a:noFill/>
          </a:ln>
        </p:spPr>
        <p:txBody>
          <a:bodyPr anchorCtr="0" anchor="t" bIns="45700" lIns="91425" spcFirstLastPara="1" rIns="91425" wrap="square" tIns="45700">
            <a:normAutofit/>
          </a:bodyPr>
          <a:lstStyle>
            <a:lvl1pPr indent="-381000" lvl="0" marL="457200" algn="l">
              <a:lnSpc>
                <a:spcPct val="90000"/>
              </a:lnSpc>
              <a:spcBef>
                <a:spcPts val="1000"/>
              </a:spcBef>
              <a:spcAft>
                <a:spcPts val="0"/>
              </a:spcAft>
              <a:buClr>
                <a:schemeClr val="dk1"/>
              </a:buClr>
              <a:buSzPts val="2400"/>
              <a:buFont typeface="Arial"/>
              <a:buChar char="•"/>
              <a:defRPr sz="2400">
                <a:latin typeface="Arial"/>
                <a:ea typeface="Arial"/>
                <a:cs typeface="Arial"/>
                <a:sym typeface="Arial"/>
              </a:defRPr>
            </a:lvl1pPr>
            <a:lvl2pPr indent="-355600" lvl="1" marL="914400" algn="l">
              <a:lnSpc>
                <a:spcPct val="90000"/>
              </a:lnSpc>
              <a:spcBef>
                <a:spcPts val="500"/>
              </a:spcBef>
              <a:spcAft>
                <a:spcPts val="0"/>
              </a:spcAft>
              <a:buClr>
                <a:schemeClr val="dk1"/>
              </a:buClr>
              <a:buSzPts val="2000"/>
              <a:buFont typeface="Arial"/>
              <a:buChar char="•"/>
              <a:defRPr sz="2000">
                <a:latin typeface="Arial"/>
                <a:ea typeface="Arial"/>
                <a:cs typeface="Arial"/>
                <a:sym typeface="Arial"/>
              </a:defRPr>
            </a:lvl2pPr>
            <a:lvl3pPr indent="-342900" lvl="2" marL="1371600" algn="l">
              <a:lnSpc>
                <a:spcPct val="90000"/>
              </a:lnSpc>
              <a:spcBef>
                <a:spcPts val="500"/>
              </a:spcBef>
              <a:spcAft>
                <a:spcPts val="0"/>
              </a:spcAft>
              <a:buClr>
                <a:schemeClr val="dk1"/>
              </a:buClr>
              <a:buSzPts val="1800"/>
              <a:buFont typeface="Arial"/>
              <a:buChar char="•"/>
              <a:defRPr sz="1800">
                <a:latin typeface="Arial"/>
                <a:ea typeface="Arial"/>
                <a:cs typeface="Arial"/>
                <a:sym typeface="Arial"/>
              </a:defRPr>
            </a:lvl3pPr>
            <a:lvl4pPr indent="-330200" lvl="3" marL="1828800" algn="l">
              <a:lnSpc>
                <a:spcPct val="90000"/>
              </a:lnSpc>
              <a:spcBef>
                <a:spcPts val="500"/>
              </a:spcBef>
              <a:spcAft>
                <a:spcPts val="0"/>
              </a:spcAft>
              <a:buClr>
                <a:schemeClr val="dk1"/>
              </a:buClr>
              <a:buSzPts val="1600"/>
              <a:buFont typeface="Arial"/>
              <a:buChar char="•"/>
              <a:defRPr sz="1600">
                <a:latin typeface="Arial"/>
                <a:ea typeface="Arial"/>
                <a:cs typeface="Arial"/>
                <a:sym typeface="Arial"/>
              </a:defRPr>
            </a:lvl4pPr>
            <a:lvl5pPr indent="-330200" lvl="4" marL="2286000" algn="l">
              <a:lnSpc>
                <a:spcPct val="90000"/>
              </a:lnSpc>
              <a:spcBef>
                <a:spcPts val="500"/>
              </a:spcBef>
              <a:spcAft>
                <a:spcPts val="0"/>
              </a:spcAft>
              <a:buClr>
                <a:schemeClr val="dk1"/>
              </a:buClr>
              <a:buSzPts val="1600"/>
              <a:buFont typeface="Arial"/>
              <a:buChar char="•"/>
              <a:defRPr sz="1600">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8" name="Google Shape;38;g3db8282ec94_0_855"/>
          <p:cNvSpPr txBox="1"/>
          <p:nvPr>
            <p:ph type="title"/>
          </p:nvPr>
        </p:nvSpPr>
        <p:spPr>
          <a:xfrm>
            <a:off x="488503" y="356138"/>
            <a:ext cx="9000900" cy="624600"/>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rgbClr val="1E4E79"/>
              </a:buClr>
              <a:buSzPts val="4000"/>
              <a:buFont typeface="Arial"/>
              <a:buNone/>
              <a:defRPr b="1" sz="4000">
                <a:solidFill>
                  <a:srgbClr val="1E4E79"/>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g3db8282ec94_0_855"/>
          <p:cNvSpPr txBox="1"/>
          <p:nvPr>
            <p:ph idx="10" type="dt"/>
          </p:nvPr>
        </p:nvSpPr>
        <p:spPr>
          <a:xfrm>
            <a:off x="681038" y="6356350"/>
            <a:ext cx="2229000" cy="3651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40" name="Google Shape;40;g3db8282ec94_0_855"/>
          <p:cNvSpPr txBox="1"/>
          <p:nvPr>
            <p:ph idx="11" type="ftr"/>
          </p:nvPr>
        </p:nvSpPr>
        <p:spPr>
          <a:xfrm>
            <a:off x="3281363" y="6356350"/>
            <a:ext cx="3343200" cy="3651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41" name="Google Shape;41;g3db8282ec94_0_855"/>
          <p:cNvSpPr txBox="1"/>
          <p:nvPr>
            <p:ph idx="12" type="sldNum"/>
          </p:nvPr>
        </p:nvSpPr>
        <p:spPr>
          <a:xfrm>
            <a:off x="6996113" y="6356350"/>
            <a:ext cx="2229000" cy="3651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42" name="Google Shape;42;g3db8282ec94_0_855"/>
          <p:cNvSpPr/>
          <p:nvPr/>
        </p:nvSpPr>
        <p:spPr>
          <a:xfrm>
            <a:off x="-13050" y="5921896"/>
            <a:ext cx="9919200" cy="936000"/>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43" name="Google Shape;43;g3db8282ec94_0_855"/>
          <p:cNvPicPr preferRelativeResize="0"/>
          <p:nvPr/>
        </p:nvPicPr>
        <p:blipFill rotWithShape="1">
          <a:blip r:embed="rId3">
            <a:alphaModFix/>
          </a:blip>
          <a:srcRect b="0" l="17788" r="19906" t="65239"/>
          <a:stretch/>
        </p:blipFill>
        <p:spPr>
          <a:xfrm>
            <a:off x="920552" y="6155677"/>
            <a:ext cx="1568747" cy="665761"/>
          </a:xfrm>
          <a:prstGeom prst="rect">
            <a:avLst/>
          </a:prstGeom>
          <a:noFill/>
          <a:ln>
            <a:noFill/>
          </a:ln>
        </p:spPr>
      </p:pic>
      <p:pic>
        <p:nvPicPr>
          <p:cNvPr id="44" name="Google Shape;44;g3db8282ec94_0_855"/>
          <p:cNvPicPr preferRelativeResize="0"/>
          <p:nvPr/>
        </p:nvPicPr>
        <p:blipFill rotWithShape="1">
          <a:blip r:embed="rId3">
            <a:alphaModFix/>
          </a:blip>
          <a:srcRect b="34761" l="25519" r="25620" t="3570"/>
          <a:stretch/>
        </p:blipFill>
        <p:spPr>
          <a:xfrm>
            <a:off x="194947" y="6056653"/>
            <a:ext cx="725605" cy="696647"/>
          </a:xfrm>
          <a:prstGeom prst="rect">
            <a:avLst/>
          </a:prstGeom>
          <a:noFill/>
          <a:ln>
            <a:noFill/>
          </a:ln>
        </p:spPr>
      </p:pic>
      <p:sp>
        <p:nvSpPr>
          <p:cNvPr id="45" name="Google Shape;45;g3db8282ec94_0_855"/>
          <p:cNvSpPr/>
          <p:nvPr/>
        </p:nvSpPr>
        <p:spPr>
          <a:xfrm>
            <a:off x="4950907" y="5989477"/>
            <a:ext cx="4953000" cy="8310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400"/>
              <a:buFont typeface="Arial"/>
              <a:buNone/>
            </a:pPr>
            <a:r>
              <a:rPr b="1" i="0" lang="en-US" sz="2400" u="none" cap="none" strike="noStrike">
                <a:solidFill>
                  <a:schemeClr val="lt1"/>
                </a:solidFill>
                <a:latin typeface="Arial"/>
                <a:ea typeface="Arial"/>
                <a:cs typeface="Arial"/>
                <a:sym typeface="Arial"/>
              </a:rPr>
              <a:t>IEEE Intelligence and Security Informatics (ISI) 2018</a:t>
            </a:r>
            <a:endParaRPr b="0" i="0" sz="14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ítulo e conteúdo">
  <p:cSld name="2_Título e conteúdo">
    <p:bg>
      <p:bgPr>
        <a:blipFill>
          <a:blip r:embed="rId2">
            <a:alphaModFix/>
          </a:blip>
          <a:stretch>
            <a:fillRect/>
          </a:stretch>
        </a:blipFill>
      </p:bgPr>
    </p:bg>
    <p:spTree>
      <p:nvGrpSpPr>
        <p:cNvPr id="46" name="Shape 46"/>
        <p:cNvGrpSpPr/>
        <p:nvPr/>
      </p:nvGrpSpPr>
      <p:grpSpPr>
        <a:xfrm>
          <a:off x="0" y="0"/>
          <a:ext cx="0" cy="0"/>
          <a:chOff x="0" y="0"/>
          <a:chExt cx="0" cy="0"/>
        </a:xfrm>
      </p:grpSpPr>
      <p:sp>
        <p:nvSpPr>
          <p:cNvPr id="47" name="Google Shape;47;g3db8282ec94_0_866"/>
          <p:cNvSpPr/>
          <p:nvPr/>
        </p:nvSpPr>
        <p:spPr>
          <a:xfrm>
            <a:off x="0" y="768088"/>
            <a:ext cx="9906000" cy="6090000"/>
          </a:xfrm>
          <a:prstGeom prst="rect">
            <a:avLst/>
          </a:prstGeom>
          <a:solidFill>
            <a:schemeClr val="lt1">
              <a:alpha val="6000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48" name="Google Shape;48;g3db8282ec94_0_866"/>
          <p:cNvSpPr txBox="1"/>
          <p:nvPr>
            <p:ph type="title"/>
          </p:nvPr>
        </p:nvSpPr>
        <p:spPr>
          <a:xfrm>
            <a:off x="488503" y="356138"/>
            <a:ext cx="9000900" cy="624600"/>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rgbClr val="1E4E79"/>
              </a:buClr>
              <a:buSzPts val="4000"/>
              <a:buFont typeface="Arial"/>
              <a:buNone/>
              <a:defRPr b="1" sz="4000">
                <a:solidFill>
                  <a:srgbClr val="1E4E79"/>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g3db8282ec94_0_866"/>
          <p:cNvSpPr txBox="1"/>
          <p:nvPr>
            <p:ph idx="10" type="dt"/>
          </p:nvPr>
        </p:nvSpPr>
        <p:spPr>
          <a:xfrm>
            <a:off x="681038" y="6356350"/>
            <a:ext cx="2229000" cy="3651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50" name="Google Shape;50;g3db8282ec94_0_866"/>
          <p:cNvSpPr txBox="1"/>
          <p:nvPr>
            <p:ph idx="11" type="ftr"/>
          </p:nvPr>
        </p:nvSpPr>
        <p:spPr>
          <a:xfrm>
            <a:off x="3281363" y="6356350"/>
            <a:ext cx="3343200" cy="3651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51" name="Google Shape;51;g3db8282ec94_0_866"/>
          <p:cNvSpPr txBox="1"/>
          <p:nvPr>
            <p:ph idx="12" type="sldNum"/>
          </p:nvPr>
        </p:nvSpPr>
        <p:spPr>
          <a:xfrm>
            <a:off x="6996113" y="6356350"/>
            <a:ext cx="2229000" cy="3651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52" name="Google Shape;52;g3db8282ec94_0_866"/>
          <p:cNvSpPr/>
          <p:nvPr/>
        </p:nvSpPr>
        <p:spPr>
          <a:xfrm>
            <a:off x="-13050" y="5921896"/>
            <a:ext cx="9919200" cy="936000"/>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53" name="Google Shape;53;g3db8282ec94_0_866"/>
          <p:cNvPicPr preferRelativeResize="0"/>
          <p:nvPr/>
        </p:nvPicPr>
        <p:blipFill rotWithShape="1">
          <a:blip r:embed="rId3">
            <a:alphaModFix/>
          </a:blip>
          <a:srcRect b="0" l="17788" r="19906" t="65239"/>
          <a:stretch/>
        </p:blipFill>
        <p:spPr>
          <a:xfrm>
            <a:off x="920552" y="6155677"/>
            <a:ext cx="1568747" cy="665761"/>
          </a:xfrm>
          <a:prstGeom prst="rect">
            <a:avLst/>
          </a:prstGeom>
          <a:noFill/>
          <a:ln>
            <a:noFill/>
          </a:ln>
        </p:spPr>
      </p:pic>
      <p:pic>
        <p:nvPicPr>
          <p:cNvPr id="54" name="Google Shape;54;g3db8282ec94_0_866"/>
          <p:cNvPicPr preferRelativeResize="0"/>
          <p:nvPr/>
        </p:nvPicPr>
        <p:blipFill rotWithShape="1">
          <a:blip r:embed="rId3">
            <a:alphaModFix/>
          </a:blip>
          <a:srcRect b="34761" l="25519" r="25620" t="3570"/>
          <a:stretch/>
        </p:blipFill>
        <p:spPr>
          <a:xfrm>
            <a:off x="194947" y="6056653"/>
            <a:ext cx="725605" cy="696647"/>
          </a:xfrm>
          <a:prstGeom prst="rect">
            <a:avLst/>
          </a:prstGeom>
          <a:noFill/>
          <a:ln>
            <a:noFill/>
          </a:ln>
        </p:spPr>
      </p:pic>
      <p:sp>
        <p:nvSpPr>
          <p:cNvPr id="55" name="Google Shape;55;g3db8282ec94_0_866"/>
          <p:cNvSpPr txBox="1"/>
          <p:nvPr>
            <p:ph idx="1" type="body"/>
          </p:nvPr>
        </p:nvSpPr>
        <p:spPr>
          <a:xfrm>
            <a:off x="488503" y="1215713"/>
            <a:ext cx="4388400" cy="43512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6" name="Google Shape;56;g3db8282ec94_0_866"/>
          <p:cNvSpPr txBox="1"/>
          <p:nvPr>
            <p:ph idx="2" type="body"/>
          </p:nvPr>
        </p:nvSpPr>
        <p:spPr>
          <a:xfrm>
            <a:off x="5029200" y="1215713"/>
            <a:ext cx="4460400" cy="43512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7" name="Google Shape;57;g3db8282ec94_0_866"/>
          <p:cNvSpPr/>
          <p:nvPr/>
        </p:nvSpPr>
        <p:spPr>
          <a:xfrm>
            <a:off x="4950907" y="5989477"/>
            <a:ext cx="4953000" cy="8310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400"/>
              <a:buFont typeface="Arial"/>
              <a:buNone/>
            </a:pPr>
            <a:r>
              <a:rPr b="1" i="0" lang="en-US" sz="2400" u="none" cap="none" strike="noStrike">
                <a:solidFill>
                  <a:schemeClr val="lt1"/>
                </a:solidFill>
                <a:latin typeface="Arial"/>
                <a:ea typeface="Arial"/>
                <a:cs typeface="Arial"/>
                <a:sym typeface="Arial"/>
              </a:rPr>
              <a:t>IEEE Intelligence and Security Informatics (ISI) 2018</a:t>
            </a:r>
            <a:endParaRPr b="0" i="0" sz="14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beçalho da Seção" type="secHead">
  <p:cSld name="SECTION_HEADER">
    <p:spTree>
      <p:nvGrpSpPr>
        <p:cNvPr id="58" name="Shape 58"/>
        <p:cNvGrpSpPr/>
        <p:nvPr/>
      </p:nvGrpSpPr>
      <p:grpSpPr>
        <a:xfrm>
          <a:off x="0" y="0"/>
          <a:ext cx="0" cy="0"/>
          <a:chOff x="0" y="0"/>
          <a:chExt cx="0" cy="0"/>
        </a:xfrm>
      </p:grpSpPr>
      <p:sp>
        <p:nvSpPr>
          <p:cNvPr id="59" name="Google Shape;59;g3db8282ec94_0_878"/>
          <p:cNvSpPr txBox="1"/>
          <p:nvPr>
            <p:ph type="title"/>
          </p:nvPr>
        </p:nvSpPr>
        <p:spPr>
          <a:xfrm>
            <a:off x="676275" y="1709738"/>
            <a:ext cx="8544000" cy="28527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g3db8282ec94_0_878"/>
          <p:cNvSpPr txBox="1"/>
          <p:nvPr>
            <p:ph idx="1" type="body"/>
          </p:nvPr>
        </p:nvSpPr>
        <p:spPr>
          <a:xfrm>
            <a:off x="676275" y="4589463"/>
            <a:ext cx="8544000" cy="15003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61" name="Google Shape;61;g3db8282ec94_0_878"/>
          <p:cNvSpPr txBox="1"/>
          <p:nvPr>
            <p:ph idx="10" type="dt"/>
          </p:nvPr>
        </p:nvSpPr>
        <p:spPr>
          <a:xfrm>
            <a:off x="681038" y="6356350"/>
            <a:ext cx="2229000" cy="3651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62" name="Google Shape;62;g3db8282ec94_0_878"/>
          <p:cNvSpPr txBox="1"/>
          <p:nvPr>
            <p:ph idx="11" type="ftr"/>
          </p:nvPr>
        </p:nvSpPr>
        <p:spPr>
          <a:xfrm>
            <a:off x="3281363" y="6356350"/>
            <a:ext cx="3343200" cy="3651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63" name="Google Shape;63;g3db8282ec94_0_878"/>
          <p:cNvSpPr txBox="1"/>
          <p:nvPr>
            <p:ph idx="12" type="sldNum"/>
          </p:nvPr>
        </p:nvSpPr>
        <p:spPr>
          <a:xfrm>
            <a:off x="6996113" y="6356350"/>
            <a:ext cx="2229000" cy="365100"/>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uas Partes de Conteúdo" type="twoObj">
  <p:cSld name="TWO_OBJECTS">
    <p:spTree>
      <p:nvGrpSpPr>
        <p:cNvPr id="64" name="Shape 64"/>
        <p:cNvGrpSpPr/>
        <p:nvPr/>
      </p:nvGrpSpPr>
      <p:grpSpPr>
        <a:xfrm>
          <a:off x="0" y="0"/>
          <a:ext cx="0" cy="0"/>
          <a:chOff x="0" y="0"/>
          <a:chExt cx="0" cy="0"/>
        </a:xfrm>
      </p:grpSpPr>
      <p:sp>
        <p:nvSpPr>
          <p:cNvPr id="65" name="Google Shape;65;g3db8282ec94_0_884"/>
          <p:cNvSpPr txBox="1"/>
          <p:nvPr>
            <p:ph type="title"/>
          </p:nvPr>
        </p:nvSpPr>
        <p:spPr>
          <a:xfrm>
            <a:off x="681038" y="365125"/>
            <a:ext cx="85440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g3db8282ec94_0_884"/>
          <p:cNvSpPr txBox="1"/>
          <p:nvPr>
            <p:ph idx="1" type="body"/>
          </p:nvPr>
        </p:nvSpPr>
        <p:spPr>
          <a:xfrm>
            <a:off x="681038" y="1825625"/>
            <a:ext cx="4195800" cy="43512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7" name="Google Shape;67;g3db8282ec94_0_884"/>
          <p:cNvSpPr txBox="1"/>
          <p:nvPr>
            <p:ph idx="2" type="body"/>
          </p:nvPr>
        </p:nvSpPr>
        <p:spPr>
          <a:xfrm>
            <a:off x="5029200" y="1825625"/>
            <a:ext cx="4195800" cy="43512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8" name="Google Shape;68;g3db8282ec94_0_884"/>
          <p:cNvSpPr txBox="1"/>
          <p:nvPr>
            <p:ph idx="10" type="dt"/>
          </p:nvPr>
        </p:nvSpPr>
        <p:spPr>
          <a:xfrm>
            <a:off x="681038" y="6356350"/>
            <a:ext cx="2229000" cy="3651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69" name="Google Shape;69;g3db8282ec94_0_884"/>
          <p:cNvSpPr txBox="1"/>
          <p:nvPr>
            <p:ph idx="11" type="ftr"/>
          </p:nvPr>
        </p:nvSpPr>
        <p:spPr>
          <a:xfrm>
            <a:off x="3281363" y="6356350"/>
            <a:ext cx="3343200" cy="3651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70" name="Google Shape;70;g3db8282ec94_0_884"/>
          <p:cNvSpPr txBox="1"/>
          <p:nvPr>
            <p:ph idx="12" type="sldNum"/>
          </p:nvPr>
        </p:nvSpPr>
        <p:spPr>
          <a:xfrm>
            <a:off x="6996113" y="6356350"/>
            <a:ext cx="2229000" cy="365100"/>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ção" type="twoTxTwoObj">
  <p:cSld name="TWO_OBJECTS_WITH_TEXT">
    <p:spTree>
      <p:nvGrpSpPr>
        <p:cNvPr id="71" name="Shape 71"/>
        <p:cNvGrpSpPr/>
        <p:nvPr/>
      </p:nvGrpSpPr>
      <p:grpSpPr>
        <a:xfrm>
          <a:off x="0" y="0"/>
          <a:ext cx="0" cy="0"/>
          <a:chOff x="0" y="0"/>
          <a:chExt cx="0" cy="0"/>
        </a:xfrm>
      </p:grpSpPr>
      <p:sp>
        <p:nvSpPr>
          <p:cNvPr id="72" name="Google Shape;72;g3db8282ec94_0_891"/>
          <p:cNvSpPr txBox="1"/>
          <p:nvPr>
            <p:ph type="title"/>
          </p:nvPr>
        </p:nvSpPr>
        <p:spPr>
          <a:xfrm>
            <a:off x="682625" y="365125"/>
            <a:ext cx="85440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g3db8282ec94_0_891"/>
          <p:cNvSpPr txBox="1"/>
          <p:nvPr>
            <p:ph idx="1" type="body"/>
          </p:nvPr>
        </p:nvSpPr>
        <p:spPr>
          <a:xfrm>
            <a:off x="682625" y="1681163"/>
            <a:ext cx="4191000" cy="823800"/>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74" name="Google Shape;74;g3db8282ec94_0_891"/>
          <p:cNvSpPr txBox="1"/>
          <p:nvPr>
            <p:ph idx="2" type="body"/>
          </p:nvPr>
        </p:nvSpPr>
        <p:spPr>
          <a:xfrm>
            <a:off x="682625" y="2505075"/>
            <a:ext cx="4191000" cy="3684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g3db8282ec94_0_891"/>
          <p:cNvSpPr txBox="1"/>
          <p:nvPr>
            <p:ph idx="3" type="body"/>
          </p:nvPr>
        </p:nvSpPr>
        <p:spPr>
          <a:xfrm>
            <a:off x="5014913" y="1681163"/>
            <a:ext cx="4211700" cy="823800"/>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76" name="Google Shape;76;g3db8282ec94_0_891"/>
          <p:cNvSpPr txBox="1"/>
          <p:nvPr>
            <p:ph idx="4" type="body"/>
          </p:nvPr>
        </p:nvSpPr>
        <p:spPr>
          <a:xfrm>
            <a:off x="5014913" y="2505075"/>
            <a:ext cx="4211700" cy="3684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g3db8282ec94_0_891"/>
          <p:cNvSpPr txBox="1"/>
          <p:nvPr>
            <p:ph idx="10" type="dt"/>
          </p:nvPr>
        </p:nvSpPr>
        <p:spPr>
          <a:xfrm>
            <a:off x="681038" y="6356350"/>
            <a:ext cx="2229000" cy="3651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78" name="Google Shape;78;g3db8282ec94_0_891"/>
          <p:cNvSpPr txBox="1"/>
          <p:nvPr>
            <p:ph idx="11" type="ftr"/>
          </p:nvPr>
        </p:nvSpPr>
        <p:spPr>
          <a:xfrm>
            <a:off x="3281363" y="6356350"/>
            <a:ext cx="3343200" cy="3651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79" name="Google Shape;79;g3db8282ec94_0_891"/>
          <p:cNvSpPr txBox="1"/>
          <p:nvPr>
            <p:ph idx="12" type="sldNum"/>
          </p:nvPr>
        </p:nvSpPr>
        <p:spPr>
          <a:xfrm>
            <a:off x="6996113" y="6356350"/>
            <a:ext cx="2229000" cy="365100"/>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mente título" type="titleOnly">
  <p:cSld name="TITLE_ONLY">
    <p:spTree>
      <p:nvGrpSpPr>
        <p:cNvPr id="80" name="Shape 80"/>
        <p:cNvGrpSpPr/>
        <p:nvPr/>
      </p:nvGrpSpPr>
      <p:grpSpPr>
        <a:xfrm>
          <a:off x="0" y="0"/>
          <a:ext cx="0" cy="0"/>
          <a:chOff x="0" y="0"/>
          <a:chExt cx="0" cy="0"/>
        </a:xfrm>
      </p:grpSpPr>
      <p:sp>
        <p:nvSpPr>
          <p:cNvPr id="81" name="Google Shape;81;g3db8282ec94_0_900"/>
          <p:cNvSpPr txBox="1"/>
          <p:nvPr>
            <p:ph type="title"/>
          </p:nvPr>
        </p:nvSpPr>
        <p:spPr>
          <a:xfrm>
            <a:off x="681038" y="365125"/>
            <a:ext cx="85440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g3db8282ec94_0_900"/>
          <p:cNvSpPr txBox="1"/>
          <p:nvPr>
            <p:ph idx="10" type="dt"/>
          </p:nvPr>
        </p:nvSpPr>
        <p:spPr>
          <a:xfrm>
            <a:off x="681038" y="6356350"/>
            <a:ext cx="2229000" cy="3651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83" name="Google Shape;83;g3db8282ec94_0_900"/>
          <p:cNvSpPr txBox="1"/>
          <p:nvPr>
            <p:ph idx="11" type="ftr"/>
          </p:nvPr>
        </p:nvSpPr>
        <p:spPr>
          <a:xfrm>
            <a:off x="3281363" y="6356350"/>
            <a:ext cx="3343200" cy="3651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84" name="Google Shape;84;g3db8282ec94_0_900"/>
          <p:cNvSpPr txBox="1"/>
          <p:nvPr>
            <p:ph idx="12" type="sldNum"/>
          </p:nvPr>
        </p:nvSpPr>
        <p:spPr>
          <a:xfrm>
            <a:off x="6996113" y="6356350"/>
            <a:ext cx="2229000" cy="365100"/>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m branco" type="blank">
  <p:cSld name="BLANK">
    <p:spTree>
      <p:nvGrpSpPr>
        <p:cNvPr id="85" name="Shape 85"/>
        <p:cNvGrpSpPr/>
        <p:nvPr/>
      </p:nvGrpSpPr>
      <p:grpSpPr>
        <a:xfrm>
          <a:off x="0" y="0"/>
          <a:ext cx="0" cy="0"/>
          <a:chOff x="0" y="0"/>
          <a:chExt cx="0" cy="0"/>
        </a:xfrm>
      </p:grpSpPr>
      <p:sp>
        <p:nvSpPr>
          <p:cNvPr id="86" name="Google Shape;86;g3db8282ec94_0_905"/>
          <p:cNvSpPr txBox="1"/>
          <p:nvPr>
            <p:ph idx="10" type="dt"/>
          </p:nvPr>
        </p:nvSpPr>
        <p:spPr>
          <a:xfrm>
            <a:off x="681038" y="6356350"/>
            <a:ext cx="2229000" cy="3651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87" name="Google Shape;87;g3db8282ec94_0_905"/>
          <p:cNvSpPr txBox="1"/>
          <p:nvPr>
            <p:ph idx="11" type="ftr"/>
          </p:nvPr>
        </p:nvSpPr>
        <p:spPr>
          <a:xfrm>
            <a:off x="3281363" y="6356350"/>
            <a:ext cx="3343200" cy="3651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88" name="Google Shape;88;g3db8282ec94_0_905"/>
          <p:cNvSpPr txBox="1"/>
          <p:nvPr>
            <p:ph idx="12" type="sldNum"/>
          </p:nvPr>
        </p:nvSpPr>
        <p:spPr>
          <a:xfrm>
            <a:off x="6996113" y="6356350"/>
            <a:ext cx="2229000" cy="365100"/>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údo com Legenda" type="objTx">
  <p:cSld name="OBJECT_WITH_CAPTION_TEXT">
    <p:spTree>
      <p:nvGrpSpPr>
        <p:cNvPr id="89" name="Shape 89"/>
        <p:cNvGrpSpPr/>
        <p:nvPr/>
      </p:nvGrpSpPr>
      <p:grpSpPr>
        <a:xfrm>
          <a:off x="0" y="0"/>
          <a:ext cx="0" cy="0"/>
          <a:chOff x="0" y="0"/>
          <a:chExt cx="0" cy="0"/>
        </a:xfrm>
      </p:grpSpPr>
      <p:sp>
        <p:nvSpPr>
          <p:cNvPr id="90" name="Google Shape;90;g3db8282ec94_0_909"/>
          <p:cNvSpPr txBox="1"/>
          <p:nvPr>
            <p:ph type="title"/>
          </p:nvPr>
        </p:nvSpPr>
        <p:spPr>
          <a:xfrm>
            <a:off x="682625" y="457200"/>
            <a:ext cx="3194100"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1" name="Google Shape;91;g3db8282ec94_0_909"/>
          <p:cNvSpPr txBox="1"/>
          <p:nvPr>
            <p:ph idx="1" type="body"/>
          </p:nvPr>
        </p:nvSpPr>
        <p:spPr>
          <a:xfrm>
            <a:off x="4211638" y="987425"/>
            <a:ext cx="5014800" cy="4873500"/>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92" name="Google Shape;92;g3db8282ec94_0_909"/>
          <p:cNvSpPr txBox="1"/>
          <p:nvPr>
            <p:ph idx="2" type="body"/>
          </p:nvPr>
        </p:nvSpPr>
        <p:spPr>
          <a:xfrm>
            <a:off x="682625" y="2057400"/>
            <a:ext cx="3194100" cy="38115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93" name="Google Shape;93;g3db8282ec94_0_909"/>
          <p:cNvSpPr txBox="1"/>
          <p:nvPr>
            <p:ph idx="10" type="dt"/>
          </p:nvPr>
        </p:nvSpPr>
        <p:spPr>
          <a:xfrm>
            <a:off x="681038" y="6356350"/>
            <a:ext cx="2229000" cy="3651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94" name="Google Shape;94;g3db8282ec94_0_909"/>
          <p:cNvSpPr txBox="1"/>
          <p:nvPr>
            <p:ph idx="11" type="ftr"/>
          </p:nvPr>
        </p:nvSpPr>
        <p:spPr>
          <a:xfrm>
            <a:off x="3281363" y="6356350"/>
            <a:ext cx="3343200" cy="3651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95" name="Google Shape;95;g3db8282ec94_0_909"/>
          <p:cNvSpPr txBox="1"/>
          <p:nvPr>
            <p:ph idx="12" type="sldNum"/>
          </p:nvPr>
        </p:nvSpPr>
        <p:spPr>
          <a:xfrm>
            <a:off x="6996113" y="6356350"/>
            <a:ext cx="2229000" cy="365100"/>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m com Legenda" type="picTx">
  <p:cSld name="PICTURE_WITH_CAPTION_TEXT">
    <p:spTree>
      <p:nvGrpSpPr>
        <p:cNvPr id="96" name="Shape 96"/>
        <p:cNvGrpSpPr/>
        <p:nvPr/>
      </p:nvGrpSpPr>
      <p:grpSpPr>
        <a:xfrm>
          <a:off x="0" y="0"/>
          <a:ext cx="0" cy="0"/>
          <a:chOff x="0" y="0"/>
          <a:chExt cx="0" cy="0"/>
        </a:xfrm>
      </p:grpSpPr>
      <p:sp>
        <p:nvSpPr>
          <p:cNvPr id="97" name="Google Shape;97;g3db8282ec94_0_916"/>
          <p:cNvSpPr txBox="1"/>
          <p:nvPr>
            <p:ph type="title"/>
          </p:nvPr>
        </p:nvSpPr>
        <p:spPr>
          <a:xfrm>
            <a:off x="682625" y="457200"/>
            <a:ext cx="3194100"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8" name="Google Shape;98;g3db8282ec94_0_916"/>
          <p:cNvSpPr/>
          <p:nvPr>
            <p:ph idx="2" type="pic"/>
          </p:nvPr>
        </p:nvSpPr>
        <p:spPr>
          <a:xfrm>
            <a:off x="4211638" y="987425"/>
            <a:ext cx="5014800" cy="4873500"/>
          </a:xfrm>
          <a:prstGeom prst="rect">
            <a:avLst/>
          </a:prstGeom>
          <a:noFill/>
          <a:ln>
            <a:noFill/>
          </a:ln>
        </p:spPr>
      </p:sp>
      <p:sp>
        <p:nvSpPr>
          <p:cNvPr id="99" name="Google Shape;99;g3db8282ec94_0_916"/>
          <p:cNvSpPr txBox="1"/>
          <p:nvPr>
            <p:ph idx="1" type="body"/>
          </p:nvPr>
        </p:nvSpPr>
        <p:spPr>
          <a:xfrm>
            <a:off x="682625" y="2057400"/>
            <a:ext cx="3194100" cy="38115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100" name="Google Shape;100;g3db8282ec94_0_916"/>
          <p:cNvSpPr txBox="1"/>
          <p:nvPr>
            <p:ph idx="10" type="dt"/>
          </p:nvPr>
        </p:nvSpPr>
        <p:spPr>
          <a:xfrm>
            <a:off x="681038" y="6356350"/>
            <a:ext cx="2229000" cy="3651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01" name="Google Shape;101;g3db8282ec94_0_916"/>
          <p:cNvSpPr txBox="1"/>
          <p:nvPr>
            <p:ph idx="11" type="ftr"/>
          </p:nvPr>
        </p:nvSpPr>
        <p:spPr>
          <a:xfrm>
            <a:off x="3281363" y="6356350"/>
            <a:ext cx="3343200" cy="3651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02" name="Google Shape;102;g3db8282ec94_0_916"/>
          <p:cNvSpPr txBox="1"/>
          <p:nvPr>
            <p:ph idx="12" type="sldNum"/>
          </p:nvPr>
        </p:nvSpPr>
        <p:spPr>
          <a:xfrm>
            <a:off x="6996113" y="6356350"/>
            <a:ext cx="2229000" cy="365100"/>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e texto vertical" type="vertTx">
  <p:cSld name="VERTICAL_TEXT">
    <p:spTree>
      <p:nvGrpSpPr>
        <p:cNvPr id="103" name="Shape 103"/>
        <p:cNvGrpSpPr/>
        <p:nvPr/>
      </p:nvGrpSpPr>
      <p:grpSpPr>
        <a:xfrm>
          <a:off x="0" y="0"/>
          <a:ext cx="0" cy="0"/>
          <a:chOff x="0" y="0"/>
          <a:chExt cx="0" cy="0"/>
        </a:xfrm>
      </p:grpSpPr>
      <p:sp>
        <p:nvSpPr>
          <p:cNvPr id="104" name="Google Shape;104;g3db8282ec94_0_923"/>
          <p:cNvSpPr txBox="1"/>
          <p:nvPr>
            <p:ph type="title"/>
          </p:nvPr>
        </p:nvSpPr>
        <p:spPr>
          <a:xfrm>
            <a:off x="681038" y="365125"/>
            <a:ext cx="85440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5" name="Google Shape;105;g3db8282ec94_0_923"/>
          <p:cNvSpPr txBox="1"/>
          <p:nvPr>
            <p:ph idx="1" type="body"/>
          </p:nvPr>
        </p:nvSpPr>
        <p:spPr>
          <a:xfrm rot="5400000">
            <a:off x="2777363" y="-270775"/>
            <a:ext cx="4351200" cy="85440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6" name="Google Shape;106;g3db8282ec94_0_923"/>
          <p:cNvSpPr txBox="1"/>
          <p:nvPr>
            <p:ph idx="10" type="dt"/>
          </p:nvPr>
        </p:nvSpPr>
        <p:spPr>
          <a:xfrm>
            <a:off x="681038" y="6356350"/>
            <a:ext cx="2229000" cy="3651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07" name="Google Shape;107;g3db8282ec94_0_923"/>
          <p:cNvSpPr txBox="1"/>
          <p:nvPr>
            <p:ph idx="11" type="ftr"/>
          </p:nvPr>
        </p:nvSpPr>
        <p:spPr>
          <a:xfrm>
            <a:off x="3281363" y="6356350"/>
            <a:ext cx="3343200" cy="3651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08" name="Google Shape;108;g3db8282ec94_0_923"/>
          <p:cNvSpPr txBox="1"/>
          <p:nvPr>
            <p:ph idx="12" type="sldNum"/>
          </p:nvPr>
        </p:nvSpPr>
        <p:spPr>
          <a:xfrm>
            <a:off x="6996113" y="6356350"/>
            <a:ext cx="2229000" cy="365100"/>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e texto verticais" type="vertTitleAndTx">
  <p:cSld name="VERTICAL_TITLE_AND_VERTICAL_TEXT">
    <p:spTree>
      <p:nvGrpSpPr>
        <p:cNvPr id="109" name="Shape 109"/>
        <p:cNvGrpSpPr/>
        <p:nvPr/>
      </p:nvGrpSpPr>
      <p:grpSpPr>
        <a:xfrm>
          <a:off x="0" y="0"/>
          <a:ext cx="0" cy="0"/>
          <a:chOff x="0" y="0"/>
          <a:chExt cx="0" cy="0"/>
        </a:xfrm>
      </p:grpSpPr>
      <p:sp>
        <p:nvSpPr>
          <p:cNvPr id="110" name="Google Shape;110;g3db8282ec94_0_929"/>
          <p:cNvSpPr txBox="1"/>
          <p:nvPr>
            <p:ph type="title"/>
          </p:nvPr>
        </p:nvSpPr>
        <p:spPr>
          <a:xfrm rot="5400000">
            <a:off x="5251463" y="2203525"/>
            <a:ext cx="5811900" cy="21351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1" name="Google Shape;111;g3db8282ec94_0_929"/>
          <p:cNvSpPr txBox="1"/>
          <p:nvPr>
            <p:ph idx="1" type="body"/>
          </p:nvPr>
        </p:nvSpPr>
        <p:spPr>
          <a:xfrm rot="5400000">
            <a:off x="903325" y="142975"/>
            <a:ext cx="5811900" cy="62562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2" name="Google Shape;112;g3db8282ec94_0_929"/>
          <p:cNvSpPr txBox="1"/>
          <p:nvPr>
            <p:ph idx="10" type="dt"/>
          </p:nvPr>
        </p:nvSpPr>
        <p:spPr>
          <a:xfrm>
            <a:off x="681038" y="6356350"/>
            <a:ext cx="2229000" cy="3651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13" name="Google Shape;113;g3db8282ec94_0_929"/>
          <p:cNvSpPr txBox="1"/>
          <p:nvPr>
            <p:ph idx="11" type="ftr"/>
          </p:nvPr>
        </p:nvSpPr>
        <p:spPr>
          <a:xfrm>
            <a:off x="3281363" y="6356350"/>
            <a:ext cx="3343200" cy="3651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14" name="Google Shape;114;g3db8282ec94_0_929"/>
          <p:cNvSpPr txBox="1"/>
          <p:nvPr>
            <p:ph idx="12" type="sldNum"/>
          </p:nvPr>
        </p:nvSpPr>
        <p:spPr>
          <a:xfrm>
            <a:off x="6996113" y="6356350"/>
            <a:ext cx="2229000" cy="365100"/>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tx">
  <p:cSld name="TITLE_AND_BODY">
    <p:spTree>
      <p:nvGrpSpPr>
        <p:cNvPr id="115" name="Shape 115"/>
        <p:cNvGrpSpPr/>
        <p:nvPr/>
      </p:nvGrpSpPr>
      <p:grpSpPr>
        <a:xfrm>
          <a:off x="0" y="0"/>
          <a:ext cx="0" cy="0"/>
          <a:chOff x="0" y="0"/>
          <a:chExt cx="0" cy="0"/>
        </a:xfrm>
      </p:grpSpPr>
      <p:sp>
        <p:nvSpPr>
          <p:cNvPr id="116" name="Google Shape;116;g3db8282ec94_0_935"/>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itar o Cartão de Nome">
  <p:cSld name="Citar o Cartão de Nome">
    <p:spTree>
      <p:nvGrpSpPr>
        <p:cNvPr id="117" name="Shape 117"/>
        <p:cNvGrpSpPr/>
        <p:nvPr/>
      </p:nvGrpSpPr>
      <p:grpSpPr>
        <a:xfrm>
          <a:off x="0" y="0"/>
          <a:ext cx="0" cy="0"/>
          <a:chOff x="0" y="0"/>
          <a:chExt cx="0" cy="0"/>
        </a:xfrm>
      </p:grpSpPr>
      <p:sp>
        <p:nvSpPr>
          <p:cNvPr id="118" name="Google Shape;118;g3db8282ec94_0_937"/>
          <p:cNvSpPr txBox="1"/>
          <p:nvPr>
            <p:ph type="title"/>
          </p:nvPr>
        </p:nvSpPr>
        <p:spPr>
          <a:xfrm>
            <a:off x="839458" y="609600"/>
            <a:ext cx="8091900" cy="30225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4400"/>
              <a:buFont typeface="Calibri"/>
              <a:buNone/>
              <a:defRPr b="0" sz="44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9" name="Google Shape;119;g3db8282ec94_0_937"/>
          <p:cNvSpPr txBox="1"/>
          <p:nvPr>
            <p:ph idx="1" type="body"/>
          </p:nvPr>
        </p:nvSpPr>
        <p:spPr>
          <a:xfrm>
            <a:off x="660396" y="4013200"/>
            <a:ext cx="8459100" cy="514200"/>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rgbClr val="3F3F3F"/>
              </a:buClr>
              <a:buSzPts val="2400"/>
              <a:buFont typeface="Calibri"/>
              <a:buNone/>
              <a:defRPr sz="2400">
                <a:solidFill>
                  <a:srgbClr val="3F3F3F"/>
                </a:solidFill>
              </a:defRPr>
            </a:lvl1pPr>
            <a:lvl2pPr indent="-228600" lvl="1" marL="914400" algn="l">
              <a:lnSpc>
                <a:spcPct val="90000"/>
              </a:lnSpc>
              <a:spcBef>
                <a:spcPts val="500"/>
              </a:spcBef>
              <a:spcAft>
                <a:spcPts val="0"/>
              </a:spcAft>
              <a:buClr>
                <a:schemeClr val="dk1"/>
              </a:buClr>
              <a:buSzPts val="2400"/>
              <a:buFont typeface="Calibri"/>
              <a:buNone/>
              <a:defRPr/>
            </a:lvl2pPr>
            <a:lvl3pPr indent="-228600" lvl="2" marL="1371600" algn="l">
              <a:lnSpc>
                <a:spcPct val="90000"/>
              </a:lnSpc>
              <a:spcBef>
                <a:spcPts val="500"/>
              </a:spcBef>
              <a:spcAft>
                <a:spcPts val="0"/>
              </a:spcAft>
              <a:buClr>
                <a:schemeClr val="dk1"/>
              </a:buClr>
              <a:buSzPts val="2000"/>
              <a:buFont typeface="Calibri"/>
              <a:buNone/>
              <a:defRPr/>
            </a:lvl3pPr>
            <a:lvl4pPr indent="-228600" lvl="3" marL="1828800" algn="l">
              <a:lnSpc>
                <a:spcPct val="90000"/>
              </a:lnSpc>
              <a:spcBef>
                <a:spcPts val="500"/>
              </a:spcBef>
              <a:spcAft>
                <a:spcPts val="0"/>
              </a:spcAft>
              <a:buClr>
                <a:schemeClr val="dk1"/>
              </a:buClr>
              <a:buSzPts val="1800"/>
              <a:buFont typeface="Calibri"/>
              <a:buNone/>
              <a:defRPr/>
            </a:lvl4pPr>
            <a:lvl5pPr indent="-228600" lvl="4" marL="2286000" algn="l">
              <a:lnSpc>
                <a:spcPct val="90000"/>
              </a:lnSpc>
              <a:spcBef>
                <a:spcPts val="500"/>
              </a:spcBef>
              <a:spcAft>
                <a:spcPts val="0"/>
              </a:spcAft>
              <a:buClr>
                <a:schemeClr val="dk1"/>
              </a:buClr>
              <a:buSzPts val="1800"/>
              <a:buFont typeface="Calibri"/>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0" name="Google Shape;120;g3db8282ec94_0_937"/>
          <p:cNvSpPr txBox="1"/>
          <p:nvPr>
            <p:ph idx="2" type="body"/>
          </p:nvPr>
        </p:nvSpPr>
        <p:spPr>
          <a:xfrm>
            <a:off x="660398" y="4527448"/>
            <a:ext cx="8459100" cy="15138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7F7F7F"/>
              </a:buClr>
              <a:buSzPts val="1800"/>
              <a:buNone/>
              <a:defRPr sz="1800">
                <a:solidFill>
                  <a:srgbClr val="7F7F7F"/>
                </a:solidFill>
              </a:defRPr>
            </a:lvl1pPr>
            <a:lvl2pPr indent="-228600" lvl="1" marL="914400" algn="l">
              <a:lnSpc>
                <a:spcPct val="90000"/>
              </a:lnSpc>
              <a:spcBef>
                <a:spcPts val="500"/>
              </a:spcBef>
              <a:spcAft>
                <a:spcPts val="0"/>
              </a:spcAft>
              <a:buClr>
                <a:srgbClr val="888888"/>
              </a:buClr>
              <a:buSzPts val="1800"/>
              <a:buNone/>
              <a:defRPr sz="1800">
                <a:solidFill>
                  <a:srgbClr val="888888"/>
                </a:solidFill>
              </a:defRPr>
            </a:lvl2pPr>
            <a:lvl3pPr indent="-228600" lvl="2" marL="1371600" algn="l">
              <a:lnSpc>
                <a:spcPct val="90000"/>
              </a:lnSpc>
              <a:spcBef>
                <a:spcPts val="500"/>
              </a:spcBef>
              <a:spcAft>
                <a:spcPts val="0"/>
              </a:spcAft>
              <a:buClr>
                <a:srgbClr val="888888"/>
              </a:buClr>
              <a:buSzPts val="1600"/>
              <a:buNone/>
              <a:defRPr sz="1600">
                <a:solidFill>
                  <a:srgbClr val="888888"/>
                </a:solidFill>
              </a:defRPr>
            </a:lvl3pPr>
            <a:lvl4pPr indent="-228600" lvl="3" marL="1828800" algn="l">
              <a:lnSpc>
                <a:spcPct val="90000"/>
              </a:lnSpc>
              <a:spcBef>
                <a:spcPts val="500"/>
              </a:spcBef>
              <a:spcAft>
                <a:spcPts val="0"/>
              </a:spcAft>
              <a:buClr>
                <a:srgbClr val="888888"/>
              </a:buClr>
              <a:buSzPts val="1400"/>
              <a:buNone/>
              <a:defRPr sz="1400">
                <a:solidFill>
                  <a:srgbClr val="888888"/>
                </a:solidFill>
              </a:defRPr>
            </a:lvl4pPr>
            <a:lvl5pPr indent="-228600" lvl="4" marL="2286000" algn="l">
              <a:lnSpc>
                <a:spcPct val="90000"/>
              </a:lnSpc>
              <a:spcBef>
                <a:spcPts val="500"/>
              </a:spcBef>
              <a:spcAft>
                <a:spcPts val="0"/>
              </a:spcAft>
              <a:buClr>
                <a:srgbClr val="888888"/>
              </a:buClr>
              <a:buSzPts val="1400"/>
              <a:buNone/>
              <a:defRPr sz="1400">
                <a:solidFill>
                  <a:srgbClr val="888888"/>
                </a:solidFill>
              </a:defRPr>
            </a:lvl5pPr>
            <a:lvl6pPr indent="-228600" lvl="5" marL="2743200" algn="l">
              <a:lnSpc>
                <a:spcPct val="90000"/>
              </a:lnSpc>
              <a:spcBef>
                <a:spcPts val="500"/>
              </a:spcBef>
              <a:spcAft>
                <a:spcPts val="0"/>
              </a:spcAft>
              <a:buClr>
                <a:srgbClr val="888888"/>
              </a:buClr>
              <a:buSzPts val="1400"/>
              <a:buNone/>
              <a:defRPr sz="1400">
                <a:solidFill>
                  <a:srgbClr val="888888"/>
                </a:solidFill>
              </a:defRPr>
            </a:lvl6pPr>
            <a:lvl7pPr indent="-228600" lvl="6" marL="3200400" algn="l">
              <a:lnSpc>
                <a:spcPct val="90000"/>
              </a:lnSpc>
              <a:spcBef>
                <a:spcPts val="500"/>
              </a:spcBef>
              <a:spcAft>
                <a:spcPts val="0"/>
              </a:spcAft>
              <a:buClr>
                <a:srgbClr val="888888"/>
              </a:buClr>
              <a:buSzPts val="1400"/>
              <a:buNone/>
              <a:defRPr sz="1400">
                <a:solidFill>
                  <a:srgbClr val="888888"/>
                </a:solidFill>
              </a:defRPr>
            </a:lvl7pPr>
            <a:lvl8pPr indent="-228600" lvl="7" marL="3657600" algn="l">
              <a:lnSpc>
                <a:spcPct val="90000"/>
              </a:lnSpc>
              <a:spcBef>
                <a:spcPts val="500"/>
              </a:spcBef>
              <a:spcAft>
                <a:spcPts val="0"/>
              </a:spcAft>
              <a:buClr>
                <a:srgbClr val="888888"/>
              </a:buClr>
              <a:buSzPts val="1400"/>
              <a:buNone/>
              <a:defRPr sz="1400">
                <a:solidFill>
                  <a:srgbClr val="888888"/>
                </a:solidFill>
              </a:defRPr>
            </a:lvl8pPr>
            <a:lvl9pPr indent="-228600" lvl="8" marL="4114800" algn="l">
              <a:lnSpc>
                <a:spcPct val="90000"/>
              </a:lnSpc>
              <a:spcBef>
                <a:spcPts val="500"/>
              </a:spcBef>
              <a:spcAft>
                <a:spcPts val="0"/>
              </a:spcAft>
              <a:buClr>
                <a:srgbClr val="888888"/>
              </a:buClr>
              <a:buSzPts val="1400"/>
              <a:buNone/>
              <a:defRPr sz="1400">
                <a:solidFill>
                  <a:srgbClr val="888888"/>
                </a:solidFill>
              </a:defRPr>
            </a:lvl9pPr>
          </a:lstStyle>
          <a:p/>
        </p:txBody>
      </p:sp>
      <p:sp>
        <p:nvSpPr>
          <p:cNvPr id="121" name="Google Shape;121;g3db8282ec94_0_937"/>
          <p:cNvSpPr txBox="1"/>
          <p:nvPr/>
        </p:nvSpPr>
        <p:spPr>
          <a:xfrm>
            <a:off x="364926" y="764704"/>
            <a:ext cx="495300" cy="584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8000"/>
              <a:buFont typeface="Arial"/>
              <a:buNone/>
            </a:pPr>
            <a:r>
              <a:rPr b="0" i="0" lang="en-US" sz="8000" u="none" cap="none" strike="noStrike">
                <a:solidFill>
                  <a:srgbClr val="9CC2E5"/>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122" name="Google Shape;122;g3db8282ec94_0_937"/>
          <p:cNvSpPr txBox="1"/>
          <p:nvPr/>
        </p:nvSpPr>
        <p:spPr>
          <a:xfrm>
            <a:off x="8931441" y="3463688"/>
            <a:ext cx="495300" cy="584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8000"/>
              <a:buFont typeface="Arial"/>
              <a:buNone/>
            </a:pPr>
            <a:r>
              <a:rPr b="0" i="0" lang="en-US" sz="8000" u="none" cap="none" strike="noStrike">
                <a:solidFill>
                  <a:srgbClr val="9CC2E5"/>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pic>
        <p:nvPicPr>
          <p:cNvPr id="123" name="Google Shape;123;g3db8282ec94_0_937"/>
          <p:cNvPicPr preferRelativeResize="0"/>
          <p:nvPr/>
        </p:nvPicPr>
        <p:blipFill rotWithShape="1">
          <a:blip r:embed="rId2">
            <a:alphaModFix/>
          </a:blip>
          <a:srcRect b="0" l="0" r="0" t="0"/>
          <a:stretch/>
        </p:blipFill>
        <p:spPr>
          <a:xfrm>
            <a:off x="162847" y="6223924"/>
            <a:ext cx="995104" cy="470760"/>
          </a:xfrm>
          <a:prstGeom prst="rect">
            <a:avLst/>
          </a:prstGeom>
          <a:noFill/>
          <a:ln>
            <a:noFill/>
          </a:ln>
        </p:spPr>
      </p:pic>
      <p:sp>
        <p:nvSpPr>
          <p:cNvPr id="124" name="Google Shape;124;g3db8282ec94_0_937"/>
          <p:cNvSpPr txBox="1"/>
          <p:nvPr>
            <p:ph idx="12" type="sldNum"/>
          </p:nvPr>
        </p:nvSpPr>
        <p:spPr>
          <a:xfrm>
            <a:off x="9269849" y="6333134"/>
            <a:ext cx="594300" cy="525000"/>
          </a:xfrm>
          <a:prstGeom prst="rect">
            <a:avLst/>
          </a:prstGeom>
        </p:spPr>
        <p:txBody>
          <a:bodyPr anchorCtr="0" anchor="t" bIns="91425" lIns="91425" spcFirstLastPara="1" rIns="91425" wrap="square" tIns="91425">
            <a:noAutofit/>
          </a:bodyPr>
          <a:lstStyle>
            <a:lvl1pPr lvl="0">
              <a:buNone/>
              <a:defRPr>
                <a:solidFill>
                  <a:srgbClr val="3F3F3F"/>
                </a:solidFill>
              </a:defRPr>
            </a:lvl1pPr>
            <a:lvl2pPr lvl="1">
              <a:buNone/>
              <a:defRPr>
                <a:solidFill>
                  <a:srgbClr val="3F3F3F"/>
                </a:solidFill>
              </a:defRPr>
            </a:lvl2pPr>
            <a:lvl3pPr lvl="2">
              <a:buNone/>
              <a:defRPr>
                <a:solidFill>
                  <a:srgbClr val="3F3F3F"/>
                </a:solidFill>
              </a:defRPr>
            </a:lvl3pPr>
            <a:lvl4pPr lvl="3">
              <a:buNone/>
              <a:defRPr>
                <a:solidFill>
                  <a:srgbClr val="3F3F3F"/>
                </a:solidFill>
              </a:defRPr>
            </a:lvl4pPr>
            <a:lvl5pPr lvl="4">
              <a:buNone/>
              <a:defRPr>
                <a:solidFill>
                  <a:srgbClr val="3F3F3F"/>
                </a:solidFill>
              </a:defRPr>
            </a:lvl5pPr>
            <a:lvl6pPr lvl="5">
              <a:buNone/>
              <a:defRPr>
                <a:solidFill>
                  <a:srgbClr val="3F3F3F"/>
                </a:solidFill>
              </a:defRPr>
            </a:lvl6pPr>
            <a:lvl7pPr lvl="6">
              <a:buNone/>
              <a:defRPr>
                <a:solidFill>
                  <a:srgbClr val="3F3F3F"/>
                </a:solidFill>
              </a:defRPr>
            </a:lvl7pPr>
            <a:lvl8pPr lvl="7">
              <a:buNone/>
              <a:defRPr>
                <a:solidFill>
                  <a:srgbClr val="3F3F3F"/>
                </a:solidFill>
              </a:defRPr>
            </a:lvl8pPr>
            <a:lvl9pPr lvl="8">
              <a:buNone/>
              <a:defRPr>
                <a:solidFill>
                  <a:srgbClr val="3F3F3F"/>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ítulo e conteúdo">
  <p:cSld name="1_Título e conteúdo">
    <p:bg>
      <p:bgPr>
        <a:blipFill>
          <a:blip r:embed="rId2">
            <a:alphaModFix/>
          </a:blip>
          <a:stretch>
            <a:fillRect/>
          </a:stretch>
        </a:blipFill>
      </p:bgPr>
    </p:bg>
    <p:spTree>
      <p:nvGrpSpPr>
        <p:cNvPr id="129" name="Shape 129"/>
        <p:cNvGrpSpPr/>
        <p:nvPr/>
      </p:nvGrpSpPr>
      <p:grpSpPr>
        <a:xfrm>
          <a:off x="0" y="0"/>
          <a:ext cx="0" cy="0"/>
          <a:chOff x="0" y="0"/>
          <a:chExt cx="0" cy="0"/>
        </a:xfrm>
      </p:grpSpPr>
      <p:sp>
        <p:nvSpPr>
          <p:cNvPr id="130" name="Google Shape;130;p22"/>
          <p:cNvSpPr/>
          <p:nvPr/>
        </p:nvSpPr>
        <p:spPr>
          <a:xfrm>
            <a:off x="0" y="768088"/>
            <a:ext cx="9906000" cy="6090000"/>
          </a:xfrm>
          <a:prstGeom prst="rect">
            <a:avLst/>
          </a:prstGeom>
          <a:solidFill>
            <a:schemeClr val="lt1">
              <a:alpha val="6000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31" name="Google Shape;131;p22"/>
          <p:cNvSpPr txBox="1"/>
          <p:nvPr>
            <p:ph type="title"/>
          </p:nvPr>
        </p:nvSpPr>
        <p:spPr>
          <a:xfrm>
            <a:off x="488503" y="356138"/>
            <a:ext cx="9000900" cy="624600"/>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rgbClr val="1E4E79"/>
              </a:buClr>
              <a:buSzPts val="4000"/>
              <a:buFont typeface="Arial"/>
              <a:buNone/>
              <a:defRPr b="1" sz="4000">
                <a:solidFill>
                  <a:srgbClr val="1E4E79"/>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2" name="Google Shape;132;p22"/>
          <p:cNvSpPr txBox="1"/>
          <p:nvPr>
            <p:ph idx="10" type="dt"/>
          </p:nvPr>
        </p:nvSpPr>
        <p:spPr>
          <a:xfrm>
            <a:off x="681038" y="6356350"/>
            <a:ext cx="2229000" cy="3651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33" name="Google Shape;133;p22"/>
          <p:cNvSpPr txBox="1"/>
          <p:nvPr>
            <p:ph idx="11" type="ftr"/>
          </p:nvPr>
        </p:nvSpPr>
        <p:spPr>
          <a:xfrm>
            <a:off x="3281363" y="6356350"/>
            <a:ext cx="3343200" cy="3651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34" name="Google Shape;134;p22"/>
          <p:cNvSpPr txBox="1"/>
          <p:nvPr>
            <p:ph idx="12" type="sldNum"/>
          </p:nvPr>
        </p:nvSpPr>
        <p:spPr>
          <a:xfrm>
            <a:off x="6996113" y="6356350"/>
            <a:ext cx="2229000" cy="3651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135" name="Google Shape;135;p22"/>
          <p:cNvSpPr/>
          <p:nvPr/>
        </p:nvSpPr>
        <p:spPr>
          <a:xfrm>
            <a:off x="-13050" y="5921896"/>
            <a:ext cx="9919200" cy="936000"/>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136" name="Google Shape;136;p22"/>
          <p:cNvPicPr preferRelativeResize="0"/>
          <p:nvPr/>
        </p:nvPicPr>
        <p:blipFill rotWithShape="1">
          <a:blip r:embed="rId3">
            <a:alphaModFix/>
          </a:blip>
          <a:srcRect b="0" l="17788" r="19906" t="65239"/>
          <a:stretch/>
        </p:blipFill>
        <p:spPr>
          <a:xfrm>
            <a:off x="920552" y="6155677"/>
            <a:ext cx="1568747" cy="665761"/>
          </a:xfrm>
          <a:prstGeom prst="rect">
            <a:avLst/>
          </a:prstGeom>
          <a:noFill/>
          <a:ln>
            <a:noFill/>
          </a:ln>
        </p:spPr>
      </p:pic>
      <p:pic>
        <p:nvPicPr>
          <p:cNvPr id="137" name="Google Shape;137;p22"/>
          <p:cNvPicPr preferRelativeResize="0"/>
          <p:nvPr/>
        </p:nvPicPr>
        <p:blipFill rotWithShape="1">
          <a:blip r:embed="rId3">
            <a:alphaModFix/>
          </a:blip>
          <a:srcRect b="34761" l="25519" r="25620" t="3570"/>
          <a:stretch/>
        </p:blipFill>
        <p:spPr>
          <a:xfrm>
            <a:off x="194947" y="6056653"/>
            <a:ext cx="725605" cy="696647"/>
          </a:xfrm>
          <a:prstGeom prst="rect">
            <a:avLst/>
          </a:prstGeom>
          <a:noFill/>
          <a:ln>
            <a:noFill/>
          </a:ln>
        </p:spPr>
      </p:pic>
      <p:sp>
        <p:nvSpPr>
          <p:cNvPr id="138" name="Google Shape;138;p22"/>
          <p:cNvSpPr/>
          <p:nvPr/>
        </p:nvSpPr>
        <p:spPr>
          <a:xfrm>
            <a:off x="4950907" y="5989477"/>
            <a:ext cx="4953000" cy="8310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400"/>
              <a:buFont typeface="Arial"/>
              <a:buNone/>
            </a:pPr>
            <a:r>
              <a:rPr b="1" i="0" lang="en-US" sz="2400" u="none" cap="none" strike="noStrike">
                <a:solidFill>
                  <a:schemeClr val="lt1"/>
                </a:solidFill>
                <a:latin typeface="Arial"/>
                <a:ea typeface="Arial"/>
                <a:cs typeface="Arial"/>
                <a:sym typeface="Arial"/>
              </a:rPr>
              <a:t>IEEE Intelligence and Security Informatics (ISI) 2018</a:t>
            </a:r>
            <a:endParaRPr b="0" i="0" sz="14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de título" type="title">
  <p:cSld name="TITLE">
    <p:bg>
      <p:bgPr>
        <a:solidFill>
          <a:schemeClr val="dk1"/>
        </a:solidFill>
      </p:bgPr>
    </p:bg>
    <p:spTree>
      <p:nvGrpSpPr>
        <p:cNvPr id="139" name="Shape 139"/>
        <p:cNvGrpSpPr/>
        <p:nvPr/>
      </p:nvGrpSpPr>
      <p:grpSpPr>
        <a:xfrm>
          <a:off x="0" y="0"/>
          <a:ext cx="0" cy="0"/>
          <a:chOff x="0" y="0"/>
          <a:chExt cx="0" cy="0"/>
        </a:xfrm>
      </p:grpSpPr>
      <p:sp>
        <p:nvSpPr>
          <p:cNvPr id="140" name="Google Shape;140;p21"/>
          <p:cNvSpPr txBox="1"/>
          <p:nvPr>
            <p:ph type="ctrTitle"/>
          </p:nvPr>
        </p:nvSpPr>
        <p:spPr>
          <a:xfrm>
            <a:off x="344488" y="1412776"/>
            <a:ext cx="6393300" cy="1695000"/>
          </a:xfrm>
          <a:prstGeom prst="rect">
            <a:avLst/>
          </a:prstGeom>
          <a:solidFill>
            <a:schemeClr val="lt1">
              <a:alpha val="0"/>
            </a:schemeClr>
          </a:solidFill>
          <a:ln>
            <a:noFill/>
          </a:ln>
        </p:spPr>
        <p:txBody>
          <a:bodyPr anchorCtr="0" anchor="ctr" bIns="45700" lIns="91425" spcFirstLastPara="1" rIns="91425" wrap="square" tIns="45700">
            <a:normAutofit/>
          </a:bodyPr>
          <a:lstStyle>
            <a:lvl1pPr lvl="0" algn="r">
              <a:lnSpc>
                <a:spcPct val="90000"/>
              </a:lnSpc>
              <a:spcBef>
                <a:spcPts val="0"/>
              </a:spcBef>
              <a:spcAft>
                <a:spcPts val="0"/>
              </a:spcAft>
              <a:buClr>
                <a:srgbClr val="F2F2F2"/>
              </a:buClr>
              <a:buSzPts val="3600"/>
              <a:buFont typeface="Arial Black"/>
              <a:buNone/>
              <a:defRPr b="1" sz="3600">
                <a:solidFill>
                  <a:srgbClr val="F2F2F2"/>
                </a:solidFill>
                <a:latin typeface="Arial Black"/>
                <a:ea typeface="Arial Black"/>
                <a:cs typeface="Arial Black"/>
                <a:sym typeface="Arial Black"/>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1" name="Google Shape;141;p21"/>
          <p:cNvSpPr txBox="1"/>
          <p:nvPr>
            <p:ph idx="1" type="subTitle"/>
          </p:nvPr>
        </p:nvSpPr>
        <p:spPr>
          <a:xfrm>
            <a:off x="344488" y="3581716"/>
            <a:ext cx="6393300" cy="4608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Clr>
                <a:srgbClr val="D8D8D8"/>
              </a:buClr>
              <a:buSzPts val="2000"/>
              <a:buNone/>
              <a:defRPr b="1" sz="2000">
                <a:solidFill>
                  <a:srgbClr val="D8D8D8"/>
                </a:solidFill>
                <a:latin typeface="Arial"/>
                <a:ea typeface="Arial"/>
                <a:cs typeface="Arial"/>
                <a:sym typeface="Aria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2" name="Google Shape;142;p21"/>
          <p:cNvSpPr txBox="1"/>
          <p:nvPr>
            <p:ph idx="10" type="dt"/>
          </p:nvPr>
        </p:nvSpPr>
        <p:spPr>
          <a:xfrm>
            <a:off x="128464" y="6424086"/>
            <a:ext cx="1008000" cy="3651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43" name="Google Shape;143;p21"/>
          <p:cNvSpPr txBox="1"/>
          <p:nvPr>
            <p:ph idx="12" type="sldNum"/>
          </p:nvPr>
        </p:nvSpPr>
        <p:spPr>
          <a:xfrm>
            <a:off x="8749502" y="6424086"/>
            <a:ext cx="1008000" cy="365100"/>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2800"/>
              <a:buFont typeface="Arial"/>
              <a:buNone/>
              <a:defRPr b="0" i="0" sz="2800" u="none" cap="none" strike="noStrike">
                <a:solidFill>
                  <a:schemeClr val="lt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2800"/>
              <a:buFont typeface="Arial"/>
              <a:buNone/>
              <a:defRPr b="0" i="0" sz="2800" u="none" cap="none" strike="noStrike">
                <a:solidFill>
                  <a:schemeClr val="lt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2800"/>
              <a:buFont typeface="Arial"/>
              <a:buNone/>
              <a:defRPr b="0" i="0" sz="2800" u="none" cap="none" strike="noStrike">
                <a:solidFill>
                  <a:schemeClr val="lt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2800"/>
              <a:buFont typeface="Arial"/>
              <a:buNone/>
              <a:defRPr b="0" i="0" sz="2800" u="none" cap="none" strike="noStrike">
                <a:solidFill>
                  <a:schemeClr val="lt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2800"/>
              <a:buFont typeface="Arial"/>
              <a:buNone/>
              <a:defRPr b="0" i="0" sz="2800" u="none" cap="none" strike="noStrike">
                <a:solidFill>
                  <a:schemeClr val="lt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2800"/>
              <a:buFont typeface="Arial"/>
              <a:buNone/>
              <a:defRPr b="0" i="0" sz="2800" u="none" cap="none" strike="noStrike">
                <a:solidFill>
                  <a:schemeClr val="lt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2800"/>
              <a:buFont typeface="Arial"/>
              <a:buNone/>
              <a:defRPr b="0" i="0" sz="2800" u="none" cap="none" strike="noStrike">
                <a:solidFill>
                  <a:schemeClr val="lt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2800"/>
              <a:buFont typeface="Arial"/>
              <a:buNone/>
              <a:defRPr b="0" i="0" sz="2800" u="none" cap="none" strike="noStrike">
                <a:solidFill>
                  <a:schemeClr val="lt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2800"/>
              <a:buFont typeface="Arial"/>
              <a:buNone/>
              <a:defRPr b="0" i="0" sz="2800" u="none" cap="none" strike="noStrike">
                <a:solidFill>
                  <a:schemeClr val="lt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pic>
        <p:nvPicPr>
          <p:cNvPr id="144" name="Google Shape;144;p21"/>
          <p:cNvPicPr preferRelativeResize="0"/>
          <p:nvPr/>
        </p:nvPicPr>
        <p:blipFill rotWithShape="1">
          <a:blip r:embed="rId2">
            <a:alphaModFix/>
          </a:blip>
          <a:srcRect b="0" l="17788" r="19906" t="0"/>
          <a:stretch/>
        </p:blipFill>
        <p:spPr>
          <a:xfrm>
            <a:off x="0" y="22589"/>
            <a:ext cx="1136576" cy="1387613"/>
          </a:xfrm>
          <a:prstGeom prst="rect">
            <a:avLst/>
          </a:prstGeom>
          <a:noFill/>
          <a:ln>
            <a:noFill/>
          </a:ln>
        </p:spPr>
      </p:pic>
      <p:sp>
        <p:nvSpPr>
          <p:cNvPr id="145" name="Google Shape;145;p21"/>
          <p:cNvSpPr/>
          <p:nvPr/>
        </p:nvSpPr>
        <p:spPr>
          <a:xfrm>
            <a:off x="4808984" y="188640"/>
            <a:ext cx="4953000" cy="8310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400"/>
              <a:buFont typeface="Arial"/>
              <a:buNone/>
            </a:pPr>
            <a:r>
              <a:rPr b="1" i="0" lang="en-US" sz="2400" u="none" cap="none" strike="noStrike">
                <a:solidFill>
                  <a:schemeClr val="lt1"/>
                </a:solidFill>
                <a:latin typeface="Arial"/>
                <a:ea typeface="Arial"/>
                <a:cs typeface="Arial"/>
                <a:sym typeface="Arial"/>
              </a:rPr>
              <a:t>IEEE Intelligence and Security Informatics (ISI) 2018</a:t>
            </a:r>
            <a:endParaRPr b="0" i="0" sz="14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e conteúdo" type="obj">
  <p:cSld name="OBJECT">
    <p:bg>
      <p:bgPr>
        <a:blipFill>
          <a:blip r:embed="rId2">
            <a:alphaModFix/>
          </a:blip>
          <a:stretch>
            <a:fillRect/>
          </a:stretch>
        </a:blipFill>
      </p:bgPr>
    </p:bg>
    <p:spTree>
      <p:nvGrpSpPr>
        <p:cNvPr id="146" name="Shape 146"/>
        <p:cNvGrpSpPr/>
        <p:nvPr/>
      </p:nvGrpSpPr>
      <p:grpSpPr>
        <a:xfrm>
          <a:off x="0" y="0"/>
          <a:ext cx="0" cy="0"/>
          <a:chOff x="0" y="0"/>
          <a:chExt cx="0" cy="0"/>
        </a:xfrm>
      </p:grpSpPr>
      <p:sp>
        <p:nvSpPr>
          <p:cNvPr id="147" name="Google Shape;147;p23"/>
          <p:cNvSpPr/>
          <p:nvPr/>
        </p:nvSpPr>
        <p:spPr>
          <a:xfrm>
            <a:off x="0" y="768088"/>
            <a:ext cx="9906000" cy="6090000"/>
          </a:xfrm>
          <a:prstGeom prst="rect">
            <a:avLst/>
          </a:prstGeom>
          <a:solidFill>
            <a:schemeClr val="lt1">
              <a:alpha val="6000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48" name="Google Shape;148;p23"/>
          <p:cNvSpPr txBox="1"/>
          <p:nvPr>
            <p:ph idx="1" type="body"/>
          </p:nvPr>
        </p:nvSpPr>
        <p:spPr>
          <a:xfrm>
            <a:off x="488503" y="1280425"/>
            <a:ext cx="9000900" cy="4236900"/>
          </a:xfrm>
          <a:prstGeom prst="rect">
            <a:avLst/>
          </a:prstGeom>
          <a:noFill/>
          <a:ln>
            <a:noFill/>
          </a:ln>
        </p:spPr>
        <p:txBody>
          <a:bodyPr anchorCtr="0" anchor="t" bIns="45700" lIns="91425" spcFirstLastPara="1" rIns="91425" wrap="square" tIns="45700">
            <a:normAutofit/>
          </a:bodyPr>
          <a:lstStyle>
            <a:lvl1pPr indent="-381000" lvl="0" marL="457200" algn="l">
              <a:lnSpc>
                <a:spcPct val="90000"/>
              </a:lnSpc>
              <a:spcBef>
                <a:spcPts val="1000"/>
              </a:spcBef>
              <a:spcAft>
                <a:spcPts val="0"/>
              </a:spcAft>
              <a:buClr>
                <a:schemeClr val="dk1"/>
              </a:buClr>
              <a:buSzPts val="2400"/>
              <a:buFont typeface="Arial"/>
              <a:buChar char="•"/>
              <a:defRPr sz="2400">
                <a:latin typeface="Arial"/>
                <a:ea typeface="Arial"/>
                <a:cs typeface="Arial"/>
                <a:sym typeface="Arial"/>
              </a:defRPr>
            </a:lvl1pPr>
            <a:lvl2pPr indent="-355600" lvl="1" marL="914400" algn="l">
              <a:lnSpc>
                <a:spcPct val="90000"/>
              </a:lnSpc>
              <a:spcBef>
                <a:spcPts val="500"/>
              </a:spcBef>
              <a:spcAft>
                <a:spcPts val="0"/>
              </a:spcAft>
              <a:buClr>
                <a:schemeClr val="dk1"/>
              </a:buClr>
              <a:buSzPts val="2000"/>
              <a:buFont typeface="Arial"/>
              <a:buChar char="•"/>
              <a:defRPr sz="2000">
                <a:latin typeface="Arial"/>
                <a:ea typeface="Arial"/>
                <a:cs typeface="Arial"/>
                <a:sym typeface="Arial"/>
              </a:defRPr>
            </a:lvl2pPr>
            <a:lvl3pPr indent="-342900" lvl="2" marL="1371600" algn="l">
              <a:lnSpc>
                <a:spcPct val="90000"/>
              </a:lnSpc>
              <a:spcBef>
                <a:spcPts val="500"/>
              </a:spcBef>
              <a:spcAft>
                <a:spcPts val="0"/>
              </a:spcAft>
              <a:buClr>
                <a:schemeClr val="dk1"/>
              </a:buClr>
              <a:buSzPts val="1800"/>
              <a:buFont typeface="Arial"/>
              <a:buChar char="•"/>
              <a:defRPr sz="1800">
                <a:latin typeface="Arial"/>
                <a:ea typeface="Arial"/>
                <a:cs typeface="Arial"/>
                <a:sym typeface="Arial"/>
              </a:defRPr>
            </a:lvl3pPr>
            <a:lvl4pPr indent="-330200" lvl="3" marL="1828800" algn="l">
              <a:lnSpc>
                <a:spcPct val="90000"/>
              </a:lnSpc>
              <a:spcBef>
                <a:spcPts val="500"/>
              </a:spcBef>
              <a:spcAft>
                <a:spcPts val="0"/>
              </a:spcAft>
              <a:buClr>
                <a:schemeClr val="dk1"/>
              </a:buClr>
              <a:buSzPts val="1600"/>
              <a:buFont typeface="Arial"/>
              <a:buChar char="•"/>
              <a:defRPr sz="1600">
                <a:latin typeface="Arial"/>
                <a:ea typeface="Arial"/>
                <a:cs typeface="Arial"/>
                <a:sym typeface="Arial"/>
              </a:defRPr>
            </a:lvl4pPr>
            <a:lvl5pPr indent="-330200" lvl="4" marL="2286000" algn="l">
              <a:lnSpc>
                <a:spcPct val="90000"/>
              </a:lnSpc>
              <a:spcBef>
                <a:spcPts val="500"/>
              </a:spcBef>
              <a:spcAft>
                <a:spcPts val="0"/>
              </a:spcAft>
              <a:buClr>
                <a:schemeClr val="dk1"/>
              </a:buClr>
              <a:buSzPts val="1600"/>
              <a:buFont typeface="Arial"/>
              <a:buChar char="•"/>
              <a:defRPr sz="1600">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9" name="Google Shape;149;p23"/>
          <p:cNvSpPr txBox="1"/>
          <p:nvPr>
            <p:ph type="title"/>
          </p:nvPr>
        </p:nvSpPr>
        <p:spPr>
          <a:xfrm>
            <a:off x="488503" y="356138"/>
            <a:ext cx="9000900" cy="624600"/>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rgbClr val="1E4E79"/>
              </a:buClr>
              <a:buSzPts val="4000"/>
              <a:buFont typeface="Arial"/>
              <a:buNone/>
              <a:defRPr b="1" sz="4000">
                <a:solidFill>
                  <a:srgbClr val="1E4E79"/>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0" name="Google Shape;150;p23"/>
          <p:cNvSpPr txBox="1"/>
          <p:nvPr>
            <p:ph idx="10" type="dt"/>
          </p:nvPr>
        </p:nvSpPr>
        <p:spPr>
          <a:xfrm>
            <a:off x="681038" y="6356350"/>
            <a:ext cx="2229000" cy="3651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51" name="Google Shape;151;p23"/>
          <p:cNvSpPr txBox="1"/>
          <p:nvPr>
            <p:ph idx="11" type="ftr"/>
          </p:nvPr>
        </p:nvSpPr>
        <p:spPr>
          <a:xfrm>
            <a:off x="3281363" y="6356350"/>
            <a:ext cx="3343200" cy="3651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52" name="Google Shape;152;p23"/>
          <p:cNvSpPr txBox="1"/>
          <p:nvPr>
            <p:ph idx="12" type="sldNum"/>
          </p:nvPr>
        </p:nvSpPr>
        <p:spPr>
          <a:xfrm>
            <a:off x="6996113" y="6356350"/>
            <a:ext cx="2229000" cy="3651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153" name="Google Shape;153;p23"/>
          <p:cNvSpPr/>
          <p:nvPr/>
        </p:nvSpPr>
        <p:spPr>
          <a:xfrm>
            <a:off x="-13050" y="5921896"/>
            <a:ext cx="9919200" cy="936000"/>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154" name="Google Shape;154;p23"/>
          <p:cNvPicPr preferRelativeResize="0"/>
          <p:nvPr/>
        </p:nvPicPr>
        <p:blipFill rotWithShape="1">
          <a:blip r:embed="rId3">
            <a:alphaModFix/>
          </a:blip>
          <a:srcRect b="0" l="17788" r="19906" t="65239"/>
          <a:stretch/>
        </p:blipFill>
        <p:spPr>
          <a:xfrm>
            <a:off x="920552" y="6155677"/>
            <a:ext cx="1568747" cy="665761"/>
          </a:xfrm>
          <a:prstGeom prst="rect">
            <a:avLst/>
          </a:prstGeom>
          <a:noFill/>
          <a:ln>
            <a:noFill/>
          </a:ln>
        </p:spPr>
      </p:pic>
      <p:pic>
        <p:nvPicPr>
          <p:cNvPr id="155" name="Google Shape;155;p23"/>
          <p:cNvPicPr preferRelativeResize="0"/>
          <p:nvPr/>
        </p:nvPicPr>
        <p:blipFill rotWithShape="1">
          <a:blip r:embed="rId3">
            <a:alphaModFix/>
          </a:blip>
          <a:srcRect b="34761" l="25519" r="25620" t="3570"/>
          <a:stretch/>
        </p:blipFill>
        <p:spPr>
          <a:xfrm>
            <a:off x="194947" y="6056653"/>
            <a:ext cx="725605" cy="696647"/>
          </a:xfrm>
          <a:prstGeom prst="rect">
            <a:avLst/>
          </a:prstGeom>
          <a:noFill/>
          <a:ln>
            <a:noFill/>
          </a:ln>
        </p:spPr>
      </p:pic>
      <p:sp>
        <p:nvSpPr>
          <p:cNvPr id="156" name="Google Shape;156;p23"/>
          <p:cNvSpPr/>
          <p:nvPr/>
        </p:nvSpPr>
        <p:spPr>
          <a:xfrm>
            <a:off x="4950907" y="5989477"/>
            <a:ext cx="4953000" cy="8310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400"/>
              <a:buFont typeface="Arial"/>
              <a:buNone/>
            </a:pPr>
            <a:r>
              <a:rPr b="1" i="0" lang="en-US" sz="2400" u="none" cap="none" strike="noStrike">
                <a:solidFill>
                  <a:schemeClr val="lt1"/>
                </a:solidFill>
                <a:latin typeface="Arial"/>
                <a:ea typeface="Arial"/>
                <a:cs typeface="Arial"/>
                <a:sym typeface="Arial"/>
              </a:rPr>
              <a:t>IEEE Intelligence and Security Informatics (ISI) 2018</a:t>
            </a:r>
            <a:endParaRPr b="0" i="0" sz="14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ítulo e conteúdo">
  <p:cSld name="2_Título e conteúdo">
    <p:bg>
      <p:bgPr>
        <a:blipFill>
          <a:blip r:embed="rId2">
            <a:alphaModFix/>
          </a:blip>
          <a:stretch>
            <a:fillRect/>
          </a:stretch>
        </a:blipFill>
      </p:bgPr>
    </p:bg>
    <p:spTree>
      <p:nvGrpSpPr>
        <p:cNvPr id="157" name="Shape 157"/>
        <p:cNvGrpSpPr/>
        <p:nvPr/>
      </p:nvGrpSpPr>
      <p:grpSpPr>
        <a:xfrm>
          <a:off x="0" y="0"/>
          <a:ext cx="0" cy="0"/>
          <a:chOff x="0" y="0"/>
          <a:chExt cx="0" cy="0"/>
        </a:xfrm>
      </p:grpSpPr>
      <p:sp>
        <p:nvSpPr>
          <p:cNvPr id="158" name="Google Shape;158;p24"/>
          <p:cNvSpPr/>
          <p:nvPr/>
        </p:nvSpPr>
        <p:spPr>
          <a:xfrm>
            <a:off x="0" y="768088"/>
            <a:ext cx="9906000" cy="6090000"/>
          </a:xfrm>
          <a:prstGeom prst="rect">
            <a:avLst/>
          </a:prstGeom>
          <a:solidFill>
            <a:schemeClr val="lt1">
              <a:alpha val="6000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59" name="Google Shape;159;p24"/>
          <p:cNvSpPr txBox="1"/>
          <p:nvPr>
            <p:ph type="title"/>
          </p:nvPr>
        </p:nvSpPr>
        <p:spPr>
          <a:xfrm>
            <a:off x="488503" y="356138"/>
            <a:ext cx="9000900" cy="624600"/>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rgbClr val="1E4E79"/>
              </a:buClr>
              <a:buSzPts val="4000"/>
              <a:buFont typeface="Arial"/>
              <a:buNone/>
              <a:defRPr b="1" sz="4000">
                <a:solidFill>
                  <a:srgbClr val="1E4E79"/>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0" name="Google Shape;160;p24"/>
          <p:cNvSpPr txBox="1"/>
          <p:nvPr>
            <p:ph idx="10" type="dt"/>
          </p:nvPr>
        </p:nvSpPr>
        <p:spPr>
          <a:xfrm>
            <a:off x="681038" y="6356350"/>
            <a:ext cx="2229000" cy="3651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61" name="Google Shape;161;p24"/>
          <p:cNvSpPr txBox="1"/>
          <p:nvPr>
            <p:ph idx="11" type="ftr"/>
          </p:nvPr>
        </p:nvSpPr>
        <p:spPr>
          <a:xfrm>
            <a:off x="3281363" y="6356350"/>
            <a:ext cx="3343200" cy="3651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62" name="Google Shape;162;p24"/>
          <p:cNvSpPr txBox="1"/>
          <p:nvPr>
            <p:ph idx="12" type="sldNum"/>
          </p:nvPr>
        </p:nvSpPr>
        <p:spPr>
          <a:xfrm>
            <a:off x="6996113" y="6356350"/>
            <a:ext cx="2229000" cy="3651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163" name="Google Shape;163;p24"/>
          <p:cNvSpPr/>
          <p:nvPr/>
        </p:nvSpPr>
        <p:spPr>
          <a:xfrm>
            <a:off x="-13050" y="5921896"/>
            <a:ext cx="9919200" cy="936000"/>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164" name="Google Shape;164;p24"/>
          <p:cNvPicPr preferRelativeResize="0"/>
          <p:nvPr/>
        </p:nvPicPr>
        <p:blipFill rotWithShape="1">
          <a:blip r:embed="rId3">
            <a:alphaModFix/>
          </a:blip>
          <a:srcRect b="0" l="17788" r="19906" t="65239"/>
          <a:stretch/>
        </p:blipFill>
        <p:spPr>
          <a:xfrm>
            <a:off x="920552" y="6155677"/>
            <a:ext cx="1568747" cy="665761"/>
          </a:xfrm>
          <a:prstGeom prst="rect">
            <a:avLst/>
          </a:prstGeom>
          <a:noFill/>
          <a:ln>
            <a:noFill/>
          </a:ln>
        </p:spPr>
      </p:pic>
      <p:pic>
        <p:nvPicPr>
          <p:cNvPr id="165" name="Google Shape;165;p24"/>
          <p:cNvPicPr preferRelativeResize="0"/>
          <p:nvPr/>
        </p:nvPicPr>
        <p:blipFill rotWithShape="1">
          <a:blip r:embed="rId3">
            <a:alphaModFix/>
          </a:blip>
          <a:srcRect b="34761" l="25519" r="25620" t="3570"/>
          <a:stretch/>
        </p:blipFill>
        <p:spPr>
          <a:xfrm>
            <a:off x="194947" y="6056653"/>
            <a:ext cx="725605" cy="696647"/>
          </a:xfrm>
          <a:prstGeom prst="rect">
            <a:avLst/>
          </a:prstGeom>
          <a:noFill/>
          <a:ln>
            <a:noFill/>
          </a:ln>
        </p:spPr>
      </p:pic>
      <p:sp>
        <p:nvSpPr>
          <p:cNvPr id="166" name="Google Shape;166;p24"/>
          <p:cNvSpPr txBox="1"/>
          <p:nvPr>
            <p:ph idx="1" type="body"/>
          </p:nvPr>
        </p:nvSpPr>
        <p:spPr>
          <a:xfrm>
            <a:off x="488503" y="1215713"/>
            <a:ext cx="4388400" cy="43512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7" name="Google Shape;167;p24"/>
          <p:cNvSpPr txBox="1"/>
          <p:nvPr>
            <p:ph idx="2" type="body"/>
          </p:nvPr>
        </p:nvSpPr>
        <p:spPr>
          <a:xfrm>
            <a:off x="5029200" y="1215713"/>
            <a:ext cx="4460400" cy="43512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8" name="Google Shape;168;p24"/>
          <p:cNvSpPr/>
          <p:nvPr/>
        </p:nvSpPr>
        <p:spPr>
          <a:xfrm>
            <a:off x="4950907" y="5989477"/>
            <a:ext cx="4953000" cy="8310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400"/>
              <a:buFont typeface="Arial"/>
              <a:buNone/>
            </a:pPr>
            <a:r>
              <a:rPr b="1" i="0" lang="en-US" sz="2400" u="none" cap="none" strike="noStrike">
                <a:solidFill>
                  <a:schemeClr val="lt1"/>
                </a:solidFill>
                <a:latin typeface="Arial"/>
                <a:ea typeface="Arial"/>
                <a:cs typeface="Arial"/>
                <a:sym typeface="Arial"/>
              </a:rPr>
              <a:t>IEEE Intelligence and Security Informatics (ISI) 2018</a:t>
            </a:r>
            <a:endParaRPr b="0" i="0" sz="14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beçalho da Seção" type="secHead">
  <p:cSld name="SECTION_HEADER">
    <p:spTree>
      <p:nvGrpSpPr>
        <p:cNvPr id="169" name="Shape 169"/>
        <p:cNvGrpSpPr/>
        <p:nvPr/>
      </p:nvGrpSpPr>
      <p:grpSpPr>
        <a:xfrm>
          <a:off x="0" y="0"/>
          <a:ext cx="0" cy="0"/>
          <a:chOff x="0" y="0"/>
          <a:chExt cx="0" cy="0"/>
        </a:xfrm>
      </p:grpSpPr>
      <p:sp>
        <p:nvSpPr>
          <p:cNvPr id="170" name="Google Shape;170;p25"/>
          <p:cNvSpPr txBox="1"/>
          <p:nvPr>
            <p:ph type="title"/>
          </p:nvPr>
        </p:nvSpPr>
        <p:spPr>
          <a:xfrm>
            <a:off x="676275" y="1709738"/>
            <a:ext cx="8544000" cy="28527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1" name="Google Shape;171;p25"/>
          <p:cNvSpPr txBox="1"/>
          <p:nvPr>
            <p:ph idx="1" type="body"/>
          </p:nvPr>
        </p:nvSpPr>
        <p:spPr>
          <a:xfrm>
            <a:off x="676275" y="4589463"/>
            <a:ext cx="8544000" cy="15003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172" name="Google Shape;172;p25"/>
          <p:cNvSpPr txBox="1"/>
          <p:nvPr>
            <p:ph idx="10" type="dt"/>
          </p:nvPr>
        </p:nvSpPr>
        <p:spPr>
          <a:xfrm>
            <a:off x="681038" y="6356350"/>
            <a:ext cx="2229000" cy="3651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73" name="Google Shape;173;p25"/>
          <p:cNvSpPr txBox="1"/>
          <p:nvPr>
            <p:ph idx="11" type="ftr"/>
          </p:nvPr>
        </p:nvSpPr>
        <p:spPr>
          <a:xfrm>
            <a:off x="3281363" y="6356350"/>
            <a:ext cx="3343200" cy="3651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74" name="Google Shape;174;p25"/>
          <p:cNvSpPr txBox="1"/>
          <p:nvPr>
            <p:ph idx="12" type="sldNum"/>
          </p:nvPr>
        </p:nvSpPr>
        <p:spPr>
          <a:xfrm>
            <a:off x="6996113" y="6356350"/>
            <a:ext cx="2229000" cy="365100"/>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uas Partes de Conteúdo" type="twoObj">
  <p:cSld name="TWO_OBJECTS">
    <p:spTree>
      <p:nvGrpSpPr>
        <p:cNvPr id="175" name="Shape 175"/>
        <p:cNvGrpSpPr/>
        <p:nvPr/>
      </p:nvGrpSpPr>
      <p:grpSpPr>
        <a:xfrm>
          <a:off x="0" y="0"/>
          <a:ext cx="0" cy="0"/>
          <a:chOff x="0" y="0"/>
          <a:chExt cx="0" cy="0"/>
        </a:xfrm>
      </p:grpSpPr>
      <p:sp>
        <p:nvSpPr>
          <p:cNvPr id="176" name="Google Shape;176;p26"/>
          <p:cNvSpPr txBox="1"/>
          <p:nvPr>
            <p:ph type="title"/>
          </p:nvPr>
        </p:nvSpPr>
        <p:spPr>
          <a:xfrm>
            <a:off x="681038" y="365125"/>
            <a:ext cx="85440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7" name="Google Shape;177;p26"/>
          <p:cNvSpPr txBox="1"/>
          <p:nvPr>
            <p:ph idx="1" type="body"/>
          </p:nvPr>
        </p:nvSpPr>
        <p:spPr>
          <a:xfrm>
            <a:off x="681038" y="1825625"/>
            <a:ext cx="4195800" cy="43512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8" name="Google Shape;178;p26"/>
          <p:cNvSpPr txBox="1"/>
          <p:nvPr>
            <p:ph idx="2" type="body"/>
          </p:nvPr>
        </p:nvSpPr>
        <p:spPr>
          <a:xfrm>
            <a:off x="5029200" y="1825625"/>
            <a:ext cx="4195800" cy="43512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9" name="Google Shape;179;p26"/>
          <p:cNvSpPr txBox="1"/>
          <p:nvPr>
            <p:ph idx="10" type="dt"/>
          </p:nvPr>
        </p:nvSpPr>
        <p:spPr>
          <a:xfrm>
            <a:off x="681038" y="6356350"/>
            <a:ext cx="2229000" cy="3651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80" name="Google Shape;180;p26"/>
          <p:cNvSpPr txBox="1"/>
          <p:nvPr>
            <p:ph idx="11" type="ftr"/>
          </p:nvPr>
        </p:nvSpPr>
        <p:spPr>
          <a:xfrm>
            <a:off x="3281363" y="6356350"/>
            <a:ext cx="3343200" cy="3651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81" name="Google Shape;181;p26"/>
          <p:cNvSpPr txBox="1"/>
          <p:nvPr>
            <p:ph idx="12" type="sldNum"/>
          </p:nvPr>
        </p:nvSpPr>
        <p:spPr>
          <a:xfrm>
            <a:off x="6996113" y="6356350"/>
            <a:ext cx="2229000" cy="365100"/>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ção" type="twoTxTwoObj">
  <p:cSld name="TWO_OBJECTS_WITH_TEXT">
    <p:spTree>
      <p:nvGrpSpPr>
        <p:cNvPr id="182" name="Shape 182"/>
        <p:cNvGrpSpPr/>
        <p:nvPr/>
      </p:nvGrpSpPr>
      <p:grpSpPr>
        <a:xfrm>
          <a:off x="0" y="0"/>
          <a:ext cx="0" cy="0"/>
          <a:chOff x="0" y="0"/>
          <a:chExt cx="0" cy="0"/>
        </a:xfrm>
      </p:grpSpPr>
      <p:sp>
        <p:nvSpPr>
          <p:cNvPr id="183" name="Google Shape;183;p27"/>
          <p:cNvSpPr txBox="1"/>
          <p:nvPr>
            <p:ph type="title"/>
          </p:nvPr>
        </p:nvSpPr>
        <p:spPr>
          <a:xfrm>
            <a:off x="682625" y="365125"/>
            <a:ext cx="85440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4" name="Google Shape;184;p27"/>
          <p:cNvSpPr txBox="1"/>
          <p:nvPr>
            <p:ph idx="1" type="body"/>
          </p:nvPr>
        </p:nvSpPr>
        <p:spPr>
          <a:xfrm>
            <a:off x="682625" y="1681163"/>
            <a:ext cx="4191000" cy="823800"/>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85" name="Google Shape;185;p27"/>
          <p:cNvSpPr txBox="1"/>
          <p:nvPr>
            <p:ph idx="2" type="body"/>
          </p:nvPr>
        </p:nvSpPr>
        <p:spPr>
          <a:xfrm>
            <a:off x="682625" y="2505075"/>
            <a:ext cx="4191000" cy="3684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6" name="Google Shape;186;p27"/>
          <p:cNvSpPr txBox="1"/>
          <p:nvPr>
            <p:ph idx="3" type="body"/>
          </p:nvPr>
        </p:nvSpPr>
        <p:spPr>
          <a:xfrm>
            <a:off x="5014913" y="1681163"/>
            <a:ext cx="4211700" cy="823800"/>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87" name="Google Shape;187;p27"/>
          <p:cNvSpPr txBox="1"/>
          <p:nvPr>
            <p:ph idx="4" type="body"/>
          </p:nvPr>
        </p:nvSpPr>
        <p:spPr>
          <a:xfrm>
            <a:off x="5014913" y="2505075"/>
            <a:ext cx="4211700" cy="3684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8" name="Google Shape;188;p27"/>
          <p:cNvSpPr txBox="1"/>
          <p:nvPr>
            <p:ph idx="10" type="dt"/>
          </p:nvPr>
        </p:nvSpPr>
        <p:spPr>
          <a:xfrm>
            <a:off x="681038" y="6356350"/>
            <a:ext cx="2229000" cy="3651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89" name="Google Shape;189;p27"/>
          <p:cNvSpPr txBox="1"/>
          <p:nvPr>
            <p:ph idx="11" type="ftr"/>
          </p:nvPr>
        </p:nvSpPr>
        <p:spPr>
          <a:xfrm>
            <a:off x="3281363" y="6356350"/>
            <a:ext cx="3343200" cy="3651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90" name="Google Shape;190;p27"/>
          <p:cNvSpPr txBox="1"/>
          <p:nvPr>
            <p:ph idx="12" type="sldNum"/>
          </p:nvPr>
        </p:nvSpPr>
        <p:spPr>
          <a:xfrm>
            <a:off x="6996113" y="6356350"/>
            <a:ext cx="2229000" cy="365100"/>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mente título" type="titleOnly">
  <p:cSld name="TITLE_ONLY">
    <p:spTree>
      <p:nvGrpSpPr>
        <p:cNvPr id="191" name="Shape 191"/>
        <p:cNvGrpSpPr/>
        <p:nvPr/>
      </p:nvGrpSpPr>
      <p:grpSpPr>
        <a:xfrm>
          <a:off x="0" y="0"/>
          <a:ext cx="0" cy="0"/>
          <a:chOff x="0" y="0"/>
          <a:chExt cx="0" cy="0"/>
        </a:xfrm>
      </p:grpSpPr>
      <p:sp>
        <p:nvSpPr>
          <p:cNvPr id="192" name="Google Shape;192;p28"/>
          <p:cNvSpPr txBox="1"/>
          <p:nvPr>
            <p:ph type="title"/>
          </p:nvPr>
        </p:nvSpPr>
        <p:spPr>
          <a:xfrm>
            <a:off x="681038" y="365125"/>
            <a:ext cx="85440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3" name="Google Shape;193;p28"/>
          <p:cNvSpPr txBox="1"/>
          <p:nvPr>
            <p:ph idx="10" type="dt"/>
          </p:nvPr>
        </p:nvSpPr>
        <p:spPr>
          <a:xfrm>
            <a:off x="681038" y="6356350"/>
            <a:ext cx="2229000" cy="3651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94" name="Google Shape;194;p28"/>
          <p:cNvSpPr txBox="1"/>
          <p:nvPr>
            <p:ph idx="11" type="ftr"/>
          </p:nvPr>
        </p:nvSpPr>
        <p:spPr>
          <a:xfrm>
            <a:off x="3281363" y="6356350"/>
            <a:ext cx="3343200" cy="3651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95" name="Google Shape;195;p28"/>
          <p:cNvSpPr txBox="1"/>
          <p:nvPr>
            <p:ph idx="12" type="sldNum"/>
          </p:nvPr>
        </p:nvSpPr>
        <p:spPr>
          <a:xfrm>
            <a:off x="6996113" y="6356350"/>
            <a:ext cx="2229000" cy="365100"/>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m branco" type="blank">
  <p:cSld name="BLANK">
    <p:spTree>
      <p:nvGrpSpPr>
        <p:cNvPr id="196" name="Shape 196"/>
        <p:cNvGrpSpPr/>
        <p:nvPr/>
      </p:nvGrpSpPr>
      <p:grpSpPr>
        <a:xfrm>
          <a:off x="0" y="0"/>
          <a:ext cx="0" cy="0"/>
          <a:chOff x="0" y="0"/>
          <a:chExt cx="0" cy="0"/>
        </a:xfrm>
      </p:grpSpPr>
      <p:sp>
        <p:nvSpPr>
          <p:cNvPr id="197" name="Google Shape;197;p29"/>
          <p:cNvSpPr txBox="1"/>
          <p:nvPr>
            <p:ph idx="10" type="dt"/>
          </p:nvPr>
        </p:nvSpPr>
        <p:spPr>
          <a:xfrm>
            <a:off x="681038" y="6356350"/>
            <a:ext cx="2229000" cy="3651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98" name="Google Shape;198;p29"/>
          <p:cNvSpPr txBox="1"/>
          <p:nvPr>
            <p:ph idx="11" type="ftr"/>
          </p:nvPr>
        </p:nvSpPr>
        <p:spPr>
          <a:xfrm>
            <a:off x="3281363" y="6356350"/>
            <a:ext cx="3343200" cy="3651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99" name="Google Shape;199;p29"/>
          <p:cNvSpPr txBox="1"/>
          <p:nvPr>
            <p:ph idx="12" type="sldNum"/>
          </p:nvPr>
        </p:nvSpPr>
        <p:spPr>
          <a:xfrm>
            <a:off x="6996113" y="6356350"/>
            <a:ext cx="2229000" cy="365100"/>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údo com Legenda" type="objTx">
  <p:cSld name="OBJECT_WITH_CAPTION_TEXT">
    <p:spTree>
      <p:nvGrpSpPr>
        <p:cNvPr id="200" name="Shape 200"/>
        <p:cNvGrpSpPr/>
        <p:nvPr/>
      </p:nvGrpSpPr>
      <p:grpSpPr>
        <a:xfrm>
          <a:off x="0" y="0"/>
          <a:ext cx="0" cy="0"/>
          <a:chOff x="0" y="0"/>
          <a:chExt cx="0" cy="0"/>
        </a:xfrm>
      </p:grpSpPr>
      <p:sp>
        <p:nvSpPr>
          <p:cNvPr id="201" name="Google Shape;201;p30"/>
          <p:cNvSpPr txBox="1"/>
          <p:nvPr>
            <p:ph type="title"/>
          </p:nvPr>
        </p:nvSpPr>
        <p:spPr>
          <a:xfrm>
            <a:off x="682625" y="457200"/>
            <a:ext cx="3194100"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2" name="Google Shape;202;p30"/>
          <p:cNvSpPr txBox="1"/>
          <p:nvPr>
            <p:ph idx="1" type="body"/>
          </p:nvPr>
        </p:nvSpPr>
        <p:spPr>
          <a:xfrm>
            <a:off x="4211638" y="987425"/>
            <a:ext cx="5014800" cy="4873500"/>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203" name="Google Shape;203;p30"/>
          <p:cNvSpPr txBox="1"/>
          <p:nvPr>
            <p:ph idx="2" type="body"/>
          </p:nvPr>
        </p:nvSpPr>
        <p:spPr>
          <a:xfrm>
            <a:off x="682625" y="2057400"/>
            <a:ext cx="3194100" cy="38115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204" name="Google Shape;204;p30"/>
          <p:cNvSpPr txBox="1"/>
          <p:nvPr>
            <p:ph idx="10" type="dt"/>
          </p:nvPr>
        </p:nvSpPr>
        <p:spPr>
          <a:xfrm>
            <a:off x="681038" y="6356350"/>
            <a:ext cx="2229000" cy="3651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205" name="Google Shape;205;p30"/>
          <p:cNvSpPr txBox="1"/>
          <p:nvPr>
            <p:ph idx="11" type="ftr"/>
          </p:nvPr>
        </p:nvSpPr>
        <p:spPr>
          <a:xfrm>
            <a:off x="3281363" y="6356350"/>
            <a:ext cx="3343200" cy="3651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206" name="Google Shape;206;p30"/>
          <p:cNvSpPr txBox="1"/>
          <p:nvPr>
            <p:ph idx="12" type="sldNum"/>
          </p:nvPr>
        </p:nvSpPr>
        <p:spPr>
          <a:xfrm>
            <a:off x="6996113" y="6356350"/>
            <a:ext cx="2229000" cy="365100"/>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m com Legenda" type="picTx">
  <p:cSld name="PICTURE_WITH_CAPTION_TEXT">
    <p:spTree>
      <p:nvGrpSpPr>
        <p:cNvPr id="207" name="Shape 207"/>
        <p:cNvGrpSpPr/>
        <p:nvPr/>
      </p:nvGrpSpPr>
      <p:grpSpPr>
        <a:xfrm>
          <a:off x="0" y="0"/>
          <a:ext cx="0" cy="0"/>
          <a:chOff x="0" y="0"/>
          <a:chExt cx="0" cy="0"/>
        </a:xfrm>
      </p:grpSpPr>
      <p:sp>
        <p:nvSpPr>
          <p:cNvPr id="208" name="Google Shape;208;p31"/>
          <p:cNvSpPr txBox="1"/>
          <p:nvPr>
            <p:ph type="title"/>
          </p:nvPr>
        </p:nvSpPr>
        <p:spPr>
          <a:xfrm>
            <a:off x="682625" y="457200"/>
            <a:ext cx="3194100"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9" name="Google Shape;209;p31"/>
          <p:cNvSpPr/>
          <p:nvPr>
            <p:ph idx="2" type="pic"/>
          </p:nvPr>
        </p:nvSpPr>
        <p:spPr>
          <a:xfrm>
            <a:off x="4211638" y="987425"/>
            <a:ext cx="5014800" cy="4873500"/>
          </a:xfrm>
          <a:prstGeom prst="rect">
            <a:avLst/>
          </a:prstGeom>
          <a:noFill/>
          <a:ln>
            <a:noFill/>
          </a:ln>
        </p:spPr>
      </p:sp>
      <p:sp>
        <p:nvSpPr>
          <p:cNvPr id="210" name="Google Shape;210;p31"/>
          <p:cNvSpPr txBox="1"/>
          <p:nvPr>
            <p:ph idx="1" type="body"/>
          </p:nvPr>
        </p:nvSpPr>
        <p:spPr>
          <a:xfrm>
            <a:off x="682625" y="2057400"/>
            <a:ext cx="3194100" cy="38115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211" name="Google Shape;211;p31"/>
          <p:cNvSpPr txBox="1"/>
          <p:nvPr>
            <p:ph idx="10" type="dt"/>
          </p:nvPr>
        </p:nvSpPr>
        <p:spPr>
          <a:xfrm>
            <a:off x="681038" y="6356350"/>
            <a:ext cx="2229000" cy="3651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212" name="Google Shape;212;p31"/>
          <p:cNvSpPr txBox="1"/>
          <p:nvPr>
            <p:ph idx="11" type="ftr"/>
          </p:nvPr>
        </p:nvSpPr>
        <p:spPr>
          <a:xfrm>
            <a:off x="3281363" y="6356350"/>
            <a:ext cx="3343200" cy="3651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213" name="Google Shape;213;p31"/>
          <p:cNvSpPr txBox="1"/>
          <p:nvPr>
            <p:ph idx="12" type="sldNum"/>
          </p:nvPr>
        </p:nvSpPr>
        <p:spPr>
          <a:xfrm>
            <a:off x="6996113" y="6356350"/>
            <a:ext cx="2229000" cy="365100"/>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e texto vertical" type="vertTx">
  <p:cSld name="VERTICAL_TEXT">
    <p:spTree>
      <p:nvGrpSpPr>
        <p:cNvPr id="214" name="Shape 214"/>
        <p:cNvGrpSpPr/>
        <p:nvPr/>
      </p:nvGrpSpPr>
      <p:grpSpPr>
        <a:xfrm>
          <a:off x="0" y="0"/>
          <a:ext cx="0" cy="0"/>
          <a:chOff x="0" y="0"/>
          <a:chExt cx="0" cy="0"/>
        </a:xfrm>
      </p:grpSpPr>
      <p:sp>
        <p:nvSpPr>
          <p:cNvPr id="215" name="Google Shape;215;p32"/>
          <p:cNvSpPr txBox="1"/>
          <p:nvPr>
            <p:ph type="title"/>
          </p:nvPr>
        </p:nvSpPr>
        <p:spPr>
          <a:xfrm>
            <a:off x="681038" y="365125"/>
            <a:ext cx="85440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6" name="Google Shape;216;p32"/>
          <p:cNvSpPr txBox="1"/>
          <p:nvPr>
            <p:ph idx="1" type="body"/>
          </p:nvPr>
        </p:nvSpPr>
        <p:spPr>
          <a:xfrm rot="5400000">
            <a:off x="2777363" y="-270775"/>
            <a:ext cx="4351200" cy="85440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17" name="Google Shape;217;p32"/>
          <p:cNvSpPr txBox="1"/>
          <p:nvPr>
            <p:ph idx="10" type="dt"/>
          </p:nvPr>
        </p:nvSpPr>
        <p:spPr>
          <a:xfrm>
            <a:off x="681038" y="6356350"/>
            <a:ext cx="2229000" cy="3651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218" name="Google Shape;218;p32"/>
          <p:cNvSpPr txBox="1"/>
          <p:nvPr>
            <p:ph idx="11" type="ftr"/>
          </p:nvPr>
        </p:nvSpPr>
        <p:spPr>
          <a:xfrm>
            <a:off x="3281363" y="6356350"/>
            <a:ext cx="3343200" cy="3651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219" name="Google Shape;219;p32"/>
          <p:cNvSpPr txBox="1"/>
          <p:nvPr>
            <p:ph idx="12" type="sldNum"/>
          </p:nvPr>
        </p:nvSpPr>
        <p:spPr>
          <a:xfrm>
            <a:off x="6996113" y="6356350"/>
            <a:ext cx="2229000" cy="365100"/>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e texto verticais" type="vertTitleAndTx">
  <p:cSld name="VERTICAL_TITLE_AND_VERTICAL_TEXT">
    <p:spTree>
      <p:nvGrpSpPr>
        <p:cNvPr id="220" name="Shape 220"/>
        <p:cNvGrpSpPr/>
        <p:nvPr/>
      </p:nvGrpSpPr>
      <p:grpSpPr>
        <a:xfrm>
          <a:off x="0" y="0"/>
          <a:ext cx="0" cy="0"/>
          <a:chOff x="0" y="0"/>
          <a:chExt cx="0" cy="0"/>
        </a:xfrm>
      </p:grpSpPr>
      <p:sp>
        <p:nvSpPr>
          <p:cNvPr id="221" name="Google Shape;221;p33"/>
          <p:cNvSpPr txBox="1"/>
          <p:nvPr>
            <p:ph type="title"/>
          </p:nvPr>
        </p:nvSpPr>
        <p:spPr>
          <a:xfrm rot="5400000">
            <a:off x="5251463" y="2203525"/>
            <a:ext cx="5811900" cy="21351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2" name="Google Shape;222;p33"/>
          <p:cNvSpPr txBox="1"/>
          <p:nvPr>
            <p:ph idx="1" type="body"/>
          </p:nvPr>
        </p:nvSpPr>
        <p:spPr>
          <a:xfrm rot="5400000">
            <a:off x="903325" y="142975"/>
            <a:ext cx="5811900" cy="62562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3" name="Google Shape;223;p33"/>
          <p:cNvSpPr txBox="1"/>
          <p:nvPr>
            <p:ph idx="10" type="dt"/>
          </p:nvPr>
        </p:nvSpPr>
        <p:spPr>
          <a:xfrm>
            <a:off x="681038" y="6356350"/>
            <a:ext cx="2229000" cy="3651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224" name="Google Shape;224;p33"/>
          <p:cNvSpPr txBox="1"/>
          <p:nvPr>
            <p:ph idx="11" type="ftr"/>
          </p:nvPr>
        </p:nvSpPr>
        <p:spPr>
          <a:xfrm>
            <a:off x="3281363" y="6356350"/>
            <a:ext cx="3343200" cy="3651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225" name="Google Shape;225;p33"/>
          <p:cNvSpPr txBox="1"/>
          <p:nvPr>
            <p:ph idx="12" type="sldNum"/>
          </p:nvPr>
        </p:nvSpPr>
        <p:spPr>
          <a:xfrm>
            <a:off x="6996113" y="6356350"/>
            <a:ext cx="2229000" cy="365100"/>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tx">
  <p:cSld name="TITLE_AND_BODY">
    <p:spTree>
      <p:nvGrpSpPr>
        <p:cNvPr id="226" name="Shape 226"/>
        <p:cNvGrpSpPr/>
        <p:nvPr/>
      </p:nvGrpSpPr>
      <p:grpSpPr>
        <a:xfrm>
          <a:off x="0" y="0"/>
          <a:ext cx="0" cy="0"/>
          <a:chOff x="0" y="0"/>
          <a:chExt cx="0" cy="0"/>
        </a:xfrm>
      </p:grpSpPr>
      <p:sp>
        <p:nvSpPr>
          <p:cNvPr id="227" name="Google Shape;227;p34"/>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itar o Cartão de Nome">
  <p:cSld name="Citar o Cartão de Nome">
    <p:spTree>
      <p:nvGrpSpPr>
        <p:cNvPr id="228" name="Shape 228"/>
        <p:cNvGrpSpPr/>
        <p:nvPr/>
      </p:nvGrpSpPr>
      <p:grpSpPr>
        <a:xfrm>
          <a:off x="0" y="0"/>
          <a:ext cx="0" cy="0"/>
          <a:chOff x="0" y="0"/>
          <a:chExt cx="0" cy="0"/>
        </a:xfrm>
      </p:grpSpPr>
      <p:sp>
        <p:nvSpPr>
          <p:cNvPr id="229" name="Google Shape;229;p35"/>
          <p:cNvSpPr txBox="1"/>
          <p:nvPr>
            <p:ph type="title"/>
          </p:nvPr>
        </p:nvSpPr>
        <p:spPr>
          <a:xfrm>
            <a:off x="839458" y="609600"/>
            <a:ext cx="8091900" cy="30225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4400"/>
              <a:buFont typeface="Calibri"/>
              <a:buNone/>
              <a:defRPr b="0" sz="44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0" name="Google Shape;230;p35"/>
          <p:cNvSpPr txBox="1"/>
          <p:nvPr>
            <p:ph idx="1" type="body"/>
          </p:nvPr>
        </p:nvSpPr>
        <p:spPr>
          <a:xfrm>
            <a:off x="660396" y="4013200"/>
            <a:ext cx="8459100" cy="514200"/>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rgbClr val="3F3F3F"/>
              </a:buClr>
              <a:buSzPts val="2400"/>
              <a:buFont typeface="Calibri"/>
              <a:buNone/>
              <a:defRPr sz="2400">
                <a:solidFill>
                  <a:srgbClr val="3F3F3F"/>
                </a:solidFill>
              </a:defRPr>
            </a:lvl1pPr>
            <a:lvl2pPr indent="-228600" lvl="1" marL="914400" algn="l">
              <a:lnSpc>
                <a:spcPct val="90000"/>
              </a:lnSpc>
              <a:spcBef>
                <a:spcPts val="500"/>
              </a:spcBef>
              <a:spcAft>
                <a:spcPts val="0"/>
              </a:spcAft>
              <a:buClr>
                <a:schemeClr val="dk1"/>
              </a:buClr>
              <a:buSzPts val="2400"/>
              <a:buFont typeface="Calibri"/>
              <a:buNone/>
              <a:defRPr/>
            </a:lvl2pPr>
            <a:lvl3pPr indent="-228600" lvl="2" marL="1371600" algn="l">
              <a:lnSpc>
                <a:spcPct val="90000"/>
              </a:lnSpc>
              <a:spcBef>
                <a:spcPts val="500"/>
              </a:spcBef>
              <a:spcAft>
                <a:spcPts val="0"/>
              </a:spcAft>
              <a:buClr>
                <a:schemeClr val="dk1"/>
              </a:buClr>
              <a:buSzPts val="2000"/>
              <a:buFont typeface="Calibri"/>
              <a:buNone/>
              <a:defRPr/>
            </a:lvl3pPr>
            <a:lvl4pPr indent="-228600" lvl="3" marL="1828800" algn="l">
              <a:lnSpc>
                <a:spcPct val="90000"/>
              </a:lnSpc>
              <a:spcBef>
                <a:spcPts val="500"/>
              </a:spcBef>
              <a:spcAft>
                <a:spcPts val="0"/>
              </a:spcAft>
              <a:buClr>
                <a:schemeClr val="dk1"/>
              </a:buClr>
              <a:buSzPts val="1800"/>
              <a:buFont typeface="Calibri"/>
              <a:buNone/>
              <a:defRPr/>
            </a:lvl4pPr>
            <a:lvl5pPr indent="-228600" lvl="4" marL="2286000" algn="l">
              <a:lnSpc>
                <a:spcPct val="90000"/>
              </a:lnSpc>
              <a:spcBef>
                <a:spcPts val="500"/>
              </a:spcBef>
              <a:spcAft>
                <a:spcPts val="0"/>
              </a:spcAft>
              <a:buClr>
                <a:schemeClr val="dk1"/>
              </a:buClr>
              <a:buSzPts val="1800"/>
              <a:buFont typeface="Calibri"/>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1" name="Google Shape;231;p35"/>
          <p:cNvSpPr txBox="1"/>
          <p:nvPr>
            <p:ph idx="2" type="body"/>
          </p:nvPr>
        </p:nvSpPr>
        <p:spPr>
          <a:xfrm>
            <a:off x="660398" y="4527448"/>
            <a:ext cx="8459100" cy="15138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7F7F7F"/>
              </a:buClr>
              <a:buSzPts val="1800"/>
              <a:buNone/>
              <a:defRPr sz="1800">
                <a:solidFill>
                  <a:srgbClr val="7F7F7F"/>
                </a:solidFill>
              </a:defRPr>
            </a:lvl1pPr>
            <a:lvl2pPr indent="-228600" lvl="1" marL="914400" algn="l">
              <a:lnSpc>
                <a:spcPct val="90000"/>
              </a:lnSpc>
              <a:spcBef>
                <a:spcPts val="500"/>
              </a:spcBef>
              <a:spcAft>
                <a:spcPts val="0"/>
              </a:spcAft>
              <a:buClr>
                <a:srgbClr val="888888"/>
              </a:buClr>
              <a:buSzPts val="1800"/>
              <a:buNone/>
              <a:defRPr sz="1800">
                <a:solidFill>
                  <a:srgbClr val="888888"/>
                </a:solidFill>
              </a:defRPr>
            </a:lvl2pPr>
            <a:lvl3pPr indent="-228600" lvl="2" marL="1371600" algn="l">
              <a:lnSpc>
                <a:spcPct val="90000"/>
              </a:lnSpc>
              <a:spcBef>
                <a:spcPts val="500"/>
              </a:spcBef>
              <a:spcAft>
                <a:spcPts val="0"/>
              </a:spcAft>
              <a:buClr>
                <a:srgbClr val="888888"/>
              </a:buClr>
              <a:buSzPts val="1600"/>
              <a:buNone/>
              <a:defRPr sz="1600">
                <a:solidFill>
                  <a:srgbClr val="888888"/>
                </a:solidFill>
              </a:defRPr>
            </a:lvl3pPr>
            <a:lvl4pPr indent="-228600" lvl="3" marL="1828800" algn="l">
              <a:lnSpc>
                <a:spcPct val="90000"/>
              </a:lnSpc>
              <a:spcBef>
                <a:spcPts val="500"/>
              </a:spcBef>
              <a:spcAft>
                <a:spcPts val="0"/>
              </a:spcAft>
              <a:buClr>
                <a:srgbClr val="888888"/>
              </a:buClr>
              <a:buSzPts val="1400"/>
              <a:buNone/>
              <a:defRPr sz="1400">
                <a:solidFill>
                  <a:srgbClr val="888888"/>
                </a:solidFill>
              </a:defRPr>
            </a:lvl4pPr>
            <a:lvl5pPr indent="-228600" lvl="4" marL="2286000" algn="l">
              <a:lnSpc>
                <a:spcPct val="90000"/>
              </a:lnSpc>
              <a:spcBef>
                <a:spcPts val="500"/>
              </a:spcBef>
              <a:spcAft>
                <a:spcPts val="0"/>
              </a:spcAft>
              <a:buClr>
                <a:srgbClr val="888888"/>
              </a:buClr>
              <a:buSzPts val="1400"/>
              <a:buNone/>
              <a:defRPr sz="1400">
                <a:solidFill>
                  <a:srgbClr val="888888"/>
                </a:solidFill>
              </a:defRPr>
            </a:lvl5pPr>
            <a:lvl6pPr indent="-228600" lvl="5" marL="2743200" algn="l">
              <a:lnSpc>
                <a:spcPct val="90000"/>
              </a:lnSpc>
              <a:spcBef>
                <a:spcPts val="500"/>
              </a:spcBef>
              <a:spcAft>
                <a:spcPts val="0"/>
              </a:spcAft>
              <a:buClr>
                <a:srgbClr val="888888"/>
              </a:buClr>
              <a:buSzPts val="1400"/>
              <a:buNone/>
              <a:defRPr sz="1400">
                <a:solidFill>
                  <a:srgbClr val="888888"/>
                </a:solidFill>
              </a:defRPr>
            </a:lvl6pPr>
            <a:lvl7pPr indent="-228600" lvl="6" marL="3200400" algn="l">
              <a:lnSpc>
                <a:spcPct val="90000"/>
              </a:lnSpc>
              <a:spcBef>
                <a:spcPts val="500"/>
              </a:spcBef>
              <a:spcAft>
                <a:spcPts val="0"/>
              </a:spcAft>
              <a:buClr>
                <a:srgbClr val="888888"/>
              </a:buClr>
              <a:buSzPts val="1400"/>
              <a:buNone/>
              <a:defRPr sz="1400">
                <a:solidFill>
                  <a:srgbClr val="888888"/>
                </a:solidFill>
              </a:defRPr>
            </a:lvl7pPr>
            <a:lvl8pPr indent="-228600" lvl="7" marL="3657600" algn="l">
              <a:lnSpc>
                <a:spcPct val="90000"/>
              </a:lnSpc>
              <a:spcBef>
                <a:spcPts val="500"/>
              </a:spcBef>
              <a:spcAft>
                <a:spcPts val="0"/>
              </a:spcAft>
              <a:buClr>
                <a:srgbClr val="888888"/>
              </a:buClr>
              <a:buSzPts val="1400"/>
              <a:buNone/>
              <a:defRPr sz="1400">
                <a:solidFill>
                  <a:srgbClr val="888888"/>
                </a:solidFill>
              </a:defRPr>
            </a:lvl8pPr>
            <a:lvl9pPr indent="-228600" lvl="8" marL="4114800" algn="l">
              <a:lnSpc>
                <a:spcPct val="90000"/>
              </a:lnSpc>
              <a:spcBef>
                <a:spcPts val="500"/>
              </a:spcBef>
              <a:spcAft>
                <a:spcPts val="0"/>
              </a:spcAft>
              <a:buClr>
                <a:srgbClr val="888888"/>
              </a:buClr>
              <a:buSzPts val="1400"/>
              <a:buNone/>
              <a:defRPr sz="1400">
                <a:solidFill>
                  <a:srgbClr val="888888"/>
                </a:solidFill>
              </a:defRPr>
            </a:lvl9pPr>
          </a:lstStyle>
          <a:p/>
        </p:txBody>
      </p:sp>
      <p:sp>
        <p:nvSpPr>
          <p:cNvPr id="232" name="Google Shape;232;p35"/>
          <p:cNvSpPr txBox="1"/>
          <p:nvPr/>
        </p:nvSpPr>
        <p:spPr>
          <a:xfrm>
            <a:off x="364926" y="764704"/>
            <a:ext cx="495300" cy="584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8000"/>
              <a:buFont typeface="Arial"/>
              <a:buNone/>
            </a:pPr>
            <a:r>
              <a:rPr b="0" i="0" lang="en-US" sz="8000" u="none" cap="none" strike="noStrike">
                <a:solidFill>
                  <a:srgbClr val="9CC2E5"/>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233" name="Google Shape;233;p35"/>
          <p:cNvSpPr txBox="1"/>
          <p:nvPr/>
        </p:nvSpPr>
        <p:spPr>
          <a:xfrm>
            <a:off x="8931441" y="3463688"/>
            <a:ext cx="495300" cy="584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8000"/>
              <a:buFont typeface="Arial"/>
              <a:buNone/>
            </a:pPr>
            <a:r>
              <a:rPr b="0" i="0" lang="en-US" sz="8000" u="none" cap="none" strike="noStrike">
                <a:solidFill>
                  <a:srgbClr val="9CC2E5"/>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pic>
        <p:nvPicPr>
          <p:cNvPr id="234" name="Google Shape;234;p35"/>
          <p:cNvPicPr preferRelativeResize="0"/>
          <p:nvPr/>
        </p:nvPicPr>
        <p:blipFill rotWithShape="1">
          <a:blip r:embed="rId2">
            <a:alphaModFix/>
          </a:blip>
          <a:srcRect b="0" l="0" r="0" t="0"/>
          <a:stretch/>
        </p:blipFill>
        <p:spPr>
          <a:xfrm>
            <a:off x="162847" y="6223924"/>
            <a:ext cx="995104" cy="470760"/>
          </a:xfrm>
          <a:prstGeom prst="rect">
            <a:avLst/>
          </a:prstGeom>
          <a:noFill/>
          <a:ln>
            <a:noFill/>
          </a:ln>
        </p:spPr>
      </p:pic>
      <p:sp>
        <p:nvSpPr>
          <p:cNvPr id="235" name="Google Shape;235;p35"/>
          <p:cNvSpPr txBox="1"/>
          <p:nvPr>
            <p:ph idx="12" type="sldNum"/>
          </p:nvPr>
        </p:nvSpPr>
        <p:spPr>
          <a:xfrm>
            <a:off x="9269849" y="6333134"/>
            <a:ext cx="594300" cy="525000"/>
          </a:xfrm>
          <a:prstGeom prst="rect">
            <a:avLst/>
          </a:prstGeom>
        </p:spPr>
        <p:txBody>
          <a:bodyPr anchorCtr="0" anchor="t" bIns="91425" lIns="91425" spcFirstLastPara="1" rIns="91425" wrap="square" tIns="91425">
            <a:noAutofit/>
          </a:bodyPr>
          <a:lstStyle>
            <a:lvl1pPr lvl="0">
              <a:buNone/>
              <a:defRPr>
                <a:solidFill>
                  <a:srgbClr val="3F3F3F"/>
                </a:solidFill>
              </a:defRPr>
            </a:lvl1pPr>
            <a:lvl2pPr lvl="1">
              <a:buNone/>
              <a:defRPr>
                <a:solidFill>
                  <a:srgbClr val="3F3F3F"/>
                </a:solidFill>
              </a:defRPr>
            </a:lvl2pPr>
            <a:lvl3pPr lvl="2">
              <a:buNone/>
              <a:defRPr>
                <a:solidFill>
                  <a:srgbClr val="3F3F3F"/>
                </a:solidFill>
              </a:defRPr>
            </a:lvl3pPr>
            <a:lvl4pPr lvl="3">
              <a:buNone/>
              <a:defRPr>
                <a:solidFill>
                  <a:srgbClr val="3F3F3F"/>
                </a:solidFill>
              </a:defRPr>
            </a:lvl4pPr>
            <a:lvl5pPr lvl="4">
              <a:buNone/>
              <a:defRPr>
                <a:solidFill>
                  <a:srgbClr val="3F3F3F"/>
                </a:solidFill>
              </a:defRPr>
            </a:lvl5pPr>
            <a:lvl6pPr lvl="5">
              <a:buNone/>
              <a:defRPr>
                <a:solidFill>
                  <a:srgbClr val="3F3F3F"/>
                </a:solidFill>
              </a:defRPr>
            </a:lvl6pPr>
            <a:lvl7pPr lvl="6">
              <a:buNone/>
              <a:defRPr>
                <a:solidFill>
                  <a:srgbClr val="3F3F3F"/>
                </a:solidFill>
              </a:defRPr>
            </a:lvl7pPr>
            <a:lvl8pPr lvl="7">
              <a:buNone/>
              <a:defRPr>
                <a:solidFill>
                  <a:srgbClr val="3F3F3F"/>
                </a:solidFill>
              </a:defRPr>
            </a:lvl8pPr>
            <a:lvl9pPr lvl="8">
              <a:buNone/>
              <a:defRPr>
                <a:solidFill>
                  <a:srgbClr val="3F3F3F"/>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ítulo e conteúdo">
  <p:cSld name="1_Título e conteúdo">
    <p:bg>
      <p:bgPr>
        <a:blipFill>
          <a:blip r:embed="rId2">
            <a:alphaModFix/>
          </a:blip>
          <a:stretch>
            <a:fillRect/>
          </a:stretch>
        </a:blipFill>
      </p:bgPr>
    </p:bg>
    <p:spTree>
      <p:nvGrpSpPr>
        <p:cNvPr id="240" name="Shape 240"/>
        <p:cNvGrpSpPr/>
        <p:nvPr/>
      </p:nvGrpSpPr>
      <p:grpSpPr>
        <a:xfrm>
          <a:off x="0" y="0"/>
          <a:ext cx="0" cy="0"/>
          <a:chOff x="0" y="0"/>
          <a:chExt cx="0" cy="0"/>
        </a:xfrm>
      </p:grpSpPr>
      <p:sp>
        <p:nvSpPr>
          <p:cNvPr id="241" name="Google Shape;241;g3e3a61befe4_62_262"/>
          <p:cNvSpPr/>
          <p:nvPr/>
        </p:nvSpPr>
        <p:spPr>
          <a:xfrm>
            <a:off x="0" y="768088"/>
            <a:ext cx="9906000" cy="6090000"/>
          </a:xfrm>
          <a:prstGeom prst="rect">
            <a:avLst/>
          </a:prstGeom>
          <a:solidFill>
            <a:schemeClr val="lt1">
              <a:alpha val="6000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42" name="Google Shape;242;g3e3a61befe4_62_262"/>
          <p:cNvSpPr txBox="1"/>
          <p:nvPr>
            <p:ph type="title"/>
          </p:nvPr>
        </p:nvSpPr>
        <p:spPr>
          <a:xfrm>
            <a:off x="488503" y="356138"/>
            <a:ext cx="9000900" cy="624600"/>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rgbClr val="1E4E79"/>
              </a:buClr>
              <a:buSzPts val="4000"/>
              <a:buFont typeface="Arial"/>
              <a:buNone/>
              <a:defRPr b="1" sz="4000">
                <a:solidFill>
                  <a:srgbClr val="1E4E79"/>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3" name="Google Shape;243;g3e3a61befe4_62_262"/>
          <p:cNvSpPr txBox="1"/>
          <p:nvPr>
            <p:ph idx="10" type="dt"/>
          </p:nvPr>
        </p:nvSpPr>
        <p:spPr>
          <a:xfrm>
            <a:off x="681038" y="6356350"/>
            <a:ext cx="2229000" cy="3651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244" name="Google Shape;244;g3e3a61befe4_62_262"/>
          <p:cNvSpPr txBox="1"/>
          <p:nvPr>
            <p:ph idx="11" type="ftr"/>
          </p:nvPr>
        </p:nvSpPr>
        <p:spPr>
          <a:xfrm>
            <a:off x="3281363" y="6356350"/>
            <a:ext cx="3343200" cy="3651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245" name="Google Shape;245;g3e3a61befe4_62_262"/>
          <p:cNvSpPr txBox="1"/>
          <p:nvPr>
            <p:ph idx="12" type="sldNum"/>
          </p:nvPr>
        </p:nvSpPr>
        <p:spPr>
          <a:xfrm>
            <a:off x="6996113" y="6356350"/>
            <a:ext cx="2229000" cy="3651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246" name="Google Shape;246;g3e3a61befe4_62_262"/>
          <p:cNvSpPr/>
          <p:nvPr/>
        </p:nvSpPr>
        <p:spPr>
          <a:xfrm>
            <a:off x="-13050" y="5921896"/>
            <a:ext cx="9919200" cy="936000"/>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247" name="Google Shape;247;g3e3a61befe4_62_262"/>
          <p:cNvPicPr preferRelativeResize="0"/>
          <p:nvPr/>
        </p:nvPicPr>
        <p:blipFill rotWithShape="1">
          <a:blip r:embed="rId3">
            <a:alphaModFix/>
          </a:blip>
          <a:srcRect b="0" l="17788" r="19906" t="65239"/>
          <a:stretch/>
        </p:blipFill>
        <p:spPr>
          <a:xfrm>
            <a:off x="920552" y="6155677"/>
            <a:ext cx="1568747" cy="665761"/>
          </a:xfrm>
          <a:prstGeom prst="rect">
            <a:avLst/>
          </a:prstGeom>
          <a:noFill/>
          <a:ln>
            <a:noFill/>
          </a:ln>
        </p:spPr>
      </p:pic>
      <p:pic>
        <p:nvPicPr>
          <p:cNvPr id="248" name="Google Shape;248;g3e3a61befe4_62_262"/>
          <p:cNvPicPr preferRelativeResize="0"/>
          <p:nvPr/>
        </p:nvPicPr>
        <p:blipFill rotWithShape="1">
          <a:blip r:embed="rId3">
            <a:alphaModFix/>
          </a:blip>
          <a:srcRect b="34761" l="25519" r="25620" t="3570"/>
          <a:stretch/>
        </p:blipFill>
        <p:spPr>
          <a:xfrm>
            <a:off x="194947" y="6056653"/>
            <a:ext cx="725605" cy="696647"/>
          </a:xfrm>
          <a:prstGeom prst="rect">
            <a:avLst/>
          </a:prstGeom>
          <a:noFill/>
          <a:ln>
            <a:noFill/>
          </a:ln>
        </p:spPr>
      </p:pic>
      <p:sp>
        <p:nvSpPr>
          <p:cNvPr id="249" name="Google Shape;249;g3e3a61befe4_62_262"/>
          <p:cNvSpPr/>
          <p:nvPr/>
        </p:nvSpPr>
        <p:spPr>
          <a:xfrm>
            <a:off x="4950907" y="5989477"/>
            <a:ext cx="4953000" cy="8310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400"/>
              <a:buFont typeface="Arial"/>
              <a:buNone/>
            </a:pPr>
            <a:r>
              <a:rPr b="1" i="0" lang="en-US" sz="2400" u="none" cap="none" strike="noStrike">
                <a:solidFill>
                  <a:schemeClr val="lt1"/>
                </a:solidFill>
                <a:latin typeface="Arial"/>
                <a:ea typeface="Arial"/>
                <a:cs typeface="Arial"/>
                <a:sym typeface="Arial"/>
              </a:rPr>
              <a:t>IEEE Intelligence and Security Informatics (ISI) 2018</a:t>
            </a:r>
            <a:endParaRPr b="0" i="0" sz="14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de título" type="title">
  <p:cSld name="TITLE">
    <p:bg>
      <p:bgPr>
        <a:solidFill>
          <a:schemeClr val="dk1"/>
        </a:solidFill>
      </p:bgPr>
    </p:bg>
    <p:spTree>
      <p:nvGrpSpPr>
        <p:cNvPr id="250" name="Shape 250"/>
        <p:cNvGrpSpPr/>
        <p:nvPr/>
      </p:nvGrpSpPr>
      <p:grpSpPr>
        <a:xfrm>
          <a:off x="0" y="0"/>
          <a:ext cx="0" cy="0"/>
          <a:chOff x="0" y="0"/>
          <a:chExt cx="0" cy="0"/>
        </a:xfrm>
      </p:grpSpPr>
      <p:sp>
        <p:nvSpPr>
          <p:cNvPr id="251" name="Google Shape;251;g3e3a61befe4_62_272"/>
          <p:cNvSpPr txBox="1"/>
          <p:nvPr>
            <p:ph type="ctrTitle"/>
          </p:nvPr>
        </p:nvSpPr>
        <p:spPr>
          <a:xfrm>
            <a:off x="344488" y="1412776"/>
            <a:ext cx="6393300" cy="1695000"/>
          </a:xfrm>
          <a:prstGeom prst="rect">
            <a:avLst/>
          </a:prstGeom>
          <a:solidFill>
            <a:schemeClr val="lt1">
              <a:alpha val="0"/>
            </a:schemeClr>
          </a:solidFill>
          <a:ln>
            <a:noFill/>
          </a:ln>
        </p:spPr>
        <p:txBody>
          <a:bodyPr anchorCtr="0" anchor="ctr" bIns="45700" lIns="91425" spcFirstLastPara="1" rIns="91425" wrap="square" tIns="45700">
            <a:normAutofit/>
          </a:bodyPr>
          <a:lstStyle>
            <a:lvl1pPr lvl="0" algn="r">
              <a:lnSpc>
                <a:spcPct val="90000"/>
              </a:lnSpc>
              <a:spcBef>
                <a:spcPts val="0"/>
              </a:spcBef>
              <a:spcAft>
                <a:spcPts val="0"/>
              </a:spcAft>
              <a:buClr>
                <a:srgbClr val="F2F2F2"/>
              </a:buClr>
              <a:buSzPts val="3600"/>
              <a:buFont typeface="Arial Black"/>
              <a:buNone/>
              <a:defRPr b="1" sz="3600">
                <a:solidFill>
                  <a:srgbClr val="F2F2F2"/>
                </a:solidFill>
                <a:latin typeface="Arial Black"/>
                <a:ea typeface="Arial Black"/>
                <a:cs typeface="Arial Black"/>
                <a:sym typeface="Arial Black"/>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2" name="Google Shape;252;g3e3a61befe4_62_272"/>
          <p:cNvSpPr txBox="1"/>
          <p:nvPr>
            <p:ph idx="1" type="subTitle"/>
          </p:nvPr>
        </p:nvSpPr>
        <p:spPr>
          <a:xfrm>
            <a:off x="344488" y="3581716"/>
            <a:ext cx="6393300" cy="4608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Clr>
                <a:srgbClr val="D8D8D8"/>
              </a:buClr>
              <a:buSzPts val="2000"/>
              <a:buNone/>
              <a:defRPr b="1" sz="2000">
                <a:solidFill>
                  <a:srgbClr val="D8D8D8"/>
                </a:solidFill>
                <a:latin typeface="Arial"/>
                <a:ea typeface="Arial"/>
                <a:cs typeface="Arial"/>
                <a:sym typeface="Aria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53" name="Google Shape;253;g3e3a61befe4_62_272"/>
          <p:cNvSpPr txBox="1"/>
          <p:nvPr>
            <p:ph idx="10" type="dt"/>
          </p:nvPr>
        </p:nvSpPr>
        <p:spPr>
          <a:xfrm>
            <a:off x="128464" y="6424086"/>
            <a:ext cx="1008000" cy="3651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254" name="Google Shape;254;g3e3a61befe4_62_272"/>
          <p:cNvSpPr txBox="1"/>
          <p:nvPr>
            <p:ph idx="12" type="sldNum"/>
          </p:nvPr>
        </p:nvSpPr>
        <p:spPr>
          <a:xfrm>
            <a:off x="8749502" y="6424086"/>
            <a:ext cx="1008000" cy="365100"/>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2800"/>
              <a:buFont typeface="Arial"/>
              <a:buNone/>
              <a:defRPr b="0" i="0" sz="2800" u="none" cap="none" strike="noStrike">
                <a:solidFill>
                  <a:schemeClr val="lt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2800"/>
              <a:buFont typeface="Arial"/>
              <a:buNone/>
              <a:defRPr b="0" i="0" sz="2800" u="none" cap="none" strike="noStrike">
                <a:solidFill>
                  <a:schemeClr val="lt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2800"/>
              <a:buFont typeface="Arial"/>
              <a:buNone/>
              <a:defRPr b="0" i="0" sz="2800" u="none" cap="none" strike="noStrike">
                <a:solidFill>
                  <a:schemeClr val="lt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2800"/>
              <a:buFont typeface="Arial"/>
              <a:buNone/>
              <a:defRPr b="0" i="0" sz="2800" u="none" cap="none" strike="noStrike">
                <a:solidFill>
                  <a:schemeClr val="lt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2800"/>
              <a:buFont typeface="Arial"/>
              <a:buNone/>
              <a:defRPr b="0" i="0" sz="2800" u="none" cap="none" strike="noStrike">
                <a:solidFill>
                  <a:schemeClr val="lt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2800"/>
              <a:buFont typeface="Arial"/>
              <a:buNone/>
              <a:defRPr b="0" i="0" sz="2800" u="none" cap="none" strike="noStrike">
                <a:solidFill>
                  <a:schemeClr val="lt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2800"/>
              <a:buFont typeface="Arial"/>
              <a:buNone/>
              <a:defRPr b="0" i="0" sz="2800" u="none" cap="none" strike="noStrike">
                <a:solidFill>
                  <a:schemeClr val="lt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2800"/>
              <a:buFont typeface="Arial"/>
              <a:buNone/>
              <a:defRPr b="0" i="0" sz="2800" u="none" cap="none" strike="noStrike">
                <a:solidFill>
                  <a:schemeClr val="lt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2800"/>
              <a:buFont typeface="Arial"/>
              <a:buNone/>
              <a:defRPr b="0" i="0" sz="2800" u="none" cap="none" strike="noStrike">
                <a:solidFill>
                  <a:schemeClr val="lt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pic>
        <p:nvPicPr>
          <p:cNvPr id="255" name="Google Shape;255;g3e3a61befe4_62_272"/>
          <p:cNvPicPr preferRelativeResize="0"/>
          <p:nvPr/>
        </p:nvPicPr>
        <p:blipFill rotWithShape="1">
          <a:blip r:embed="rId2">
            <a:alphaModFix/>
          </a:blip>
          <a:srcRect b="0" l="17788" r="19906" t="0"/>
          <a:stretch/>
        </p:blipFill>
        <p:spPr>
          <a:xfrm>
            <a:off x="0" y="22589"/>
            <a:ext cx="1136576" cy="1387613"/>
          </a:xfrm>
          <a:prstGeom prst="rect">
            <a:avLst/>
          </a:prstGeom>
          <a:noFill/>
          <a:ln>
            <a:noFill/>
          </a:ln>
        </p:spPr>
      </p:pic>
      <p:sp>
        <p:nvSpPr>
          <p:cNvPr id="256" name="Google Shape;256;g3e3a61befe4_62_272"/>
          <p:cNvSpPr/>
          <p:nvPr/>
        </p:nvSpPr>
        <p:spPr>
          <a:xfrm>
            <a:off x="4808984" y="188640"/>
            <a:ext cx="4953000" cy="8310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400"/>
              <a:buFont typeface="Arial"/>
              <a:buNone/>
            </a:pPr>
            <a:r>
              <a:rPr b="1" i="0" lang="en-US" sz="2400" u="none" cap="none" strike="noStrike">
                <a:solidFill>
                  <a:schemeClr val="lt1"/>
                </a:solidFill>
                <a:latin typeface="Arial"/>
                <a:ea typeface="Arial"/>
                <a:cs typeface="Arial"/>
                <a:sym typeface="Arial"/>
              </a:rPr>
              <a:t>IEEE Intelligence and Security Informatics (ISI) 2018</a:t>
            </a:r>
            <a:endParaRPr b="0" i="0" sz="14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e conteúdo" type="obj">
  <p:cSld name="OBJECT">
    <p:bg>
      <p:bgPr>
        <a:blipFill>
          <a:blip r:embed="rId2">
            <a:alphaModFix/>
          </a:blip>
          <a:stretch>
            <a:fillRect/>
          </a:stretch>
        </a:blipFill>
      </p:bgPr>
    </p:bg>
    <p:spTree>
      <p:nvGrpSpPr>
        <p:cNvPr id="257" name="Shape 257"/>
        <p:cNvGrpSpPr/>
        <p:nvPr/>
      </p:nvGrpSpPr>
      <p:grpSpPr>
        <a:xfrm>
          <a:off x="0" y="0"/>
          <a:ext cx="0" cy="0"/>
          <a:chOff x="0" y="0"/>
          <a:chExt cx="0" cy="0"/>
        </a:xfrm>
      </p:grpSpPr>
      <p:sp>
        <p:nvSpPr>
          <p:cNvPr id="258" name="Google Shape;258;g3e3a61befe4_62_279"/>
          <p:cNvSpPr/>
          <p:nvPr/>
        </p:nvSpPr>
        <p:spPr>
          <a:xfrm>
            <a:off x="0" y="768088"/>
            <a:ext cx="9906000" cy="6090000"/>
          </a:xfrm>
          <a:prstGeom prst="rect">
            <a:avLst/>
          </a:prstGeom>
          <a:solidFill>
            <a:schemeClr val="lt1">
              <a:alpha val="6000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59" name="Google Shape;259;g3e3a61befe4_62_279"/>
          <p:cNvSpPr txBox="1"/>
          <p:nvPr>
            <p:ph idx="1" type="body"/>
          </p:nvPr>
        </p:nvSpPr>
        <p:spPr>
          <a:xfrm>
            <a:off x="488503" y="1280425"/>
            <a:ext cx="9000900" cy="4236900"/>
          </a:xfrm>
          <a:prstGeom prst="rect">
            <a:avLst/>
          </a:prstGeom>
          <a:noFill/>
          <a:ln>
            <a:noFill/>
          </a:ln>
        </p:spPr>
        <p:txBody>
          <a:bodyPr anchorCtr="0" anchor="t" bIns="45700" lIns="91425" spcFirstLastPara="1" rIns="91425" wrap="square" tIns="45700">
            <a:normAutofit/>
          </a:bodyPr>
          <a:lstStyle>
            <a:lvl1pPr indent="-381000" lvl="0" marL="457200" algn="l">
              <a:lnSpc>
                <a:spcPct val="90000"/>
              </a:lnSpc>
              <a:spcBef>
                <a:spcPts val="1000"/>
              </a:spcBef>
              <a:spcAft>
                <a:spcPts val="0"/>
              </a:spcAft>
              <a:buClr>
                <a:schemeClr val="dk1"/>
              </a:buClr>
              <a:buSzPts val="2400"/>
              <a:buFont typeface="Arial"/>
              <a:buChar char="•"/>
              <a:defRPr sz="2400">
                <a:latin typeface="Arial"/>
                <a:ea typeface="Arial"/>
                <a:cs typeface="Arial"/>
                <a:sym typeface="Arial"/>
              </a:defRPr>
            </a:lvl1pPr>
            <a:lvl2pPr indent="-355600" lvl="1" marL="914400" algn="l">
              <a:lnSpc>
                <a:spcPct val="90000"/>
              </a:lnSpc>
              <a:spcBef>
                <a:spcPts val="500"/>
              </a:spcBef>
              <a:spcAft>
                <a:spcPts val="0"/>
              </a:spcAft>
              <a:buClr>
                <a:schemeClr val="dk1"/>
              </a:buClr>
              <a:buSzPts val="2000"/>
              <a:buFont typeface="Arial"/>
              <a:buChar char="•"/>
              <a:defRPr sz="2000">
                <a:latin typeface="Arial"/>
                <a:ea typeface="Arial"/>
                <a:cs typeface="Arial"/>
                <a:sym typeface="Arial"/>
              </a:defRPr>
            </a:lvl2pPr>
            <a:lvl3pPr indent="-342900" lvl="2" marL="1371600" algn="l">
              <a:lnSpc>
                <a:spcPct val="90000"/>
              </a:lnSpc>
              <a:spcBef>
                <a:spcPts val="500"/>
              </a:spcBef>
              <a:spcAft>
                <a:spcPts val="0"/>
              </a:spcAft>
              <a:buClr>
                <a:schemeClr val="dk1"/>
              </a:buClr>
              <a:buSzPts val="1800"/>
              <a:buFont typeface="Arial"/>
              <a:buChar char="•"/>
              <a:defRPr sz="1800">
                <a:latin typeface="Arial"/>
                <a:ea typeface="Arial"/>
                <a:cs typeface="Arial"/>
                <a:sym typeface="Arial"/>
              </a:defRPr>
            </a:lvl3pPr>
            <a:lvl4pPr indent="-330200" lvl="3" marL="1828800" algn="l">
              <a:lnSpc>
                <a:spcPct val="90000"/>
              </a:lnSpc>
              <a:spcBef>
                <a:spcPts val="500"/>
              </a:spcBef>
              <a:spcAft>
                <a:spcPts val="0"/>
              </a:spcAft>
              <a:buClr>
                <a:schemeClr val="dk1"/>
              </a:buClr>
              <a:buSzPts val="1600"/>
              <a:buFont typeface="Arial"/>
              <a:buChar char="•"/>
              <a:defRPr sz="1600">
                <a:latin typeface="Arial"/>
                <a:ea typeface="Arial"/>
                <a:cs typeface="Arial"/>
                <a:sym typeface="Arial"/>
              </a:defRPr>
            </a:lvl4pPr>
            <a:lvl5pPr indent="-330200" lvl="4" marL="2286000" algn="l">
              <a:lnSpc>
                <a:spcPct val="90000"/>
              </a:lnSpc>
              <a:spcBef>
                <a:spcPts val="500"/>
              </a:spcBef>
              <a:spcAft>
                <a:spcPts val="0"/>
              </a:spcAft>
              <a:buClr>
                <a:schemeClr val="dk1"/>
              </a:buClr>
              <a:buSzPts val="1600"/>
              <a:buFont typeface="Arial"/>
              <a:buChar char="•"/>
              <a:defRPr sz="1600">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0" name="Google Shape;260;g3e3a61befe4_62_279"/>
          <p:cNvSpPr txBox="1"/>
          <p:nvPr>
            <p:ph type="title"/>
          </p:nvPr>
        </p:nvSpPr>
        <p:spPr>
          <a:xfrm>
            <a:off x="488503" y="356138"/>
            <a:ext cx="9000900" cy="624600"/>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rgbClr val="1E4E79"/>
              </a:buClr>
              <a:buSzPts val="4000"/>
              <a:buFont typeface="Arial"/>
              <a:buNone/>
              <a:defRPr b="1" sz="4000">
                <a:solidFill>
                  <a:srgbClr val="1E4E79"/>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1" name="Google Shape;261;g3e3a61befe4_62_279"/>
          <p:cNvSpPr txBox="1"/>
          <p:nvPr>
            <p:ph idx="10" type="dt"/>
          </p:nvPr>
        </p:nvSpPr>
        <p:spPr>
          <a:xfrm>
            <a:off x="681038" y="6356350"/>
            <a:ext cx="2229000" cy="3651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262" name="Google Shape;262;g3e3a61befe4_62_279"/>
          <p:cNvSpPr txBox="1"/>
          <p:nvPr>
            <p:ph idx="11" type="ftr"/>
          </p:nvPr>
        </p:nvSpPr>
        <p:spPr>
          <a:xfrm>
            <a:off x="3281363" y="6356350"/>
            <a:ext cx="3343200" cy="3651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263" name="Google Shape;263;g3e3a61befe4_62_279"/>
          <p:cNvSpPr txBox="1"/>
          <p:nvPr>
            <p:ph idx="12" type="sldNum"/>
          </p:nvPr>
        </p:nvSpPr>
        <p:spPr>
          <a:xfrm>
            <a:off x="6996113" y="6356350"/>
            <a:ext cx="2229000" cy="3651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264" name="Google Shape;264;g3e3a61befe4_62_279"/>
          <p:cNvSpPr/>
          <p:nvPr/>
        </p:nvSpPr>
        <p:spPr>
          <a:xfrm>
            <a:off x="-13050" y="5921896"/>
            <a:ext cx="9919200" cy="936000"/>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265" name="Google Shape;265;g3e3a61befe4_62_279"/>
          <p:cNvPicPr preferRelativeResize="0"/>
          <p:nvPr/>
        </p:nvPicPr>
        <p:blipFill rotWithShape="1">
          <a:blip r:embed="rId3">
            <a:alphaModFix/>
          </a:blip>
          <a:srcRect b="0" l="17788" r="19906" t="65239"/>
          <a:stretch/>
        </p:blipFill>
        <p:spPr>
          <a:xfrm>
            <a:off x="920552" y="6155677"/>
            <a:ext cx="1568747" cy="665761"/>
          </a:xfrm>
          <a:prstGeom prst="rect">
            <a:avLst/>
          </a:prstGeom>
          <a:noFill/>
          <a:ln>
            <a:noFill/>
          </a:ln>
        </p:spPr>
      </p:pic>
      <p:pic>
        <p:nvPicPr>
          <p:cNvPr id="266" name="Google Shape;266;g3e3a61befe4_62_279"/>
          <p:cNvPicPr preferRelativeResize="0"/>
          <p:nvPr/>
        </p:nvPicPr>
        <p:blipFill rotWithShape="1">
          <a:blip r:embed="rId3">
            <a:alphaModFix/>
          </a:blip>
          <a:srcRect b="34761" l="25519" r="25620" t="3570"/>
          <a:stretch/>
        </p:blipFill>
        <p:spPr>
          <a:xfrm>
            <a:off x="194947" y="6056653"/>
            <a:ext cx="725605" cy="696647"/>
          </a:xfrm>
          <a:prstGeom prst="rect">
            <a:avLst/>
          </a:prstGeom>
          <a:noFill/>
          <a:ln>
            <a:noFill/>
          </a:ln>
        </p:spPr>
      </p:pic>
      <p:sp>
        <p:nvSpPr>
          <p:cNvPr id="267" name="Google Shape;267;g3e3a61befe4_62_279"/>
          <p:cNvSpPr/>
          <p:nvPr/>
        </p:nvSpPr>
        <p:spPr>
          <a:xfrm>
            <a:off x="4950907" y="5989477"/>
            <a:ext cx="4953000" cy="8310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400"/>
              <a:buFont typeface="Arial"/>
              <a:buNone/>
            </a:pPr>
            <a:r>
              <a:rPr b="1" i="0" lang="en-US" sz="2400" u="none" cap="none" strike="noStrike">
                <a:solidFill>
                  <a:schemeClr val="lt1"/>
                </a:solidFill>
                <a:latin typeface="Arial"/>
                <a:ea typeface="Arial"/>
                <a:cs typeface="Arial"/>
                <a:sym typeface="Arial"/>
              </a:rPr>
              <a:t>IEEE Intelligence and Security Informatics (ISI) 2018</a:t>
            </a:r>
            <a:endParaRPr b="0" i="0" sz="14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ítulo e conteúdo">
  <p:cSld name="2_Título e conteúdo">
    <p:bg>
      <p:bgPr>
        <a:blipFill>
          <a:blip r:embed="rId2">
            <a:alphaModFix/>
          </a:blip>
          <a:stretch>
            <a:fillRect/>
          </a:stretch>
        </a:blipFill>
      </p:bgPr>
    </p:bg>
    <p:spTree>
      <p:nvGrpSpPr>
        <p:cNvPr id="268" name="Shape 268"/>
        <p:cNvGrpSpPr/>
        <p:nvPr/>
      </p:nvGrpSpPr>
      <p:grpSpPr>
        <a:xfrm>
          <a:off x="0" y="0"/>
          <a:ext cx="0" cy="0"/>
          <a:chOff x="0" y="0"/>
          <a:chExt cx="0" cy="0"/>
        </a:xfrm>
      </p:grpSpPr>
      <p:sp>
        <p:nvSpPr>
          <p:cNvPr id="269" name="Google Shape;269;g3e3a61befe4_62_290"/>
          <p:cNvSpPr/>
          <p:nvPr/>
        </p:nvSpPr>
        <p:spPr>
          <a:xfrm>
            <a:off x="0" y="768088"/>
            <a:ext cx="9906000" cy="6090000"/>
          </a:xfrm>
          <a:prstGeom prst="rect">
            <a:avLst/>
          </a:prstGeom>
          <a:solidFill>
            <a:schemeClr val="lt1">
              <a:alpha val="6000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70" name="Google Shape;270;g3e3a61befe4_62_290"/>
          <p:cNvSpPr txBox="1"/>
          <p:nvPr>
            <p:ph type="title"/>
          </p:nvPr>
        </p:nvSpPr>
        <p:spPr>
          <a:xfrm>
            <a:off x="488503" y="356138"/>
            <a:ext cx="9000900" cy="624600"/>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rgbClr val="1E4E79"/>
              </a:buClr>
              <a:buSzPts val="4000"/>
              <a:buFont typeface="Arial"/>
              <a:buNone/>
              <a:defRPr b="1" sz="4000">
                <a:solidFill>
                  <a:srgbClr val="1E4E79"/>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1" name="Google Shape;271;g3e3a61befe4_62_290"/>
          <p:cNvSpPr txBox="1"/>
          <p:nvPr>
            <p:ph idx="10" type="dt"/>
          </p:nvPr>
        </p:nvSpPr>
        <p:spPr>
          <a:xfrm>
            <a:off x="681038" y="6356350"/>
            <a:ext cx="2229000" cy="3651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272" name="Google Shape;272;g3e3a61befe4_62_290"/>
          <p:cNvSpPr txBox="1"/>
          <p:nvPr>
            <p:ph idx="11" type="ftr"/>
          </p:nvPr>
        </p:nvSpPr>
        <p:spPr>
          <a:xfrm>
            <a:off x="3281363" y="6356350"/>
            <a:ext cx="3343200" cy="3651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273" name="Google Shape;273;g3e3a61befe4_62_290"/>
          <p:cNvSpPr txBox="1"/>
          <p:nvPr>
            <p:ph idx="12" type="sldNum"/>
          </p:nvPr>
        </p:nvSpPr>
        <p:spPr>
          <a:xfrm>
            <a:off x="6996113" y="6356350"/>
            <a:ext cx="2229000" cy="3651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274" name="Google Shape;274;g3e3a61befe4_62_290"/>
          <p:cNvSpPr/>
          <p:nvPr/>
        </p:nvSpPr>
        <p:spPr>
          <a:xfrm>
            <a:off x="-13050" y="5921896"/>
            <a:ext cx="9919200" cy="936000"/>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275" name="Google Shape;275;g3e3a61befe4_62_290"/>
          <p:cNvPicPr preferRelativeResize="0"/>
          <p:nvPr/>
        </p:nvPicPr>
        <p:blipFill rotWithShape="1">
          <a:blip r:embed="rId3">
            <a:alphaModFix/>
          </a:blip>
          <a:srcRect b="0" l="17788" r="19906" t="65239"/>
          <a:stretch/>
        </p:blipFill>
        <p:spPr>
          <a:xfrm>
            <a:off x="920552" y="6155677"/>
            <a:ext cx="1568747" cy="665761"/>
          </a:xfrm>
          <a:prstGeom prst="rect">
            <a:avLst/>
          </a:prstGeom>
          <a:noFill/>
          <a:ln>
            <a:noFill/>
          </a:ln>
        </p:spPr>
      </p:pic>
      <p:pic>
        <p:nvPicPr>
          <p:cNvPr id="276" name="Google Shape;276;g3e3a61befe4_62_290"/>
          <p:cNvPicPr preferRelativeResize="0"/>
          <p:nvPr/>
        </p:nvPicPr>
        <p:blipFill rotWithShape="1">
          <a:blip r:embed="rId3">
            <a:alphaModFix/>
          </a:blip>
          <a:srcRect b="34761" l="25519" r="25620" t="3570"/>
          <a:stretch/>
        </p:blipFill>
        <p:spPr>
          <a:xfrm>
            <a:off x="194947" y="6056653"/>
            <a:ext cx="725605" cy="696647"/>
          </a:xfrm>
          <a:prstGeom prst="rect">
            <a:avLst/>
          </a:prstGeom>
          <a:noFill/>
          <a:ln>
            <a:noFill/>
          </a:ln>
        </p:spPr>
      </p:pic>
      <p:sp>
        <p:nvSpPr>
          <p:cNvPr id="277" name="Google Shape;277;g3e3a61befe4_62_290"/>
          <p:cNvSpPr txBox="1"/>
          <p:nvPr>
            <p:ph idx="1" type="body"/>
          </p:nvPr>
        </p:nvSpPr>
        <p:spPr>
          <a:xfrm>
            <a:off x="488503" y="1215713"/>
            <a:ext cx="4388400" cy="43512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8" name="Google Shape;278;g3e3a61befe4_62_290"/>
          <p:cNvSpPr txBox="1"/>
          <p:nvPr>
            <p:ph idx="2" type="body"/>
          </p:nvPr>
        </p:nvSpPr>
        <p:spPr>
          <a:xfrm>
            <a:off x="5029200" y="1215713"/>
            <a:ext cx="4460400" cy="43512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9" name="Google Shape;279;g3e3a61befe4_62_290"/>
          <p:cNvSpPr/>
          <p:nvPr/>
        </p:nvSpPr>
        <p:spPr>
          <a:xfrm>
            <a:off x="4950907" y="5989477"/>
            <a:ext cx="4953000" cy="8310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400"/>
              <a:buFont typeface="Arial"/>
              <a:buNone/>
            </a:pPr>
            <a:r>
              <a:rPr b="1" i="0" lang="en-US" sz="2400" u="none" cap="none" strike="noStrike">
                <a:solidFill>
                  <a:schemeClr val="lt1"/>
                </a:solidFill>
                <a:latin typeface="Arial"/>
                <a:ea typeface="Arial"/>
                <a:cs typeface="Arial"/>
                <a:sym typeface="Arial"/>
              </a:rPr>
              <a:t>IEEE Intelligence and Security Informatics (ISI) 2018</a:t>
            </a:r>
            <a:endParaRPr b="0" i="0" sz="14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beçalho da Seção" type="secHead">
  <p:cSld name="SECTION_HEADER">
    <p:spTree>
      <p:nvGrpSpPr>
        <p:cNvPr id="280" name="Shape 280"/>
        <p:cNvGrpSpPr/>
        <p:nvPr/>
      </p:nvGrpSpPr>
      <p:grpSpPr>
        <a:xfrm>
          <a:off x="0" y="0"/>
          <a:ext cx="0" cy="0"/>
          <a:chOff x="0" y="0"/>
          <a:chExt cx="0" cy="0"/>
        </a:xfrm>
      </p:grpSpPr>
      <p:sp>
        <p:nvSpPr>
          <p:cNvPr id="281" name="Google Shape;281;g3e3a61befe4_62_302"/>
          <p:cNvSpPr txBox="1"/>
          <p:nvPr>
            <p:ph type="title"/>
          </p:nvPr>
        </p:nvSpPr>
        <p:spPr>
          <a:xfrm>
            <a:off x="676275" y="1709738"/>
            <a:ext cx="8544000" cy="28527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2" name="Google Shape;282;g3e3a61befe4_62_302"/>
          <p:cNvSpPr txBox="1"/>
          <p:nvPr>
            <p:ph idx="1" type="body"/>
          </p:nvPr>
        </p:nvSpPr>
        <p:spPr>
          <a:xfrm>
            <a:off x="676275" y="4589463"/>
            <a:ext cx="8544000" cy="15003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283" name="Google Shape;283;g3e3a61befe4_62_302"/>
          <p:cNvSpPr txBox="1"/>
          <p:nvPr>
            <p:ph idx="10" type="dt"/>
          </p:nvPr>
        </p:nvSpPr>
        <p:spPr>
          <a:xfrm>
            <a:off x="681038" y="6356350"/>
            <a:ext cx="2229000" cy="3651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284" name="Google Shape;284;g3e3a61befe4_62_302"/>
          <p:cNvSpPr txBox="1"/>
          <p:nvPr>
            <p:ph idx="11" type="ftr"/>
          </p:nvPr>
        </p:nvSpPr>
        <p:spPr>
          <a:xfrm>
            <a:off x="3281363" y="6356350"/>
            <a:ext cx="3343200" cy="3651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285" name="Google Shape;285;g3e3a61befe4_62_302"/>
          <p:cNvSpPr txBox="1"/>
          <p:nvPr>
            <p:ph idx="12" type="sldNum"/>
          </p:nvPr>
        </p:nvSpPr>
        <p:spPr>
          <a:xfrm>
            <a:off x="6996113" y="6356350"/>
            <a:ext cx="2229000" cy="365100"/>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uas Partes de Conteúdo" type="twoObj">
  <p:cSld name="TWO_OBJECTS">
    <p:spTree>
      <p:nvGrpSpPr>
        <p:cNvPr id="286" name="Shape 286"/>
        <p:cNvGrpSpPr/>
        <p:nvPr/>
      </p:nvGrpSpPr>
      <p:grpSpPr>
        <a:xfrm>
          <a:off x="0" y="0"/>
          <a:ext cx="0" cy="0"/>
          <a:chOff x="0" y="0"/>
          <a:chExt cx="0" cy="0"/>
        </a:xfrm>
      </p:grpSpPr>
      <p:sp>
        <p:nvSpPr>
          <p:cNvPr id="287" name="Google Shape;287;g3e3a61befe4_62_308"/>
          <p:cNvSpPr txBox="1"/>
          <p:nvPr>
            <p:ph type="title"/>
          </p:nvPr>
        </p:nvSpPr>
        <p:spPr>
          <a:xfrm>
            <a:off x="681038" y="365125"/>
            <a:ext cx="85440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8" name="Google Shape;288;g3e3a61befe4_62_308"/>
          <p:cNvSpPr txBox="1"/>
          <p:nvPr>
            <p:ph idx="1" type="body"/>
          </p:nvPr>
        </p:nvSpPr>
        <p:spPr>
          <a:xfrm>
            <a:off x="681038" y="1825625"/>
            <a:ext cx="4195800" cy="43512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9" name="Google Shape;289;g3e3a61befe4_62_308"/>
          <p:cNvSpPr txBox="1"/>
          <p:nvPr>
            <p:ph idx="2" type="body"/>
          </p:nvPr>
        </p:nvSpPr>
        <p:spPr>
          <a:xfrm>
            <a:off x="5029200" y="1825625"/>
            <a:ext cx="4195800" cy="43512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0" name="Google Shape;290;g3e3a61befe4_62_308"/>
          <p:cNvSpPr txBox="1"/>
          <p:nvPr>
            <p:ph idx="10" type="dt"/>
          </p:nvPr>
        </p:nvSpPr>
        <p:spPr>
          <a:xfrm>
            <a:off x="681038" y="6356350"/>
            <a:ext cx="2229000" cy="3651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291" name="Google Shape;291;g3e3a61befe4_62_308"/>
          <p:cNvSpPr txBox="1"/>
          <p:nvPr>
            <p:ph idx="11" type="ftr"/>
          </p:nvPr>
        </p:nvSpPr>
        <p:spPr>
          <a:xfrm>
            <a:off x="3281363" y="6356350"/>
            <a:ext cx="3343200" cy="3651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292" name="Google Shape;292;g3e3a61befe4_62_308"/>
          <p:cNvSpPr txBox="1"/>
          <p:nvPr>
            <p:ph idx="12" type="sldNum"/>
          </p:nvPr>
        </p:nvSpPr>
        <p:spPr>
          <a:xfrm>
            <a:off x="6996113" y="6356350"/>
            <a:ext cx="2229000" cy="365100"/>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ção" type="twoTxTwoObj">
  <p:cSld name="TWO_OBJECTS_WITH_TEXT">
    <p:spTree>
      <p:nvGrpSpPr>
        <p:cNvPr id="293" name="Shape 293"/>
        <p:cNvGrpSpPr/>
        <p:nvPr/>
      </p:nvGrpSpPr>
      <p:grpSpPr>
        <a:xfrm>
          <a:off x="0" y="0"/>
          <a:ext cx="0" cy="0"/>
          <a:chOff x="0" y="0"/>
          <a:chExt cx="0" cy="0"/>
        </a:xfrm>
      </p:grpSpPr>
      <p:sp>
        <p:nvSpPr>
          <p:cNvPr id="294" name="Google Shape;294;g3e3a61befe4_62_315"/>
          <p:cNvSpPr txBox="1"/>
          <p:nvPr>
            <p:ph type="title"/>
          </p:nvPr>
        </p:nvSpPr>
        <p:spPr>
          <a:xfrm>
            <a:off x="682625" y="365125"/>
            <a:ext cx="85440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5" name="Google Shape;295;g3e3a61befe4_62_315"/>
          <p:cNvSpPr txBox="1"/>
          <p:nvPr>
            <p:ph idx="1" type="body"/>
          </p:nvPr>
        </p:nvSpPr>
        <p:spPr>
          <a:xfrm>
            <a:off x="682625" y="1681163"/>
            <a:ext cx="4191000" cy="823800"/>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296" name="Google Shape;296;g3e3a61befe4_62_315"/>
          <p:cNvSpPr txBox="1"/>
          <p:nvPr>
            <p:ph idx="2" type="body"/>
          </p:nvPr>
        </p:nvSpPr>
        <p:spPr>
          <a:xfrm>
            <a:off x="682625" y="2505075"/>
            <a:ext cx="4191000" cy="3684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7" name="Google Shape;297;g3e3a61befe4_62_315"/>
          <p:cNvSpPr txBox="1"/>
          <p:nvPr>
            <p:ph idx="3" type="body"/>
          </p:nvPr>
        </p:nvSpPr>
        <p:spPr>
          <a:xfrm>
            <a:off x="5014913" y="1681163"/>
            <a:ext cx="4211700" cy="823800"/>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298" name="Google Shape;298;g3e3a61befe4_62_315"/>
          <p:cNvSpPr txBox="1"/>
          <p:nvPr>
            <p:ph idx="4" type="body"/>
          </p:nvPr>
        </p:nvSpPr>
        <p:spPr>
          <a:xfrm>
            <a:off x="5014913" y="2505075"/>
            <a:ext cx="4211700" cy="3684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9" name="Google Shape;299;g3e3a61befe4_62_315"/>
          <p:cNvSpPr txBox="1"/>
          <p:nvPr>
            <p:ph idx="10" type="dt"/>
          </p:nvPr>
        </p:nvSpPr>
        <p:spPr>
          <a:xfrm>
            <a:off x="681038" y="6356350"/>
            <a:ext cx="2229000" cy="3651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300" name="Google Shape;300;g3e3a61befe4_62_315"/>
          <p:cNvSpPr txBox="1"/>
          <p:nvPr>
            <p:ph idx="11" type="ftr"/>
          </p:nvPr>
        </p:nvSpPr>
        <p:spPr>
          <a:xfrm>
            <a:off x="3281363" y="6356350"/>
            <a:ext cx="3343200" cy="3651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301" name="Google Shape;301;g3e3a61befe4_62_315"/>
          <p:cNvSpPr txBox="1"/>
          <p:nvPr>
            <p:ph idx="12" type="sldNum"/>
          </p:nvPr>
        </p:nvSpPr>
        <p:spPr>
          <a:xfrm>
            <a:off x="6996113" y="6356350"/>
            <a:ext cx="2229000" cy="365100"/>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mente título" type="titleOnly">
  <p:cSld name="TITLE_ONLY">
    <p:spTree>
      <p:nvGrpSpPr>
        <p:cNvPr id="302" name="Shape 302"/>
        <p:cNvGrpSpPr/>
        <p:nvPr/>
      </p:nvGrpSpPr>
      <p:grpSpPr>
        <a:xfrm>
          <a:off x="0" y="0"/>
          <a:ext cx="0" cy="0"/>
          <a:chOff x="0" y="0"/>
          <a:chExt cx="0" cy="0"/>
        </a:xfrm>
      </p:grpSpPr>
      <p:sp>
        <p:nvSpPr>
          <p:cNvPr id="303" name="Google Shape;303;g3e3a61befe4_62_324"/>
          <p:cNvSpPr txBox="1"/>
          <p:nvPr>
            <p:ph type="title"/>
          </p:nvPr>
        </p:nvSpPr>
        <p:spPr>
          <a:xfrm>
            <a:off x="681038" y="365125"/>
            <a:ext cx="85440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4" name="Google Shape;304;g3e3a61befe4_62_324"/>
          <p:cNvSpPr txBox="1"/>
          <p:nvPr>
            <p:ph idx="10" type="dt"/>
          </p:nvPr>
        </p:nvSpPr>
        <p:spPr>
          <a:xfrm>
            <a:off x="681038" y="6356350"/>
            <a:ext cx="2229000" cy="3651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305" name="Google Shape;305;g3e3a61befe4_62_324"/>
          <p:cNvSpPr txBox="1"/>
          <p:nvPr>
            <p:ph idx="11" type="ftr"/>
          </p:nvPr>
        </p:nvSpPr>
        <p:spPr>
          <a:xfrm>
            <a:off x="3281363" y="6356350"/>
            <a:ext cx="3343200" cy="3651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306" name="Google Shape;306;g3e3a61befe4_62_324"/>
          <p:cNvSpPr txBox="1"/>
          <p:nvPr>
            <p:ph idx="12" type="sldNum"/>
          </p:nvPr>
        </p:nvSpPr>
        <p:spPr>
          <a:xfrm>
            <a:off x="6996113" y="6356350"/>
            <a:ext cx="2229000" cy="365100"/>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m branco" type="blank">
  <p:cSld name="BLANK">
    <p:spTree>
      <p:nvGrpSpPr>
        <p:cNvPr id="307" name="Shape 307"/>
        <p:cNvGrpSpPr/>
        <p:nvPr/>
      </p:nvGrpSpPr>
      <p:grpSpPr>
        <a:xfrm>
          <a:off x="0" y="0"/>
          <a:ext cx="0" cy="0"/>
          <a:chOff x="0" y="0"/>
          <a:chExt cx="0" cy="0"/>
        </a:xfrm>
      </p:grpSpPr>
      <p:sp>
        <p:nvSpPr>
          <p:cNvPr id="308" name="Google Shape;308;g3e3a61befe4_62_329"/>
          <p:cNvSpPr txBox="1"/>
          <p:nvPr>
            <p:ph idx="10" type="dt"/>
          </p:nvPr>
        </p:nvSpPr>
        <p:spPr>
          <a:xfrm>
            <a:off x="681038" y="6356350"/>
            <a:ext cx="2229000" cy="3651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309" name="Google Shape;309;g3e3a61befe4_62_329"/>
          <p:cNvSpPr txBox="1"/>
          <p:nvPr>
            <p:ph idx="11" type="ftr"/>
          </p:nvPr>
        </p:nvSpPr>
        <p:spPr>
          <a:xfrm>
            <a:off x="3281363" y="6356350"/>
            <a:ext cx="3343200" cy="3651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310" name="Google Shape;310;g3e3a61befe4_62_329"/>
          <p:cNvSpPr txBox="1"/>
          <p:nvPr>
            <p:ph idx="12" type="sldNum"/>
          </p:nvPr>
        </p:nvSpPr>
        <p:spPr>
          <a:xfrm>
            <a:off x="6996113" y="6356350"/>
            <a:ext cx="2229000" cy="365100"/>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údo com Legenda" type="objTx">
  <p:cSld name="OBJECT_WITH_CAPTION_TEXT">
    <p:spTree>
      <p:nvGrpSpPr>
        <p:cNvPr id="311" name="Shape 311"/>
        <p:cNvGrpSpPr/>
        <p:nvPr/>
      </p:nvGrpSpPr>
      <p:grpSpPr>
        <a:xfrm>
          <a:off x="0" y="0"/>
          <a:ext cx="0" cy="0"/>
          <a:chOff x="0" y="0"/>
          <a:chExt cx="0" cy="0"/>
        </a:xfrm>
      </p:grpSpPr>
      <p:sp>
        <p:nvSpPr>
          <p:cNvPr id="312" name="Google Shape;312;g3e3a61befe4_62_333"/>
          <p:cNvSpPr txBox="1"/>
          <p:nvPr>
            <p:ph type="title"/>
          </p:nvPr>
        </p:nvSpPr>
        <p:spPr>
          <a:xfrm>
            <a:off x="682625" y="457200"/>
            <a:ext cx="3194100"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3" name="Google Shape;313;g3e3a61befe4_62_333"/>
          <p:cNvSpPr txBox="1"/>
          <p:nvPr>
            <p:ph idx="1" type="body"/>
          </p:nvPr>
        </p:nvSpPr>
        <p:spPr>
          <a:xfrm>
            <a:off x="4211638" y="987425"/>
            <a:ext cx="5014800" cy="4873500"/>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314" name="Google Shape;314;g3e3a61befe4_62_333"/>
          <p:cNvSpPr txBox="1"/>
          <p:nvPr>
            <p:ph idx="2" type="body"/>
          </p:nvPr>
        </p:nvSpPr>
        <p:spPr>
          <a:xfrm>
            <a:off x="682625" y="2057400"/>
            <a:ext cx="3194100" cy="38115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315" name="Google Shape;315;g3e3a61befe4_62_333"/>
          <p:cNvSpPr txBox="1"/>
          <p:nvPr>
            <p:ph idx="10" type="dt"/>
          </p:nvPr>
        </p:nvSpPr>
        <p:spPr>
          <a:xfrm>
            <a:off x="681038" y="6356350"/>
            <a:ext cx="2229000" cy="3651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316" name="Google Shape;316;g3e3a61befe4_62_333"/>
          <p:cNvSpPr txBox="1"/>
          <p:nvPr>
            <p:ph idx="11" type="ftr"/>
          </p:nvPr>
        </p:nvSpPr>
        <p:spPr>
          <a:xfrm>
            <a:off x="3281363" y="6356350"/>
            <a:ext cx="3343200" cy="3651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317" name="Google Shape;317;g3e3a61befe4_62_333"/>
          <p:cNvSpPr txBox="1"/>
          <p:nvPr>
            <p:ph idx="12" type="sldNum"/>
          </p:nvPr>
        </p:nvSpPr>
        <p:spPr>
          <a:xfrm>
            <a:off x="6996113" y="6356350"/>
            <a:ext cx="2229000" cy="365100"/>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m com Legenda" type="picTx">
  <p:cSld name="PICTURE_WITH_CAPTION_TEXT">
    <p:spTree>
      <p:nvGrpSpPr>
        <p:cNvPr id="318" name="Shape 318"/>
        <p:cNvGrpSpPr/>
        <p:nvPr/>
      </p:nvGrpSpPr>
      <p:grpSpPr>
        <a:xfrm>
          <a:off x="0" y="0"/>
          <a:ext cx="0" cy="0"/>
          <a:chOff x="0" y="0"/>
          <a:chExt cx="0" cy="0"/>
        </a:xfrm>
      </p:grpSpPr>
      <p:sp>
        <p:nvSpPr>
          <p:cNvPr id="319" name="Google Shape;319;g3e3a61befe4_62_340"/>
          <p:cNvSpPr txBox="1"/>
          <p:nvPr>
            <p:ph type="title"/>
          </p:nvPr>
        </p:nvSpPr>
        <p:spPr>
          <a:xfrm>
            <a:off x="682625" y="457200"/>
            <a:ext cx="3194100"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0" name="Google Shape;320;g3e3a61befe4_62_340"/>
          <p:cNvSpPr/>
          <p:nvPr>
            <p:ph idx="2" type="pic"/>
          </p:nvPr>
        </p:nvSpPr>
        <p:spPr>
          <a:xfrm>
            <a:off x="4211638" y="987425"/>
            <a:ext cx="5014800" cy="4873500"/>
          </a:xfrm>
          <a:prstGeom prst="rect">
            <a:avLst/>
          </a:prstGeom>
          <a:noFill/>
          <a:ln>
            <a:noFill/>
          </a:ln>
        </p:spPr>
      </p:sp>
      <p:sp>
        <p:nvSpPr>
          <p:cNvPr id="321" name="Google Shape;321;g3e3a61befe4_62_340"/>
          <p:cNvSpPr txBox="1"/>
          <p:nvPr>
            <p:ph idx="1" type="body"/>
          </p:nvPr>
        </p:nvSpPr>
        <p:spPr>
          <a:xfrm>
            <a:off x="682625" y="2057400"/>
            <a:ext cx="3194100" cy="38115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322" name="Google Shape;322;g3e3a61befe4_62_340"/>
          <p:cNvSpPr txBox="1"/>
          <p:nvPr>
            <p:ph idx="10" type="dt"/>
          </p:nvPr>
        </p:nvSpPr>
        <p:spPr>
          <a:xfrm>
            <a:off x="681038" y="6356350"/>
            <a:ext cx="2229000" cy="3651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323" name="Google Shape;323;g3e3a61befe4_62_340"/>
          <p:cNvSpPr txBox="1"/>
          <p:nvPr>
            <p:ph idx="11" type="ftr"/>
          </p:nvPr>
        </p:nvSpPr>
        <p:spPr>
          <a:xfrm>
            <a:off x="3281363" y="6356350"/>
            <a:ext cx="3343200" cy="3651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324" name="Google Shape;324;g3e3a61befe4_62_340"/>
          <p:cNvSpPr txBox="1"/>
          <p:nvPr>
            <p:ph idx="12" type="sldNum"/>
          </p:nvPr>
        </p:nvSpPr>
        <p:spPr>
          <a:xfrm>
            <a:off x="6996113" y="6356350"/>
            <a:ext cx="2229000" cy="365100"/>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e texto vertical" type="vertTx">
  <p:cSld name="VERTICAL_TEXT">
    <p:spTree>
      <p:nvGrpSpPr>
        <p:cNvPr id="325" name="Shape 325"/>
        <p:cNvGrpSpPr/>
        <p:nvPr/>
      </p:nvGrpSpPr>
      <p:grpSpPr>
        <a:xfrm>
          <a:off x="0" y="0"/>
          <a:ext cx="0" cy="0"/>
          <a:chOff x="0" y="0"/>
          <a:chExt cx="0" cy="0"/>
        </a:xfrm>
      </p:grpSpPr>
      <p:sp>
        <p:nvSpPr>
          <p:cNvPr id="326" name="Google Shape;326;g3e3a61befe4_62_347"/>
          <p:cNvSpPr txBox="1"/>
          <p:nvPr>
            <p:ph type="title"/>
          </p:nvPr>
        </p:nvSpPr>
        <p:spPr>
          <a:xfrm>
            <a:off x="681038" y="365125"/>
            <a:ext cx="85440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7" name="Google Shape;327;g3e3a61befe4_62_347"/>
          <p:cNvSpPr txBox="1"/>
          <p:nvPr>
            <p:ph idx="1" type="body"/>
          </p:nvPr>
        </p:nvSpPr>
        <p:spPr>
          <a:xfrm rot="5400000">
            <a:off x="2777363" y="-270775"/>
            <a:ext cx="4351200" cy="85440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8" name="Google Shape;328;g3e3a61befe4_62_347"/>
          <p:cNvSpPr txBox="1"/>
          <p:nvPr>
            <p:ph idx="10" type="dt"/>
          </p:nvPr>
        </p:nvSpPr>
        <p:spPr>
          <a:xfrm>
            <a:off x="681038" y="6356350"/>
            <a:ext cx="2229000" cy="3651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329" name="Google Shape;329;g3e3a61befe4_62_347"/>
          <p:cNvSpPr txBox="1"/>
          <p:nvPr>
            <p:ph idx="11" type="ftr"/>
          </p:nvPr>
        </p:nvSpPr>
        <p:spPr>
          <a:xfrm>
            <a:off x="3281363" y="6356350"/>
            <a:ext cx="3343200" cy="3651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330" name="Google Shape;330;g3e3a61befe4_62_347"/>
          <p:cNvSpPr txBox="1"/>
          <p:nvPr>
            <p:ph idx="12" type="sldNum"/>
          </p:nvPr>
        </p:nvSpPr>
        <p:spPr>
          <a:xfrm>
            <a:off x="6996113" y="6356350"/>
            <a:ext cx="2229000" cy="365100"/>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e texto verticais" type="vertTitleAndTx">
  <p:cSld name="VERTICAL_TITLE_AND_VERTICAL_TEXT">
    <p:spTree>
      <p:nvGrpSpPr>
        <p:cNvPr id="331" name="Shape 331"/>
        <p:cNvGrpSpPr/>
        <p:nvPr/>
      </p:nvGrpSpPr>
      <p:grpSpPr>
        <a:xfrm>
          <a:off x="0" y="0"/>
          <a:ext cx="0" cy="0"/>
          <a:chOff x="0" y="0"/>
          <a:chExt cx="0" cy="0"/>
        </a:xfrm>
      </p:grpSpPr>
      <p:sp>
        <p:nvSpPr>
          <p:cNvPr id="332" name="Google Shape;332;g3e3a61befe4_62_353"/>
          <p:cNvSpPr txBox="1"/>
          <p:nvPr>
            <p:ph type="title"/>
          </p:nvPr>
        </p:nvSpPr>
        <p:spPr>
          <a:xfrm rot="5400000">
            <a:off x="5251463" y="2203525"/>
            <a:ext cx="5811900" cy="21351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3" name="Google Shape;333;g3e3a61befe4_62_353"/>
          <p:cNvSpPr txBox="1"/>
          <p:nvPr>
            <p:ph idx="1" type="body"/>
          </p:nvPr>
        </p:nvSpPr>
        <p:spPr>
          <a:xfrm rot="5400000">
            <a:off x="903325" y="142975"/>
            <a:ext cx="5811900" cy="62562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4" name="Google Shape;334;g3e3a61befe4_62_353"/>
          <p:cNvSpPr txBox="1"/>
          <p:nvPr>
            <p:ph idx="10" type="dt"/>
          </p:nvPr>
        </p:nvSpPr>
        <p:spPr>
          <a:xfrm>
            <a:off x="681038" y="6356350"/>
            <a:ext cx="2229000" cy="3651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335" name="Google Shape;335;g3e3a61befe4_62_353"/>
          <p:cNvSpPr txBox="1"/>
          <p:nvPr>
            <p:ph idx="11" type="ftr"/>
          </p:nvPr>
        </p:nvSpPr>
        <p:spPr>
          <a:xfrm>
            <a:off x="3281363" y="6356350"/>
            <a:ext cx="3343200" cy="3651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336" name="Google Shape;336;g3e3a61befe4_62_353"/>
          <p:cNvSpPr txBox="1"/>
          <p:nvPr>
            <p:ph idx="12" type="sldNum"/>
          </p:nvPr>
        </p:nvSpPr>
        <p:spPr>
          <a:xfrm>
            <a:off x="6996113" y="6356350"/>
            <a:ext cx="2229000" cy="365100"/>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tx">
  <p:cSld name="TITLE_AND_BODY">
    <p:spTree>
      <p:nvGrpSpPr>
        <p:cNvPr id="337" name="Shape 337"/>
        <p:cNvGrpSpPr/>
        <p:nvPr/>
      </p:nvGrpSpPr>
      <p:grpSpPr>
        <a:xfrm>
          <a:off x="0" y="0"/>
          <a:ext cx="0" cy="0"/>
          <a:chOff x="0" y="0"/>
          <a:chExt cx="0" cy="0"/>
        </a:xfrm>
      </p:grpSpPr>
      <p:sp>
        <p:nvSpPr>
          <p:cNvPr id="338" name="Google Shape;338;g3e3a61befe4_62_359"/>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itar o Cartão de Nome">
  <p:cSld name="Citar o Cartão de Nome">
    <p:spTree>
      <p:nvGrpSpPr>
        <p:cNvPr id="339" name="Shape 339"/>
        <p:cNvGrpSpPr/>
        <p:nvPr/>
      </p:nvGrpSpPr>
      <p:grpSpPr>
        <a:xfrm>
          <a:off x="0" y="0"/>
          <a:ext cx="0" cy="0"/>
          <a:chOff x="0" y="0"/>
          <a:chExt cx="0" cy="0"/>
        </a:xfrm>
      </p:grpSpPr>
      <p:sp>
        <p:nvSpPr>
          <p:cNvPr id="340" name="Google Shape;340;g3e3a61befe4_62_361"/>
          <p:cNvSpPr txBox="1"/>
          <p:nvPr>
            <p:ph type="title"/>
          </p:nvPr>
        </p:nvSpPr>
        <p:spPr>
          <a:xfrm>
            <a:off x="839458" y="609600"/>
            <a:ext cx="8091900" cy="30225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4400"/>
              <a:buFont typeface="Calibri"/>
              <a:buNone/>
              <a:defRPr b="0" sz="44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1" name="Google Shape;341;g3e3a61befe4_62_361"/>
          <p:cNvSpPr txBox="1"/>
          <p:nvPr>
            <p:ph idx="1" type="body"/>
          </p:nvPr>
        </p:nvSpPr>
        <p:spPr>
          <a:xfrm>
            <a:off x="660396" y="4013200"/>
            <a:ext cx="8459100" cy="514200"/>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rgbClr val="3F3F3F"/>
              </a:buClr>
              <a:buSzPts val="2400"/>
              <a:buFont typeface="Calibri"/>
              <a:buNone/>
              <a:defRPr sz="2400">
                <a:solidFill>
                  <a:srgbClr val="3F3F3F"/>
                </a:solidFill>
              </a:defRPr>
            </a:lvl1pPr>
            <a:lvl2pPr indent="-228600" lvl="1" marL="914400" algn="l">
              <a:lnSpc>
                <a:spcPct val="90000"/>
              </a:lnSpc>
              <a:spcBef>
                <a:spcPts val="500"/>
              </a:spcBef>
              <a:spcAft>
                <a:spcPts val="0"/>
              </a:spcAft>
              <a:buClr>
                <a:schemeClr val="dk1"/>
              </a:buClr>
              <a:buSzPts val="2400"/>
              <a:buFont typeface="Calibri"/>
              <a:buNone/>
              <a:defRPr/>
            </a:lvl2pPr>
            <a:lvl3pPr indent="-228600" lvl="2" marL="1371600" algn="l">
              <a:lnSpc>
                <a:spcPct val="90000"/>
              </a:lnSpc>
              <a:spcBef>
                <a:spcPts val="500"/>
              </a:spcBef>
              <a:spcAft>
                <a:spcPts val="0"/>
              </a:spcAft>
              <a:buClr>
                <a:schemeClr val="dk1"/>
              </a:buClr>
              <a:buSzPts val="2000"/>
              <a:buFont typeface="Calibri"/>
              <a:buNone/>
              <a:defRPr/>
            </a:lvl3pPr>
            <a:lvl4pPr indent="-228600" lvl="3" marL="1828800" algn="l">
              <a:lnSpc>
                <a:spcPct val="90000"/>
              </a:lnSpc>
              <a:spcBef>
                <a:spcPts val="500"/>
              </a:spcBef>
              <a:spcAft>
                <a:spcPts val="0"/>
              </a:spcAft>
              <a:buClr>
                <a:schemeClr val="dk1"/>
              </a:buClr>
              <a:buSzPts val="1800"/>
              <a:buFont typeface="Calibri"/>
              <a:buNone/>
              <a:defRPr/>
            </a:lvl4pPr>
            <a:lvl5pPr indent="-228600" lvl="4" marL="2286000" algn="l">
              <a:lnSpc>
                <a:spcPct val="90000"/>
              </a:lnSpc>
              <a:spcBef>
                <a:spcPts val="500"/>
              </a:spcBef>
              <a:spcAft>
                <a:spcPts val="0"/>
              </a:spcAft>
              <a:buClr>
                <a:schemeClr val="dk1"/>
              </a:buClr>
              <a:buSzPts val="1800"/>
              <a:buFont typeface="Calibri"/>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42" name="Google Shape;342;g3e3a61befe4_62_361"/>
          <p:cNvSpPr txBox="1"/>
          <p:nvPr>
            <p:ph idx="2" type="body"/>
          </p:nvPr>
        </p:nvSpPr>
        <p:spPr>
          <a:xfrm>
            <a:off x="660398" y="4527448"/>
            <a:ext cx="8459100" cy="15138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7F7F7F"/>
              </a:buClr>
              <a:buSzPts val="1800"/>
              <a:buNone/>
              <a:defRPr sz="1800">
                <a:solidFill>
                  <a:srgbClr val="7F7F7F"/>
                </a:solidFill>
              </a:defRPr>
            </a:lvl1pPr>
            <a:lvl2pPr indent="-228600" lvl="1" marL="914400" algn="l">
              <a:lnSpc>
                <a:spcPct val="90000"/>
              </a:lnSpc>
              <a:spcBef>
                <a:spcPts val="500"/>
              </a:spcBef>
              <a:spcAft>
                <a:spcPts val="0"/>
              </a:spcAft>
              <a:buClr>
                <a:srgbClr val="888888"/>
              </a:buClr>
              <a:buSzPts val="1800"/>
              <a:buNone/>
              <a:defRPr sz="1800">
                <a:solidFill>
                  <a:srgbClr val="888888"/>
                </a:solidFill>
              </a:defRPr>
            </a:lvl2pPr>
            <a:lvl3pPr indent="-228600" lvl="2" marL="1371600" algn="l">
              <a:lnSpc>
                <a:spcPct val="90000"/>
              </a:lnSpc>
              <a:spcBef>
                <a:spcPts val="500"/>
              </a:spcBef>
              <a:spcAft>
                <a:spcPts val="0"/>
              </a:spcAft>
              <a:buClr>
                <a:srgbClr val="888888"/>
              </a:buClr>
              <a:buSzPts val="1600"/>
              <a:buNone/>
              <a:defRPr sz="1600">
                <a:solidFill>
                  <a:srgbClr val="888888"/>
                </a:solidFill>
              </a:defRPr>
            </a:lvl3pPr>
            <a:lvl4pPr indent="-228600" lvl="3" marL="1828800" algn="l">
              <a:lnSpc>
                <a:spcPct val="90000"/>
              </a:lnSpc>
              <a:spcBef>
                <a:spcPts val="500"/>
              </a:spcBef>
              <a:spcAft>
                <a:spcPts val="0"/>
              </a:spcAft>
              <a:buClr>
                <a:srgbClr val="888888"/>
              </a:buClr>
              <a:buSzPts val="1400"/>
              <a:buNone/>
              <a:defRPr sz="1400">
                <a:solidFill>
                  <a:srgbClr val="888888"/>
                </a:solidFill>
              </a:defRPr>
            </a:lvl4pPr>
            <a:lvl5pPr indent="-228600" lvl="4" marL="2286000" algn="l">
              <a:lnSpc>
                <a:spcPct val="90000"/>
              </a:lnSpc>
              <a:spcBef>
                <a:spcPts val="500"/>
              </a:spcBef>
              <a:spcAft>
                <a:spcPts val="0"/>
              </a:spcAft>
              <a:buClr>
                <a:srgbClr val="888888"/>
              </a:buClr>
              <a:buSzPts val="1400"/>
              <a:buNone/>
              <a:defRPr sz="1400">
                <a:solidFill>
                  <a:srgbClr val="888888"/>
                </a:solidFill>
              </a:defRPr>
            </a:lvl5pPr>
            <a:lvl6pPr indent="-228600" lvl="5" marL="2743200" algn="l">
              <a:lnSpc>
                <a:spcPct val="90000"/>
              </a:lnSpc>
              <a:spcBef>
                <a:spcPts val="500"/>
              </a:spcBef>
              <a:spcAft>
                <a:spcPts val="0"/>
              </a:spcAft>
              <a:buClr>
                <a:srgbClr val="888888"/>
              </a:buClr>
              <a:buSzPts val="1400"/>
              <a:buNone/>
              <a:defRPr sz="1400">
                <a:solidFill>
                  <a:srgbClr val="888888"/>
                </a:solidFill>
              </a:defRPr>
            </a:lvl6pPr>
            <a:lvl7pPr indent="-228600" lvl="6" marL="3200400" algn="l">
              <a:lnSpc>
                <a:spcPct val="90000"/>
              </a:lnSpc>
              <a:spcBef>
                <a:spcPts val="500"/>
              </a:spcBef>
              <a:spcAft>
                <a:spcPts val="0"/>
              </a:spcAft>
              <a:buClr>
                <a:srgbClr val="888888"/>
              </a:buClr>
              <a:buSzPts val="1400"/>
              <a:buNone/>
              <a:defRPr sz="1400">
                <a:solidFill>
                  <a:srgbClr val="888888"/>
                </a:solidFill>
              </a:defRPr>
            </a:lvl7pPr>
            <a:lvl8pPr indent="-228600" lvl="7" marL="3657600" algn="l">
              <a:lnSpc>
                <a:spcPct val="90000"/>
              </a:lnSpc>
              <a:spcBef>
                <a:spcPts val="500"/>
              </a:spcBef>
              <a:spcAft>
                <a:spcPts val="0"/>
              </a:spcAft>
              <a:buClr>
                <a:srgbClr val="888888"/>
              </a:buClr>
              <a:buSzPts val="1400"/>
              <a:buNone/>
              <a:defRPr sz="1400">
                <a:solidFill>
                  <a:srgbClr val="888888"/>
                </a:solidFill>
              </a:defRPr>
            </a:lvl8pPr>
            <a:lvl9pPr indent="-228600" lvl="8" marL="4114800" algn="l">
              <a:lnSpc>
                <a:spcPct val="90000"/>
              </a:lnSpc>
              <a:spcBef>
                <a:spcPts val="500"/>
              </a:spcBef>
              <a:spcAft>
                <a:spcPts val="0"/>
              </a:spcAft>
              <a:buClr>
                <a:srgbClr val="888888"/>
              </a:buClr>
              <a:buSzPts val="1400"/>
              <a:buNone/>
              <a:defRPr sz="1400">
                <a:solidFill>
                  <a:srgbClr val="888888"/>
                </a:solidFill>
              </a:defRPr>
            </a:lvl9pPr>
          </a:lstStyle>
          <a:p/>
        </p:txBody>
      </p:sp>
      <p:sp>
        <p:nvSpPr>
          <p:cNvPr id="343" name="Google Shape;343;g3e3a61befe4_62_361"/>
          <p:cNvSpPr txBox="1"/>
          <p:nvPr/>
        </p:nvSpPr>
        <p:spPr>
          <a:xfrm>
            <a:off x="364926" y="764704"/>
            <a:ext cx="495300" cy="584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8000"/>
              <a:buFont typeface="Arial"/>
              <a:buNone/>
            </a:pPr>
            <a:r>
              <a:rPr b="0" i="0" lang="en-US" sz="8000" u="none" cap="none" strike="noStrike">
                <a:solidFill>
                  <a:srgbClr val="9CC2E5"/>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344" name="Google Shape;344;g3e3a61befe4_62_361"/>
          <p:cNvSpPr txBox="1"/>
          <p:nvPr/>
        </p:nvSpPr>
        <p:spPr>
          <a:xfrm>
            <a:off x="8931441" y="3463688"/>
            <a:ext cx="495300" cy="584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8000"/>
              <a:buFont typeface="Arial"/>
              <a:buNone/>
            </a:pPr>
            <a:r>
              <a:rPr b="0" i="0" lang="en-US" sz="8000" u="none" cap="none" strike="noStrike">
                <a:solidFill>
                  <a:srgbClr val="9CC2E5"/>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pic>
        <p:nvPicPr>
          <p:cNvPr id="345" name="Google Shape;345;g3e3a61befe4_62_361"/>
          <p:cNvPicPr preferRelativeResize="0"/>
          <p:nvPr/>
        </p:nvPicPr>
        <p:blipFill rotWithShape="1">
          <a:blip r:embed="rId2">
            <a:alphaModFix/>
          </a:blip>
          <a:srcRect b="0" l="0" r="0" t="0"/>
          <a:stretch/>
        </p:blipFill>
        <p:spPr>
          <a:xfrm>
            <a:off x="162847" y="6223924"/>
            <a:ext cx="995104" cy="470760"/>
          </a:xfrm>
          <a:prstGeom prst="rect">
            <a:avLst/>
          </a:prstGeom>
          <a:noFill/>
          <a:ln>
            <a:noFill/>
          </a:ln>
        </p:spPr>
      </p:pic>
      <p:sp>
        <p:nvSpPr>
          <p:cNvPr id="346" name="Google Shape;346;g3e3a61befe4_62_361"/>
          <p:cNvSpPr txBox="1"/>
          <p:nvPr>
            <p:ph idx="12" type="sldNum"/>
          </p:nvPr>
        </p:nvSpPr>
        <p:spPr>
          <a:xfrm>
            <a:off x="9269849" y="6333134"/>
            <a:ext cx="594300" cy="525000"/>
          </a:xfrm>
          <a:prstGeom prst="rect">
            <a:avLst/>
          </a:prstGeom>
        </p:spPr>
        <p:txBody>
          <a:bodyPr anchorCtr="0" anchor="t" bIns="91425" lIns="91425" spcFirstLastPara="1" rIns="91425" wrap="square" tIns="91425">
            <a:noAutofit/>
          </a:bodyPr>
          <a:lstStyle>
            <a:lvl1pPr lvl="0">
              <a:buNone/>
              <a:defRPr>
                <a:solidFill>
                  <a:srgbClr val="3F3F3F"/>
                </a:solidFill>
              </a:defRPr>
            </a:lvl1pPr>
            <a:lvl2pPr lvl="1">
              <a:buNone/>
              <a:defRPr>
                <a:solidFill>
                  <a:srgbClr val="3F3F3F"/>
                </a:solidFill>
              </a:defRPr>
            </a:lvl2pPr>
            <a:lvl3pPr lvl="2">
              <a:buNone/>
              <a:defRPr>
                <a:solidFill>
                  <a:srgbClr val="3F3F3F"/>
                </a:solidFill>
              </a:defRPr>
            </a:lvl3pPr>
            <a:lvl4pPr lvl="3">
              <a:buNone/>
              <a:defRPr>
                <a:solidFill>
                  <a:srgbClr val="3F3F3F"/>
                </a:solidFill>
              </a:defRPr>
            </a:lvl4pPr>
            <a:lvl5pPr lvl="4">
              <a:buNone/>
              <a:defRPr>
                <a:solidFill>
                  <a:srgbClr val="3F3F3F"/>
                </a:solidFill>
              </a:defRPr>
            </a:lvl5pPr>
            <a:lvl6pPr lvl="5">
              <a:buNone/>
              <a:defRPr>
                <a:solidFill>
                  <a:srgbClr val="3F3F3F"/>
                </a:solidFill>
              </a:defRPr>
            </a:lvl6pPr>
            <a:lvl7pPr lvl="6">
              <a:buNone/>
              <a:defRPr>
                <a:solidFill>
                  <a:srgbClr val="3F3F3F"/>
                </a:solidFill>
              </a:defRPr>
            </a:lvl7pPr>
            <a:lvl8pPr lvl="7">
              <a:buNone/>
              <a:defRPr>
                <a:solidFill>
                  <a:srgbClr val="3F3F3F"/>
                </a:solidFill>
              </a:defRPr>
            </a:lvl8pPr>
            <a:lvl9pPr lvl="8">
              <a:buNone/>
              <a:defRPr>
                <a:solidFill>
                  <a:srgbClr val="3F3F3F"/>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ítulo e conteúdo 1">
  <p:cSld name="1_Título e conteúdo (g3e387427cbb_143_0)">
    <p:bg>
      <p:bgPr>
        <a:blipFill>
          <a:blip r:embed="rId2">
            <a:alphaModFix/>
          </a:blip>
          <a:stretch>
            <a:fillRect/>
          </a:stretch>
        </a:blipFill>
      </p:bgPr>
    </p:bg>
    <p:spTree>
      <p:nvGrpSpPr>
        <p:cNvPr id="347" name="Shape 347"/>
        <p:cNvGrpSpPr/>
        <p:nvPr/>
      </p:nvGrpSpPr>
      <p:grpSpPr>
        <a:xfrm>
          <a:off x="0" y="0"/>
          <a:ext cx="0" cy="0"/>
          <a:chOff x="0" y="0"/>
          <a:chExt cx="0" cy="0"/>
        </a:xfrm>
      </p:grpSpPr>
      <p:sp>
        <p:nvSpPr>
          <p:cNvPr id="348" name="Google Shape;348;g3e3a61befe4_62_540"/>
          <p:cNvSpPr txBox="1"/>
          <p:nvPr>
            <p:ph type="title"/>
          </p:nvPr>
        </p:nvSpPr>
        <p:spPr>
          <a:xfrm>
            <a:off x="488503" y="356138"/>
            <a:ext cx="9000900" cy="624600"/>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rgbClr val="1E4E79"/>
              </a:buClr>
              <a:buSzPts val="4000"/>
              <a:buFont typeface="Arial"/>
              <a:buNone/>
              <a:defRPr b="1" sz="4000">
                <a:solidFill>
                  <a:srgbClr val="1E4E79"/>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9" name="Google Shape;349;g3e3a61befe4_62_540"/>
          <p:cNvSpPr txBox="1"/>
          <p:nvPr>
            <p:ph idx="10" type="dt"/>
          </p:nvPr>
        </p:nvSpPr>
        <p:spPr>
          <a:xfrm>
            <a:off x="681038" y="6356350"/>
            <a:ext cx="2229000" cy="365100"/>
          </a:xfrm>
          <a:prstGeom prst="rect">
            <a:avLst/>
          </a:prstGeom>
          <a:noFill/>
          <a:ln>
            <a:noFill/>
          </a:ln>
        </p:spPr>
        <p:txBody>
          <a:bodyPr anchorCtr="0" anchor="ctr" bIns="45700" lIns="91425" spcFirstLastPara="1" rIns="91425" wrap="square" tIns="45700">
            <a:noAutofit/>
          </a:bodyPr>
          <a:lstStyle>
            <a:lvl1pPr lvl="0" marR="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350" name="Google Shape;350;g3e3a61befe4_62_540"/>
          <p:cNvSpPr txBox="1"/>
          <p:nvPr>
            <p:ph idx="11" type="ftr"/>
          </p:nvPr>
        </p:nvSpPr>
        <p:spPr>
          <a:xfrm>
            <a:off x="3281363" y="6356350"/>
            <a:ext cx="3343200" cy="365100"/>
          </a:xfrm>
          <a:prstGeom prst="rect">
            <a:avLst/>
          </a:prstGeom>
          <a:noFill/>
          <a:ln>
            <a:noFill/>
          </a:ln>
        </p:spPr>
        <p:txBody>
          <a:bodyPr anchorCtr="0" anchor="ctr" bIns="45700" lIns="91425" spcFirstLastPara="1" rIns="91425" wrap="square" tIns="45700">
            <a:noAutofit/>
          </a:bodyPr>
          <a:lstStyle>
            <a:lvl1pPr lvl="0" marR="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351" name="Google Shape;351;g3e3a61befe4_62_540"/>
          <p:cNvSpPr txBox="1"/>
          <p:nvPr>
            <p:ph idx="12" type="sldNum"/>
          </p:nvPr>
        </p:nvSpPr>
        <p:spPr>
          <a:xfrm>
            <a:off x="6996113" y="6356350"/>
            <a:ext cx="22290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ítulo e conteúdo 1 1">
  <p:cSld name="1_Título e conteúdo (g3e36394e788_7_0)">
    <p:bg>
      <p:bgPr>
        <a:blipFill>
          <a:blip r:embed="rId2">
            <a:alphaModFix/>
          </a:blip>
          <a:stretch>
            <a:fillRect/>
          </a:stretch>
        </a:blipFill>
      </p:bgPr>
    </p:bg>
    <p:spTree>
      <p:nvGrpSpPr>
        <p:cNvPr id="352" name="Shape 352"/>
        <p:cNvGrpSpPr/>
        <p:nvPr/>
      </p:nvGrpSpPr>
      <p:grpSpPr>
        <a:xfrm>
          <a:off x="0" y="0"/>
          <a:ext cx="0" cy="0"/>
          <a:chOff x="0" y="0"/>
          <a:chExt cx="0" cy="0"/>
        </a:xfrm>
      </p:grpSpPr>
      <p:sp>
        <p:nvSpPr>
          <p:cNvPr id="353" name="Google Shape;353;g3e3a61befe4_62_545"/>
          <p:cNvSpPr txBox="1"/>
          <p:nvPr>
            <p:ph type="title"/>
          </p:nvPr>
        </p:nvSpPr>
        <p:spPr>
          <a:xfrm>
            <a:off x="488503" y="356138"/>
            <a:ext cx="9000900" cy="624600"/>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rgbClr val="1E4E79"/>
              </a:buClr>
              <a:buSzPts val="4000"/>
              <a:buFont typeface="Arial"/>
              <a:buNone/>
              <a:defRPr b="1" sz="4000">
                <a:solidFill>
                  <a:srgbClr val="1E4E79"/>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4" name="Google Shape;354;g3e3a61befe4_62_545"/>
          <p:cNvSpPr txBox="1"/>
          <p:nvPr>
            <p:ph idx="10" type="dt"/>
          </p:nvPr>
        </p:nvSpPr>
        <p:spPr>
          <a:xfrm>
            <a:off x="681038" y="6356350"/>
            <a:ext cx="2229000" cy="365100"/>
          </a:xfrm>
          <a:prstGeom prst="rect">
            <a:avLst/>
          </a:prstGeom>
          <a:noFill/>
          <a:ln>
            <a:noFill/>
          </a:ln>
        </p:spPr>
        <p:txBody>
          <a:bodyPr anchorCtr="0" anchor="ctr" bIns="45700" lIns="91425" spcFirstLastPara="1" rIns="91425" wrap="square" tIns="45700">
            <a:noAutofit/>
          </a:bodyPr>
          <a:lstStyle>
            <a:lvl1pPr lvl="0" marR="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355" name="Google Shape;355;g3e3a61befe4_62_545"/>
          <p:cNvSpPr txBox="1"/>
          <p:nvPr>
            <p:ph idx="11" type="ftr"/>
          </p:nvPr>
        </p:nvSpPr>
        <p:spPr>
          <a:xfrm>
            <a:off x="3281363" y="6356350"/>
            <a:ext cx="3343200" cy="365100"/>
          </a:xfrm>
          <a:prstGeom prst="rect">
            <a:avLst/>
          </a:prstGeom>
          <a:noFill/>
          <a:ln>
            <a:noFill/>
          </a:ln>
        </p:spPr>
        <p:txBody>
          <a:bodyPr anchorCtr="0" anchor="ctr" bIns="45700" lIns="91425" spcFirstLastPara="1" rIns="91425" wrap="square" tIns="45700">
            <a:noAutofit/>
          </a:bodyPr>
          <a:lstStyle>
            <a:lvl1pPr lvl="0" marR="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356" name="Google Shape;356;g3e3a61befe4_62_545"/>
          <p:cNvSpPr txBox="1"/>
          <p:nvPr>
            <p:ph idx="12" type="sldNum"/>
          </p:nvPr>
        </p:nvSpPr>
        <p:spPr>
          <a:xfrm>
            <a:off x="6996113" y="6356350"/>
            <a:ext cx="22290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ítulo e conteúdo 1 1 1">
  <p:cSld name="1_Título e conteúdo (g3e13fc1c4a0_26_0)">
    <p:bg>
      <p:bgPr>
        <a:blipFill>
          <a:blip r:embed="rId2">
            <a:alphaModFix/>
          </a:blip>
          <a:stretch>
            <a:fillRect/>
          </a:stretch>
        </a:blipFill>
      </p:bgPr>
    </p:bg>
    <p:spTree>
      <p:nvGrpSpPr>
        <p:cNvPr id="357" name="Shape 357"/>
        <p:cNvGrpSpPr/>
        <p:nvPr/>
      </p:nvGrpSpPr>
      <p:grpSpPr>
        <a:xfrm>
          <a:off x="0" y="0"/>
          <a:ext cx="0" cy="0"/>
          <a:chOff x="0" y="0"/>
          <a:chExt cx="0" cy="0"/>
        </a:xfrm>
      </p:grpSpPr>
      <p:sp>
        <p:nvSpPr>
          <p:cNvPr id="358" name="Google Shape;358;g3e3a61befe4_62_550"/>
          <p:cNvSpPr txBox="1"/>
          <p:nvPr>
            <p:ph type="title"/>
          </p:nvPr>
        </p:nvSpPr>
        <p:spPr>
          <a:xfrm>
            <a:off x="488503" y="356138"/>
            <a:ext cx="9000900" cy="624600"/>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rgbClr val="1E4E79"/>
              </a:buClr>
              <a:buSzPts val="4000"/>
              <a:buFont typeface="Arial"/>
              <a:buNone/>
              <a:defRPr b="1" sz="4000">
                <a:solidFill>
                  <a:srgbClr val="1E4E79"/>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9" name="Google Shape;359;g3e3a61befe4_62_550"/>
          <p:cNvSpPr txBox="1"/>
          <p:nvPr>
            <p:ph idx="10" type="dt"/>
          </p:nvPr>
        </p:nvSpPr>
        <p:spPr>
          <a:xfrm>
            <a:off x="681038" y="6356350"/>
            <a:ext cx="2229000" cy="365100"/>
          </a:xfrm>
          <a:prstGeom prst="rect">
            <a:avLst/>
          </a:prstGeom>
          <a:noFill/>
          <a:ln>
            <a:noFill/>
          </a:ln>
        </p:spPr>
        <p:txBody>
          <a:bodyPr anchorCtr="0" anchor="ctr" bIns="45700" lIns="91425" spcFirstLastPara="1" rIns="91425" wrap="square" tIns="45700">
            <a:noAutofit/>
          </a:bodyPr>
          <a:lstStyle>
            <a:lvl1pPr lvl="0" marR="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360" name="Google Shape;360;g3e3a61befe4_62_550"/>
          <p:cNvSpPr txBox="1"/>
          <p:nvPr>
            <p:ph idx="11" type="ftr"/>
          </p:nvPr>
        </p:nvSpPr>
        <p:spPr>
          <a:xfrm>
            <a:off x="3281363" y="6356350"/>
            <a:ext cx="3343200" cy="365100"/>
          </a:xfrm>
          <a:prstGeom prst="rect">
            <a:avLst/>
          </a:prstGeom>
          <a:noFill/>
          <a:ln>
            <a:noFill/>
          </a:ln>
        </p:spPr>
        <p:txBody>
          <a:bodyPr anchorCtr="0" anchor="ctr" bIns="45700" lIns="91425" spcFirstLastPara="1" rIns="91425" wrap="square" tIns="45700">
            <a:noAutofit/>
          </a:bodyPr>
          <a:lstStyle>
            <a:lvl1pPr lvl="0" marR="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361" name="Google Shape;361;g3e3a61befe4_62_550"/>
          <p:cNvSpPr txBox="1"/>
          <p:nvPr>
            <p:ph idx="12" type="sldNum"/>
          </p:nvPr>
        </p:nvSpPr>
        <p:spPr>
          <a:xfrm>
            <a:off x="6996113" y="6356350"/>
            <a:ext cx="22290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ítulo e conteúdo 2">
  <p:cSld name="1_Título e conteúdo (g3e387427cbb_8_0)">
    <p:bg>
      <p:bgPr>
        <a:blipFill>
          <a:blip r:embed="rId2">
            <a:alphaModFix/>
          </a:blip>
          <a:stretch>
            <a:fillRect/>
          </a:stretch>
        </a:blipFill>
      </p:bgPr>
    </p:bg>
    <p:spTree>
      <p:nvGrpSpPr>
        <p:cNvPr id="362" name="Shape 362"/>
        <p:cNvGrpSpPr/>
        <p:nvPr/>
      </p:nvGrpSpPr>
      <p:grpSpPr>
        <a:xfrm>
          <a:off x="0" y="0"/>
          <a:ext cx="0" cy="0"/>
          <a:chOff x="0" y="0"/>
          <a:chExt cx="0" cy="0"/>
        </a:xfrm>
      </p:grpSpPr>
      <p:sp>
        <p:nvSpPr>
          <p:cNvPr id="363" name="Google Shape;363;g3e3a61befe4_62_555"/>
          <p:cNvSpPr txBox="1"/>
          <p:nvPr>
            <p:ph type="title"/>
          </p:nvPr>
        </p:nvSpPr>
        <p:spPr>
          <a:xfrm>
            <a:off x="488503" y="356138"/>
            <a:ext cx="9000900" cy="624600"/>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rgbClr val="1E4E79"/>
              </a:buClr>
              <a:buSzPts val="4000"/>
              <a:buFont typeface="Arial"/>
              <a:buNone/>
              <a:defRPr b="1" sz="4000">
                <a:solidFill>
                  <a:srgbClr val="1E4E79"/>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4" name="Google Shape;364;g3e3a61befe4_62_555"/>
          <p:cNvSpPr txBox="1"/>
          <p:nvPr>
            <p:ph idx="10" type="dt"/>
          </p:nvPr>
        </p:nvSpPr>
        <p:spPr>
          <a:xfrm>
            <a:off x="681038" y="6356350"/>
            <a:ext cx="2229000" cy="365100"/>
          </a:xfrm>
          <a:prstGeom prst="rect">
            <a:avLst/>
          </a:prstGeom>
          <a:noFill/>
          <a:ln>
            <a:noFill/>
          </a:ln>
        </p:spPr>
        <p:txBody>
          <a:bodyPr anchorCtr="0" anchor="ctr" bIns="45700" lIns="91425" spcFirstLastPara="1" rIns="91425" wrap="square" tIns="45700">
            <a:noAutofit/>
          </a:bodyPr>
          <a:lstStyle>
            <a:lvl1pPr lvl="0" marR="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365" name="Google Shape;365;g3e3a61befe4_62_555"/>
          <p:cNvSpPr txBox="1"/>
          <p:nvPr>
            <p:ph idx="11" type="ftr"/>
          </p:nvPr>
        </p:nvSpPr>
        <p:spPr>
          <a:xfrm>
            <a:off x="3281363" y="6356350"/>
            <a:ext cx="3343200" cy="365100"/>
          </a:xfrm>
          <a:prstGeom prst="rect">
            <a:avLst/>
          </a:prstGeom>
          <a:noFill/>
          <a:ln>
            <a:noFill/>
          </a:ln>
        </p:spPr>
        <p:txBody>
          <a:bodyPr anchorCtr="0" anchor="ctr" bIns="45700" lIns="91425" spcFirstLastPara="1" rIns="91425" wrap="square" tIns="45700">
            <a:noAutofit/>
          </a:bodyPr>
          <a:lstStyle>
            <a:lvl1pPr lvl="0" marR="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366" name="Google Shape;366;g3e3a61befe4_62_555"/>
          <p:cNvSpPr txBox="1"/>
          <p:nvPr>
            <p:ph idx="12" type="sldNum"/>
          </p:nvPr>
        </p:nvSpPr>
        <p:spPr>
          <a:xfrm>
            <a:off x="6996113" y="6356350"/>
            <a:ext cx="22290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ítulo e conteúdo 3">
  <p:cSld name="1_Título e conteúdo (g3e387427cbb_37_0)">
    <p:bg>
      <p:bgPr>
        <a:blipFill>
          <a:blip r:embed="rId2">
            <a:alphaModFix/>
          </a:blip>
          <a:stretch>
            <a:fillRect/>
          </a:stretch>
        </a:blipFill>
      </p:bgPr>
    </p:bg>
    <p:spTree>
      <p:nvGrpSpPr>
        <p:cNvPr id="367" name="Shape 367"/>
        <p:cNvGrpSpPr/>
        <p:nvPr/>
      </p:nvGrpSpPr>
      <p:grpSpPr>
        <a:xfrm>
          <a:off x="0" y="0"/>
          <a:ext cx="0" cy="0"/>
          <a:chOff x="0" y="0"/>
          <a:chExt cx="0" cy="0"/>
        </a:xfrm>
      </p:grpSpPr>
      <p:sp>
        <p:nvSpPr>
          <p:cNvPr id="368" name="Google Shape;368;g3e3a61befe4_62_560"/>
          <p:cNvSpPr txBox="1"/>
          <p:nvPr>
            <p:ph type="title"/>
          </p:nvPr>
        </p:nvSpPr>
        <p:spPr>
          <a:xfrm>
            <a:off x="488503" y="356138"/>
            <a:ext cx="9000900" cy="624600"/>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rgbClr val="1E4E79"/>
              </a:buClr>
              <a:buSzPts val="4000"/>
              <a:buFont typeface="Arial"/>
              <a:buNone/>
              <a:defRPr b="1" sz="4000">
                <a:solidFill>
                  <a:srgbClr val="1E4E79"/>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9" name="Google Shape;369;g3e3a61befe4_62_560"/>
          <p:cNvSpPr txBox="1"/>
          <p:nvPr>
            <p:ph idx="10" type="dt"/>
          </p:nvPr>
        </p:nvSpPr>
        <p:spPr>
          <a:xfrm>
            <a:off x="681038" y="6356350"/>
            <a:ext cx="2229000" cy="365100"/>
          </a:xfrm>
          <a:prstGeom prst="rect">
            <a:avLst/>
          </a:prstGeom>
          <a:noFill/>
          <a:ln>
            <a:noFill/>
          </a:ln>
        </p:spPr>
        <p:txBody>
          <a:bodyPr anchorCtr="0" anchor="ctr" bIns="45700" lIns="91425" spcFirstLastPara="1" rIns="91425" wrap="square" tIns="45700">
            <a:noAutofit/>
          </a:bodyPr>
          <a:lstStyle>
            <a:lvl1pPr lvl="0" marR="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370" name="Google Shape;370;g3e3a61befe4_62_560"/>
          <p:cNvSpPr txBox="1"/>
          <p:nvPr>
            <p:ph idx="11" type="ftr"/>
          </p:nvPr>
        </p:nvSpPr>
        <p:spPr>
          <a:xfrm>
            <a:off x="3281363" y="6356350"/>
            <a:ext cx="3343200" cy="365100"/>
          </a:xfrm>
          <a:prstGeom prst="rect">
            <a:avLst/>
          </a:prstGeom>
          <a:noFill/>
          <a:ln>
            <a:noFill/>
          </a:ln>
        </p:spPr>
        <p:txBody>
          <a:bodyPr anchorCtr="0" anchor="ctr" bIns="45700" lIns="91425" spcFirstLastPara="1" rIns="91425" wrap="square" tIns="45700">
            <a:noAutofit/>
          </a:bodyPr>
          <a:lstStyle>
            <a:lvl1pPr lvl="0" marR="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371" name="Google Shape;371;g3e3a61befe4_62_560"/>
          <p:cNvSpPr txBox="1"/>
          <p:nvPr>
            <p:ph idx="12" type="sldNum"/>
          </p:nvPr>
        </p:nvSpPr>
        <p:spPr>
          <a:xfrm>
            <a:off x="6996113" y="6356350"/>
            <a:ext cx="22290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ítulo e conteúdo 4">
  <p:cSld name="1_Título e conteúdo (g3e387427cbb_60_0)">
    <p:bg>
      <p:bgPr>
        <a:blipFill>
          <a:blip r:embed="rId2">
            <a:alphaModFix/>
          </a:blip>
          <a:stretch>
            <a:fillRect/>
          </a:stretch>
        </a:blipFill>
      </p:bgPr>
    </p:bg>
    <p:spTree>
      <p:nvGrpSpPr>
        <p:cNvPr id="372" name="Shape 372"/>
        <p:cNvGrpSpPr/>
        <p:nvPr/>
      </p:nvGrpSpPr>
      <p:grpSpPr>
        <a:xfrm>
          <a:off x="0" y="0"/>
          <a:ext cx="0" cy="0"/>
          <a:chOff x="0" y="0"/>
          <a:chExt cx="0" cy="0"/>
        </a:xfrm>
      </p:grpSpPr>
      <p:sp>
        <p:nvSpPr>
          <p:cNvPr id="373" name="Google Shape;373;g3e3a61befe4_62_565"/>
          <p:cNvSpPr txBox="1"/>
          <p:nvPr>
            <p:ph type="title"/>
          </p:nvPr>
        </p:nvSpPr>
        <p:spPr>
          <a:xfrm>
            <a:off x="488503" y="356138"/>
            <a:ext cx="9000900" cy="624600"/>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rgbClr val="1E4E79"/>
              </a:buClr>
              <a:buSzPts val="4000"/>
              <a:buFont typeface="Arial"/>
              <a:buNone/>
              <a:defRPr b="1" sz="4000">
                <a:solidFill>
                  <a:srgbClr val="1E4E79"/>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4" name="Google Shape;374;g3e3a61befe4_62_565"/>
          <p:cNvSpPr txBox="1"/>
          <p:nvPr>
            <p:ph idx="10" type="dt"/>
          </p:nvPr>
        </p:nvSpPr>
        <p:spPr>
          <a:xfrm>
            <a:off x="681038" y="6356350"/>
            <a:ext cx="2229000" cy="365100"/>
          </a:xfrm>
          <a:prstGeom prst="rect">
            <a:avLst/>
          </a:prstGeom>
          <a:noFill/>
          <a:ln>
            <a:noFill/>
          </a:ln>
        </p:spPr>
        <p:txBody>
          <a:bodyPr anchorCtr="0" anchor="ctr" bIns="45700" lIns="91425" spcFirstLastPara="1" rIns="91425" wrap="square" tIns="45700">
            <a:noAutofit/>
          </a:bodyPr>
          <a:lstStyle>
            <a:lvl1pPr lvl="0" marR="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375" name="Google Shape;375;g3e3a61befe4_62_565"/>
          <p:cNvSpPr txBox="1"/>
          <p:nvPr>
            <p:ph idx="11" type="ftr"/>
          </p:nvPr>
        </p:nvSpPr>
        <p:spPr>
          <a:xfrm>
            <a:off x="3281363" y="6356350"/>
            <a:ext cx="3343200" cy="365100"/>
          </a:xfrm>
          <a:prstGeom prst="rect">
            <a:avLst/>
          </a:prstGeom>
          <a:noFill/>
          <a:ln>
            <a:noFill/>
          </a:ln>
        </p:spPr>
        <p:txBody>
          <a:bodyPr anchorCtr="0" anchor="ctr" bIns="45700" lIns="91425" spcFirstLastPara="1" rIns="91425" wrap="square" tIns="45700">
            <a:noAutofit/>
          </a:bodyPr>
          <a:lstStyle>
            <a:lvl1pPr lvl="0" marR="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376" name="Google Shape;376;g3e3a61befe4_62_565"/>
          <p:cNvSpPr txBox="1"/>
          <p:nvPr>
            <p:ph idx="12" type="sldNum"/>
          </p:nvPr>
        </p:nvSpPr>
        <p:spPr>
          <a:xfrm>
            <a:off x="6996113" y="6356350"/>
            <a:ext cx="22290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ítulo e conteúdo 5">
  <p:cSld name="1_Título e conteúdo (g3e387427cbb_68_0)">
    <p:bg>
      <p:bgPr>
        <a:blipFill>
          <a:blip r:embed="rId2">
            <a:alphaModFix/>
          </a:blip>
          <a:stretch>
            <a:fillRect/>
          </a:stretch>
        </a:blipFill>
      </p:bgPr>
    </p:bg>
    <p:spTree>
      <p:nvGrpSpPr>
        <p:cNvPr id="377" name="Shape 377"/>
        <p:cNvGrpSpPr/>
        <p:nvPr/>
      </p:nvGrpSpPr>
      <p:grpSpPr>
        <a:xfrm>
          <a:off x="0" y="0"/>
          <a:ext cx="0" cy="0"/>
          <a:chOff x="0" y="0"/>
          <a:chExt cx="0" cy="0"/>
        </a:xfrm>
      </p:grpSpPr>
      <p:sp>
        <p:nvSpPr>
          <p:cNvPr id="378" name="Google Shape;378;g3e3a61befe4_62_570"/>
          <p:cNvSpPr txBox="1"/>
          <p:nvPr>
            <p:ph type="title"/>
          </p:nvPr>
        </p:nvSpPr>
        <p:spPr>
          <a:xfrm>
            <a:off x="488503" y="356138"/>
            <a:ext cx="9000900" cy="624600"/>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rgbClr val="1E4E79"/>
              </a:buClr>
              <a:buSzPts val="4000"/>
              <a:buFont typeface="Arial"/>
              <a:buNone/>
              <a:defRPr b="1" sz="4000">
                <a:solidFill>
                  <a:srgbClr val="1E4E79"/>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9" name="Google Shape;379;g3e3a61befe4_62_570"/>
          <p:cNvSpPr txBox="1"/>
          <p:nvPr>
            <p:ph idx="10" type="dt"/>
          </p:nvPr>
        </p:nvSpPr>
        <p:spPr>
          <a:xfrm>
            <a:off x="681038" y="6356350"/>
            <a:ext cx="2229000" cy="365100"/>
          </a:xfrm>
          <a:prstGeom prst="rect">
            <a:avLst/>
          </a:prstGeom>
          <a:noFill/>
          <a:ln>
            <a:noFill/>
          </a:ln>
        </p:spPr>
        <p:txBody>
          <a:bodyPr anchorCtr="0" anchor="ctr" bIns="45700" lIns="91425" spcFirstLastPara="1" rIns="91425" wrap="square" tIns="45700">
            <a:noAutofit/>
          </a:bodyPr>
          <a:lstStyle>
            <a:lvl1pPr lvl="0" marR="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380" name="Google Shape;380;g3e3a61befe4_62_570"/>
          <p:cNvSpPr txBox="1"/>
          <p:nvPr>
            <p:ph idx="11" type="ftr"/>
          </p:nvPr>
        </p:nvSpPr>
        <p:spPr>
          <a:xfrm>
            <a:off x="3281363" y="6356350"/>
            <a:ext cx="3343200" cy="365100"/>
          </a:xfrm>
          <a:prstGeom prst="rect">
            <a:avLst/>
          </a:prstGeom>
          <a:noFill/>
          <a:ln>
            <a:noFill/>
          </a:ln>
        </p:spPr>
        <p:txBody>
          <a:bodyPr anchorCtr="0" anchor="ctr" bIns="45700" lIns="91425" spcFirstLastPara="1" rIns="91425" wrap="square" tIns="45700">
            <a:noAutofit/>
          </a:bodyPr>
          <a:lstStyle>
            <a:lvl1pPr lvl="0" marR="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381" name="Google Shape;381;g3e3a61befe4_62_570"/>
          <p:cNvSpPr txBox="1"/>
          <p:nvPr>
            <p:ph idx="12" type="sldNum"/>
          </p:nvPr>
        </p:nvSpPr>
        <p:spPr>
          <a:xfrm>
            <a:off x="6996113" y="6356350"/>
            <a:ext cx="22290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ítulo e conteúdo 6">
  <p:cSld name="1_Título e conteúdo (g3e387427cbb_75_0)">
    <p:bg>
      <p:bgPr>
        <a:blipFill>
          <a:blip r:embed="rId2">
            <a:alphaModFix/>
          </a:blip>
          <a:stretch>
            <a:fillRect/>
          </a:stretch>
        </a:blipFill>
      </p:bgPr>
    </p:bg>
    <p:spTree>
      <p:nvGrpSpPr>
        <p:cNvPr id="382" name="Shape 382"/>
        <p:cNvGrpSpPr/>
        <p:nvPr/>
      </p:nvGrpSpPr>
      <p:grpSpPr>
        <a:xfrm>
          <a:off x="0" y="0"/>
          <a:ext cx="0" cy="0"/>
          <a:chOff x="0" y="0"/>
          <a:chExt cx="0" cy="0"/>
        </a:xfrm>
      </p:grpSpPr>
      <p:sp>
        <p:nvSpPr>
          <p:cNvPr id="383" name="Google Shape;383;g3e3a61befe4_62_575"/>
          <p:cNvSpPr txBox="1"/>
          <p:nvPr>
            <p:ph type="title"/>
          </p:nvPr>
        </p:nvSpPr>
        <p:spPr>
          <a:xfrm>
            <a:off x="488503" y="356138"/>
            <a:ext cx="9000900" cy="624600"/>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rgbClr val="1E4E79"/>
              </a:buClr>
              <a:buSzPts val="4000"/>
              <a:buFont typeface="Arial"/>
              <a:buNone/>
              <a:defRPr b="1" sz="4000">
                <a:solidFill>
                  <a:srgbClr val="1E4E79"/>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4" name="Google Shape;384;g3e3a61befe4_62_575"/>
          <p:cNvSpPr txBox="1"/>
          <p:nvPr>
            <p:ph idx="10" type="dt"/>
          </p:nvPr>
        </p:nvSpPr>
        <p:spPr>
          <a:xfrm>
            <a:off x="681038" y="6356350"/>
            <a:ext cx="2229000" cy="365100"/>
          </a:xfrm>
          <a:prstGeom prst="rect">
            <a:avLst/>
          </a:prstGeom>
          <a:noFill/>
          <a:ln>
            <a:noFill/>
          </a:ln>
        </p:spPr>
        <p:txBody>
          <a:bodyPr anchorCtr="0" anchor="ctr" bIns="45700" lIns="91425" spcFirstLastPara="1" rIns="91425" wrap="square" tIns="45700">
            <a:noAutofit/>
          </a:bodyPr>
          <a:lstStyle>
            <a:lvl1pPr lvl="0" marR="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385" name="Google Shape;385;g3e3a61befe4_62_575"/>
          <p:cNvSpPr txBox="1"/>
          <p:nvPr>
            <p:ph idx="11" type="ftr"/>
          </p:nvPr>
        </p:nvSpPr>
        <p:spPr>
          <a:xfrm>
            <a:off x="3281363" y="6356350"/>
            <a:ext cx="3343200" cy="365100"/>
          </a:xfrm>
          <a:prstGeom prst="rect">
            <a:avLst/>
          </a:prstGeom>
          <a:noFill/>
          <a:ln>
            <a:noFill/>
          </a:ln>
        </p:spPr>
        <p:txBody>
          <a:bodyPr anchorCtr="0" anchor="ctr" bIns="45700" lIns="91425" spcFirstLastPara="1" rIns="91425" wrap="square" tIns="45700">
            <a:noAutofit/>
          </a:bodyPr>
          <a:lstStyle>
            <a:lvl1pPr lvl="0" marR="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386" name="Google Shape;386;g3e3a61befe4_62_575"/>
          <p:cNvSpPr txBox="1"/>
          <p:nvPr>
            <p:ph idx="12" type="sldNum"/>
          </p:nvPr>
        </p:nvSpPr>
        <p:spPr>
          <a:xfrm>
            <a:off x="6996113" y="6356350"/>
            <a:ext cx="22290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ítulo e conteúdo 7">
  <p:cSld name="1_Título e conteúdo (g3e387427cbb_83_0)">
    <p:bg>
      <p:bgPr>
        <a:blipFill>
          <a:blip r:embed="rId2">
            <a:alphaModFix/>
          </a:blip>
          <a:stretch>
            <a:fillRect/>
          </a:stretch>
        </a:blipFill>
      </p:bgPr>
    </p:bg>
    <p:spTree>
      <p:nvGrpSpPr>
        <p:cNvPr id="387" name="Shape 387"/>
        <p:cNvGrpSpPr/>
        <p:nvPr/>
      </p:nvGrpSpPr>
      <p:grpSpPr>
        <a:xfrm>
          <a:off x="0" y="0"/>
          <a:ext cx="0" cy="0"/>
          <a:chOff x="0" y="0"/>
          <a:chExt cx="0" cy="0"/>
        </a:xfrm>
      </p:grpSpPr>
      <p:sp>
        <p:nvSpPr>
          <p:cNvPr id="388" name="Google Shape;388;g3e3a61befe4_62_580"/>
          <p:cNvSpPr txBox="1"/>
          <p:nvPr>
            <p:ph type="title"/>
          </p:nvPr>
        </p:nvSpPr>
        <p:spPr>
          <a:xfrm>
            <a:off x="488503" y="356138"/>
            <a:ext cx="9000900" cy="624600"/>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rgbClr val="1E4E79"/>
              </a:buClr>
              <a:buSzPts val="4000"/>
              <a:buFont typeface="Arial"/>
              <a:buNone/>
              <a:defRPr b="1" sz="4000">
                <a:solidFill>
                  <a:srgbClr val="1E4E79"/>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9" name="Google Shape;389;g3e3a61befe4_62_580"/>
          <p:cNvSpPr txBox="1"/>
          <p:nvPr>
            <p:ph idx="10" type="dt"/>
          </p:nvPr>
        </p:nvSpPr>
        <p:spPr>
          <a:xfrm>
            <a:off x="681038" y="6356350"/>
            <a:ext cx="2229000" cy="365100"/>
          </a:xfrm>
          <a:prstGeom prst="rect">
            <a:avLst/>
          </a:prstGeom>
          <a:noFill/>
          <a:ln>
            <a:noFill/>
          </a:ln>
        </p:spPr>
        <p:txBody>
          <a:bodyPr anchorCtr="0" anchor="ctr" bIns="45700" lIns="91425" spcFirstLastPara="1" rIns="91425" wrap="square" tIns="45700">
            <a:noAutofit/>
          </a:bodyPr>
          <a:lstStyle>
            <a:lvl1pPr lvl="0" marR="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390" name="Google Shape;390;g3e3a61befe4_62_580"/>
          <p:cNvSpPr txBox="1"/>
          <p:nvPr>
            <p:ph idx="11" type="ftr"/>
          </p:nvPr>
        </p:nvSpPr>
        <p:spPr>
          <a:xfrm>
            <a:off x="3281363" y="6356350"/>
            <a:ext cx="3343200" cy="365100"/>
          </a:xfrm>
          <a:prstGeom prst="rect">
            <a:avLst/>
          </a:prstGeom>
          <a:noFill/>
          <a:ln>
            <a:noFill/>
          </a:ln>
        </p:spPr>
        <p:txBody>
          <a:bodyPr anchorCtr="0" anchor="ctr" bIns="45700" lIns="91425" spcFirstLastPara="1" rIns="91425" wrap="square" tIns="45700">
            <a:noAutofit/>
          </a:bodyPr>
          <a:lstStyle>
            <a:lvl1pPr lvl="0" marR="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391" name="Google Shape;391;g3e3a61befe4_62_580"/>
          <p:cNvSpPr txBox="1"/>
          <p:nvPr>
            <p:ph idx="12" type="sldNum"/>
          </p:nvPr>
        </p:nvSpPr>
        <p:spPr>
          <a:xfrm>
            <a:off x="6996113" y="6356350"/>
            <a:ext cx="22290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ítulo e conteúdo 8">
  <p:cSld name="1_Título e conteúdo (g3e387427cbb_97_0)">
    <p:bg>
      <p:bgPr>
        <a:blipFill>
          <a:blip r:embed="rId2">
            <a:alphaModFix/>
          </a:blip>
          <a:stretch>
            <a:fillRect/>
          </a:stretch>
        </a:blipFill>
      </p:bgPr>
    </p:bg>
    <p:spTree>
      <p:nvGrpSpPr>
        <p:cNvPr id="392" name="Shape 392"/>
        <p:cNvGrpSpPr/>
        <p:nvPr/>
      </p:nvGrpSpPr>
      <p:grpSpPr>
        <a:xfrm>
          <a:off x="0" y="0"/>
          <a:ext cx="0" cy="0"/>
          <a:chOff x="0" y="0"/>
          <a:chExt cx="0" cy="0"/>
        </a:xfrm>
      </p:grpSpPr>
      <p:sp>
        <p:nvSpPr>
          <p:cNvPr id="393" name="Google Shape;393;g3e3a61befe4_62_585"/>
          <p:cNvSpPr txBox="1"/>
          <p:nvPr>
            <p:ph type="title"/>
          </p:nvPr>
        </p:nvSpPr>
        <p:spPr>
          <a:xfrm>
            <a:off x="488503" y="356138"/>
            <a:ext cx="9000900" cy="624600"/>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rgbClr val="1E4E79"/>
              </a:buClr>
              <a:buSzPts val="4000"/>
              <a:buFont typeface="Arial"/>
              <a:buNone/>
              <a:defRPr b="1" sz="4000">
                <a:solidFill>
                  <a:srgbClr val="1E4E79"/>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4" name="Google Shape;394;g3e3a61befe4_62_585"/>
          <p:cNvSpPr txBox="1"/>
          <p:nvPr>
            <p:ph idx="10" type="dt"/>
          </p:nvPr>
        </p:nvSpPr>
        <p:spPr>
          <a:xfrm>
            <a:off x="681038" y="6356350"/>
            <a:ext cx="2229000" cy="365100"/>
          </a:xfrm>
          <a:prstGeom prst="rect">
            <a:avLst/>
          </a:prstGeom>
          <a:noFill/>
          <a:ln>
            <a:noFill/>
          </a:ln>
        </p:spPr>
        <p:txBody>
          <a:bodyPr anchorCtr="0" anchor="ctr" bIns="45700" lIns="91425" spcFirstLastPara="1" rIns="91425" wrap="square" tIns="45700">
            <a:noAutofit/>
          </a:bodyPr>
          <a:lstStyle>
            <a:lvl1pPr lvl="0" marR="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395" name="Google Shape;395;g3e3a61befe4_62_585"/>
          <p:cNvSpPr txBox="1"/>
          <p:nvPr>
            <p:ph idx="11" type="ftr"/>
          </p:nvPr>
        </p:nvSpPr>
        <p:spPr>
          <a:xfrm>
            <a:off x="3281363" y="6356350"/>
            <a:ext cx="3343200" cy="365100"/>
          </a:xfrm>
          <a:prstGeom prst="rect">
            <a:avLst/>
          </a:prstGeom>
          <a:noFill/>
          <a:ln>
            <a:noFill/>
          </a:ln>
        </p:spPr>
        <p:txBody>
          <a:bodyPr anchorCtr="0" anchor="ctr" bIns="45700" lIns="91425" spcFirstLastPara="1" rIns="91425" wrap="square" tIns="45700">
            <a:noAutofit/>
          </a:bodyPr>
          <a:lstStyle>
            <a:lvl1pPr lvl="0" marR="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396" name="Google Shape;396;g3e3a61befe4_62_585"/>
          <p:cNvSpPr txBox="1"/>
          <p:nvPr>
            <p:ph idx="12" type="sldNum"/>
          </p:nvPr>
        </p:nvSpPr>
        <p:spPr>
          <a:xfrm>
            <a:off x="6996113" y="6356350"/>
            <a:ext cx="22290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ítulo e conteúdo 9">
  <p:cSld name="1_Título e conteúdo (g3e387427cbb_104_0)">
    <p:bg>
      <p:bgPr>
        <a:blipFill>
          <a:blip r:embed="rId2">
            <a:alphaModFix/>
          </a:blip>
          <a:stretch>
            <a:fillRect/>
          </a:stretch>
        </a:blipFill>
      </p:bgPr>
    </p:bg>
    <p:spTree>
      <p:nvGrpSpPr>
        <p:cNvPr id="397" name="Shape 397"/>
        <p:cNvGrpSpPr/>
        <p:nvPr/>
      </p:nvGrpSpPr>
      <p:grpSpPr>
        <a:xfrm>
          <a:off x="0" y="0"/>
          <a:ext cx="0" cy="0"/>
          <a:chOff x="0" y="0"/>
          <a:chExt cx="0" cy="0"/>
        </a:xfrm>
      </p:grpSpPr>
      <p:sp>
        <p:nvSpPr>
          <p:cNvPr id="398" name="Google Shape;398;g3e3a61befe4_62_590"/>
          <p:cNvSpPr txBox="1"/>
          <p:nvPr>
            <p:ph type="title"/>
          </p:nvPr>
        </p:nvSpPr>
        <p:spPr>
          <a:xfrm>
            <a:off x="488503" y="356138"/>
            <a:ext cx="9000900" cy="624600"/>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rgbClr val="1E4E79"/>
              </a:buClr>
              <a:buSzPts val="4000"/>
              <a:buFont typeface="Arial"/>
              <a:buNone/>
              <a:defRPr b="1" sz="4000">
                <a:solidFill>
                  <a:srgbClr val="1E4E79"/>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9" name="Google Shape;399;g3e3a61befe4_62_590"/>
          <p:cNvSpPr txBox="1"/>
          <p:nvPr>
            <p:ph idx="10" type="dt"/>
          </p:nvPr>
        </p:nvSpPr>
        <p:spPr>
          <a:xfrm>
            <a:off x="681038" y="6356350"/>
            <a:ext cx="2229000" cy="365100"/>
          </a:xfrm>
          <a:prstGeom prst="rect">
            <a:avLst/>
          </a:prstGeom>
          <a:noFill/>
          <a:ln>
            <a:noFill/>
          </a:ln>
        </p:spPr>
        <p:txBody>
          <a:bodyPr anchorCtr="0" anchor="ctr" bIns="45700" lIns="91425" spcFirstLastPara="1" rIns="91425" wrap="square" tIns="45700">
            <a:noAutofit/>
          </a:bodyPr>
          <a:lstStyle>
            <a:lvl1pPr lvl="0" marR="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400" name="Google Shape;400;g3e3a61befe4_62_590"/>
          <p:cNvSpPr txBox="1"/>
          <p:nvPr>
            <p:ph idx="11" type="ftr"/>
          </p:nvPr>
        </p:nvSpPr>
        <p:spPr>
          <a:xfrm>
            <a:off x="3281363" y="6356350"/>
            <a:ext cx="3343200" cy="365100"/>
          </a:xfrm>
          <a:prstGeom prst="rect">
            <a:avLst/>
          </a:prstGeom>
          <a:noFill/>
          <a:ln>
            <a:noFill/>
          </a:ln>
        </p:spPr>
        <p:txBody>
          <a:bodyPr anchorCtr="0" anchor="ctr" bIns="45700" lIns="91425" spcFirstLastPara="1" rIns="91425" wrap="square" tIns="45700">
            <a:noAutofit/>
          </a:bodyPr>
          <a:lstStyle>
            <a:lvl1pPr lvl="0" marR="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401" name="Google Shape;401;g3e3a61befe4_62_590"/>
          <p:cNvSpPr txBox="1"/>
          <p:nvPr>
            <p:ph idx="12" type="sldNum"/>
          </p:nvPr>
        </p:nvSpPr>
        <p:spPr>
          <a:xfrm>
            <a:off x="6996113" y="6356350"/>
            <a:ext cx="22290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ítulo e conteúdo 10">
  <p:cSld name="1_Título e conteúdo (g3e387427cbb_111_0)">
    <p:bg>
      <p:bgPr>
        <a:blipFill>
          <a:blip r:embed="rId2">
            <a:alphaModFix/>
          </a:blip>
          <a:stretch>
            <a:fillRect/>
          </a:stretch>
        </a:blipFill>
      </p:bgPr>
    </p:bg>
    <p:spTree>
      <p:nvGrpSpPr>
        <p:cNvPr id="402" name="Shape 402"/>
        <p:cNvGrpSpPr/>
        <p:nvPr/>
      </p:nvGrpSpPr>
      <p:grpSpPr>
        <a:xfrm>
          <a:off x="0" y="0"/>
          <a:ext cx="0" cy="0"/>
          <a:chOff x="0" y="0"/>
          <a:chExt cx="0" cy="0"/>
        </a:xfrm>
      </p:grpSpPr>
      <p:sp>
        <p:nvSpPr>
          <p:cNvPr id="403" name="Google Shape;403;g3e3a61befe4_62_595"/>
          <p:cNvSpPr txBox="1"/>
          <p:nvPr>
            <p:ph type="title"/>
          </p:nvPr>
        </p:nvSpPr>
        <p:spPr>
          <a:xfrm>
            <a:off x="488503" y="356138"/>
            <a:ext cx="9000900" cy="624600"/>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rgbClr val="1E4E79"/>
              </a:buClr>
              <a:buSzPts val="4000"/>
              <a:buFont typeface="Arial"/>
              <a:buNone/>
              <a:defRPr b="1" sz="4000">
                <a:solidFill>
                  <a:srgbClr val="1E4E79"/>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4" name="Google Shape;404;g3e3a61befe4_62_595"/>
          <p:cNvSpPr txBox="1"/>
          <p:nvPr>
            <p:ph idx="10" type="dt"/>
          </p:nvPr>
        </p:nvSpPr>
        <p:spPr>
          <a:xfrm>
            <a:off x="681038" y="6356350"/>
            <a:ext cx="2229000" cy="365100"/>
          </a:xfrm>
          <a:prstGeom prst="rect">
            <a:avLst/>
          </a:prstGeom>
          <a:noFill/>
          <a:ln>
            <a:noFill/>
          </a:ln>
        </p:spPr>
        <p:txBody>
          <a:bodyPr anchorCtr="0" anchor="ctr" bIns="45700" lIns="91425" spcFirstLastPara="1" rIns="91425" wrap="square" tIns="45700">
            <a:noAutofit/>
          </a:bodyPr>
          <a:lstStyle>
            <a:lvl1pPr lvl="0" marR="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405" name="Google Shape;405;g3e3a61befe4_62_595"/>
          <p:cNvSpPr txBox="1"/>
          <p:nvPr>
            <p:ph idx="11" type="ftr"/>
          </p:nvPr>
        </p:nvSpPr>
        <p:spPr>
          <a:xfrm>
            <a:off x="3281363" y="6356350"/>
            <a:ext cx="3343200" cy="365100"/>
          </a:xfrm>
          <a:prstGeom prst="rect">
            <a:avLst/>
          </a:prstGeom>
          <a:noFill/>
          <a:ln>
            <a:noFill/>
          </a:ln>
        </p:spPr>
        <p:txBody>
          <a:bodyPr anchorCtr="0" anchor="ctr" bIns="45700" lIns="91425" spcFirstLastPara="1" rIns="91425" wrap="square" tIns="45700">
            <a:noAutofit/>
          </a:bodyPr>
          <a:lstStyle>
            <a:lvl1pPr lvl="0" marR="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406" name="Google Shape;406;g3e3a61befe4_62_595"/>
          <p:cNvSpPr txBox="1"/>
          <p:nvPr>
            <p:ph idx="12" type="sldNum"/>
          </p:nvPr>
        </p:nvSpPr>
        <p:spPr>
          <a:xfrm>
            <a:off x="6996113" y="6356350"/>
            <a:ext cx="22290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5.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5" Type="http://schemas.openxmlformats.org/officeDocument/2006/relationships/slideLayout" Target="../slideLayouts/slideLayout4.xml"/><Relationship Id="rId6" Type="http://schemas.openxmlformats.org/officeDocument/2006/relationships/slideLayout" Target="../slideLayouts/slideLayout5.xml"/><Relationship Id="rId18" Type="http://schemas.openxmlformats.org/officeDocument/2006/relationships/theme" Target="../theme/theme1.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6.xml"/><Relationship Id="rId10" Type="http://schemas.openxmlformats.org/officeDocument/2006/relationships/slideLayout" Target="../slideLayouts/slideLayout25.xml"/><Relationship Id="rId13" Type="http://schemas.openxmlformats.org/officeDocument/2006/relationships/slideLayout" Target="../slideLayouts/slideLayout28.xml"/><Relationship Id="rId12" Type="http://schemas.openxmlformats.org/officeDocument/2006/relationships/slideLayout" Target="../slideLayouts/slideLayout27.xml"/><Relationship Id="rId1" Type="http://schemas.openxmlformats.org/officeDocument/2006/relationships/image" Target="../media/image5.png"/><Relationship Id="rId2" Type="http://schemas.openxmlformats.org/officeDocument/2006/relationships/slideLayout" Target="../slideLayouts/slideLayout17.xml"/><Relationship Id="rId3" Type="http://schemas.openxmlformats.org/officeDocument/2006/relationships/slideLayout" Target="../slideLayouts/slideLayout18.xml"/><Relationship Id="rId4" Type="http://schemas.openxmlformats.org/officeDocument/2006/relationships/slideLayout" Target="../slideLayouts/slideLayout19.xml"/><Relationship Id="rId9" Type="http://schemas.openxmlformats.org/officeDocument/2006/relationships/slideLayout" Target="../slideLayouts/slideLayout24.xml"/><Relationship Id="rId15" Type="http://schemas.openxmlformats.org/officeDocument/2006/relationships/slideLayout" Target="../slideLayouts/slideLayout30.xml"/><Relationship Id="rId14" Type="http://schemas.openxmlformats.org/officeDocument/2006/relationships/slideLayout" Target="../slideLayouts/slideLayout29.xml"/><Relationship Id="rId17" Type="http://schemas.openxmlformats.org/officeDocument/2006/relationships/theme" Target="../theme/theme3.xml"/><Relationship Id="rId16" Type="http://schemas.openxmlformats.org/officeDocument/2006/relationships/slideLayout" Target="../slideLayouts/slideLayout31.xml"/><Relationship Id="rId5" Type="http://schemas.openxmlformats.org/officeDocument/2006/relationships/slideLayout" Target="../slideLayouts/slideLayout20.xml"/><Relationship Id="rId6" Type="http://schemas.openxmlformats.org/officeDocument/2006/relationships/slideLayout" Target="../slideLayouts/slideLayout21.xml"/><Relationship Id="rId7" Type="http://schemas.openxmlformats.org/officeDocument/2006/relationships/slideLayout" Target="../slideLayouts/slideLayout22.xml"/><Relationship Id="rId8" Type="http://schemas.openxmlformats.org/officeDocument/2006/relationships/slideLayout" Target="../slideLayouts/slideLayout23.xml"/></Relationships>
</file>

<file path=ppt/slideMasters/_rels/slideMaster3.xml.rels><?xml version="1.0" encoding="UTF-8" standalone="yes"?><Relationships xmlns="http://schemas.openxmlformats.org/package/2006/relationships"><Relationship Id="rId20" Type="http://schemas.openxmlformats.org/officeDocument/2006/relationships/slideLayout" Target="../slideLayouts/slideLayout50.xml"/><Relationship Id="rId22" Type="http://schemas.openxmlformats.org/officeDocument/2006/relationships/slideLayout" Target="../slideLayouts/slideLayout52.xml"/><Relationship Id="rId21" Type="http://schemas.openxmlformats.org/officeDocument/2006/relationships/slideLayout" Target="../slideLayouts/slideLayout51.xml"/><Relationship Id="rId24" Type="http://schemas.openxmlformats.org/officeDocument/2006/relationships/slideLayout" Target="../slideLayouts/slideLayout54.xml"/><Relationship Id="rId23" Type="http://schemas.openxmlformats.org/officeDocument/2006/relationships/slideLayout" Target="../slideLayouts/slideLayout53.xml"/><Relationship Id="rId1" Type="http://schemas.openxmlformats.org/officeDocument/2006/relationships/image" Target="../media/image5.png"/><Relationship Id="rId2" Type="http://schemas.openxmlformats.org/officeDocument/2006/relationships/slideLayout" Target="../slideLayouts/slideLayout32.xml"/><Relationship Id="rId3" Type="http://schemas.openxmlformats.org/officeDocument/2006/relationships/slideLayout" Target="../slideLayouts/slideLayout33.xml"/><Relationship Id="rId4" Type="http://schemas.openxmlformats.org/officeDocument/2006/relationships/slideLayout" Target="../slideLayouts/slideLayout34.xml"/><Relationship Id="rId9" Type="http://schemas.openxmlformats.org/officeDocument/2006/relationships/slideLayout" Target="../slideLayouts/slideLayout39.xml"/><Relationship Id="rId26" Type="http://schemas.openxmlformats.org/officeDocument/2006/relationships/slideLayout" Target="../slideLayouts/slideLayout56.xml"/><Relationship Id="rId25" Type="http://schemas.openxmlformats.org/officeDocument/2006/relationships/slideLayout" Target="../slideLayouts/slideLayout55.xml"/><Relationship Id="rId28" Type="http://schemas.openxmlformats.org/officeDocument/2006/relationships/slideLayout" Target="../slideLayouts/slideLayout58.xml"/><Relationship Id="rId27" Type="http://schemas.openxmlformats.org/officeDocument/2006/relationships/slideLayout" Target="../slideLayouts/slideLayout57.xml"/><Relationship Id="rId5" Type="http://schemas.openxmlformats.org/officeDocument/2006/relationships/slideLayout" Target="../slideLayouts/slideLayout35.xml"/><Relationship Id="rId6" Type="http://schemas.openxmlformats.org/officeDocument/2006/relationships/slideLayout" Target="../slideLayouts/slideLayout36.xml"/><Relationship Id="rId29" Type="http://schemas.openxmlformats.org/officeDocument/2006/relationships/theme" Target="../theme/theme4.xml"/><Relationship Id="rId7" Type="http://schemas.openxmlformats.org/officeDocument/2006/relationships/slideLayout" Target="../slideLayouts/slideLayout37.xml"/><Relationship Id="rId8" Type="http://schemas.openxmlformats.org/officeDocument/2006/relationships/slideLayout" Target="../slideLayouts/slideLayout38.xml"/><Relationship Id="rId11" Type="http://schemas.openxmlformats.org/officeDocument/2006/relationships/slideLayout" Target="../slideLayouts/slideLayout41.xml"/><Relationship Id="rId10" Type="http://schemas.openxmlformats.org/officeDocument/2006/relationships/slideLayout" Target="../slideLayouts/slideLayout40.xml"/><Relationship Id="rId13" Type="http://schemas.openxmlformats.org/officeDocument/2006/relationships/slideLayout" Target="../slideLayouts/slideLayout43.xml"/><Relationship Id="rId12" Type="http://schemas.openxmlformats.org/officeDocument/2006/relationships/slideLayout" Target="../slideLayouts/slideLayout42.xml"/><Relationship Id="rId15" Type="http://schemas.openxmlformats.org/officeDocument/2006/relationships/slideLayout" Target="../slideLayouts/slideLayout45.xml"/><Relationship Id="rId14" Type="http://schemas.openxmlformats.org/officeDocument/2006/relationships/slideLayout" Target="../slideLayouts/slideLayout44.xml"/><Relationship Id="rId17" Type="http://schemas.openxmlformats.org/officeDocument/2006/relationships/slideLayout" Target="../slideLayouts/slideLayout47.xml"/><Relationship Id="rId16" Type="http://schemas.openxmlformats.org/officeDocument/2006/relationships/slideLayout" Target="../slideLayouts/slideLayout46.xml"/><Relationship Id="rId19" Type="http://schemas.openxmlformats.org/officeDocument/2006/relationships/slideLayout" Target="../slideLayouts/slideLayout49.xml"/><Relationship Id="rId18" Type="http://schemas.openxmlformats.org/officeDocument/2006/relationships/slideLayout" Target="../slideLayouts/slideLayout4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9" name="Shape 9"/>
        <p:cNvGrpSpPr/>
        <p:nvPr/>
      </p:nvGrpSpPr>
      <p:grpSpPr>
        <a:xfrm>
          <a:off x="0" y="0"/>
          <a:ext cx="0" cy="0"/>
          <a:chOff x="0" y="0"/>
          <a:chExt cx="0" cy="0"/>
        </a:xfrm>
      </p:grpSpPr>
      <p:sp>
        <p:nvSpPr>
          <p:cNvPr id="10" name="Google Shape;10;g3db8282ec94_0_835"/>
          <p:cNvSpPr txBox="1"/>
          <p:nvPr>
            <p:ph type="title"/>
          </p:nvPr>
        </p:nvSpPr>
        <p:spPr>
          <a:xfrm>
            <a:off x="681038" y="365125"/>
            <a:ext cx="8544000" cy="1325700"/>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g3db8282ec94_0_835"/>
          <p:cNvSpPr txBox="1"/>
          <p:nvPr>
            <p:ph idx="1" type="body"/>
          </p:nvPr>
        </p:nvSpPr>
        <p:spPr>
          <a:xfrm>
            <a:off x="681038" y="1825625"/>
            <a:ext cx="8544000" cy="4351200"/>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g3db8282ec94_0_835"/>
          <p:cNvSpPr txBox="1"/>
          <p:nvPr>
            <p:ph idx="12" type="sldNum"/>
          </p:nvPr>
        </p:nvSpPr>
        <p:spPr>
          <a:xfrm>
            <a:off x="9269849" y="6333134"/>
            <a:ext cx="594300" cy="525000"/>
          </a:xfrm>
          <a:prstGeom prst="rect">
            <a:avLst/>
          </a:prstGeom>
          <a:noFill/>
          <a:ln>
            <a:noFill/>
          </a:ln>
        </p:spPr>
        <p:txBody>
          <a:bodyPr anchorCtr="0" anchor="t" bIns="91425" lIns="91425" spcFirstLastPara="1" rIns="91425" wrap="square" tIns="91425">
            <a:noAutofit/>
          </a:bodyPr>
          <a:lstStyle>
            <a:lvl1pPr lvl="0" algn="r">
              <a:buNone/>
              <a:defRPr sz="1300">
                <a:solidFill>
                  <a:schemeClr val="dk1"/>
                </a:solidFill>
                <a:latin typeface="Calibri"/>
                <a:ea typeface="Calibri"/>
                <a:cs typeface="Calibri"/>
                <a:sym typeface="Calibri"/>
              </a:defRPr>
            </a:lvl1pPr>
            <a:lvl2pPr lvl="1" algn="r">
              <a:buNone/>
              <a:defRPr sz="1300">
                <a:solidFill>
                  <a:schemeClr val="dk1"/>
                </a:solidFill>
                <a:latin typeface="Calibri"/>
                <a:ea typeface="Calibri"/>
                <a:cs typeface="Calibri"/>
                <a:sym typeface="Calibri"/>
              </a:defRPr>
            </a:lvl2pPr>
            <a:lvl3pPr lvl="2" algn="r">
              <a:buNone/>
              <a:defRPr sz="1300">
                <a:solidFill>
                  <a:schemeClr val="dk1"/>
                </a:solidFill>
                <a:latin typeface="Calibri"/>
                <a:ea typeface="Calibri"/>
                <a:cs typeface="Calibri"/>
                <a:sym typeface="Calibri"/>
              </a:defRPr>
            </a:lvl3pPr>
            <a:lvl4pPr lvl="3" algn="r">
              <a:buNone/>
              <a:defRPr sz="1300">
                <a:solidFill>
                  <a:schemeClr val="dk1"/>
                </a:solidFill>
                <a:latin typeface="Calibri"/>
                <a:ea typeface="Calibri"/>
                <a:cs typeface="Calibri"/>
                <a:sym typeface="Calibri"/>
              </a:defRPr>
            </a:lvl4pPr>
            <a:lvl5pPr lvl="4" algn="r">
              <a:buNone/>
              <a:defRPr sz="1300">
                <a:solidFill>
                  <a:schemeClr val="dk1"/>
                </a:solidFill>
                <a:latin typeface="Calibri"/>
                <a:ea typeface="Calibri"/>
                <a:cs typeface="Calibri"/>
                <a:sym typeface="Calibri"/>
              </a:defRPr>
            </a:lvl5pPr>
            <a:lvl6pPr lvl="5" algn="r">
              <a:buNone/>
              <a:defRPr sz="1300">
                <a:solidFill>
                  <a:schemeClr val="dk1"/>
                </a:solidFill>
                <a:latin typeface="Calibri"/>
                <a:ea typeface="Calibri"/>
                <a:cs typeface="Calibri"/>
                <a:sym typeface="Calibri"/>
              </a:defRPr>
            </a:lvl6pPr>
            <a:lvl7pPr lvl="6" algn="r">
              <a:buNone/>
              <a:defRPr sz="1300">
                <a:solidFill>
                  <a:schemeClr val="dk1"/>
                </a:solidFill>
                <a:latin typeface="Calibri"/>
                <a:ea typeface="Calibri"/>
                <a:cs typeface="Calibri"/>
                <a:sym typeface="Calibri"/>
              </a:defRPr>
            </a:lvl7pPr>
            <a:lvl8pPr lvl="7" algn="r">
              <a:buNone/>
              <a:defRPr sz="1300">
                <a:solidFill>
                  <a:schemeClr val="dk1"/>
                </a:solidFill>
                <a:latin typeface="Calibri"/>
                <a:ea typeface="Calibri"/>
                <a:cs typeface="Calibri"/>
                <a:sym typeface="Calibri"/>
              </a:defRPr>
            </a:lvl8pPr>
            <a:lvl9pPr lvl="8" algn="r">
              <a:buNone/>
              <a:defRPr sz="1300">
                <a:solidFill>
                  <a:schemeClr val="dk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Lst>
  <mc:AlternateContent>
    <mc:Choice Requires="p14">
      <p:transition spd="slow" p14:dur="700">
        <p:fade/>
      </p:transition>
    </mc:Choice>
    <mc:Fallback>
      <p:transition spd="slow">
        <p:fade/>
      </p:transition>
    </mc:Fallback>
  </mc:AlternateConten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125" name="Shape 125"/>
        <p:cNvGrpSpPr/>
        <p:nvPr/>
      </p:nvGrpSpPr>
      <p:grpSpPr>
        <a:xfrm>
          <a:off x="0" y="0"/>
          <a:ext cx="0" cy="0"/>
          <a:chOff x="0" y="0"/>
          <a:chExt cx="0" cy="0"/>
        </a:xfrm>
      </p:grpSpPr>
      <p:sp>
        <p:nvSpPr>
          <p:cNvPr id="126" name="Google Shape;126;p20"/>
          <p:cNvSpPr txBox="1"/>
          <p:nvPr>
            <p:ph type="title"/>
          </p:nvPr>
        </p:nvSpPr>
        <p:spPr>
          <a:xfrm>
            <a:off x="681038" y="365125"/>
            <a:ext cx="8544000" cy="1325700"/>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27" name="Google Shape;127;p20"/>
          <p:cNvSpPr txBox="1"/>
          <p:nvPr>
            <p:ph idx="1" type="body"/>
          </p:nvPr>
        </p:nvSpPr>
        <p:spPr>
          <a:xfrm>
            <a:off x="681038" y="1825625"/>
            <a:ext cx="8544000" cy="4351200"/>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8" name="Google Shape;128;p20"/>
          <p:cNvSpPr txBox="1"/>
          <p:nvPr>
            <p:ph idx="12" type="sldNum"/>
          </p:nvPr>
        </p:nvSpPr>
        <p:spPr>
          <a:xfrm>
            <a:off x="9269849" y="6333134"/>
            <a:ext cx="594300" cy="525000"/>
          </a:xfrm>
          <a:prstGeom prst="rect">
            <a:avLst/>
          </a:prstGeom>
          <a:noFill/>
          <a:ln>
            <a:noFill/>
          </a:ln>
        </p:spPr>
        <p:txBody>
          <a:bodyPr anchorCtr="0" anchor="t" bIns="91425" lIns="91425" spcFirstLastPara="1" rIns="91425" wrap="square" tIns="91425">
            <a:noAutofit/>
          </a:bodyPr>
          <a:lstStyle>
            <a:lvl1pPr lvl="0" algn="r">
              <a:buNone/>
              <a:defRPr sz="1300">
                <a:solidFill>
                  <a:schemeClr val="dk1"/>
                </a:solidFill>
                <a:latin typeface="Calibri"/>
                <a:ea typeface="Calibri"/>
                <a:cs typeface="Calibri"/>
                <a:sym typeface="Calibri"/>
              </a:defRPr>
            </a:lvl1pPr>
            <a:lvl2pPr lvl="1" algn="r">
              <a:buNone/>
              <a:defRPr sz="1300">
                <a:solidFill>
                  <a:schemeClr val="dk1"/>
                </a:solidFill>
                <a:latin typeface="Calibri"/>
                <a:ea typeface="Calibri"/>
                <a:cs typeface="Calibri"/>
                <a:sym typeface="Calibri"/>
              </a:defRPr>
            </a:lvl2pPr>
            <a:lvl3pPr lvl="2" algn="r">
              <a:buNone/>
              <a:defRPr sz="1300">
                <a:solidFill>
                  <a:schemeClr val="dk1"/>
                </a:solidFill>
                <a:latin typeface="Calibri"/>
                <a:ea typeface="Calibri"/>
                <a:cs typeface="Calibri"/>
                <a:sym typeface="Calibri"/>
              </a:defRPr>
            </a:lvl3pPr>
            <a:lvl4pPr lvl="3" algn="r">
              <a:buNone/>
              <a:defRPr sz="1300">
                <a:solidFill>
                  <a:schemeClr val="dk1"/>
                </a:solidFill>
                <a:latin typeface="Calibri"/>
                <a:ea typeface="Calibri"/>
                <a:cs typeface="Calibri"/>
                <a:sym typeface="Calibri"/>
              </a:defRPr>
            </a:lvl4pPr>
            <a:lvl5pPr lvl="4" algn="r">
              <a:buNone/>
              <a:defRPr sz="1300">
                <a:solidFill>
                  <a:schemeClr val="dk1"/>
                </a:solidFill>
                <a:latin typeface="Calibri"/>
                <a:ea typeface="Calibri"/>
                <a:cs typeface="Calibri"/>
                <a:sym typeface="Calibri"/>
              </a:defRPr>
            </a:lvl5pPr>
            <a:lvl6pPr lvl="5" algn="r">
              <a:buNone/>
              <a:defRPr sz="1300">
                <a:solidFill>
                  <a:schemeClr val="dk1"/>
                </a:solidFill>
                <a:latin typeface="Calibri"/>
                <a:ea typeface="Calibri"/>
                <a:cs typeface="Calibri"/>
                <a:sym typeface="Calibri"/>
              </a:defRPr>
            </a:lvl6pPr>
            <a:lvl7pPr lvl="6" algn="r">
              <a:buNone/>
              <a:defRPr sz="1300">
                <a:solidFill>
                  <a:schemeClr val="dk1"/>
                </a:solidFill>
                <a:latin typeface="Calibri"/>
                <a:ea typeface="Calibri"/>
                <a:cs typeface="Calibri"/>
                <a:sym typeface="Calibri"/>
              </a:defRPr>
            </a:lvl7pPr>
            <a:lvl8pPr lvl="7" algn="r">
              <a:buNone/>
              <a:defRPr sz="1300">
                <a:solidFill>
                  <a:schemeClr val="dk1"/>
                </a:solidFill>
                <a:latin typeface="Calibri"/>
                <a:ea typeface="Calibri"/>
                <a:cs typeface="Calibri"/>
                <a:sym typeface="Calibri"/>
              </a:defRPr>
            </a:lvl8pPr>
            <a:lvl9pPr lvl="8" algn="r">
              <a:buNone/>
              <a:defRPr sz="1300">
                <a:solidFill>
                  <a:schemeClr val="dk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66" r:id="rId2"/>
    <p:sldLayoutId id="2147483667" r:id="rId3"/>
    <p:sldLayoutId id="2147483668" r:id="rId4"/>
    <p:sldLayoutId id="2147483669" r:id="rId5"/>
    <p:sldLayoutId id="2147483670" r:id="rId6"/>
    <p:sldLayoutId id="2147483671" r:id="rId7"/>
    <p:sldLayoutId id="2147483672" r:id="rId8"/>
    <p:sldLayoutId id="2147483673" r:id="rId9"/>
    <p:sldLayoutId id="2147483674" r:id="rId10"/>
    <p:sldLayoutId id="2147483675" r:id="rId11"/>
    <p:sldLayoutId id="2147483676" r:id="rId12"/>
    <p:sldLayoutId id="2147483677" r:id="rId13"/>
    <p:sldLayoutId id="2147483678" r:id="rId14"/>
    <p:sldLayoutId id="2147483679" r:id="rId15"/>
    <p:sldLayoutId id="2147483680" r:id="rId16"/>
  </p:sldLayoutIdLst>
  <mc:AlternateContent>
    <mc:Choice Requires="p14">
      <p:transition spd="slow" p14:dur="700">
        <p:fade/>
      </p:transition>
    </mc:Choice>
    <mc:Fallback>
      <p:transition spd="slow">
        <p:fade/>
      </p:transition>
    </mc:Fallback>
  </mc:AlternateConten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236" name="Shape 236"/>
        <p:cNvGrpSpPr/>
        <p:nvPr/>
      </p:nvGrpSpPr>
      <p:grpSpPr>
        <a:xfrm>
          <a:off x="0" y="0"/>
          <a:ext cx="0" cy="0"/>
          <a:chOff x="0" y="0"/>
          <a:chExt cx="0" cy="0"/>
        </a:xfrm>
      </p:grpSpPr>
      <p:sp>
        <p:nvSpPr>
          <p:cNvPr id="237" name="Google Shape;237;g3e3a61befe4_62_258"/>
          <p:cNvSpPr txBox="1"/>
          <p:nvPr>
            <p:ph type="title"/>
          </p:nvPr>
        </p:nvSpPr>
        <p:spPr>
          <a:xfrm>
            <a:off x="681038" y="365125"/>
            <a:ext cx="8544000" cy="1325700"/>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38" name="Google Shape;238;g3e3a61befe4_62_258"/>
          <p:cNvSpPr txBox="1"/>
          <p:nvPr>
            <p:ph idx="1" type="body"/>
          </p:nvPr>
        </p:nvSpPr>
        <p:spPr>
          <a:xfrm>
            <a:off x="681038" y="1825625"/>
            <a:ext cx="8544000" cy="4351200"/>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39" name="Google Shape;239;g3e3a61befe4_62_258"/>
          <p:cNvSpPr txBox="1"/>
          <p:nvPr>
            <p:ph idx="12" type="sldNum"/>
          </p:nvPr>
        </p:nvSpPr>
        <p:spPr>
          <a:xfrm>
            <a:off x="9269849" y="6333134"/>
            <a:ext cx="594300" cy="525000"/>
          </a:xfrm>
          <a:prstGeom prst="rect">
            <a:avLst/>
          </a:prstGeom>
          <a:noFill/>
          <a:ln>
            <a:noFill/>
          </a:ln>
        </p:spPr>
        <p:txBody>
          <a:bodyPr anchorCtr="0" anchor="t" bIns="91425" lIns="91425" spcFirstLastPara="1" rIns="91425" wrap="square" tIns="91425">
            <a:noAutofit/>
          </a:bodyPr>
          <a:lstStyle>
            <a:lvl1pPr lvl="0" algn="r">
              <a:buNone/>
              <a:defRPr sz="1300">
                <a:solidFill>
                  <a:schemeClr val="dk1"/>
                </a:solidFill>
                <a:latin typeface="Calibri"/>
                <a:ea typeface="Calibri"/>
                <a:cs typeface="Calibri"/>
                <a:sym typeface="Calibri"/>
              </a:defRPr>
            </a:lvl1pPr>
            <a:lvl2pPr lvl="1" algn="r">
              <a:buNone/>
              <a:defRPr sz="1300">
                <a:solidFill>
                  <a:schemeClr val="dk1"/>
                </a:solidFill>
                <a:latin typeface="Calibri"/>
                <a:ea typeface="Calibri"/>
                <a:cs typeface="Calibri"/>
                <a:sym typeface="Calibri"/>
              </a:defRPr>
            </a:lvl2pPr>
            <a:lvl3pPr lvl="2" algn="r">
              <a:buNone/>
              <a:defRPr sz="1300">
                <a:solidFill>
                  <a:schemeClr val="dk1"/>
                </a:solidFill>
                <a:latin typeface="Calibri"/>
                <a:ea typeface="Calibri"/>
                <a:cs typeface="Calibri"/>
                <a:sym typeface="Calibri"/>
              </a:defRPr>
            </a:lvl3pPr>
            <a:lvl4pPr lvl="3" algn="r">
              <a:buNone/>
              <a:defRPr sz="1300">
                <a:solidFill>
                  <a:schemeClr val="dk1"/>
                </a:solidFill>
                <a:latin typeface="Calibri"/>
                <a:ea typeface="Calibri"/>
                <a:cs typeface="Calibri"/>
                <a:sym typeface="Calibri"/>
              </a:defRPr>
            </a:lvl4pPr>
            <a:lvl5pPr lvl="4" algn="r">
              <a:buNone/>
              <a:defRPr sz="1300">
                <a:solidFill>
                  <a:schemeClr val="dk1"/>
                </a:solidFill>
                <a:latin typeface="Calibri"/>
                <a:ea typeface="Calibri"/>
                <a:cs typeface="Calibri"/>
                <a:sym typeface="Calibri"/>
              </a:defRPr>
            </a:lvl5pPr>
            <a:lvl6pPr lvl="5" algn="r">
              <a:buNone/>
              <a:defRPr sz="1300">
                <a:solidFill>
                  <a:schemeClr val="dk1"/>
                </a:solidFill>
                <a:latin typeface="Calibri"/>
                <a:ea typeface="Calibri"/>
                <a:cs typeface="Calibri"/>
                <a:sym typeface="Calibri"/>
              </a:defRPr>
            </a:lvl6pPr>
            <a:lvl7pPr lvl="6" algn="r">
              <a:buNone/>
              <a:defRPr sz="1300">
                <a:solidFill>
                  <a:schemeClr val="dk1"/>
                </a:solidFill>
                <a:latin typeface="Calibri"/>
                <a:ea typeface="Calibri"/>
                <a:cs typeface="Calibri"/>
                <a:sym typeface="Calibri"/>
              </a:defRPr>
            </a:lvl7pPr>
            <a:lvl8pPr lvl="7" algn="r">
              <a:buNone/>
              <a:defRPr sz="1300">
                <a:solidFill>
                  <a:schemeClr val="dk1"/>
                </a:solidFill>
                <a:latin typeface="Calibri"/>
                <a:ea typeface="Calibri"/>
                <a:cs typeface="Calibri"/>
                <a:sym typeface="Calibri"/>
              </a:defRPr>
            </a:lvl8pPr>
            <a:lvl9pPr lvl="8" algn="r">
              <a:buNone/>
              <a:defRPr sz="1300">
                <a:solidFill>
                  <a:schemeClr val="dk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82" r:id="rId2"/>
    <p:sldLayoutId id="2147483683" r:id="rId3"/>
    <p:sldLayoutId id="2147483684" r:id="rId4"/>
    <p:sldLayoutId id="2147483685" r:id="rId5"/>
    <p:sldLayoutId id="2147483686" r:id="rId6"/>
    <p:sldLayoutId id="2147483687" r:id="rId7"/>
    <p:sldLayoutId id="2147483688" r:id="rId8"/>
    <p:sldLayoutId id="2147483689" r:id="rId9"/>
    <p:sldLayoutId id="2147483690" r:id="rId10"/>
    <p:sldLayoutId id="2147483691" r:id="rId11"/>
    <p:sldLayoutId id="2147483692" r:id="rId12"/>
    <p:sldLayoutId id="2147483693" r:id="rId13"/>
    <p:sldLayoutId id="2147483694" r:id="rId14"/>
    <p:sldLayoutId id="2147483695" r:id="rId15"/>
    <p:sldLayoutId id="2147483696" r:id="rId16"/>
    <p:sldLayoutId id="2147483697" r:id="rId17"/>
    <p:sldLayoutId id="2147483698" r:id="rId18"/>
    <p:sldLayoutId id="2147483699" r:id="rId19"/>
    <p:sldLayoutId id="2147483700" r:id="rId20"/>
    <p:sldLayoutId id="2147483701" r:id="rId21"/>
    <p:sldLayoutId id="2147483702" r:id="rId22"/>
    <p:sldLayoutId id="2147483703" r:id="rId23"/>
    <p:sldLayoutId id="2147483704" r:id="rId24"/>
    <p:sldLayoutId id="2147483705" r:id="rId25"/>
    <p:sldLayoutId id="2147483706" r:id="rId26"/>
    <p:sldLayoutId id="2147483707" r:id="rId27"/>
    <p:sldLayoutId id="2147483708" r:id="rId28"/>
  </p:sldLayoutIdLst>
  <mc:AlternateContent>
    <mc:Choice Requires="p14">
      <p:transition spd="slow" p14:dur="700">
        <p:fade/>
      </p:transition>
    </mc:Choice>
    <mc:Fallback>
      <p:transition spd="slow">
        <p:fade/>
      </p:transition>
    </mc:Fallback>
  </mc:AlternateConten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8.jpg"/><Relationship Id="rId4" Type="http://schemas.openxmlformats.org/officeDocument/2006/relationships/image" Target="../media/image9.png"/><Relationship Id="rId5"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xml"/><Relationship Id="rId3" Type="http://schemas.openxmlformats.org/officeDocument/2006/relationships/image" Target="../media/image6.png"/><Relationship Id="rId4" Type="http://schemas.openxmlformats.org/officeDocument/2006/relationships/image" Target="../media/image9.png"/><Relationship Id="rId5"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3.xml"/><Relationship Id="rId3" Type="http://schemas.openxmlformats.org/officeDocument/2006/relationships/image" Target="../media/image6.png"/><Relationship Id="rId4" Type="http://schemas.openxmlformats.org/officeDocument/2006/relationships/image" Target="../media/image9.png"/><Relationship Id="rId5"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6.png"/><Relationship Id="rId5" Type="http://schemas.openxmlformats.org/officeDocument/2006/relationships/image" Target="../media/image9.png"/><Relationship Id="rId6"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6.png"/><Relationship Id="rId5" Type="http://schemas.openxmlformats.org/officeDocument/2006/relationships/image" Target="../media/image9.png"/><Relationship Id="rId6"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6.xml"/><Relationship Id="rId3" Type="http://schemas.openxmlformats.org/officeDocument/2006/relationships/image" Target="../media/image2.png"/><Relationship Id="rId4" Type="http://schemas.openxmlformats.org/officeDocument/2006/relationships/image" Target="../media/image6.png"/><Relationship Id="rId5" Type="http://schemas.openxmlformats.org/officeDocument/2006/relationships/image" Target="../media/image9.png"/><Relationship Id="rId6"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7.xml"/><Relationship Id="rId3" Type="http://schemas.openxmlformats.org/officeDocument/2006/relationships/image" Target="../media/image2.png"/><Relationship Id="rId4" Type="http://schemas.openxmlformats.org/officeDocument/2006/relationships/image" Target="../media/image6.png"/><Relationship Id="rId5" Type="http://schemas.openxmlformats.org/officeDocument/2006/relationships/image" Target="../media/image9.png"/><Relationship Id="rId6"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8.xml"/><Relationship Id="rId3" Type="http://schemas.openxmlformats.org/officeDocument/2006/relationships/image" Target="../media/image2.png"/><Relationship Id="rId4" Type="http://schemas.openxmlformats.org/officeDocument/2006/relationships/image" Target="../media/image6.png"/><Relationship Id="rId5" Type="http://schemas.openxmlformats.org/officeDocument/2006/relationships/image" Target="../media/image9.png"/><Relationship Id="rId6"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9.xml"/><Relationship Id="rId3" Type="http://schemas.openxmlformats.org/officeDocument/2006/relationships/image" Target="../media/image6.png"/><Relationship Id="rId4" Type="http://schemas.openxmlformats.org/officeDocument/2006/relationships/image" Target="../media/image9.png"/><Relationship Id="rId5" Type="http://schemas.openxmlformats.org/officeDocument/2006/relationships/image" Target="../media/image4.png"/><Relationship Id="rId6"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10.xml"/><Relationship Id="rId3" Type="http://schemas.openxmlformats.org/officeDocument/2006/relationships/image" Target="../media/image2.png"/><Relationship Id="rId4" Type="http://schemas.openxmlformats.org/officeDocument/2006/relationships/image" Target="../media/image6.png"/><Relationship Id="rId5" Type="http://schemas.openxmlformats.org/officeDocument/2006/relationships/image" Target="../media/image9.png"/><Relationship Id="rId6"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11.xml"/><Relationship Id="rId3" Type="http://schemas.openxmlformats.org/officeDocument/2006/relationships/image" Target="../media/image2.png"/><Relationship Id="rId4" Type="http://schemas.openxmlformats.org/officeDocument/2006/relationships/image" Target="../media/image6.png"/><Relationship Id="rId5" Type="http://schemas.openxmlformats.org/officeDocument/2006/relationships/image" Target="../media/image9.png"/><Relationship Id="rId6"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12.xml"/><Relationship Id="rId3" Type="http://schemas.openxmlformats.org/officeDocument/2006/relationships/image" Target="../media/image6.png"/><Relationship Id="rId4" Type="http://schemas.openxmlformats.org/officeDocument/2006/relationships/image" Target="../media/image9.png"/><Relationship Id="rId5"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13.xml"/><Relationship Id="rId3" Type="http://schemas.openxmlformats.org/officeDocument/2006/relationships/image" Target="../media/image2.png"/><Relationship Id="rId4" Type="http://schemas.openxmlformats.org/officeDocument/2006/relationships/image" Target="../media/image6.png"/><Relationship Id="rId5" Type="http://schemas.openxmlformats.org/officeDocument/2006/relationships/image" Target="../media/image9.png"/><Relationship Id="rId6"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14.xml"/><Relationship Id="rId3" Type="http://schemas.openxmlformats.org/officeDocument/2006/relationships/image" Target="../media/image6.png"/><Relationship Id="rId4" Type="http://schemas.openxmlformats.org/officeDocument/2006/relationships/image" Target="../media/image9.png"/><Relationship Id="rId5"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15.xml"/><Relationship Id="rId3" Type="http://schemas.openxmlformats.org/officeDocument/2006/relationships/image" Target="../media/image9.png"/><Relationship Id="rId4" Type="http://schemas.openxmlformats.org/officeDocument/2006/relationships/image" Target="../media/image4.png"/><Relationship Id="rId5"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16.xml"/><Relationship Id="rId3" Type="http://schemas.openxmlformats.org/officeDocument/2006/relationships/image" Target="../media/image2.png"/><Relationship Id="rId4" Type="http://schemas.openxmlformats.org/officeDocument/2006/relationships/image" Target="../media/image6.png"/><Relationship Id="rId5" Type="http://schemas.openxmlformats.org/officeDocument/2006/relationships/image" Target="../media/image9.png"/><Relationship Id="rId6"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3.xml"/><Relationship Id="rId2" Type="http://schemas.openxmlformats.org/officeDocument/2006/relationships/notesSlide" Target="../notesSlides/notesSlide17.xml"/><Relationship Id="rId3" Type="http://schemas.openxmlformats.org/officeDocument/2006/relationships/image" Target="../media/image2.png"/><Relationship Id="rId4" Type="http://schemas.openxmlformats.org/officeDocument/2006/relationships/image" Target="../media/image6.png"/><Relationship Id="rId5" Type="http://schemas.openxmlformats.org/officeDocument/2006/relationships/image" Target="../media/image9.png"/><Relationship Id="rId6" Type="http://schemas.openxmlformats.org/officeDocument/2006/relationships/image" Target="../media/image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4.xml"/><Relationship Id="rId2" Type="http://schemas.openxmlformats.org/officeDocument/2006/relationships/notesSlide" Target="../notesSlides/notesSlide18.xml"/><Relationship Id="rId3" Type="http://schemas.openxmlformats.org/officeDocument/2006/relationships/image" Target="../media/image2.png"/><Relationship Id="rId4" Type="http://schemas.openxmlformats.org/officeDocument/2006/relationships/image" Target="../media/image6.png"/><Relationship Id="rId5" Type="http://schemas.openxmlformats.org/officeDocument/2006/relationships/image" Target="../media/image9.png"/><Relationship Id="rId6" Type="http://schemas.openxmlformats.org/officeDocument/2006/relationships/image" Target="../media/image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19.xml"/><Relationship Id="rId3" Type="http://schemas.openxmlformats.org/officeDocument/2006/relationships/image" Target="../media/image2.png"/><Relationship Id="rId4" Type="http://schemas.openxmlformats.org/officeDocument/2006/relationships/image" Target="../media/image6.png"/><Relationship Id="rId5" Type="http://schemas.openxmlformats.org/officeDocument/2006/relationships/image" Target="../media/image9.png"/><Relationship Id="rId6" Type="http://schemas.openxmlformats.org/officeDocument/2006/relationships/image" Target="../media/image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20.xml"/><Relationship Id="rId3" Type="http://schemas.openxmlformats.org/officeDocument/2006/relationships/image" Target="../media/image6.png"/><Relationship Id="rId4" Type="http://schemas.openxmlformats.org/officeDocument/2006/relationships/image" Target="../media/image9.png"/><Relationship Id="rId5" Type="http://schemas.openxmlformats.org/officeDocument/2006/relationships/image" Target="../media/image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6.xml"/><Relationship Id="rId2" Type="http://schemas.openxmlformats.org/officeDocument/2006/relationships/notesSlide" Target="../notesSlides/notesSlide21.xml"/><Relationship Id="rId3" Type="http://schemas.openxmlformats.org/officeDocument/2006/relationships/image" Target="../media/image2.png"/><Relationship Id="rId4" Type="http://schemas.openxmlformats.org/officeDocument/2006/relationships/image" Target="../media/image6.png"/><Relationship Id="rId5" Type="http://schemas.openxmlformats.org/officeDocument/2006/relationships/image" Target="../media/image9.png"/><Relationship Id="rId6" Type="http://schemas.openxmlformats.org/officeDocument/2006/relationships/image" Target="../media/image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7.xml"/><Relationship Id="rId2" Type="http://schemas.openxmlformats.org/officeDocument/2006/relationships/notesSlide" Target="../notesSlides/notesSlide22.xml"/><Relationship Id="rId3" Type="http://schemas.openxmlformats.org/officeDocument/2006/relationships/image" Target="../media/image2.png"/><Relationship Id="rId4" Type="http://schemas.openxmlformats.org/officeDocument/2006/relationships/image" Target="../media/image6.png"/><Relationship Id="rId5" Type="http://schemas.openxmlformats.org/officeDocument/2006/relationships/image" Target="../media/image9.png"/><Relationship Id="rId6" Type="http://schemas.openxmlformats.org/officeDocument/2006/relationships/image" Target="../media/image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23.xml"/><Relationship Id="rId3" Type="http://schemas.openxmlformats.org/officeDocument/2006/relationships/image" Target="../media/image6.png"/><Relationship Id="rId4" Type="http://schemas.openxmlformats.org/officeDocument/2006/relationships/image" Target="../media/image9.png"/><Relationship Id="rId5" Type="http://schemas.openxmlformats.org/officeDocument/2006/relationships/image" Target="../media/image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24.xml"/><Relationship Id="rId3" Type="http://schemas.openxmlformats.org/officeDocument/2006/relationships/image" Target="../media/image6.png"/><Relationship Id="rId4" Type="http://schemas.openxmlformats.org/officeDocument/2006/relationships/image" Target="../media/image9.png"/><Relationship Id="rId5" Type="http://schemas.openxmlformats.org/officeDocument/2006/relationships/image" Target="../media/image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25.xml"/><Relationship Id="rId3" Type="http://schemas.openxmlformats.org/officeDocument/2006/relationships/image" Target="../media/image6.png"/><Relationship Id="rId4" Type="http://schemas.openxmlformats.org/officeDocument/2006/relationships/image" Target="../media/image9.png"/><Relationship Id="rId5" Type="http://schemas.openxmlformats.org/officeDocument/2006/relationships/image" Target="../media/image4.png"/><Relationship Id="rId6" Type="http://schemas.openxmlformats.org/officeDocument/2006/relationships/image" Target="../media/image1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26.xml"/><Relationship Id="rId3" Type="http://schemas.openxmlformats.org/officeDocument/2006/relationships/image" Target="../media/image6.png"/><Relationship Id="rId4" Type="http://schemas.openxmlformats.org/officeDocument/2006/relationships/image" Target="../media/image9.png"/><Relationship Id="rId5" Type="http://schemas.openxmlformats.org/officeDocument/2006/relationships/image" Target="../media/image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27.xml"/><Relationship Id="rId3" Type="http://schemas.openxmlformats.org/officeDocument/2006/relationships/image" Target="../media/image6.png"/><Relationship Id="rId4" Type="http://schemas.openxmlformats.org/officeDocument/2006/relationships/image" Target="../media/image9.png"/><Relationship Id="rId5" Type="http://schemas.openxmlformats.org/officeDocument/2006/relationships/image" Target="../media/image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8.xml"/><Relationship Id="rId3" Type="http://schemas.openxmlformats.org/officeDocument/2006/relationships/image" Target="../media/image6.png"/><Relationship Id="rId4" Type="http://schemas.openxmlformats.org/officeDocument/2006/relationships/image" Target="../media/image9.png"/><Relationship Id="rId5" Type="http://schemas.openxmlformats.org/officeDocument/2006/relationships/image" Target="../media/image4.png"/><Relationship Id="rId6" Type="http://schemas.openxmlformats.org/officeDocument/2006/relationships/image" Target="../media/image20.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9.xml"/><Relationship Id="rId3" Type="http://schemas.openxmlformats.org/officeDocument/2006/relationships/image" Target="../media/image6.png"/><Relationship Id="rId4" Type="http://schemas.openxmlformats.org/officeDocument/2006/relationships/image" Target="../media/image22.png"/><Relationship Id="rId5" Type="http://schemas.openxmlformats.org/officeDocument/2006/relationships/image" Target="../media/image9.png"/><Relationship Id="rId6" Type="http://schemas.openxmlformats.org/officeDocument/2006/relationships/image" Target="../media/image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0.xml"/><Relationship Id="rId3" Type="http://schemas.openxmlformats.org/officeDocument/2006/relationships/image" Target="../media/image6.png"/><Relationship Id="rId4" Type="http://schemas.openxmlformats.org/officeDocument/2006/relationships/image" Target="../media/image9.png"/><Relationship Id="rId5" Type="http://schemas.openxmlformats.org/officeDocument/2006/relationships/image" Target="../media/image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1.xml"/><Relationship Id="rId3" Type="http://schemas.openxmlformats.org/officeDocument/2006/relationships/image" Target="../media/image6.png"/><Relationship Id="rId4" Type="http://schemas.openxmlformats.org/officeDocument/2006/relationships/image" Target="../media/image9.png"/><Relationship Id="rId5" Type="http://schemas.openxmlformats.org/officeDocument/2006/relationships/image" Target="../media/image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32.xml"/><Relationship Id="rId3" Type="http://schemas.openxmlformats.org/officeDocument/2006/relationships/image" Target="../media/image6.png"/><Relationship Id="rId4" Type="http://schemas.openxmlformats.org/officeDocument/2006/relationships/image" Target="../media/image26.png"/><Relationship Id="rId5" Type="http://schemas.openxmlformats.org/officeDocument/2006/relationships/image" Target="../media/image9.png"/><Relationship Id="rId6" Type="http://schemas.openxmlformats.org/officeDocument/2006/relationships/image" Target="../media/image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33.xml"/><Relationship Id="rId3" Type="http://schemas.openxmlformats.org/officeDocument/2006/relationships/image" Target="../media/image6.png"/><Relationship Id="rId4" Type="http://schemas.openxmlformats.org/officeDocument/2006/relationships/image" Target="../media/image26.png"/><Relationship Id="rId5" Type="http://schemas.openxmlformats.org/officeDocument/2006/relationships/image" Target="../media/image9.png"/><Relationship Id="rId6" Type="http://schemas.openxmlformats.org/officeDocument/2006/relationships/image" Target="../media/image4.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34.xml"/><Relationship Id="rId3" Type="http://schemas.openxmlformats.org/officeDocument/2006/relationships/image" Target="../media/image6.png"/><Relationship Id="rId4" Type="http://schemas.openxmlformats.org/officeDocument/2006/relationships/image" Target="../media/image26.png"/><Relationship Id="rId5" Type="http://schemas.openxmlformats.org/officeDocument/2006/relationships/image" Target="../media/image9.png"/><Relationship Id="rId6" Type="http://schemas.openxmlformats.org/officeDocument/2006/relationships/image" Target="../media/image4.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35.xml"/><Relationship Id="rId3" Type="http://schemas.openxmlformats.org/officeDocument/2006/relationships/image" Target="../media/image6.png"/><Relationship Id="rId4" Type="http://schemas.openxmlformats.org/officeDocument/2006/relationships/image" Target="../media/image9.png"/><Relationship Id="rId5" Type="http://schemas.openxmlformats.org/officeDocument/2006/relationships/image" Target="../media/image4.png"/><Relationship Id="rId6" Type="http://schemas.openxmlformats.org/officeDocument/2006/relationships/image" Target="../media/image21.png"/><Relationship Id="rId7" Type="http://schemas.openxmlformats.org/officeDocument/2006/relationships/image" Target="../media/image24.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6.xml"/><Relationship Id="rId3" Type="http://schemas.openxmlformats.org/officeDocument/2006/relationships/image" Target="../media/image6.png"/><Relationship Id="rId4" Type="http://schemas.openxmlformats.org/officeDocument/2006/relationships/image" Target="../media/image9.png"/><Relationship Id="rId5" Type="http://schemas.openxmlformats.org/officeDocument/2006/relationships/image" Target="../media/image4.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7.xml"/><Relationship Id="rId3" Type="http://schemas.openxmlformats.org/officeDocument/2006/relationships/image" Target="../media/image6.png"/><Relationship Id="rId4" Type="http://schemas.openxmlformats.org/officeDocument/2006/relationships/image" Target="../media/image9.png"/><Relationship Id="rId5" Type="http://schemas.openxmlformats.org/officeDocument/2006/relationships/image" Target="../media/image4.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8.xml"/><Relationship Id="rId3" Type="http://schemas.openxmlformats.org/officeDocument/2006/relationships/image" Target="../media/image6.png"/><Relationship Id="rId4" Type="http://schemas.openxmlformats.org/officeDocument/2006/relationships/image" Target="../media/image9.png"/><Relationship Id="rId5" Type="http://schemas.openxmlformats.org/officeDocument/2006/relationships/image" Target="../media/image4.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39.xml"/><Relationship Id="rId3" Type="http://schemas.openxmlformats.org/officeDocument/2006/relationships/image" Target="../media/image6.png"/><Relationship Id="rId4" Type="http://schemas.openxmlformats.org/officeDocument/2006/relationships/image" Target="../media/image9.png"/><Relationship Id="rId5" Type="http://schemas.openxmlformats.org/officeDocument/2006/relationships/image" Target="../media/image4.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40.xml"/><Relationship Id="rId3" Type="http://schemas.openxmlformats.org/officeDocument/2006/relationships/image" Target="../media/image6.png"/><Relationship Id="rId4" Type="http://schemas.openxmlformats.org/officeDocument/2006/relationships/image" Target="../media/image9.png"/><Relationship Id="rId5" Type="http://schemas.openxmlformats.org/officeDocument/2006/relationships/image" Target="../media/image4.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41.xml"/><Relationship Id="rId3" Type="http://schemas.openxmlformats.org/officeDocument/2006/relationships/image" Target="../media/image6.png"/><Relationship Id="rId4" Type="http://schemas.openxmlformats.org/officeDocument/2006/relationships/image" Target="../media/image9.png"/><Relationship Id="rId5" Type="http://schemas.openxmlformats.org/officeDocument/2006/relationships/image" Target="../media/image4.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42.xml"/><Relationship Id="rId3" Type="http://schemas.openxmlformats.org/officeDocument/2006/relationships/image" Target="../media/image6.png"/><Relationship Id="rId4" Type="http://schemas.openxmlformats.org/officeDocument/2006/relationships/image" Target="../media/image9.png"/><Relationship Id="rId5" Type="http://schemas.openxmlformats.org/officeDocument/2006/relationships/image" Target="../media/image4.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43.xml"/><Relationship Id="rId3" Type="http://schemas.openxmlformats.org/officeDocument/2006/relationships/image" Target="../media/image6.png"/><Relationship Id="rId4" Type="http://schemas.openxmlformats.org/officeDocument/2006/relationships/image" Target="../media/image9.png"/><Relationship Id="rId5" Type="http://schemas.openxmlformats.org/officeDocument/2006/relationships/image" Target="../media/image4.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44.xml"/><Relationship Id="rId3" Type="http://schemas.openxmlformats.org/officeDocument/2006/relationships/image" Target="../media/image6.png"/><Relationship Id="rId4" Type="http://schemas.openxmlformats.org/officeDocument/2006/relationships/image" Target="../media/image9.png"/><Relationship Id="rId5" Type="http://schemas.openxmlformats.org/officeDocument/2006/relationships/image" Target="../media/image4.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45.xml"/><Relationship Id="rId3" Type="http://schemas.openxmlformats.org/officeDocument/2006/relationships/image" Target="../media/image6.png"/><Relationship Id="rId4" Type="http://schemas.openxmlformats.org/officeDocument/2006/relationships/image" Target="../media/image9.png"/><Relationship Id="rId5" Type="http://schemas.openxmlformats.org/officeDocument/2006/relationships/image" Target="../media/image4.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46.xml"/><Relationship Id="rId3" Type="http://schemas.openxmlformats.org/officeDocument/2006/relationships/image" Target="../media/image6.png"/><Relationship Id="rId4" Type="http://schemas.openxmlformats.org/officeDocument/2006/relationships/image" Target="../media/image9.png"/><Relationship Id="rId5" Type="http://schemas.openxmlformats.org/officeDocument/2006/relationships/image" Target="../media/image4.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47.xml"/><Relationship Id="rId3" Type="http://schemas.openxmlformats.org/officeDocument/2006/relationships/image" Target="../media/image6.png"/><Relationship Id="rId4" Type="http://schemas.openxmlformats.org/officeDocument/2006/relationships/image" Target="../media/image9.png"/><Relationship Id="rId5" Type="http://schemas.openxmlformats.org/officeDocument/2006/relationships/image" Target="../media/image4.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48.xml"/><Relationship Id="rId3" Type="http://schemas.openxmlformats.org/officeDocument/2006/relationships/image" Target="../media/image6.png"/><Relationship Id="rId4" Type="http://schemas.openxmlformats.org/officeDocument/2006/relationships/image" Target="../media/image9.png"/><Relationship Id="rId5" Type="http://schemas.openxmlformats.org/officeDocument/2006/relationships/image" Target="../media/image4.png"/><Relationship Id="rId6" Type="http://schemas.openxmlformats.org/officeDocument/2006/relationships/image" Target="../media/image25.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49.xml"/><Relationship Id="rId3" Type="http://schemas.openxmlformats.org/officeDocument/2006/relationships/image" Target="../media/image6.png"/><Relationship Id="rId4" Type="http://schemas.openxmlformats.org/officeDocument/2006/relationships/image" Target="../media/image9.png"/><Relationship Id="rId5" Type="http://schemas.openxmlformats.org/officeDocument/2006/relationships/image" Target="../media/image4.png"/><Relationship Id="rId6" Type="http://schemas.openxmlformats.org/officeDocument/2006/relationships/image" Target="../media/image25.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50.xml"/><Relationship Id="rId3" Type="http://schemas.openxmlformats.org/officeDocument/2006/relationships/image" Target="../media/image6.png"/><Relationship Id="rId4" Type="http://schemas.openxmlformats.org/officeDocument/2006/relationships/image" Target="../media/image9.png"/><Relationship Id="rId5" Type="http://schemas.openxmlformats.org/officeDocument/2006/relationships/image" Target="../media/image4.png"/><Relationship Id="rId6" Type="http://schemas.openxmlformats.org/officeDocument/2006/relationships/image" Target="../media/image25.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51.xml"/><Relationship Id="rId3" Type="http://schemas.openxmlformats.org/officeDocument/2006/relationships/image" Target="../media/image6.png"/><Relationship Id="rId4" Type="http://schemas.openxmlformats.org/officeDocument/2006/relationships/image" Target="../media/image9.png"/><Relationship Id="rId5" Type="http://schemas.openxmlformats.org/officeDocument/2006/relationships/image" Target="../media/image4.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52.xml"/><Relationship Id="rId3" Type="http://schemas.openxmlformats.org/officeDocument/2006/relationships/image" Target="../media/image6.png"/><Relationship Id="rId4" Type="http://schemas.openxmlformats.org/officeDocument/2006/relationships/image" Target="../media/image9.png"/><Relationship Id="rId5" Type="http://schemas.openxmlformats.org/officeDocument/2006/relationships/image" Target="../media/image4.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53.xml"/><Relationship Id="rId3" Type="http://schemas.openxmlformats.org/officeDocument/2006/relationships/image" Target="../media/image6.png"/><Relationship Id="rId4" Type="http://schemas.openxmlformats.org/officeDocument/2006/relationships/image" Target="../media/image9.png"/><Relationship Id="rId5" Type="http://schemas.openxmlformats.org/officeDocument/2006/relationships/image" Target="../media/image4.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54.xml"/><Relationship Id="rId3" Type="http://schemas.openxmlformats.org/officeDocument/2006/relationships/image" Target="../media/image6.png"/><Relationship Id="rId4" Type="http://schemas.openxmlformats.org/officeDocument/2006/relationships/image" Target="../media/image9.png"/><Relationship Id="rId5" Type="http://schemas.openxmlformats.org/officeDocument/2006/relationships/image" Target="../media/image4.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55.xml"/><Relationship Id="rId3" Type="http://schemas.openxmlformats.org/officeDocument/2006/relationships/image" Target="../media/image6.png"/><Relationship Id="rId4" Type="http://schemas.openxmlformats.org/officeDocument/2006/relationships/image" Target="../media/image9.png"/><Relationship Id="rId5" Type="http://schemas.openxmlformats.org/officeDocument/2006/relationships/image" Target="../media/image4.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56.xml"/><Relationship Id="rId3" Type="http://schemas.openxmlformats.org/officeDocument/2006/relationships/image" Target="../media/image6.png"/><Relationship Id="rId4" Type="http://schemas.openxmlformats.org/officeDocument/2006/relationships/image" Target="../media/image9.png"/><Relationship Id="rId5" Type="http://schemas.openxmlformats.org/officeDocument/2006/relationships/image" Target="../media/image4.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57.xml"/><Relationship Id="rId3" Type="http://schemas.openxmlformats.org/officeDocument/2006/relationships/image" Target="../media/image6.png"/><Relationship Id="rId4" Type="http://schemas.openxmlformats.org/officeDocument/2006/relationships/image" Target="../media/image9.png"/><Relationship Id="rId5" Type="http://schemas.openxmlformats.org/officeDocument/2006/relationships/image" Target="../media/image4.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58.xml"/><Relationship Id="rId3" Type="http://schemas.openxmlformats.org/officeDocument/2006/relationships/image" Target="../media/image6.png"/><Relationship Id="rId4" Type="http://schemas.openxmlformats.org/officeDocument/2006/relationships/image" Target="../media/image9.png"/><Relationship Id="rId5" Type="http://schemas.openxmlformats.org/officeDocument/2006/relationships/image" Target="../media/image4.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59.xml"/><Relationship Id="rId3" Type="http://schemas.openxmlformats.org/officeDocument/2006/relationships/image" Target="../media/image6.png"/><Relationship Id="rId4" Type="http://schemas.openxmlformats.org/officeDocument/2006/relationships/image" Target="../media/image9.png"/><Relationship Id="rId5" Type="http://schemas.openxmlformats.org/officeDocument/2006/relationships/image" Target="../media/image4.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60.xml"/><Relationship Id="rId3" Type="http://schemas.openxmlformats.org/officeDocument/2006/relationships/image" Target="../media/image6.png"/><Relationship Id="rId4" Type="http://schemas.openxmlformats.org/officeDocument/2006/relationships/image" Target="../media/image9.png"/><Relationship Id="rId5" Type="http://schemas.openxmlformats.org/officeDocument/2006/relationships/image" Target="../media/image4.png"/><Relationship Id="rId6" Type="http://schemas.openxmlformats.org/officeDocument/2006/relationships/image" Target="../media/image23.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61.xml"/><Relationship Id="rId3" Type="http://schemas.openxmlformats.org/officeDocument/2006/relationships/image" Target="../media/image6.png"/><Relationship Id="rId4" Type="http://schemas.openxmlformats.org/officeDocument/2006/relationships/image" Target="../media/image9.png"/><Relationship Id="rId5" Type="http://schemas.openxmlformats.org/officeDocument/2006/relationships/image" Target="../media/image4.png"/><Relationship Id="rId6" Type="http://schemas.openxmlformats.org/officeDocument/2006/relationships/image" Target="../media/image23.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62.xml"/><Relationship Id="rId3" Type="http://schemas.openxmlformats.org/officeDocument/2006/relationships/image" Target="../media/image6.png"/><Relationship Id="rId4" Type="http://schemas.openxmlformats.org/officeDocument/2006/relationships/image" Target="../media/image9.png"/><Relationship Id="rId5" Type="http://schemas.openxmlformats.org/officeDocument/2006/relationships/image" Target="../media/image4.png"/><Relationship Id="rId6" Type="http://schemas.openxmlformats.org/officeDocument/2006/relationships/hyperlink" Target="https://forms.gle/vFJEkox4tcVCETt39" TargetMode="Externa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63.xml"/><Relationship Id="rId3" Type="http://schemas.openxmlformats.org/officeDocument/2006/relationships/image" Target="../media/image6.png"/><Relationship Id="rId4" Type="http://schemas.openxmlformats.org/officeDocument/2006/relationships/image" Target="../media/image9.png"/><Relationship Id="rId5" Type="http://schemas.openxmlformats.org/officeDocument/2006/relationships/image" Target="../media/image4.png"/><Relationship Id="rId6" Type="http://schemas.openxmlformats.org/officeDocument/2006/relationships/hyperlink" Target="about:blank" TargetMode="External"/><Relationship Id="rId7" Type="http://schemas.openxmlformats.org/officeDocument/2006/relationships/hyperlink" Target="http://strategy.ec.europa.eu/en/library/ethics-guidelines-trustworthy-ai" TargetMode="External"/><Relationship Id="rId8" Type="http://schemas.openxmlformats.org/officeDocument/2006/relationships/hyperlink" Target="https://unesdoc.unesco.org/ark:/48223/pf0000381137.locale=en" TargetMode="Externa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64.xml"/><Relationship Id="rId3" Type="http://schemas.openxmlformats.org/officeDocument/2006/relationships/image" Target="../media/image6.png"/><Relationship Id="rId4" Type="http://schemas.openxmlformats.org/officeDocument/2006/relationships/image" Target="../media/image9.png"/><Relationship Id="rId5" Type="http://schemas.openxmlformats.org/officeDocument/2006/relationships/image" Target="../media/image4.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65.xml"/><Relationship Id="rId3" Type="http://schemas.openxmlformats.org/officeDocument/2006/relationships/image" Target="../media/image6.png"/><Relationship Id="rId4" Type="http://schemas.openxmlformats.org/officeDocument/2006/relationships/image" Target="../media/image9.png"/><Relationship Id="rId5" Type="http://schemas.openxmlformats.org/officeDocument/2006/relationships/image" Target="../media/image4.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 Id="rId3" Type="http://schemas.openxmlformats.org/officeDocument/2006/relationships/image" Target="../media/image18.jpg"/><Relationship Id="rId4" Type="http://schemas.openxmlformats.org/officeDocument/2006/relationships/image" Target="../media/image9.png"/><Relationship Id="rId5"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8D8D8"/>
        </a:solidFill>
      </p:bgPr>
    </p:bg>
    <p:spTree>
      <p:nvGrpSpPr>
        <p:cNvPr id="411" name="Shape 411"/>
        <p:cNvGrpSpPr/>
        <p:nvPr/>
      </p:nvGrpSpPr>
      <p:grpSpPr>
        <a:xfrm>
          <a:off x="0" y="0"/>
          <a:ext cx="0" cy="0"/>
          <a:chOff x="0" y="0"/>
          <a:chExt cx="0" cy="0"/>
        </a:xfrm>
      </p:grpSpPr>
      <p:pic>
        <p:nvPicPr>
          <p:cNvPr descr="A sophisticated and modern digital background for an AI presentation. The image features soft, glowing blue neural network patterns, abstract data connections, and a clean, high-tech aesthetic with ample dark space for white text legibility. The style is professional and minimalist." id="412" name="Google Shape;412;p1"/>
          <p:cNvPicPr preferRelativeResize="0"/>
          <p:nvPr/>
        </p:nvPicPr>
        <p:blipFill rotWithShape="1">
          <a:blip r:embed="rId3">
            <a:alphaModFix/>
          </a:blip>
          <a:srcRect b="0" l="9376" r="9376" t="0"/>
          <a:stretch/>
        </p:blipFill>
        <p:spPr>
          <a:xfrm>
            <a:off x="0" y="0"/>
            <a:ext cx="9906000" cy="6858000"/>
          </a:xfrm>
          <a:prstGeom prst="rect">
            <a:avLst/>
          </a:prstGeom>
          <a:noFill/>
          <a:ln>
            <a:noFill/>
          </a:ln>
        </p:spPr>
      </p:pic>
      <p:sp>
        <p:nvSpPr>
          <p:cNvPr id="413" name="Google Shape;413;p1"/>
          <p:cNvSpPr/>
          <p:nvPr/>
        </p:nvSpPr>
        <p:spPr>
          <a:xfrm>
            <a:off x="0" y="0"/>
            <a:ext cx="9906000" cy="6858000"/>
          </a:xfrm>
          <a:prstGeom prst="rect">
            <a:avLst/>
          </a:prstGeom>
          <a:solidFill>
            <a:srgbClr val="0B1A2A">
              <a:alpha val="60000"/>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4" name="Google Shape;414;p1"/>
          <p:cNvSpPr/>
          <p:nvPr/>
        </p:nvSpPr>
        <p:spPr>
          <a:xfrm>
            <a:off x="0" y="0"/>
            <a:ext cx="9906000" cy="1047900"/>
          </a:xfrm>
          <a:prstGeom prst="rect">
            <a:avLst/>
          </a:prstGeom>
          <a:solidFill>
            <a:srgbClr val="FFFFFF"/>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415" name="Google Shape;415;p1"/>
          <p:cNvPicPr preferRelativeResize="0"/>
          <p:nvPr/>
        </p:nvPicPr>
        <p:blipFill rotWithShape="1">
          <a:blip r:embed="rId4">
            <a:alphaModFix/>
          </a:blip>
          <a:srcRect b="0" l="387" r="387" t="0"/>
          <a:stretch/>
        </p:blipFill>
        <p:spPr>
          <a:xfrm>
            <a:off x="381000" y="285750"/>
            <a:ext cx="1905000" cy="495300"/>
          </a:xfrm>
          <a:prstGeom prst="rect">
            <a:avLst/>
          </a:prstGeom>
          <a:noFill/>
          <a:ln>
            <a:noFill/>
          </a:ln>
        </p:spPr>
      </p:pic>
      <p:sp>
        <p:nvSpPr>
          <p:cNvPr id="416" name="Google Shape;416;p1"/>
          <p:cNvSpPr txBox="1"/>
          <p:nvPr>
            <p:ph idx="1" type="subTitle"/>
          </p:nvPr>
        </p:nvSpPr>
        <p:spPr>
          <a:xfrm>
            <a:off x="666750" y="4191000"/>
            <a:ext cx="8572500" cy="1428900"/>
          </a:xfrm>
          <a:prstGeom prst="rect">
            <a:avLst/>
          </a:prstGeom>
          <a:solidFill>
            <a:srgbClr val="000000">
              <a:alpha val="0"/>
            </a:srgbClr>
          </a:solidFill>
          <a:ln>
            <a:noFill/>
          </a:ln>
        </p:spPr>
        <p:txBody>
          <a:bodyPr anchorCtr="0" anchor="ctr" bIns="0" lIns="0" spcFirstLastPara="1" rIns="0" wrap="square" tIns="0">
            <a:normAutofit/>
          </a:bodyPr>
          <a:lstStyle/>
          <a:p>
            <a:pPr indent="0" lvl="0" marL="0" rtl="0" algn="ctr">
              <a:lnSpc>
                <a:spcPct val="90000"/>
              </a:lnSpc>
              <a:spcBef>
                <a:spcPts val="1000"/>
              </a:spcBef>
              <a:spcAft>
                <a:spcPts val="0"/>
              </a:spcAft>
              <a:buSzPts val="2000"/>
              <a:buNone/>
            </a:pPr>
            <a:r>
              <a:rPr b="0" lang="en-US" sz="2000">
                <a:solidFill>
                  <a:srgbClr val="E0E0E0"/>
                </a:solidFill>
                <a:latin typeface="Arial"/>
                <a:ea typeface="Arial"/>
                <a:cs typeface="Arial"/>
                <a:sym typeface="Arial"/>
              </a:rPr>
              <a:t>Carlos Eduardo Pantoja, Nilson Mori, Tielle Alexandre, Flavia Bernardini, </a:t>
            </a:r>
            <a:r>
              <a:rPr b="0" lang="en-US">
                <a:solidFill>
                  <a:srgbClr val="E0E0E0"/>
                </a:solidFill>
              </a:rPr>
              <a:t>Fredrik Heintz</a:t>
            </a:r>
            <a:endParaRPr b="0" sz="2000">
              <a:solidFill>
                <a:srgbClr val="E0E0E0"/>
              </a:solidFill>
              <a:latin typeface="Arial"/>
              <a:ea typeface="Arial"/>
              <a:cs typeface="Arial"/>
              <a:sym typeface="Arial"/>
            </a:endParaRPr>
          </a:p>
          <a:p>
            <a:pPr indent="0" lvl="0" marL="0" rtl="0" algn="ctr">
              <a:lnSpc>
                <a:spcPct val="90000"/>
              </a:lnSpc>
              <a:spcBef>
                <a:spcPts val="3000"/>
              </a:spcBef>
              <a:spcAft>
                <a:spcPts val="0"/>
              </a:spcAft>
              <a:buSzPts val="2000"/>
              <a:buNone/>
            </a:pPr>
            <a:r>
              <a:rPr lang="en-US" sz="1800">
                <a:solidFill>
                  <a:srgbClr val="B0BEC5"/>
                </a:solidFill>
                <a:latin typeface="Arial"/>
                <a:ea typeface="Arial"/>
                <a:cs typeface="Arial"/>
                <a:sym typeface="Arial"/>
              </a:rPr>
              <a:t>202</a:t>
            </a:r>
            <a:r>
              <a:rPr lang="en-US" sz="1800">
                <a:solidFill>
                  <a:srgbClr val="B0BEC5"/>
                </a:solidFill>
              </a:rPr>
              <a:t>6</a:t>
            </a:r>
            <a:endParaRPr sz="1800">
              <a:solidFill>
                <a:srgbClr val="B0BEC5"/>
              </a:solidFill>
              <a:latin typeface="Arial"/>
              <a:ea typeface="Arial"/>
              <a:cs typeface="Arial"/>
              <a:sym typeface="Arial"/>
            </a:endParaRPr>
          </a:p>
        </p:txBody>
      </p:sp>
      <p:pic>
        <p:nvPicPr>
          <p:cNvPr id="417" name="Google Shape;417;p1"/>
          <p:cNvPicPr preferRelativeResize="0"/>
          <p:nvPr/>
        </p:nvPicPr>
        <p:blipFill rotWithShape="1">
          <a:blip r:embed="rId5">
            <a:alphaModFix/>
          </a:blip>
          <a:srcRect b="0" l="50" r="40" t="0"/>
          <a:stretch/>
        </p:blipFill>
        <p:spPr>
          <a:xfrm>
            <a:off x="7620000" y="204788"/>
            <a:ext cx="1905000" cy="657300"/>
          </a:xfrm>
          <a:prstGeom prst="rect">
            <a:avLst/>
          </a:prstGeom>
          <a:noFill/>
          <a:ln>
            <a:noFill/>
          </a:ln>
        </p:spPr>
      </p:pic>
      <p:cxnSp>
        <p:nvCxnSpPr>
          <p:cNvPr id="418" name="Google Shape;418;p1"/>
          <p:cNvCxnSpPr/>
          <p:nvPr/>
        </p:nvCxnSpPr>
        <p:spPr>
          <a:xfrm>
            <a:off x="4000500" y="4095750"/>
            <a:ext cx="1905000" cy="0"/>
          </a:xfrm>
          <a:prstGeom prst="straightConnector1">
            <a:avLst/>
          </a:prstGeom>
          <a:solidFill>
            <a:srgbClr val="FFFFFF"/>
          </a:solidFill>
          <a:ln cap="flat" cmpd="sng" w="19050">
            <a:solidFill>
              <a:srgbClr val="4FC3F7"/>
            </a:solidFill>
            <a:prstDash val="solid"/>
            <a:round/>
            <a:headEnd len="sm" w="sm" type="none"/>
            <a:tailEnd len="sm" w="sm" type="none"/>
          </a:ln>
        </p:spPr>
      </p:cxnSp>
      <p:sp>
        <p:nvSpPr>
          <p:cNvPr id="419" name="Google Shape;419;p1"/>
          <p:cNvSpPr txBox="1"/>
          <p:nvPr>
            <p:ph type="ctrTitle"/>
          </p:nvPr>
        </p:nvSpPr>
        <p:spPr>
          <a:xfrm>
            <a:off x="666750" y="1714500"/>
            <a:ext cx="8572500" cy="2286000"/>
          </a:xfrm>
          <a:prstGeom prst="rect">
            <a:avLst/>
          </a:prstGeom>
          <a:solidFill>
            <a:srgbClr val="000000">
              <a:alpha val="0"/>
            </a:srgbClr>
          </a:solidFill>
          <a:ln>
            <a:noFill/>
          </a:ln>
        </p:spPr>
        <p:txBody>
          <a:bodyPr anchorCtr="0" anchor="ctr" bIns="0" lIns="0" spcFirstLastPara="1" rIns="0" wrap="square" tIns="0">
            <a:normAutofit/>
          </a:bodyPr>
          <a:lstStyle/>
          <a:p>
            <a:pPr indent="0" lvl="0" marL="0" rtl="0" algn="ctr">
              <a:lnSpc>
                <a:spcPct val="90000"/>
              </a:lnSpc>
              <a:spcBef>
                <a:spcPts val="0"/>
              </a:spcBef>
              <a:spcAft>
                <a:spcPts val="0"/>
              </a:spcAft>
              <a:buSzPts val="3600"/>
              <a:buNone/>
            </a:pPr>
            <a:r>
              <a:rPr b="0" lang="en-US" sz="3000">
                <a:solidFill>
                  <a:srgbClr val="FFFFFF"/>
                </a:solidFill>
              </a:rPr>
              <a:t>Teaching Ethical Artificial Intelligence to Computer Science Students: </a:t>
            </a:r>
            <a:endParaRPr b="0" i="0" sz="3000">
              <a:solidFill>
                <a:srgbClr val="FFFFFF"/>
              </a:solidFill>
              <a:latin typeface="Arial Black"/>
              <a:ea typeface="Arial Black"/>
              <a:cs typeface="Arial Black"/>
              <a:sym typeface="Arial Black"/>
            </a:endParaRPr>
          </a:p>
          <a:p>
            <a:pPr indent="0" lvl="0" marL="0" rtl="0" algn="ctr">
              <a:lnSpc>
                <a:spcPct val="90000"/>
              </a:lnSpc>
              <a:spcBef>
                <a:spcPts val="0"/>
              </a:spcBef>
              <a:spcAft>
                <a:spcPts val="0"/>
              </a:spcAft>
              <a:buClr>
                <a:srgbClr val="000000"/>
              </a:buClr>
              <a:buSzPts val="3600"/>
              <a:buFont typeface="Arial"/>
              <a:buNone/>
            </a:pPr>
            <a:r>
              <a:rPr lang="en-US" sz="2800">
                <a:solidFill>
                  <a:srgbClr val="4FC3F7"/>
                </a:solidFill>
                <a:latin typeface="Arial"/>
                <a:ea typeface="Arial"/>
                <a:cs typeface="Arial"/>
                <a:sym typeface="Arial"/>
              </a:rPr>
              <a:t>A Case Study Applied to a Belief-Desire-Intention Multi-Agent System</a:t>
            </a:r>
            <a:endParaRPr i="0" sz="2800">
              <a:solidFill>
                <a:srgbClr val="FFFFFF"/>
              </a:solidFill>
              <a:latin typeface="Arial"/>
              <a:ea typeface="Arial"/>
              <a:cs typeface="Arial"/>
              <a:sym typeface="Arial"/>
            </a:endParaRPr>
          </a:p>
        </p:txBody>
      </p:sp>
      <p:sp>
        <p:nvSpPr>
          <p:cNvPr id="420" name="Google Shape;420;p1"/>
          <p:cNvSpPr txBox="1"/>
          <p:nvPr>
            <p:ph idx="12" type="sldNum"/>
          </p:nvPr>
        </p:nvSpPr>
        <p:spPr>
          <a:xfrm>
            <a:off x="8749502" y="6424086"/>
            <a:ext cx="1008000" cy="365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rgbClr val="000000"/>
              </a:buClr>
              <a:buSzPts val="2800"/>
              <a:buFont typeface="Arial"/>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 name="Shape 424"/>
        <p:cNvGrpSpPr/>
        <p:nvPr/>
      </p:nvGrpSpPr>
      <p:grpSpPr>
        <a:xfrm>
          <a:off x="0" y="0"/>
          <a:ext cx="0" cy="0"/>
          <a:chOff x="0" y="0"/>
          <a:chExt cx="0" cy="0"/>
        </a:xfrm>
      </p:grpSpPr>
      <p:sp>
        <p:nvSpPr>
          <p:cNvPr id="425" name="Google Shape;425;g3e2ebeee225_0_0"/>
          <p:cNvSpPr txBox="1"/>
          <p:nvPr>
            <p:ph type="title"/>
          </p:nvPr>
        </p:nvSpPr>
        <p:spPr>
          <a:xfrm>
            <a:off x="101478" y="108438"/>
            <a:ext cx="9000900" cy="6246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1E4E79"/>
              </a:buClr>
              <a:buSzPts val="4000"/>
              <a:buFont typeface="Arial"/>
              <a:buNone/>
            </a:pPr>
            <a:r>
              <a:rPr lang="en-US" sz="2400"/>
              <a:t>Agenda</a:t>
            </a:r>
            <a:endParaRPr sz="2400"/>
          </a:p>
        </p:txBody>
      </p:sp>
      <p:sp>
        <p:nvSpPr>
          <p:cNvPr id="426" name="Google Shape;426;g3e2ebeee225_0_0"/>
          <p:cNvSpPr txBox="1"/>
          <p:nvPr/>
        </p:nvSpPr>
        <p:spPr>
          <a:xfrm>
            <a:off x="101466" y="953524"/>
            <a:ext cx="9000900" cy="4668900"/>
          </a:xfrm>
          <a:prstGeom prst="rect">
            <a:avLst/>
          </a:prstGeom>
          <a:noFill/>
          <a:ln>
            <a:noFill/>
          </a:ln>
        </p:spPr>
        <p:txBody>
          <a:bodyPr anchorCtr="0" anchor="t" bIns="45700" lIns="91425" spcFirstLastPara="1" rIns="91425" wrap="square" tIns="45700">
            <a:normAutofit/>
          </a:bodyPr>
          <a:lstStyle/>
          <a:p>
            <a:pPr indent="0" lvl="0" marL="914400" rtl="0" algn="l">
              <a:lnSpc>
                <a:spcPct val="90000"/>
              </a:lnSpc>
              <a:spcBef>
                <a:spcPts val="0"/>
              </a:spcBef>
              <a:spcAft>
                <a:spcPts val="0"/>
              </a:spcAft>
              <a:buClr>
                <a:schemeClr val="dk1"/>
              </a:buClr>
              <a:buSzPts val="1100"/>
              <a:buFont typeface="Arial"/>
              <a:buNone/>
            </a:pPr>
            <a:r>
              <a:t/>
            </a:r>
            <a:endParaRPr sz="2250">
              <a:solidFill>
                <a:srgbClr val="262626"/>
              </a:solidFill>
            </a:endParaRPr>
          </a:p>
          <a:p>
            <a:pPr indent="0" lvl="0" marL="914400" rtl="0" algn="l">
              <a:lnSpc>
                <a:spcPct val="90000"/>
              </a:lnSpc>
              <a:spcBef>
                <a:spcPts val="0"/>
              </a:spcBef>
              <a:spcAft>
                <a:spcPts val="0"/>
              </a:spcAft>
              <a:buClr>
                <a:schemeClr val="dk1"/>
              </a:buClr>
              <a:buSzPts val="1100"/>
              <a:buFont typeface="Arial"/>
              <a:buNone/>
            </a:pPr>
            <a:r>
              <a:t/>
            </a:r>
            <a:endParaRPr sz="2250">
              <a:solidFill>
                <a:srgbClr val="262626"/>
              </a:solidFill>
            </a:endParaRPr>
          </a:p>
          <a:p>
            <a:pPr indent="0" lvl="0" marL="914400" marR="0" rtl="0" algn="l">
              <a:lnSpc>
                <a:spcPct val="90000"/>
              </a:lnSpc>
              <a:spcBef>
                <a:spcPts val="0"/>
              </a:spcBef>
              <a:spcAft>
                <a:spcPts val="0"/>
              </a:spcAft>
              <a:buClr>
                <a:srgbClr val="000000"/>
              </a:buClr>
              <a:buSzPts val="2250"/>
              <a:buFont typeface="Arial"/>
              <a:buNone/>
            </a:pPr>
            <a:r>
              <a:t/>
            </a:r>
            <a:endParaRPr sz="2250">
              <a:solidFill>
                <a:srgbClr val="262626"/>
              </a:solidFill>
            </a:endParaRPr>
          </a:p>
          <a:p>
            <a:pPr indent="0" lvl="0" marL="0" marR="0" rtl="0" algn="l">
              <a:lnSpc>
                <a:spcPct val="90000"/>
              </a:lnSpc>
              <a:spcBef>
                <a:spcPts val="0"/>
              </a:spcBef>
              <a:spcAft>
                <a:spcPts val="0"/>
              </a:spcAft>
              <a:buClr>
                <a:srgbClr val="000000"/>
              </a:buClr>
              <a:buSzPts val="1950"/>
              <a:buFont typeface="Arial"/>
              <a:buNone/>
            </a:pPr>
            <a:r>
              <a:t/>
            </a:r>
            <a:endParaRPr b="0" i="0" sz="1950" u="none" cap="none" strike="noStrike">
              <a:solidFill>
                <a:srgbClr val="262626"/>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1950"/>
              <a:buFont typeface="Arial"/>
              <a:buNone/>
            </a:pPr>
            <a:r>
              <a:t/>
            </a:r>
            <a:endParaRPr b="0" i="0" sz="1950" u="none" cap="none" strike="noStrike">
              <a:solidFill>
                <a:srgbClr val="262626"/>
              </a:solidFill>
              <a:latin typeface="Arial"/>
              <a:ea typeface="Arial"/>
              <a:cs typeface="Arial"/>
              <a:sym typeface="Arial"/>
            </a:endParaRPr>
          </a:p>
          <a:p>
            <a:pPr indent="0" lvl="0" marL="457200" marR="0" rtl="0" algn="l">
              <a:lnSpc>
                <a:spcPct val="90000"/>
              </a:lnSpc>
              <a:spcBef>
                <a:spcPts val="0"/>
              </a:spcBef>
              <a:spcAft>
                <a:spcPts val="0"/>
              </a:spcAft>
              <a:buClr>
                <a:srgbClr val="000000"/>
              </a:buClr>
              <a:buSzPts val="1950"/>
              <a:buFont typeface="Arial"/>
              <a:buNone/>
            </a:pPr>
            <a:r>
              <a:t/>
            </a:r>
            <a:endParaRPr b="0" i="0" sz="1950" u="none" cap="none" strike="noStrike">
              <a:solidFill>
                <a:srgbClr val="262626"/>
              </a:solidFill>
              <a:latin typeface="Arial"/>
              <a:ea typeface="Arial"/>
              <a:cs typeface="Arial"/>
              <a:sym typeface="Arial"/>
            </a:endParaRPr>
          </a:p>
          <a:p>
            <a:pPr indent="0" lvl="0" marL="457200" marR="0" rtl="0" algn="l">
              <a:lnSpc>
                <a:spcPct val="90000"/>
              </a:lnSpc>
              <a:spcBef>
                <a:spcPts val="0"/>
              </a:spcBef>
              <a:spcAft>
                <a:spcPts val="0"/>
              </a:spcAft>
              <a:buClr>
                <a:srgbClr val="000000"/>
              </a:buClr>
              <a:buSzPts val="2350"/>
              <a:buFont typeface="Arial"/>
              <a:buNone/>
            </a:pPr>
            <a:r>
              <a:t/>
            </a:r>
            <a:endParaRPr b="0" i="0" sz="2350" u="none" cap="none" strike="noStrike">
              <a:solidFill>
                <a:srgbClr val="000000"/>
              </a:solidFill>
              <a:latin typeface="Arial"/>
              <a:ea typeface="Arial"/>
              <a:cs typeface="Arial"/>
              <a:sym typeface="Arial"/>
            </a:endParaRPr>
          </a:p>
        </p:txBody>
      </p:sp>
      <p:grpSp>
        <p:nvGrpSpPr>
          <p:cNvPr id="427" name="Google Shape;427;g3e2ebeee225_0_0"/>
          <p:cNvGrpSpPr/>
          <p:nvPr/>
        </p:nvGrpSpPr>
        <p:grpSpPr>
          <a:xfrm>
            <a:off x="-18000" y="5842891"/>
            <a:ext cx="9942000" cy="1014788"/>
            <a:chOff x="-21650" y="5927750"/>
            <a:chExt cx="9942000" cy="930230"/>
          </a:xfrm>
        </p:grpSpPr>
        <p:sp>
          <p:nvSpPr>
            <p:cNvPr id="428" name="Google Shape;428;g3e2ebeee225_0_0"/>
            <p:cNvSpPr/>
            <p:nvPr/>
          </p:nvSpPr>
          <p:spPr>
            <a:xfrm>
              <a:off x="5239747" y="5949280"/>
              <a:ext cx="4680600" cy="9087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Arial"/>
                  <a:ea typeface="Arial"/>
                  <a:cs typeface="Arial"/>
                  <a:sym typeface="Arial"/>
                </a:rPr>
                <a:t>25th Annual International Conference on Digital Government Research (dg.o 2024)</a:t>
              </a:r>
              <a:endParaRPr b="0" i="0" sz="1800" u="none" cap="none" strike="noStrike">
                <a:solidFill>
                  <a:schemeClr val="lt1"/>
                </a:solidFill>
                <a:latin typeface="Arial"/>
                <a:ea typeface="Arial"/>
                <a:cs typeface="Arial"/>
                <a:sym typeface="Arial"/>
              </a:endParaRPr>
            </a:p>
          </p:txBody>
        </p:sp>
        <p:pic>
          <p:nvPicPr>
            <p:cNvPr id="429" name="Google Shape;429;g3e2ebeee225_0_0"/>
            <p:cNvPicPr preferRelativeResize="0"/>
            <p:nvPr/>
          </p:nvPicPr>
          <p:blipFill rotWithShape="1">
            <a:blip r:embed="rId3">
              <a:alphaModFix/>
            </a:blip>
            <a:srcRect b="-112517" l="-23390" r="23390" t="137700"/>
            <a:stretch/>
          </p:blipFill>
          <p:spPr>
            <a:xfrm>
              <a:off x="0" y="6007596"/>
              <a:ext cx="9920265" cy="792088"/>
            </a:xfrm>
            <a:prstGeom prst="rect">
              <a:avLst/>
            </a:prstGeom>
            <a:noFill/>
            <a:ln>
              <a:noFill/>
            </a:ln>
          </p:spPr>
        </p:pic>
        <p:sp>
          <p:nvSpPr>
            <p:cNvPr id="430" name="Google Shape;430;g3e2ebeee225_0_0"/>
            <p:cNvSpPr/>
            <p:nvPr/>
          </p:nvSpPr>
          <p:spPr>
            <a:xfrm>
              <a:off x="-21650" y="5927750"/>
              <a:ext cx="9942000" cy="9087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sp>
        <p:nvSpPr>
          <p:cNvPr id="431" name="Google Shape;431;g3e2ebeee225_0_0"/>
          <p:cNvSpPr txBox="1"/>
          <p:nvPr>
            <p:ph idx="12" type="sldNum"/>
          </p:nvPr>
        </p:nvSpPr>
        <p:spPr>
          <a:xfrm>
            <a:off x="6996113" y="6356350"/>
            <a:ext cx="22290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pic>
        <p:nvPicPr>
          <p:cNvPr id="432" name="Google Shape;432;g3e2ebeee225_0_0"/>
          <p:cNvPicPr preferRelativeResize="0"/>
          <p:nvPr/>
        </p:nvPicPr>
        <p:blipFill rotWithShape="1">
          <a:blip r:embed="rId4">
            <a:alphaModFix/>
          </a:blip>
          <a:srcRect b="0" l="0" r="0" t="0"/>
          <a:stretch/>
        </p:blipFill>
        <p:spPr>
          <a:xfrm>
            <a:off x="218750" y="6052376"/>
            <a:ext cx="1823009" cy="470325"/>
          </a:xfrm>
          <a:prstGeom prst="rect">
            <a:avLst/>
          </a:prstGeom>
          <a:noFill/>
          <a:ln>
            <a:noFill/>
          </a:ln>
        </p:spPr>
      </p:pic>
      <p:pic>
        <p:nvPicPr>
          <p:cNvPr id="433" name="Google Shape;433;g3e2ebeee225_0_0"/>
          <p:cNvPicPr preferRelativeResize="0"/>
          <p:nvPr/>
        </p:nvPicPr>
        <p:blipFill rotWithShape="1">
          <a:blip r:embed="rId5">
            <a:alphaModFix/>
          </a:blip>
          <a:srcRect b="0" l="0" r="0" t="0"/>
          <a:stretch/>
        </p:blipFill>
        <p:spPr>
          <a:xfrm>
            <a:off x="6996125" y="5975242"/>
            <a:ext cx="1811830" cy="624575"/>
          </a:xfrm>
          <a:prstGeom prst="rect">
            <a:avLst/>
          </a:prstGeom>
          <a:noFill/>
          <a:ln>
            <a:noFill/>
          </a:ln>
        </p:spPr>
      </p:pic>
      <p:sp>
        <p:nvSpPr>
          <p:cNvPr id="434" name="Google Shape;434;g3e2ebeee225_0_0"/>
          <p:cNvSpPr txBox="1"/>
          <p:nvPr/>
        </p:nvSpPr>
        <p:spPr>
          <a:xfrm>
            <a:off x="298875" y="1148400"/>
            <a:ext cx="9000900" cy="336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sz="2000">
                <a:solidFill>
                  <a:schemeClr val="dk1"/>
                </a:solidFill>
                <a:latin typeface="Calibri"/>
                <a:ea typeface="Calibri"/>
                <a:cs typeface="Calibri"/>
                <a:sym typeface="Calibri"/>
              </a:rPr>
              <a:t>1. Introduction</a:t>
            </a:r>
            <a:endParaRPr sz="20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2000">
                <a:solidFill>
                  <a:schemeClr val="dk1"/>
                </a:solidFill>
                <a:latin typeface="Calibri"/>
                <a:ea typeface="Calibri"/>
                <a:cs typeface="Calibri"/>
                <a:sym typeface="Calibri"/>
              </a:rPr>
              <a:t>2. Unified Ethical Principles Guide</a:t>
            </a:r>
            <a:endParaRPr sz="20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2000">
                <a:solidFill>
                  <a:schemeClr val="dk1"/>
                </a:solidFill>
                <a:latin typeface="Calibri"/>
                <a:ea typeface="Calibri"/>
                <a:cs typeface="Calibri"/>
                <a:sym typeface="Calibri"/>
              </a:rPr>
              <a:t>3. Ethics Principles</a:t>
            </a:r>
            <a:endParaRPr sz="20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2000">
                <a:solidFill>
                  <a:schemeClr val="dk1"/>
                </a:solidFill>
                <a:latin typeface="Calibri"/>
                <a:ea typeface="Calibri"/>
                <a:cs typeface="Calibri"/>
                <a:sym typeface="Calibri"/>
              </a:rPr>
              <a:t>4. Problems</a:t>
            </a:r>
            <a:endParaRPr sz="20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2000">
                <a:solidFill>
                  <a:schemeClr val="dk1"/>
                </a:solidFill>
                <a:latin typeface="Calibri"/>
                <a:ea typeface="Calibri"/>
                <a:cs typeface="Calibri"/>
                <a:sym typeface="Calibri"/>
              </a:rPr>
              <a:t>5. Proposed Method</a:t>
            </a:r>
            <a:endParaRPr sz="2000">
              <a:solidFill>
                <a:schemeClr val="dk1"/>
              </a:solidFill>
              <a:latin typeface="Calibri"/>
              <a:ea typeface="Calibri"/>
              <a:cs typeface="Calibri"/>
              <a:sym typeface="Calibri"/>
            </a:endParaRPr>
          </a:p>
          <a:p>
            <a:pPr indent="0" lvl="0" marL="0" rtl="0" algn="l">
              <a:spcBef>
                <a:spcPts val="0"/>
              </a:spcBef>
              <a:spcAft>
                <a:spcPts val="0"/>
              </a:spcAft>
              <a:buNone/>
            </a:pPr>
            <a:r>
              <a:rPr lang="en-US" sz="2000">
                <a:solidFill>
                  <a:schemeClr val="dk1"/>
                </a:solidFill>
                <a:latin typeface="Calibri"/>
                <a:ea typeface="Calibri"/>
                <a:cs typeface="Calibri"/>
                <a:sym typeface="Calibri"/>
              </a:rPr>
              <a:t>6. Application of the Method in a Case Study Using a BDI-Based MAS</a:t>
            </a:r>
            <a:endParaRPr sz="20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2000">
                <a:solidFill>
                  <a:schemeClr val="dk1"/>
                </a:solidFill>
                <a:latin typeface="Calibri"/>
                <a:ea typeface="Calibri"/>
                <a:cs typeface="Calibri"/>
                <a:sym typeface="Calibri"/>
              </a:rPr>
              <a:t>7. Dissemination of a Survey to Gather Initial Impressions of the Proposed Method</a:t>
            </a:r>
            <a:endParaRPr sz="2000">
              <a:solidFill>
                <a:schemeClr val="dk1"/>
              </a:solidFill>
              <a:latin typeface="Calibri"/>
              <a:ea typeface="Calibri"/>
              <a:cs typeface="Calibri"/>
              <a:sym typeface="Calibri"/>
            </a:endParaRPr>
          </a:p>
          <a:p>
            <a:pPr indent="0" lvl="0" marL="0" rtl="0" algn="l">
              <a:spcBef>
                <a:spcPts val="0"/>
              </a:spcBef>
              <a:spcAft>
                <a:spcPts val="0"/>
              </a:spcAft>
              <a:buNone/>
            </a:pPr>
            <a:r>
              <a:t/>
            </a:r>
            <a:endParaRPr sz="2800">
              <a:solidFill>
                <a:schemeClr val="dk1"/>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8" name="Shape 438"/>
        <p:cNvGrpSpPr/>
        <p:nvPr/>
      </p:nvGrpSpPr>
      <p:grpSpPr>
        <a:xfrm>
          <a:off x="0" y="0"/>
          <a:ext cx="0" cy="0"/>
          <a:chOff x="0" y="0"/>
          <a:chExt cx="0" cy="0"/>
        </a:xfrm>
      </p:grpSpPr>
      <p:sp>
        <p:nvSpPr>
          <p:cNvPr id="439" name="Google Shape;439;p2"/>
          <p:cNvSpPr txBox="1"/>
          <p:nvPr>
            <p:ph type="title"/>
          </p:nvPr>
        </p:nvSpPr>
        <p:spPr>
          <a:xfrm>
            <a:off x="101478" y="108438"/>
            <a:ext cx="9000900" cy="624600"/>
          </a:xfrm>
          <a:prstGeom prst="rect">
            <a:avLst/>
          </a:prstGeom>
          <a:noFill/>
          <a:ln>
            <a:noFill/>
          </a:ln>
        </p:spPr>
        <p:txBody>
          <a:bodyPr anchorCtr="0" anchor="ctr" bIns="45700" lIns="91425" spcFirstLastPara="1" rIns="91425" wrap="square" tIns="45700">
            <a:noAutofit/>
          </a:bodyPr>
          <a:lstStyle/>
          <a:p>
            <a:pPr indent="-381000" lvl="0" marL="457200" rtl="0" algn="l">
              <a:lnSpc>
                <a:spcPct val="90000"/>
              </a:lnSpc>
              <a:spcBef>
                <a:spcPts val="0"/>
              </a:spcBef>
              <a:spcAft>
                <a:spcPts val="0"/>
              </a:spcAft>
              <a:buSzPts val="2400"/>
              <a:buAutoNum type="arabicPeriod"/>
            </a:pPr>
            <a:r>
              <a:rPr lang="en-US" sz="2400"/>
              <a:t>Introduction</a:t>
            </a:r>
            <a:endParaRPr sz="2400"/>
          </a:p>
        </p:txBody>
      </p:sp>
      <p:grpSp>
        <p:nvGrpSpPr>
          <p:cNvPr id="440" name="Google Shape;440;p2"/>
          <p:cNvGrpSpPr/>
          <p:nvPr/>
        </p:nvGrpSpPr>
        <p:grpSpPr>
          <a:xfrm>
            <a:off x="-18000" y="5842891"/>
            <a:ext cx="9942000" cy="1014788"/>
            <a:chOff x="-21650" y="5927750"/>
            <a:chExt cx="9942000" cy="930230"/>
          </a:xfrm>
        </p:grpSpPr>
        <p:sp>
          <p:nvSpPr>
            <p:cNvPr id="441" name="Google Shape;441;p2"/>
            <p:cNvSpPr/>
            <p:nvPr/>
          </p:nvSpPr>
          <p:spPr>
            <a:xfrm>
              <a:off x="5239747" y="5949280"/>
              <a:ext cx="4680600" cy="9087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Arial"/>
                  <a:ea typeface="Arial"/>
                  <a:cs typeface="Arial"/>
                  <a:sym typeface="Arial"/>
                </a:rPr>
                <a:t>25th Annual International Conference on Digital Government Research (dg.o 2024)</a:t>
              </a:r>
              <a:endParaRPr b="0" i="0" sz="1800" u="none" cap="none" strike="noStrike">
                <a:solidFill>
                  <a:schemeClr val="lt1"/>
                </a:solidFill>
                <a:latin typeface="Arial"/>
                <a:ea typeface="Arial"/>
                <a:cs typeface="Arial"/>
                <a:sym typeface="Arial"/>
              </a:endParaRPr>
            </a:p>
          </p:txBody>
        </p:sp>
        <p:pic>
          <p:nvPicPr>
            <p:cNvPr id="442" name="Google Shape;442;p2"/>
            <p:cNvPicPr preferRelativeResize="0"/>
            <p:nvPr/>
          </p:nvPicPr>
          <p:blipFill rotWithShape="1">
            <a:blip r:embed="rId3">
              <a:alphaModFix/>
            </a:blip>
            <a:srcRect b="-112525" l="-23390" r="23389" t="137706"/>
            <a:stretch/>
          </p:blipFill>
          <p:spPr>
            <a:xfrm>
              <a:off x="0" y="6007596"/>
              <a:ext cx="9920265" cy="792088"/>
            </a:xfrm>
            <a:prstGeom prst="rect">
              <a:avLst/>
            </a:prstGeom>
            <a:noFill/>
            <a:ln>
              <a:noFill/>
            </a:ln>
          </p:spPr>
        </p:pic>
        <p:sp>
          <p:nvSpPr>
            <p:cNvPr id="443" name="Google Shape;443;p2"/>
            <p:cNvSpPr/>
            <p:nvPr/>
          </p:nvSpPr>
          <p:spPr>
            <a:xfrm>
              <a:off x="-21650" y="5927750"/>
              <a:ext cx="9942000" cy="9087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sp>
        <p:nvSpPr>
          <p:cNvPr id="444" name="Google Shape;444;p2"/>
          <p:cNvSpPr txBox="1"/>
          <p:nvPr>
            <p:ph idx="12" type="sldNum"/>
          </p:nvPr>
        </p:nvSpPr>
        <p:spPr>
          <a:xfrm>
            <a:off x="6996113" y="6356350"/>
            <a:ext cx="22290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pic>
        <p:nvPicPr>
          <p:cNvPr id="445" name="Google Shape;445;p2"/>
          <p:cNvPicPr preferRelativeResize="0"/>
          <p:nvPr/>
        </p:nvPicPr>
        <p:blipFill rotWithShape="1">
          <a:blip r:embed="rId4">
            <a:alphaModFix/>
          </a:blip>
          <a:srcRect b="0" l="0" r="0" t="0"/>
          <a:stretch/>
        </p:blipFill>
        <p:spPr>
          <a:xfrm>
            <a:off x="218750" y="6052376"/>
            <a:ext cx="1823009" cy="470325"/>
          </a:xfrm>
          <a:prstGeom prst="rect">
            <a:avLst/>
          </a:prstGeom>
          <a:noFill/>
          <a:ln>
            <a:noFill/>
          </a:ln>
        </p:spPr>
      </p:pic>
      <p:pic>
        <p:nvPicPr>
          <p:cNvPr id="446" name="Google Shape;446;p2"/>
          <p:cNvPicPr preferRelativeResize="0"/>
          <p:nvPr/>
        </p:nvPicPr>
        <p:blipFill rotWithShape="1">
          <a:blip r:embed="rId5">
            <a:alphaModFix/>
          </a:blip>
          <a:srcRect b="0" l="0" r="0" t="0"/>
          <a:stretch/>
        </p:blipFill>
        <p:spPr>
          <a:xfrm>
            <a:off x="6996125" y="5975242"/>
            <a:ext cx="1811830" cy="624575"/>
          </a:xfrm>
          <a:prstGeom prst="rect">
            <a:avLst/>
          </a:prstGeom>
          <a:noFill/>
          <a:ln>
            <a:noFill/>
          </a:ln>
        </p:spPr>
      </p:pic>
      <p:sp>
        <p:nvSpPr>
          <p:cNvPr id="447" name="Google Shape;447;p2"/>
          <p:cNvSpPr txBox="1"/>
          <p:nvPr/>
        </p:nvSpPr>
        <p:spPr>
          <a:xfrm>
            <a:off x="571500" y="860612"/>
            <a:ext cx="8763000" cy="762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US" sz="1600">
                <a:solidFill>
                  <a:srgbClr val="333333"/>
                </a:solidFill>
                <a:latin typeface="Arial"/>
                <a:ea typeface="Arial"/>
                <a:cs typeface="Arial"/>
                <a:sym typeface="Arial"/>
              </a:rPr>
              <a:t>The Three Laws of Robotics, proposed by science fiction writer Isaac Asimov, were created as principles to guide the behavior of intelligent robots.</a:t>
            </a:r>
            <a:endParaRPr sz="1600">
              <a:solidFill>
                <a:srgbClr val="333333"/>
              </a:solidFill>
              <a:latin typeface="Arial"/>
              <a:ea typeface="Arial"/>
              <a:cs typeface="Arial"/>
              <a:sym typeface="Arial"/>
            </a:endParaRPr>
          </a:p>
        </p:txBody>
      </p:sp>
      <p:grpSp>
        <p:nvGrpSpPr>
          <p:cNvPr id="448" name="Google Shape;448;p2"/>
          <p:cNvGrpSpPr/>
          <p:nvPr/>
        </p:nvGrpSpPr>
        <p:grpSpPr>
          <a:xfrm>
            <a:off x="571500" y="1717862"/>
            <a:ext cx="8763000" cy="1047900"/>
            <a:chOff x="571500" y="2000250"/>
            <a:chExt cx="8763000" cy="1047900"/>
          </a:xfrm>
        </p:grpSpPr>
        <p:sp>
          <p:nvSpPr>
            <p:cNvPr id="449" name="Google Shape;449;p2"/>
            <p:cNvSpPr/>
            <p:nvPr/>
          </p:nvSpPr>
          <p:spPr>
            <a:xfrm>
              <a:off x="571500" y="2000250"/>
              <a:ext cx="8763000" cy="1047900"/>
            </a:xfrm>
            <a:prstGeom prst="roundRect">
              <a:avLst>
                <a:gd fmla="val 9090" name="adj"/>
              </a:avLst>
            </a:prstGeom>
            <a:solidFill>
              <a:srgbClr val="E8F1F8"/>
            </a:solidFill>
            <a:ln cap="flat" cmpd="sng" w="9525">
              <a:solidFill>
                <a:srgbClr val="1E4E79"/>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50" name="Google Shape;450;p2"/>
            <p:cNvSpPr txBox="1"/>
            <p:nvPr/>
          </p:nvSpPr>
          <p:spPr>
            <a:xfrm>
              <a:off x="762000" y="2095500"/>
              <a:ext cx="8382000" cy="857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400">
                  <a:solidFill>
                    <a:srgbClr val="1E4E79"/>
                  </a:solidFill>
                  <a:latin typeface="Arial"/>
                  <a:ea typeface="Arial"/>
                  <a:cs typeface="Arial"/>
                  <a:sym typeface="Arial"/>
                </a:rPr>
                <a:t>First Law</a:t>
              </a:r>
              <a:endParaRPr b="1" sz="1400">
                <a:solidFill>
                  <a:srgbClr val="1E4E79"/>
                </a:solidFill>
                <a:latin typeface="Arial"/>
                <a:ea typeface="Arial"/>
                <a:cs typeface="Arial"/>
                <a:sym typeface="Arial"/>
              </a:endParaRPr>
            </a:p>
            <a:p>
              <a:pPr indent="0" lvl="0" marL="0" rtl="0" algn="l">
                <a:spcBef>
                  <a:spcPts val="375"/>
                </a:spcBef>
                <a:spcAft>
                  <a:spcPts val="0"/>
                </a:spcAft>
                <a:buNone/>
              </a:pPr>
              <a:r>
                <a:rPr lang="en-US" sz="1300">
                  <a:solidFill>
                    <a:srgbClr val="000000"/>
                  </a:solidFill>
                  <a:latin typeface="Arial"/>
                  <a:ea typeface="Arial"/>
                  <a:cs typeface="Arial"/>
                  <a:sym typeface="Arial"/>
                </a:rPr>
                <a:t>A robot may not injure a human being or, through inaction, allow a human being to come to harm.</a:t>
              </a:r>
              <a:endParaRPr sz="1300">
                <a:solidFill>
                  <a:srgbClr val="000000"/>
                </a:solidFill>
                <a:latin typeface="Arial"/>
                <a:ea typeface="Arial"/>
                <a:cs typeface="Arial"/>
                <a:sym typeface="Arial"/>
              </a:endParaRPr>
            </a:p>
          </p:txBody>
        </p:sp>
      </p:grpSp>
      <p:grpSp>
        <p:nvGrpSpPr>
          <p:cNvPr id="451" name="Google Shape;451;p2"/>
          <p:cNvGrpSpPr/>
          <p:nvPr/>
        </p:nvGrpSpPr>
        <p:grpSpPr>
          <a:xfrm>
            <a:off x="571500" y="2908487"/>
            <a:ext cx="8763000" cy="1047900"/>
            <a:chOff x="571500" y="3190875"/>
            <a:chExt cx="8763000" cy="1047900"/>
          </a:xfrm>
        </p:grpSpPr>
        <p:sp>
          <p:nvSpPr>
            <p:cNvPr id="452" name="Google Shape;452;p2"/>
            <p:cNvSpPr/>
            <p:nvPr/>
          </p:nvSpPr>
          <p:spPr>
            <a:xfrm>
              <a:off x="571500" y="3190875"/>
              <a:ext cx="8763000" cy="1047900"/>
            </a:xfrm>
            <a:prstGeom prst="roundRect">
              <a:avLst>
                <a:gd fmla="val 9090" name="adj"/>
              </a:avLst>
            </a:prstGeom>
            <a:solidFill>
              <a:srgbClr val="E8F1F8"/>
            </a:solidFill>
            <a:ln cap="flat" cmpd="sng" w="9525">
              <a:solidFill>
                <a:srgbClr val="1E4E79"/>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53" name="Google Shape;453;p2"/>
            <p:cNvSpPr txBox="1"/>
            <p:nvPr/>
          </p:nvSpPr>
          <p:spPr>
            <a:xfrm>
              <a:off x="762000" y="3286125"/>
              <a:ext cx="8382000" cy="857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400">
                  <a:solidFill>
                    <a:srgbClr val="1E4E79"/>
                  </a:solidFill>
                  <a:latin typeface="Arial"/>
                  <a:ea typeface="Arial"/>
                  <a:cs typeface="Arial"/>
                  <a:sym typeface="Arial"/>
                </a:rPr>
                <a:t>Second Law</a:t>
              </a:r>
              <a:endParaRPr b="1" sz="1400">
                <a:solidFill>
                  <a:srgbClr val="1E4E79"/>
                </a:solidFill>
                <a:latin typeface="Arial"/>
                <a:ea typeface="Arial"/>
                <a:cs typeface="Arial"/>
                <a:sym typeface="Arial"/>
              </a:endParaRPr>
            </a:p>
            <a:p>
              <a:pPr indent="0" lvl="0" marL="0" rtl="0" algn="l">
                <a:spcBef>
                  <a:spcPts val="375"/>
                </a:spcBef>
                <a:spcAft>
                  <a:spcPts val="0"/>
                </a:spcAft>
                <a:buNone/>
              </a:pPr>
              <a:r>
                <a:rPr lang="en-US" sz="1300">
                  <a:solidFill>
                    <a:srgbClr val="000000"/>
                  </a:solidFill>
                  <a:latin typeface="Arial"/>
                  <a:ea typeface="Arial"/>
                  <a:cs typeface="Arial"/>
                  <a:sym typeface="Arial"/>
                </a:rPr>
                <a:t>A robot must obey orders given it by human beings except where such orders would conflict with the First Law.</a:t>
              </a:r>
              <a:endParaRPr sz="1300">
                <a:solidFill>
                  <a:srgbClr val="000000"/>
                </a:solidFill>
                <a:latin typeface="Arial"/>
                <a:ea typeface="Arial"/>
                <a:cs typeface="Arial"/>
                <a:sym typeface="Arial"/>
              </a:endParaRPr>
            </a:p>
          </p:txBody>
        </p:sp>
      </p:grpSp>
      <p:grpSp>
        <p:nvGrpSpPr>
          <p:cNvPr id="454" name="Google Shape;454;p2"/>
          <p:cNvGrpSpPr/>
          <p:nvPr/>
        </p:nvGrpSpPr>
        <p:grpSpPr>
          <a:xfrm>
            <a:off x="571500" y="4099112"/>
            <a:ext cx="8763000" cy="1047900"/>
            <a:chOff x="571500" y="4381500"/>
            <a:chExt cx="8763000" cy="1047900"/>
          </a:xfrm>
        </p:grpSpPr>
        <p:sp>
          <p:nvSpPr>
            <p:cNvPr id="455" name="Google Shape;455;p2"/>
            <p:cNvSpPr/>
            <p:nvPr/>
          </p:nvSpPr>
          <p:spPr>
            <a:xfrm>
              <a:off x="571500" y="4381500"/>
              <a:ext cx="8763000" cy="1047900"/>
            </a:xfrm>
            <a:prstGeom prst="roundRect">
              <a:avLst>
                <a:gd fmla="val 9090" name="adj"/>
              </a:avLst>
            </a:prstGeom>
            <a:solidFill>
              <a:srgbClr val="E8F1F8"/>
            </a:solidFill>
            <a:ln cap="flat" cmpd="sng" w="9525">
              <a:solidFill>
                <a:srgbClr val="1E4E79"/>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56" name="Google Shape;456;p2"/>
            <p:cNvSpPr txBox="1"/>
            <p:nvPr/>
          </p:nvSpPr>
          <p:spPr>
            <a:xfrm>
              <a:off x="762000" y="4476750"/>
              <a:ext cx="8382000" cy="857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400">
                  <a:solidFill>
                    <a:srgbClr val="1E4E79"/>
                  </a:solidFill>
                  <a:latin typeface="Arial"/>
                  <a:ea typeface="Arial"/>
                  <a:cs typeface="Arial"/>
                  <a:sym typeface="Arial"/>
                </a:rPr>
                <a:t>Third Law</a:t>
              </a:r>
              <a:endParaRPr b="1" sz="1400">
                <a:solidFill>
                  <a:srgbClr val="1E4E79"/>
                </a:solidFill>
                <a:latin typeface="Arial"/>
                <a:ea typeface="Arial"/>
                <a:cs typeface="Arial"/>
                <a:sym typeface="Arial"/>
              </a:endParaRPr>
            </a:p>
            <a:p>
              <a:pPr indent="0" lvl="0" marL="0" rtl="0" algn="l">
                <a:spcBef>
                  <a:spcPts val="375"/>
                </a:spcBef>
                <a:spcAft>
                  <a:spcPts val="0"/>
                </a:spcAft>
                <a:buNone/>
              </a:pPr>
              <a:r>
                <a:rPr lang="en-US" sz="1300">
                  <a:solidFill>
                    <a:srgbClr val="000000"/>
                  </a:solidFill>
                  <a:latin typeface="Arial"/>
                  <a:ea typeface="Arial"/>
                  <a:cs typeface="Arial"/>
                  <a:sym typeface="Arial"/>
                </a:rPr>
                <a:t>A robot must protect its own existence as long as such protection does not conflict with the First or Second Law.</a:t>
              </a:r>
              <a:endParaRPr sz="1300">
                <a:solidFill>
                  <a:srgbClr val="000000"/>
                </a:solidFill>
                <a:latin typeface="Arial"/>
                <a:ea typeface="Arial"/>
                <a:cs typeface="Arial"/>
                <a:sym typeface="Arial"/>
              </a:endParaRPr>
            </a:p>
          </p:txBody>
        </p:sp>
      </p:grpSp>
      <p:sp>
        <p:nvSpPr>
          <p:cNvPr id="457" name="Google Shape;457;p2"/>
          <p:cNvSpPr txBox="1"/>
          <p:nvPr/>
        </p:nvSpPr>
        <p:spPr>
          <a:xfrm>
            <a:off x="285750" y="5518675"/>
            <a:ext cx="9334500" cy="2916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b="1" lang="en-US" sz="1000">
                <a:solidFill>
                  <a:srgbClr val="64748B"/>
                </a:solidFill>
                <a:latin typeface="Arial"/>
                <a:ea typeface="Arial"/>
                <a:cs typeface="Arial"/>
                <a:sym typeface="Arial"/>
              </a:rPr>
              <a:t>Source: </a:t>
            </a:r>
            <a:r>
              <a:rPr b="0" lang="en-US" sz="1000">
                <a:solidFill>
                  <a:srgbClr val="64748B"/>
                </a:solidFill>
                <a:latin typeface="Arial"/>
                <a:ea typeface="Arial"/>
                <a:cs typeface="Arial"/>
                <a:sym typeface="Arial"/>
              </a:rPr>
              <a:t>[</a:t>
            </a:r>
            <a:r>
              <a:rPr lang="en-US" sz="1000">
                <a:solidFill>
                  <a:srgbClr val="64748B"/>
                </a:solidFill>
              </a:rPr>
              <a:t>18</a:t>
            </a:r>
            <a:r>
              <a:rPr b="0" lang="en-US" sz="1000">
                <a:solidFill>
                  <a:srgbClr val="64748B"/>
                </a:solidFill>
                <a:latin typeface="Arial"/>
                <a:ea typeface="Arial"/>
                <a:cs typeface="Arial"/>
                <a:sym typeface="Arial"/>
              </a:rPr>
              <a:t>]  </a:t>
            </a:r>
            <a:endParaRPr b="1" sz="1000">
              <a:solidFill>
                <a:srgbClr val="64748B"/>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1" name="Shape 461"/>
        <p:cNvGrpSpPr/>
        <p:nvPr/>
      </p:nvGrpSpPr>
      <p:grpSpPr>
        <a:xfrm>
          <a:off x="0" y="0"/>
          <a:ext cx="0" cy="0"/>
          <a:chOff x="0" y="0"/>
          <a:chExt cx="0" cy="0"/>
        </a:xfrm>
      </p:grpSpPr>
      <p:sp>
        <p:nvSpPr>
          <p:cNvPr id="462" name="Google Shape;462;g3e3a61befe4_0_3850"/>
          <p:cNvSpPr/>
          <p:nvPr/>
        </p:nvSpPr>
        <p:spPr>
          <a:xfrm>
            <a:off x="-13050" y="5921896"/>
            <a:ext cx="9919200" cy="936000"/>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463" name="Google Shape;463;g3e3a61befe4_0_3850"/>
          <p:cNvPicPr preferRelativeResize="0"/>
          <p:nvPr/>
        </p:nvPicPr>
        <p:blipFill rotWithShape="1">
          <a:blip r:embed="rId3">
            <a:alphaModFix/>
          </a:blip>
          <a:srcRect b="0" l="17788" r="19907" t="65239"/>
          <a:stretch/>
        </p:blipFill>
        <p:spPr>
          <a:xfrm>
            <a:off x="920552" y="6155677"/>
            <a:ext cx="1568747" cy="665761"/>
          </a:xfrm>
          <a:prstGeom prst="rect">
            <a:avLst/>
          </a:prstGeom>
          <a:noFill/>
          <a:ln>
            <a:noFill/>
          </a:ln>
        </p:spPr>
      </p:pic>
      <p:pic>
        <p:nvPicPr>
          <p:cNvPr id="464" name="Google Shape;464;g3e3a61befe4_0_3850"/>
          <p:cNvPicPr preferRelativeResize="0"/>
          <p:nvPr/>
        </p:nvPicPr>
        <p:blipFill rotWithShape="1">
          <a:blip r:embed="rId3">
            <a:alphaModFix/>
          </a:blip>
          <a:srcRect b="34762" l="25520" r="25618" t="3571"/>
          <a:stretch/>
        </p:blipFill>
        <p:spPr>
          <a:xfrm>
            <a:off x="194947" y="6056653"/>
            <a:ext cx="725605" cy="696647"/>
          </a:xfrm>
          <a:prstGeom prst="rect">
            <a:avLst/>
          </a:prstGeom>
          <a:noFill/>
          <a:ln>
            <a:noFill/>
          </a:ln>
        </p:spPr>
      </p:pic>
      <p:sp>
        <p:nvSpPr>
          <p:cNvPr id="465" name="Google Shape;465;g3e3a61befe4_0_3850"/>
          <p:cNvSpPr/>
          <p:nvPr/>
        </p:nvSpPr>
        <p:spPr>
          <a:xfrm>
            <a:off x="4950907" y="5989477"/>
            <a:ext cx="4953000" cy="831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2400"/>
              <a:buFont typeface="Arial"/>
              <a:buNone/>
            </a:pPr>
            <a:r>
              <a:rPr b="1" i="0" lang="en-US" sz="2400" u="none" cap="none" strike="noStrike">
                <a:solidFill>
                  <a:schemeClr val="lt1"/>
                </a:solidFill>
                <a:latin typeface="Arial"/>
                <a:ea typeface="Arial"/>
                <a:cs typeface="Arial"/>
                <a:sym typeface="Arial"/>
              </a:rPr>
              <a:t>IEEE Intelligence and Security Informatics (ISI) 2018</a:t>
            </a:r>
            <a:endParaRPr b="0" i="0" sz="1400" u="none" cap="none" strike="noStrike">
              <a:solidFill>
                <a:srgbClr val="000000"/>
              </a:solidFill>
              <a:latin typeface="Arial"/>
              <a:ea typeface="Arial"/>
              <a:cs typeface="Arial"/>
              <a:sym typeface="Arial"/>
            </a:endParaRPr>
          </a:p>
        </p:txBody>
      </p:sp>
      <p:grpSp>
        <p:nvGrpSpPr>
          <p:cNvPr id="466" name="Google Shape;466;g3e3a61befe4_0_3850"/>
          <p:cNvGrpSpPr/>
          <p:nvPr/>
        </p:nvGrpSpPr>
        <p:grpSpPr>
          <a:xfrm>
            <a:off x="-18000" y="5842891"/>
            <a:ext cx="9942000" cy="1014788"/>
            <a:chOff x="-21650" y="5927750"/>
            <a:chExt cx="9942000" cy="930230"/>
          </a:xfrm>
        </p:grpSpPr>
        <p:sp>
          <p:nvSpPr>
            <p:cNvPr id="467" name="Google Shape;467;g3e3a61befe4_0_3850"/>
            <p:cNvSpPr/>
            <p:nvPr/>
          </p:nvSpPr>
          <p:spPr>
            <a:xfrm>
              <a:off x="5239747" y="5949280"/>
              <a:ext cx="4680600" cy="9087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Arial"/>
                  <a:ea typeface="Arial"/>
                  <a:cs typeface="Arial"/>
                  <a:sym typeface="Arial"/>
                </a:rPr>
                <a:t>25th Annual International Conference on Digital Government Research (dg.o 2024)</a:t>
              </a:r>
              <a:endParaRPr b="0" i="0" sz="1800" u="none" cap="none" strike="noStrike">
                <a:solidFill>
                  <a:schemeClr val="lt1"/>
                </a:solidFill>
                <a:latin typeface="Arial"/>
                <a:ea typeface="Arial"/>
                <a:cs typeface="Arial"/>
                <a:sym typeface="Arial"/>
              </a:endParaRPr>
            </a:p>
          </p:txBody>
        </p:sp>
        <p:pic>
          <p:nvPicPr>
            <p:cNvPr id="468" name="Google Shape;468;g3e3a61befe4_0_3850"/>
            <p:cNvPicPr preferRelativeResize="0"/>
            <p:nvPr/>
          </p:nvPicPr>
          <p:blipFill rotWithShape="1">
            <a:blip r:embed="rId4">
              <a:alphaModFix/>
            </a:blip>
            <a:srcRect b="-112517" l="-23390" r="23390" t="137700"/>
            <a:stretch/>
          </p:blipFill>
          <p:spPr>
            <a:xfrm>
              <a:off x="0" y="6007596"/>
              <a:ext cx="9920265" cy="792088"/>
            </a:xfrm>
            <a:prstGeom prst="rect">
              <a:avLst/>
            </a:prstGeom>
            <a:noFill/>
            <a:ln>
              <a:noFill/>
            </a:ln>
          </p:spPr>
        </p:pic>
        <p:sp>
          <p:nvSpPr>
            <p:cNvPr id="469" name="Google Shape;469;g3e3a61befe4_0_3850"/>
            <p:cNvSpPr/>
            <p:nvPr/>
          </p:nvSpPr>
          <p:spPr>
            <a:xfrm>
              <a:off x="-21650" y="5927750"/>
              <a:ext cx="9942000" cy="9087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sp>
        <p:nvSpPr>
          <p:cNvPr id="470" name="Google Shape;470;g3e3a61befe4_0_3850"/>
          <p:cNvSpPr txBox="1"/>
          <p:nvPr>
            <p:ph type="title"/>
          </p:nvPr>
        </p:nvSpPr>
        <p:spPr>
          <a:xfrm>
            <a:off x="101478" y="108438"/>
            <a:ext cx="9000900" cy="624600"/>
          </a:xfrm>
          <a:prstGeom prst="rect">
            <a:avLst/>
          </a:prstGeom>
          <a:solidFill>
            <a:srgbClr val="000000">
              <a:alpha val="0"/>
            </a:srgbClr>
          </a:solidFill>
          <a:ln>
            <a:noFill/>
          </a:ln>
        </p:spPr>
        <p:txBody>
          <a:bodyPr anchorCtr="0" anchor="ctr" bIns="0" lIns="285750" spcFirstLastPara="1" rIns="0" wrap="square" tIns="0">
            <a:noAutofit/>
          </a:bodyPr>
          <a:lstStyle/>
          <a:p>
            <a:pPr indent="-381000" lvl="0" marL="457200" rtl="0" algn="l">
              <a:spcBef>
                <a:spcPts val="0"/>
              </a:spcBef>
              <a:spcAft>
                <a:spcPts val="0"/>
              </a:spcAft>
              <a:buClr>
                <a:srgbClr val="1E4E79"/>
              </a:buClr>
              <a:buSzPts val="2400"/>
              <a:buFont typeface="Arial"/>
              <a:buAutoNum type="arabicPeriod"/>
            </a:pPr>
            <a:r>
              <a:rPr b="1" i="0" lang="en-US" sz="2400">
                <a:solidFill>
                  <a:srgbClr val="1E4E79"/>
                </a:solidFill>
                <a:latin typeface="Arial"/>
                <a:ea typeface="Arial"/>
                <a:cs typeface="Arial"/>
                <a:sym typeface="Arial"/>
              </a:rPr>
              <a:t>Introduction</a:t>
            </a:r>
            <a:endParaRPr b="1" i="0" sz="2400">
              <a:solidFill>
                <a:srgbClr val="1E4E79"/>
              </a:solidFill>
              <a:latin typeface="Arial"/>
              <a:ea typeface="Arial"/>
              <a:cs typeface="Arial"/>
              <a:sym typeface="Arial"/>
            </a:endParaRPr>
          </a:p>
        </p:txBody>
      </p:sp>
      <p:sp>
        <p:nvSpPr>
          <p:cNvPr id="471" name="Google Shape;471;g3e3a61befe4_0_3850"/>
          <p:cNvSpPr txBox="1"/>
          <p:nvPr>
            <p:ph idx="12" type="sldNum"/>
          </p:nvPr>
        </p:nvSpPr>
        <p:spPr>
          <a:xfrm>
            <a:off x="6996113" y="6356350"/>
            <a:ext cx="22290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pic>
        <p:nvPicPr>
          <p:cNvPr id="472" name="Google Shape;472;g3e3a61befe4_0_3850"/>
          <p:cNvPicPr preferRelativeResize="0"/>
          <p:nvPr/>
        </p:nvPicPr>
        <p:blipFill rotWithShape="1">
          <a:blip r:embed="rId5">
            <a:alphaModFix/>
          </a:blip>
          <a:srcRect b="0" l="0" r="0" t="0"/>
          <a:stretch/>
        </p:blipFill>
        <p:spPr>
          <a:xfrm>
            <a:off x="218750" y="6052376"/>
            <a:ext cx="1823009" cy="470325"/>
          </a:xfrm>
          <a:prstGeom prst="rect">
            <a:avLst/>
          </a:prstGeom>
          <a:noFill/>
          <a:ln>
            <a:noFill/>
          </a:ln>
        </p:spPr>
      </p:pic>
      <p:pic>
        <p:nvPicPr>
          <p:cNvPr id="473" name="Google Shape;473;g3e3a61befe4_0_3850"/>
          <p:cNvPicPr preferRelativeResize="0"/>
          <p:nvPr/>
        </p:nvPicPr>
        <p:blipFill rotWithShape="1">
          <a:blip r:embed="rId6">
            <a:alphaModFix/>
          </a:blip>
          <a:srcRect b="0" l="0" r="0" t="0"/>
          <a:stretch/>
        </p:blipFill>
        <p:spPr>
          <a:xfrm>
            <a:off x="6996125" y="5975242"/>
            <a:ext cx="1811830" cy="624575"/>
          </a:xfrm>
          <a:prstGeom prst="rect">
            <a:avLst/>
          </a:prstGeom>
          <a:noFill/>
          <a:ln>
            <a:noFill/>
          </a:ln>
        </p:spPr>
      </p:pic>
      <p:sp>
        <p:nvSpPr>
          <p:cNvPr id="474" name="Google Shape;474;g3e3a61befe4_0_3850"/>
          <p:cNvSpPr txBox="1"/>
          <p:nvPr/>
        </p:nvSpPr>
        <p:spPr>
          <a:xfrm>
            <a:off x="285750" y="5518671"/>
            <a:ext cx="9334500" cy="291600"/>
          </a:xfrm>
          <a:prstGeom prst="rect">
            <a:avLst/>
          </a:prstGeom>
          <a:solidFill>
            <a:srgbClr val="000000">
              <a:alpha val="0"/>
            </a:srgbClr>
          </a:solidFill>
          <a:ln>
            <a:noFill/>
          </a:ln>
        </p:spPr>
        <p:txBody>
          <a:bodyPr anchorCtr="0" anchor="b" bIns="0" lIns="0" spcFirstLastPara="1" rIns="0" wrap="square" tIns="0">
            <a:noAutofit/>
          </a:bodyPr>
          <a:lstStyle/>
          <a:p>
            <a:pPr indent="0" lvl="0" marL="0" rtl="0" algn="l">
              <a:spcBef>
                <a:spcPts val="0"/>
              </a:spcBef>
              <a:spcAft>
                <a:spcPts val="0"/>
              </a:spcAft>
              <a:buNone/>
            </a:pPr>
            <a:r>
              <a:rPr b="1" i="0" lang="en-US" sz="1000">
                <a:solidFill>
                  <a:srgbClr val="64748B"/>
                </a:solidFill>
                <a:latin typeface="Arial"/>
                <a:ea typeface="Arial"/>
                <a:cs typeface="Arial"/>
                <a:sym typeface="Arial"/>
              </a:rPr>
              <a:t>Source: </a:t>
            </a:r>
            <a:r>
              <a:rPr b="0" i="0" lang="en-US" sz="1000">
                <a:solidFill>
                  <a:srgbClr val="64748B"/>
                </a:solidFill>
                <a:latin typeface="Arial"/>
                <a:ea typeface="Arial"/>
                <a:cs typeface="Arial"/>
                <a:sym typeface="Arial"/>
              </a:rPr>
              <a:t>[1]</a:t>
            </a:r>
            <a:endParaRPr b="0" i="0" sz="1000">
              <a:solidFill>
                <a:srgbClr val="64748B"/>
              </a:solidFill>
              <a:latin typeface="Arial"/>
              <a:ea typeface="Arial"/>
              <a:cs typeface="Arial"/>
              <a:sym typeface="Arial"/>
            </a:endParaRPr>
          </a:p>
        </p:txBody>
      </p:sp>
      <p:grpSp>
        <p:nvGrpSpPr>
          <p:cNvPr id="475" name="Google Shape;475;g3e3a61befe4_0_3850"/>
          <p:cNvGrpSpPr/>
          <p:nvPr/>
        </p:nvGrpSpPr>
        <p:grpSpPr>
          <a:xfrm>
            <a:off x="476250" y="857250"/>
            <a:ext cx="8953500" cy="1238400"/>
            <a:chOff x="476250" y="857250"/>
            <a:chExt cx="8953500" cy="1238400"/>
          </a:xfrm>
        </p:grpSpPr>
        <p:sp>
          <p:nvSpPr>
            <p:cNvPr id="476" name="Google Shape;476;g3e3a61befe4_0_3850"/>
            <p:cNvSpPr/>
            <p:nvPr/>
          </p:nvSpPr>
          <p:spPr>
            <a:xfrm>
              <a:off x="476250" y="857250"/>
              <a:ext cx="8953500" cy="1238400"/>
            </a:xfrm>
            <a:prstGeom prst="roundRect">
              <a:avLst>
                <a:gd fmla="val 9230" name="adj"/>
              </a:avLst>
            </a:prstGeom>
            <a:solidFill>
              <a:srgbClr val="F1F5F9"/>
            </a:solidFill>
            <a:ln cap="flat" cmpd="sng" w="9525">
              <a:solidFill>
                <a:srgbClr val="1E4E79"/>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77" name="Google Shape;477;g3e3a61befe4_0_3850"/>
            <p:cNvSpPr txBox="1"/>
            <p:nvPr/>
          </p:nvSpPr>
          <p:spPr>
            <a:xfrm>
              <a:off x="666750" y="952500"/>
              <a:ext cx="8572500" cy="1047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i="0" lang="en-US" sz="2000">
                  <a:solidFill>
                    <a:srgbClr val="1E4E79"/>
                  </a:solidFill>
                  <a:latin typeface="Arial"/>
                  <a:ea typeface="Arial"/>
                  <a:cs typeface="Arial"/>
                  <a:sym typeface="Arial"/>
                </a:rPr>
                <a:t>Ethics </a:t>
              </a:r>
              <a:r>
                <a:rPr b="0" i="0" lang="en-US" sz="2000">
                  <a:solidFill>
                    <a:srgbClr val="334155"/>
                  </a:solidFill>
                  <a:latin typeface="Arial"/>
                  <a:ea typeface="Arial"/>
                  <a:cs typeface="Arial"/>
                  <a:sym typeface="Arial"/>
                </a:rPr>
                <a:t>refers to values and principles that </a:t>
              </a:r>
              <a:r>
                <a:rPr b="1" i="0" lang="en-US" sz="2000">
                  <a:solidFill>
                    <a:srgbClr val="1E4E79"/>
                  </a:solidFill>
                  <a:latin typeface="Arial"/>
                  <a:ea typeface="Arial"/>
                  <a:cs typeface="Arial"/>
                  <a:sym typeface="Arial"/>
                </a:rPr>
                <a:t>prioritize human well-being </a:t>
              </a:r>
              <a:r>
                <a:rPr b="0" i="0" lang="en-US" sz="2000">
                  <a:solidFill>
                    <a:srgbClr val="334155"/>
                  </a:solidFill>
                  <a:latin typeface="Arial"/>
                  <a:ea typeface="Arial"/>
                  <a:cs typeface="Arial"/>
                  <a:sym typeface="Arial"/>
                </a:rPr>
                <a:t>and guide the responsible design and implementation of autonomous and intelligent systems.</a:t>
              </a:r>
              <a:endParaRPr b="1" i="0" sz="2000">
                <a:solidFill>
                  <a:srgbClr val="1E4E79"/>
                </a:solidFill>
                <a:latin typeface="Arial"/>
                <a:ea typeface="Arial"/>
                <a:cs typeface="Arial"/>
                <a:sym typeface="Arial"/>
              </a:endParaRPr>
            </a:p>
          </p:txBody>
        </p:sp>
      </p:grpSp>
    </p:spTree>
  </p:cSld>
  <p:clrMapOvr>
    <a:masterClrMapping/>
  </p:clrMapOvr>
  <mc:AlternateContent>
    <mc:Choice Requires="p14">
      <p:transition spd="slow" p14:dur="700">
        <p:fade/>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1" name="Shape 481"/>
        <p:cNvGrpSpPr/>
        <p:nvPr/>
      </p:nvGrpSpPr>
      <p:grpSpPr>
        <a:xfrm>
          <a:off x="0" y="0"/>
          <a:ext cx="0" cy="0"/>
          <a:chOff x="0" y="0"/>
          <a:chExt cx="0" cy="0"/>
        </a:xfrm>
      </p:grpSpPr>
      <p:sp>
        <p:nvSpPr>
          <p:cNvPr id="482" name="Google Shape;482;g3e33499f370_0_375"/>
          <p:cNvSpPr/>
          <p:nvPr/>
        </p:nvSpPr>
        <p:spPr>
          <a:xfrm>
            <a:off x="-13050" y="5921896"/>
            <a:ext cx="9919200" cy="936000"/>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483" name="Google Shape;483;g3e33499f370_0_375"/>
          <p:cNvPicPr preferRelativeResize="0"/>
          <p:nvPr/>
        </p:nvPicPr>
        <p:blipFill rotWithShape="1">
          <a:blip r:embed="rId3">
            <a:alphaModFix/>
          </a:blip>
          <a:srcRect b="0" l="17788" r="19906" t="65239"/>
          <a:stretch/>
        </p:blipFill>
        <p:spPr>
          <a:xfrm>
            <a:off x="920552" y="6155677"/>
            <a:ext cx="1568747" cy="665761"/>
          </a:xfrm>
          <a:prstGeom prst="rect">
            <a:avLst/>
          </a:prstGeom>
          <a:noFill/>
          <a:ln>
            <a:noFill/>
          </a:ln>
        </p:spPr>
      </p:pic>
      <p:pic>
        <p:nvPicPr>
          <p:cNvPr id="484" name="Google Shape;484;g3e33499f370_0_375"/>
          <p:cNvPicPr preferRelativeResize="0"/>
          <p:nvPr/>
        </p:nvPicPr>
        <p:blipFill rotWithShape="1">
          <a:blip r:embed="rId3">
            <a:alphaModFix/>
          </a:blip>
          <a:srcRect b="34761" l="25519" r="25620" t="3570"/>
          <a:stretch/>
        </p:blipFill>
        <p:spPr>
          <a:xfrm>
            <a:off x="194947" y="6056653"/>
            <a:ext cx="725605" cy="696647"/>
          </a:xfrm>
          <a:prstGeom prst="rect">
            <a:avLst/>
          </a:prstGeom>
          <a:noFill/>
          <a:ln>
            <a:noFill/>
          </a:ln>
        </p:spPr>
      </p:pic>
      <p:sp>
        <p:nvSpPr>
          <p:cNvPr id="485" name="Google Shape;485;g3e33499f370_0_375"/>
          <p:cNvSpPr/>
          <p:nvPr/>
        </p:nvSpPr>
        <p:spPr>
          <a:xfrm>
            <a:off x="4950907" y="5989477"/>
            <a:ext cx="4953000" cy="8310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400"/>
              <a:buFont typeface="Arial"/>
              <a:buNone/>
            </a:pPr>
            <a:r>
              <a:rPr b="1" i="0" lang="en-US" sz="2400" u="none" cap="none" strike="noStrike">
                <a:solidFill>
                  <a:schemeClr val="lt1"/>
                </a:solidFill>
                <a:latin typeface="Arial"/>
                <a:ea typeface="Arial"/>
                <a:cs typeface="Arial"/>
                <a:sym typeface="Arial"/>
              </a:rPr>
              <a:t>IEEE Intelligence and Security Informatics (ISI) 2018</a:t>
            </a:r>
            <a:endParaRPr b="0" i="0" sz="1400" u="none" cap="none" strike="noStrike">
              <a:solidFill>
                <a:srgbClr val="000000"/>
              </a:solidFill>
              <a:latin typeface="Arial"/>
              <a:ea typeface="Arial"/>
              <a:cs typeface="Arial"/>
              <a:sym typeface="Arial"/>
            </a:endParaRPr>
          </a:p>
        </p:txBody>
      </p:sp>
      <p:grpSp>
        <p:nvGrpSpPr>
          <p:cNvPr id="486" name="Google Shape;486;g3e33499f370_0_375"/>
          <p:cNvGrpSpPr/>
          <p:nvPr/>
        </p:nvGrpSpPr>
        <p:grpSpPr>
          <a:xfrm>
            <a:off x="-18000" y="5842891"/>
            <a:ext cx="9942000" cy="1014788"/>
            <a:chOff x="-21650" y="5927750"/>
            <a:chExt cx="9942000" cy="930230"/>
          </a:xfrm>
        </p:grpSpPr>
        <p:sp>
          <p:nvSpPr>
            <p:cNvPr id="487" name="Google Shape;487;g3e33499f370_0_375"/>
            <p:cNvSpPr/>
            <p:nvPr/>
          </p:nvSpPr>
          <p:spPr>
            <a:xfrm>
              <a:off x="5239747" y="5949280"/>
              <a:ext cx="4680600" cy="9087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Arial"/>
                  <a:ea typeface="Arial"/>
                  <a:cs typeface="Arial"/>
                  <a:sym typeface="Arial"/>
                </a:rPr>
                <a:t>25th Annual International Conference on Digital Government Research (dg.o 2024)</a:t>
              </a:r>
              <a:endParaRPr b="0" i="0" sz="1800" u="none" cap="none" strike="noStrike">
                <a:solidFill>
                  <a:schemeClr val="lt1"/>
                </a:solidFill>
                <a:latin typeface="Arial"/>
                <a:ea typeface="Arial"/>
                <a:cs typeface="Arial"/>
                <a:sym typeface="Arial"/>
              </a:endParaRPr>
            </a:p>
          </p:txBody>
        </p:sp>
        <p:pic>
          <p:nvPicPr>
            <p:cNvPr id="488" name="Google Shape;488;g3e33499f370_0_375"/>
            <p:cNvPicPr preferRelativeResize="0"/>
            <p:nvPr/>
          </p:nvPicPr>
          <p:blipFill rotWithShape="1">
            <a:blip r:embed="rId4">
              <a:alphaModFix/>
            </a:blip>
            <a:srcRect b="-112517" l="-23390" r="23390" t="137700"/>
            <a:stretch/>
          </p:blipFill>
          <p:spPr>
            <a:xfrm>
              <a:off x="0" y="6007596"/>
              <a:ext cx="9920265" cy="792088"/>
            </a:xfrm>
            <a:prstGeom prst="rect">
              <a:avLst/>
            </a:prstGeom>
            <a:noFill/>
            <a:ln>
              <a:noFill/>
            </a:ln>
          </p:spPr>
        </p:pic>
        <p:sp>
          <p:nvSpPr>
            <p:cNvPr id="489" name="Google Shape;489;g3e33499f370_0_375"/>
            <p:cNvSpPr/>
            <p:nvPr/>
          </p:nvSpPr>
          <p:spPr>
            <a:xfrm>
              <a:off x="-21650" y="5927750"/>
              <a:ext cx="9942000" cy="9087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sp>
        <p:nvSpPr>
          <p:cNvPr id="490" name="Google Shape;490;g3e33499f370_0_375"/>
          <p:cNvSpPr txBox="1"/>
          <p:nvPr>
            <p:ph type="title"/>
          </p:nvPr>
        </p:nvSpPr>
        <p:spPr>
          <a:xfrm>
            <a:off x="101478" y="108438"/>
            <a:ext cx="9000900" cy="624600"/>
          </a:xfrm>
          <a:prstGeom prst="rect">
            <a:avLst/>
          </a:prstGeom>
          <a:solidFill>
            <a:srgbClr val="000000">
              <a:alpha val="0"/>
            </a:srgbClr>
          </a:solidFill>
          <a:ln>
            <a:noFill/>
          </a:ln>
        </p:spPr>
        <p:txBody>
          <a:bodyPr anchorCtr="0" anchor="ctr" bIns="0" lIns="285750" spcFirstLastPara="1" rIns="0" wrap="square" tIns="0">
            <a:noAutofit/>
          </a:bodyPr>
          <a:lstStyle/>
          <a:p>
            <a:pPr indent="-381000" lvl="0" marL="457200" rtl="0" algn="l">
              <a:spcBef>
                <a:spcPts val="0"/>
              </a:spcBef>
              <a:spcAft>
                <a:spcPts val="0"/>
              </a:spcAft>
              <a:buClr>
                <a:srgbClr val="1E4E79"/>
              </a:buClr>
              <a:buSzPts val="2400"/>
              <a:buFont typeface="Arial"/>
              <a:buAutoNum type="arabicPeriod"/>
            </a:pPr>
            <a:r>
              <a:rPr b="1" i="0" lang="en-US" sz="2400">
                <a:solidFill>
                  <a:srgbClr val="1E4E79"/>
                </a:solidFill>
                <a:latin typeface="Arial"/>
                <a:ea typeface="Arial"/>
                <a:cs typeface="Arial"/>
                <a:sym typeface="Arial"/>
              </a:rPr>
              <a:t>Introduction</a:t>
            </a:r>
            <a:endParaRPr b="1" i="0" sz="2400">
              <a:solidFill>
                <a:srgbClr val="1E4E79"/>
              </a:solidFill>
              <a:latin typeface="Arial"/>
              <a:ea typeface="Arial"/>
              <a:cs typeface="Arial"/>
              <a:sym typeface="Arial"/>
            </a:endParaRPr>
          </a:p>
        </p:txBody>
      </p:sp>
      <p:sp>
        <p:nvSpPr>
          <p:cNvPr id="491" name="Google Shape;491;g3e33499f370_0_375"/>
          <p:cNvSpPr txBox="1"/>
          <p:nvPr>
            <p:ph idx="12" type="sldNum"/>
          </p:nvPr>
        </p:nvSpPr>
        <p:spPr>
          <a:xfrm>
            <a:off x="6996113" y="6356350"/>
            <a:ext cx="22290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pic>
        <p:nvPicPr>
          <p:cNvPr id="492" name="Google Shape;492;g3e33499f370_0_375"/>
          <p:cNvPicPr preferRelativeResize="0"/>
          <p:nvPr/>
        </p:nvPicPr>
        <p:blipFill rotWithShape="1">
          <a:blip r:embed="rId5">
            <a:alphaModFix/>
          </a:blip>
          <a:srcRect b="0" l="0" r="0" t="0"/>
          <a:stretch/>
        </p:blipFill>
        <p:spPr>
          <a:xfrm>
            <a:off x="218750" y="6052376"/>
            <a:ext cx="1823009" cy="470325"/>
          </a:xfrm>
          <a:prstGeom prst="rect">
            <a:avLst/>
          </a:prstGeom>
          <a:noFill/>
          <a:ln>
            <a:noFill/>
          </a:ln>
        </p:spPr>
      </p:pic>
      <p:pic>
        <p:nvPicPr>
          <p:cNvPr id="493" name="Google Shape;493;g3e33499f370_0_375"/>
          <p:cNvPicPr preferRelativeResize="0"/>
          <p:nvPr/>
        </p:nvPicPr>
        <p:blipFill rotWithShape="1">
          <a:blip r:embed="rId6">
            <a:alphaModFix/>
          </a:blip>
          <a:srcRect b="0" l="0" r="0" t="0"/>
          <a:stretch/>
        </p:blipFill>
        <p:spPr>
          <a:xfrm>
            <a:off x="6996125" y="5975242"/>
            <a:ext cx="1811830" cy="624575"/>
          </a:xfrm>
          <a:prstGeom prst="rect">
            <a:avLst/>
          </a:prstGeom>
          <a:noFill/>
          <a:ln>
            <a:noFill/>
          </a:ln>
        </p:spPr>
      </p:pic>
      <p:sp>
        <p:nvSpPr>
          <p:cNvPr id="494" name="Google Shape;494;g3e33499f370_0_375"/>
          <p:cNvSpPr txBox="1"/>
          <p:nvPr/>
        </p:nvSpPr>
        <p:spPr>
          <a:xfrm>
            <a:off x="285750" y="5518671"/>
            <a:ext cx="9334500" cy="291600"/>
          </a:xfrm>
          <a:prstGeom prst="rect">
            <a:avLst/>
          </a:prstGeom>
          <a:solidFill>
            <a:srgbClr val="000000">
              <a:alpha val="0"/>
            </a:srgbClr>
          </a:solidFill>
          <a:ln>
            <a:noFill/>
          </a:ln>
        </p:spPr>
        <p:txBody>
          <a:bodyPr anchorCtr="0" anchor="b" bIns="0" lIns="0" spcFirstLastPara="1" rIns="0" wrap="square" tIns="0">
            <a:noAutofit/>
          </a:bodyPr>
          <a:lstStyle/>
          <a:p>
            <a:pPr indent="0" lvl="0" marL="0" rtl="0" algn="l">
              <a:spcBef>
                <a:spcPts val="0"/>
              </a:spcBef>
              <a:spcAft>
                <a:spcPts val="0"/>
              </a:spcAft>
              <a:buNone/>
            </a:pPr>
            <a:r>
              <a:rPr b="1" i="0" lang="en-US" sz="1000">
                <a:solidFill>
                  <a:srgbClr val="64748B"/>
                </a:solidFill>
                <a:latin typeface="Arial"/>
                <a:ea typeface="Arial"/>
                <a:cs typeface="Arial"/>
                <a:sym typeface="Arial"/>
              </a:rPr>
              <a:t>Source: </a:t>
            </a:r>
            <a:r>
              <a:rPr b="0" i="0" lang="en-US" sz="1000">
                <a:solidFill>
                  <a:srgbClr val="64748B"/>
                </a:solidFill>
                <a:latin typeface="Arial"/>
                <a:ea typeface="Arial"/>
                <a:cs typeface="Arial"/>
                <a:sym typeface="Arial"/>
              </a:rPr>
              <a:t>[1]</a:t>
            </a:r>
            <a:endParaRPr b="0" i="0" sz="1000">
              <a:solidFill>
                <a:srgbClr val="64748B"/>
              </a:solidFill>
              <a:latin typeface="Arial"/>
              <a:ea typeface="Arial"/>
              <a:cs typeface="Arial"/>
              <a:sym typeface="Arial"/>
            </a:endParaRPr>
          </a:p>
        </p:txBody>
      </p:sp>
      <p:grpSp>
        <p:nvGrpSpPr>
          <p:cNvPr id="495" name="Google Shape;495;g3e33499f370_0_375"/>
          <p:cNvGrpSpPr/>
          <p:nvPr/>
        </p:nvGrpSpPr>
        <p:grpSpPr>
          <a:xfrm>
            <a:off x="476250" y="857250"/>
            <a:ext cx="8953500" cy="1238400"/>
            <a:chOff x="476250" y="857250"/>
            <a:chExt cx="8953500" cy="1238400"/>
          </a:xfrm>
        </p:grpSpPr>
        <p:sp>
          <p:nvSpPr>
            <p:cNvPr id="496" name="Google Shape;496;g3e33499f370_0_375"/>
            <p:cNvSpPr/>
            <p:nvPr/>
          </p:nvSpPr>
          <p:spPr>
            <a:xfrm>
              <a:off x="476250" y="857250"/>
              <a:ext cx="8953500" cy="1238400"/>
            </a:xfrm>
            <a:prstGeom prst="roundRect">
              <a:avLst>
                <a:gd fmla="val 9230" name="adj"/>
              </a:avLst>
            </a:prstGeom>
            <a:solidFill>
              <a:srgbClr val="F1F5F9"/>
            </a:solidFill>
            <a:ln cap="flat" cmpd="sng" w="9525">
              <a:solidFill>
                <a:srgbClr val="1E4E79"/>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97" name="Google Shape;497;g3e33499f370_0_375"/>
            <p:cNvSpPr txBox="1"/>
            <p:nvPr/>
          </p:nvSpPr>
          <p:spPr>
            <a:xfrm>
              <a:off x="666750" y="952500"/>
              <a:ext cx="8572500" cy="1047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i="0" lang="en-US" sz="2000">
                  <a:solidFill>
                    <a:srgbClr val="1E4E79"/>
                  </a:solidFill>
                  <a:latin typeface="Arial"/>
                  <a:ea typeface="Arial"/>
                  <a:cs typeface="Arial"/>
                  <a:sym typeface="Arial"/>
                </a:rPr>
                <a:t>Ethics </a:t>
              </a:r>
              <a:r>
                <a:rPr b="0" i="0" lang="en-US" sz="2000">
                  <a:solidFill>
                    <a:srgbClr val="334155"/>
                  </a:solidFill>
                  <a:latin typeface="Arial"/>
                  <a:ea typeface="Arial"/>
                  <a:cs typeface="Arial"/>
                  <a:sym typeface="Arial"/>
                </a:rPr>
                <a:t>refers to values and principles that </a:t>
              </a:r>
              <a:r>
                <a:rPr b="1" i="0" lang="en-US" sz="2000">
                  <a:solidFill>
                    <a:srgbClr val="1E4E79"/>
                  </a:solidFill>
                  <a:latin typeface="Arial"/>
                  <a:ea typeface="Arial"/>
                  <a:cs typeface="Arial"/>
                  <a:sym typeface="Arial"/>
                </a:rPr>
                <a:t>prioritize human well-being </a:t>
              </a:r>
              <a:r>
                <a:rPr b="0" i="0" lang="en-US" sz="2000">
                  <a:solidFill>
                    <a:srgbClr val="334155"/>
                  </a:solidFill>
                  <a:latin typeface="Arial"/>
                  <a:ea typeface="Arial"/>
                  <a:cs typeface="Arial"/>
                  <a:sym typeface="Arial"/>
                </a:rPr>
                <a:t>and guide the responsible design and implementation of autonomous and intelligent systems.</a:t>
              </a:r>
              <a:endParaRPr b="1" i="0" sz="2000">
                <a:solidFill>
                  <a:srgbClr val="1E4E79"/>
                </a:solidFill>
                <a:latin typeface="Arial"/>
                <a:ea typeface="Arial"/>
                <a:cs typeface="Arial"/>
                <a:sym typeface="Arial"/>
              </a:endParaRPr>
            </a:p>
          </p:txBody>
        </p:sp>
      </p:grpSp>
      <p:grpSp>
        <p:nvGrpSpPr>
          <p:cNvPr id="498" name="Google Shape;498;g3e33499f370_0_375"/>
          <p:cNvGrpSpPr/>
          <p:nvPr/>
        </p:nvGrpSpPr>
        <p:grpSpPr>
          <a:xfrm>
            <a:off x="476250" y="2286000"/>
            <a:ext cx="8953500" cy="3238500"/>
            <a:chOff x="476250" y="2286000"/>
            <a:chExt cx="8953500" cy="3238500"/>
          </a:xfrm>
        </p:grpSpPr>
        <p:sp>
          <p:nvSpPr>
            <p:cNvPr id="499" name="Google Shape;499;g3e33499f370_0_375"/>
            <p:cNvSpPr/>
            <p:nvPr/>
          </p:nvSpPr>
          <p:spPr>
            <a:xfrm>
              <a:off x="476250" y="2286000"/>
              <a:ext cx="8953500" cy="3238500"/>
            </a:xfrm>
            <a:prstGeom prst="roundRect">
              <a:avLst>
                <a:gd fmla="val 3529" name="adj"/>
              </a:avLst>
            </a:prstGeom>
            <a:solidFill>
              <a:srgbClr val="FFFFFF"/>
            </a:solidFill>
            <a:ln cap="flat" cmpd="sng" w="9525">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00" name="Google Shape;500;g3e33499f370_0_375"/>
            <p:cNvSpPr txBox="1"/>
            <p:nvPr/>
          </p:nvSpPr>
          <p:spPr>
            <a:xfrm>
              <a:off x="666750" y="2428875"/>
              <a:ext cx="8572500" cy="762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i="0" lang="en-US" sz="1800">
                  <a:solidFill>
                    <a:srgbClr val="1E4E79"/>
                  </a:solidFill>
                  <a:latin typeface="Arial"/>
                  <a:ea typeface="Arial"/>
                  <a:cs typeface="Arial"/>
                  <a:sym typeface="Arial"/>
                </a:rPr>
                <a:t>Ethics in AI</a:t>
              </a:r>
              <a:endParaRPr b="1" i="0" sz="1800">
                <a:solidFill>
                  <a:srgbClr val="1E4E79"/>
                </a:solidFill>
                <a:latin typeface="Arial"/>
                <a:ea typeface="Arial"/>
                <a:cs typeface="Arial"/>
                <a:sym typeface="Arial"/>
              </a:endParaRPr>
            </a:p>
            <a:p>
              <a:pPr indent="0" lvl="0" marL="0" rtl="0" algn="l">
                <a:spcBef>
                  <a:spcPts val="375"/>
                </a:spcBef>
                <a:spcAft>
                  <a:spcPts val="0"/>
                </a:spcAft>
                <a:buNone/>
              </a:pPr>
              <a:r>
                <a:rPr b="0" i="0" lang="en-US" sz="1400">
                  <a:solidFill>
                    <a:srgbClr val="475569"/>
                  </a:solidFill>
                  <a:latin typeface="Arial"/>
                  <a:ea typeface="Arial"/>
                  <a:cs typeface="Arial"/>
                  <a:sym typeface="Arial"/>
                </a:rPr>
                <a:t>Subfield of applied ethics and technology focused on the ethical issues raised by the design, development, implementation, and use of AI.</a:t>
              </a:r>
              <a:endParaRPr b="1" i="0" sz="1400">
                <a:solidFill>
                  <a:srgbClr val="1E4E79"/>
                </a:solidFill>
                <a:latin typeface="Arial"/>
                <a:ea typeface="Arial"/>
                <a:cs typeface="Arial"/>
                <a:sym typeface="Arial"/>
              </a:endParaRPr>
            </a:p>
          </p:txBody>
        </p:sp>
        <p:cxnSp>
          <p:nvCxnSpPr>
            <p:cNvPr id="501" name="Google Shape;501;g3e33499f370_0_375"/>
            <p:cNvCxnSpPr/>
            <p:nvPr/>
          </p:nvCxnSpPr>
          <p:spPr>
            <a:xfrm>
              <a:off x="666750" y="3286125"/>
              <a:ext cx="8572500" cy="0"/>
            </a:xfrm>
            <a:prstGeom prst="straightConnector1">
              <a:avLst/>
            </a:prstGeom>
            <a:solidFill>
              <a:srgbClr val="FFFFFF"/>
            </a:solidFill>
            <a:ln cap="flat" cmpd="sng" w="9525">
              <a:solidFill>
                <a:srgbClr val="E2E8F0"/>
              </a:solidFill>
              <a:prstDash val="solid"/>
              <a:round/>
              <a:headEnd len="sm" w="sm" type="none"/>
              <a:tailEnd len="sm" w="sm" type="none"/>
            </a:ln>
          </p:spPr>
        </p:cxnSp>
        <p:grpSp>
          <p:nvGrpSpPr>
            <p:cNvPr id="502" name="Google Shape;502;g3e33499f370_0_375"/>
            <p:cNvGrpSpPr/>
            <p:nvPr/>
          </p:nvGrpSpPr>
          <p:grpSpPr>
            <a:xfrm>
              <a:off x="666750" y="3524250"/>
              <a:ext cx="4191000" cy="1714500"/>
              <a:chOff x="666750" y="3524250"/>
              <a:chExt cx="4191000" cy="1714500"/>
            </a:xfrm>
          </p:grpSpPr>
          <p:sp>
            <p:nvSpPr>
              <p:cNvPr id="503" name="Google Shape;503;g3e33499f370_0_375"/>
              <p:cNvSpPr/>
              <p:nvPr/>
            </p:nvSpPr>
            <p:spPr>
              <a:xfrm>
                <a:off x="666750" y="3524250"/>
                <a:ext cx="4191000" cy="1714500"/>
              </a:xfrm>
              <a:prstGeom prst="roundRect">
                <a:avLst>
                  <a:gd fmla="val 4444" name="adj"/>
                </a:avLst>
              </a:prstGeom>
              <a:solidFill>
                <a:srgbClr val="F0FDF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04" name="Google Shape;504;g3e33499f370_0_375"/>
              <p:cNvSpPr txBox="1"/>
              <p:nvPr/>
            </p:nvSpPr>
            <p:spPr>
              <a:xfrm>
                <a:off x="809625" y="3654552"/>
                <a:ext cx="381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2400">
                    <a:solidFill>
                      <a:srgbClr val="16A34A"/>
                    </a:solidFill>
                    <a:latin typeface="Material Icons"/>
                    <a:ea typeface="Material Icons"/>
                    <a:cs typeface="Material Icons"/>
                    <a:sym typeface="Material Icons"/>
                  </a:rPr>
                  <a:t>trending_up</a:t>
                </a:r>
                <a:endParaRPr sz="2400">
                  <a:solidFill>
                    <a:srgbClr val="16A34A"/>
                  </a:solidFill>
                  <a:latin typeface="Material Icons"/>
                  <a:ea typeface="Material Icons"/>
                  <a:cs typeface="Material Icons"/>
                  <a:sym typeface="Material Icons"/>
                </a:endParaRPr>
              </a:p>
            </p:txBody>
          </p:sp>
          <p:sp>
            <p:nvSpPr>
              <p:cNvPr id="505" name="Google Shape;505;g3e33499f370_0_375"/>
              <p:cNvSpPr txBox="1"/>
              <p:nvPr/>
            </p:nvSpPr>
            <p:spPr>
              <a:xfrm>
                <a:off x="1285875" y="3619500"/>
                <a:ext cx="3429000" cy="15240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i="0" lang="en-US" sz="1400">
                    <a:solidFill>
                      <a:srgbClr val="166534"/>
                    </a:solidFill>
                    <a:latin typeface="Arial"/>
                    <a:ea typeface="Arial"/>
                    <a:cs typeface="Arial"/>
                    <a:sym typeface="Arial"/>
                  </a:rPr>
                  <a:t>Goal</a:t>
                </a:r>
                <a:endParaRPr b="1" i="0" sz="1400">
                  <a:solidFill>
                    <a:srgbClr val="166534"/>
                  </a:solidFill>
                  <a:latin typeface="Arial"/>
                  <a:ea typeface="Arial"/>
                  <a:cs typeface="Arial"/>
                  <a:sym typeface="Arial"/>
                </a:endParaRPr>
              </a:p>
              <a:p>
                <a:pPr indent="0" lvl="0" marL="0" rtl="0" algn="l">
                  <a:spcBef>
                    <a:spcPts val="600"/>
                  </a:spcBef>
                  <a:spcAft>
                    <a:spcPts val="600"/>
                  </a:spcAft>
                  <a:buNone/>
                </a:pPr>
                <a:r>
                  <a:rPr b="0" i="0" lang="en-US" sz="1300">
                    <a:solidFill>
                      <a:srgbClr val="166534"/>
                    </a:solidFill>
                    <a:latin typeface="Arial"/>
                    <a:ea typeface="Arial"/>
                    <a:cs typeface="Arial"/>
                    <a:sym typeface="Arial"/>
                  </a:rPr>
                  <a:t>Seek to maximize the benefits of AI systems for society and individuals.</a:t>
                </a:r>
                <a:endParaRPr b="1" i="0" sz="1300">
                  <a:solidFill>
                    <a:srgbClr val="166534"/>
                  </a:solidFill>
                  <a:latin typeface="Arial"/>
                  <a:ea typeface="Arial"/>
                  <a:cs typeface="Arial"/>
                  <a:sym typeface="Arial"/>
                </a:endParaRPr>
              </a:p>
            </p:txBody>
          </p:sp>
        </p:grpSp>
        <p:grpSp>
          <p:nvGrpSpPr>
            <p:cNvPr id="506" name="Google Shape;506;g3e33499f370_0_375"/>
            <p:cNvGrpSpPr/>
            <p:nvPr/>
          </p:nvGrpSpPr>
          <p:grpSpPr>
            <a:xfrm>
              <a:off x="5048250" y="3524250"/>
              <a:ext cx="4191000" cy="1714500"/>
              <a:chOff x="5048250" y="3524250"/>
              <a:chExt cx="4191000" cy="1714500"/>
            </a:xfrm>
          </p:grpSpPr>
          <p:sp>
            <p:nvSpPr>
              <p:cNvPr id="507" name="Google Shape;507;g3e33499f370_0_375"/>
              <p:cNvSpPr/>
              <p:nvPr/>
            </p:nvSpPr>
            <p:spPr>
              <a:xfrm>
                <a:off x="5048250" y="3524250"/>
                <a:ext cx="4191000" cy="1714500"/>
              </a:xfrm>
              <a:prstGeom prst="roundRect">
                <a:avLst>
                  <a:gd fmla="val 4444" name="adj"/>
                </a:avLst>
              </a:prstGeom>
              <a:solidFill>
                <a:srgbClr val="FEF2F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08" name="Google Shape;508;g3e33499f370_0_375"/>
              <p:cNvSpPr txBox="1"/>
              <p:nvPr/>
            </p:nvSpPr>
            <p:spPr>
              <a:xfrm>
                <a:off x="5191125" y="3654552"/>
                <a:ext cx="381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2400">
                    <a:solidFill>
                      <a:srgbClr val="DC2626"/>
                    </a:solidFill>
                    <a:latin typeface="Material Icons"/>
                    <a:ea typeface="Material Icons"/>
                    <a:cs typeface="Material Icons"/>
                    <a:sym typeface="Material Icons"/>
                  </a:rPr>
                  <a:t>shield</a:t>
                </a:r>
                <a:endParaRPr sz="2400">
                  <a:solidFill>
                    <a:srgbClr val="DC2626"/>
                  </a:solidFill>
                  <a:latin typeface="Material Icons"/>
                  <a:ea typeface="Material Icons"/>
                  <a:cs typeface="Material Icons"/>
                  <a:sym typeface="Material Icons"/>
                </a:endParaRPr>
              </a:p>
            </p:txBody>
          </p:sp>
          <p:sp>
            <p:nvSpPr>
              <p:cNvPr id="509" name="Google Shape;509;g3e33499f370_0_375"/>
              <p:cNvSpPr txBox="1"/>
              <p:nvPr/>
            </p:nvSpPr>
            <p:spPr>
              <a:xfrm>
                <a:off x="5667375" y="3619500"/>
                <a:ext cx="3429000" cy="15240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i="0" lang="en-US" sz="1400">
                    <a:solidFill>
                      <a:srgbClr val="991B1B"/>
                    </a:solidFill>
                    <a:latin typeface="Arial"/>
                    <a:ea typeface="Arial"/>
                    <a:cs typeface="Arial"/>
                    <a:sym typeface="Arial"/>
                  </a:rPr>
                  <a:t>Mitigation</a:t>
                </a:r>
                <a:endParaRPr b="1" i="0" sz="1400">
                  <a:solidFill>
                    <a:srgbClr val="991B1B"/>
                  </a:solidFill>
                  <a:latin typeface="Arial"/>
                  <a:ea typeface="Arial"/>
                  <a:cs typeface="Arial"/>
                  <a:sym typeface="Arial"/>
                </a:endParaRPr>
              </a:p>
              <a:p>
                <a:pPr indent="0" lvl="0" marL="0" rtl="0" algn="l">
                  <a:spcBef>
                    <a:spcPts val="600"/>
                  </a:spcBef>
                  <a:spcAft>
                    <a:spcPts val="600"/>
                  </a:spcAft>
                  <a:buNone/>
                </a:pPr>
                <a:r>
                  <a:rPr b="0" i="0" lang="en-US" sz="1300">
                    <a:solidFill>
                      <a:srgbClr val="991B1B"/>
                    </a:solidFill>
                    <a:latin typeface="Arial"/>
                    <a:ea typeface="Arial"/>
                    <a:cs typeface="Arial"/>
                    <a:sym typeface="Arial"/>
                  </a:rPr>
                  <a:t>Prevent and minimize the potential risks and harms caused by the use of AI technology.</a:t>
                </a:r>
                <a:endParaRPr b="1" i="0" sz="1300">
                  <a:solidFill>
                    <a:srgbClr val="991B1B"/>
                  </a:solidFill>
                  <a:latin typeface="Arial"/>
                  <a:ea typeface="Arial"/>
                  <a:cs typeface="Arial"/>
                  <a:sym typeface="Arial"/>
                </a:endParaRPr>
              </a:p>
            </p:txBody>
          </p:sp>
        </p:grpSp>
      </p:grpSp>
    </p:spTree>
  </p:cSld>
  <p:clrMapOvr>
    <a:masterClrMapping/>
  </p:clrMapOvr>
  <mc:AlternateContent>
    <mc:Choice Requires="p14">
      <p:transition spd="slow" p14:dur="700">
        <p:fade/>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3" name="Shape 513"/>
        <p:cNvGrpSpPr/>
        <p:nvPr/>
      </p:nvGrpSpPr>
      <p:grpSpPr>
        <a:xfrm>
          <a:off x="0" y="0"/>
          <a:ext cx="0" cy="0"/>
          <a:chOff x="0" y="0"/>
          <a:chExt cx="0" cy="0"/>
        </a:xfrm>
      </p:grpSpPr>
      <p:sp>
        <p:nvSpPr>
          <p:cNvPr id="514" name="Google Shape;514;g3e3a61befe4_0_3800"/>
          <p:cNvSpPr/>
          <p:nvPr/>
        </p:nvSpPr>
        <p:spPr>
          <a:xfrm>
            <a:off x="-13050" y="5921896"/>
            <a:ext cx="9919200" cy="936000"/>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515" name="Google Shape;515;g3e3a61befe4_0_3800"/>
          <p:cNvPicPr preferRelativeResize="0"/>
          <p:nvPr/>
        </p:nvPicPr>
        <p:blipFill rotWithShape="1">
          <a:blip r:embed="rId3">
            <a:alphaModFix/>
          </a:blip>
          <a:srcRect b="0" l="17788" r="19907" t="65239"/>
          <a:stretch/>
        </p:blipFill>
        <p:spPr>
          <a:xfrm>
            <a:off x="920552" y="6155677"/>
            <a:ext cx="1568747" cy="665761"/>
          </a:xfrm>
          <a:prstGeom prst="rect">
            <a:avLst/>
          </a:prstGeom>
          <a:noFill/>
          <a:ln>
            <a:noFill/>
          </a:ln>
        </p:spPr>
      </p:pic>
      <p:pic>
        <p:nvPicPr>
          <p:cNvPr id="516" name="Google Shape;516;g3e3a61befe4_0_3800"/>
          <p:cNvPicPr preferRelativeResize="0"/>
          <p:nvPr/>
        </p:nvPicPr>
        <p:blipFill rotWithShape="1">
          <a:blip r:embed="rId3">
            <a:alphaModFix/>
          </a:blip>
          <a:srcRect b="34762" l="25520" r="25618" t="3571"/>
          <a:stretch/>
        </p:blipFill>
        <p:spPr>
          <a:xfrm>
            <a:off x="194947" y="6056653"/>
            <a:ext cx="725605" cy="696647"/>
          </a:xfrm>
          <a:prstGeom prst="rect">
            <a:avLst/>
          </a:prstGeom>
          <a:noFill/>
          <a:ln>
            <a:noFill/>
          </a:ln>
        </p:spPr>
      </p:pic>
      <p:sp>
        <p:nvSpPr>
          <p:cNvPr id="517" name="Google Shape;517;g3e3a61befe4_0_3800"/>
          <p:cNvSpPr/>
          <p:nvPr/>
        </p:nvSpPr>
        <p:spPr>
          <a:xfrm>
            <a:off x="4950907" y="5989477"/>
            <a:ext cx="4953000" cy="831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2400"/>
              <a:buFont typeface="Arial"/>
              <a:buNone/>
            </a:pPr>
            <a:r>
              <a:rPr b="1" i="0" lang="en-US" sz="2400" u="none" cap="none" strike="noStrike">
                <a:solidFill>
                  <a:schemeClr val="lt1"/>
                </a:solidFill>
                <a:latin typeface="Arial"/>
                <a:ea typeface="Arial"/>
                <a:cs typeface="Arial"/>
                <a:sym typeface="Arial"/>
              </a:rPr>
              <a:t>IEEE Intelligence and Security Informatics (ISI) 2018</a:t>
            </a:r>
            <a:endParaRPr b="0" i="0" sz="1400" u="none" cap="none" strike="noStrike">
              <a:solidFill>
                <a:srgbClr val="000000"/>
              </a:solidFill>
              <a:latin typeface="Arial"/>
              <a:ea typeface="Arial"/>
              <a:cs typeface="Arial"/>
              <a:sym typeface="Arial"/>
            </a:endParaRPr>
          </a:p>
        </p:txBody>
      </p:sp>
      <p:grpSp>
        <p:nvGrpSpPr>
          <p:cNvPr id="518" name="Google Shape;518;g3e3a61befe4_0_3800"/>
          <p:cNvGrpSpPr/>
          <p:nvPr/>
        </p:nvGrpSpPr>
        <p:grpSpPr>
          <a:xfrm>
            <a:off x="-18000" y="5842891"/>
            <a:ext cx="9942000" cy="1014788"/>
            <a:chOff x="-21650" y="5927750"/>
            <a:chExt cx="9942000" cy="930230"/>
          </a:xfrm>
        </p:grpSpPr>
        <p:sp>
          <p:nvSpPr>
            <p:cNvPr id="519" name="Google Shape;519;g3e3a61befe4_0_3800"/>
            <p:cNvSpPr/>
            <p:nvPr/>
          </p:nvSpPr>
          <p:spPr>
            <a:xfrm>
              <a:off x="5239747" y="5949280"/>
              <a:ext cx="4680600" cy="9087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Arial"/>
                  <a:ea typeface="Arial"/>
                  <a:cs typeface="Arial"/>
                  <a:sym typeface="Arial"/>
                </a:rPr>
                <a:t>25th Annual International Conference on Digital Government Research (dg.o 2024)</a:t>
              </a:r>
              <a:endParaRPr b="0" i="0" sz="1800" u="none" cap="none" strike="noStrike">
                <a:solidFill>
                  <a:schemeClr val="lt1"/>
                </a:solidFill>
                <a:latin typeface="Arial"/>
                <a:ea typeface="Arial"/>
                <a:cs typeface="Arial"/>
                <a:sym typeface="Arial"/>
              </a:endParaRPr>
            </a:p>
          </p:txBody>
        </p:sp>
        <p:pic>
          <p:nvPicPr>
            <p:cNvPr id="520" name="Google Shape;520;g3e3a61befe4_0_3800"/>
            <p:cNvPicPr preferRelativeResize="0"/>
            <p:nvPr/>
          </p:nvPicPr>
          <p:blipFill rotWithShape="1">
            <a:blip r:embed="rId4">
              <a:alphaModFix/>
            </a:blip>
            <a:srcRect b="-112517" l="-23390" r="23390" t="137700"/>
            <a:stretch/>
          </p:blipFill>
          <p:spPr>
            <a:xfrm>
              <a:off x="0" y="6007596"/>
              <a:ext cx="9920265" cy="792088"/>
            </a:xfrm>
            <a:prstGeom prst="rect">
              <a:avLst/>
            </a:prstGeom>
            <a:noFill/>
            <a:ln>
              <a:noFill/>
            </a:ln>
          </p:spPr>
        </p:pic>
        <p:sp>
          <p:nvSpPr>
            <p:cNvPr id="521" name="Google Shape;521;g3e3a61befe4_0_3800"/>
            <p:cNvSpPr/>
            <p:nvPr/>
          </p:nvSpPr>
          <p:spPr>
            <a:xfrm>
              <a:off x="-21650" y="5927750"/>
              <a:ext cx="9942000" cy="9087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sp>
        <p:nvSpPr>
          <p:cNvPr id="522" name="Google Shape;522;g3e3a61befe4_0_3800"/>
          <p:cNvSpPr txBox="1"/>
          <p:nvPr>
            <p:ph type="title"/>
          </p:nvPr>
        </p:nvSpPr>
        <p:spPr>
          <a:xfrm>
            <a:off x="101478" y="108438"/>
            <a:ext cx="9000900" cy="624600"/>
          </a:xfrm>
          <a:prstGeom prst="rect">
            <a:avLst/>
          </a:prstGeom>
          <a:solidFill>
            <a:srgbClr val="000000">
              <a:alpha val="0"/>
            </a:srgbClr>
          </a:solidFill>
          <a:ln>
            <a:noFill/>
          </a:ln>
        </p:spPr>
        <p:txBody>
          <a:bodyPr anchorCtr="0" anchor="ctr" bIns="0" lIns="285750" spcFirstLastPara="1" rIns="0" wrap="square" tIns="0">
            <a:noAutofit/>
          </a:bodyPr>
          <a:lstStyle/>
          <a:p>
            <a:pPr indent="-381000" lvl="0" marL="457200" rtl="0" algn="l">
              <a:spcBef>
                <a:spcPts val="0"/>
              </a:spcBef>
              <a:spcAft>
                <a:spcPts val="0"/>
              </a:spcAft>
              <a:buClr>
                <a:srgbClr val="1E4E79"/>
              </a:buClr>
              <a:buSzPts val="2400"/>
              <a:buFont typeface="Arial"/>
              <a:buAutoNum type="arabicPeriod"/>
            </a:pPr>
            <a:r>
              <a:rPr b="1" i="0" lang="en-US" sz="2400">
                <a:solidFill>
                  <a:srgbClr val="1E4E79"/>
                </a:solidFill>
                <a:latin typeface="Arial"/>
                <a:ea typeface="Arial"/>
                <a:cs typeface="Arial"/>
                <a:sym typeface="Arial"/>
              </a:rPr>
              <a:t>Introduction</a:t>
            </a:r>
            <a:endParaRPr b="1" i="0" sz="2400">
              <a:solidFill>
                <a:srgbClr val="1E4E79"/>
              </a:solidFill>
              <a:latin typeface="Arial"/>
              <a:ea typeface="Arial"/>
              <a:cs typeface="Arial"/>
              <a:sym typeface="Arial"/>
            </a:endParaRPr>
          </a:p>
        </p:txBody>
      </p:sp>
      <p:sp>
        <p:nvSpPr>
          <p:cNvPr id="523" name="Google Shape;523;g3e3a61befe4_0_3800"/>
          <p:cNvSpPr txBox="1"/>
          <p:nvPr>
            <p:ph idx="12" type="sldNum"/>
          </p:nvPr>
        </p:nvSpPr>
        <p:spPr>
          <a:xfrm>
            <a:off x="6996113" y="6356350"/>
            <a:ext cx="22290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pic>
        <p:nvPicPr>
          <p:cNvPr id="524" name="Google Shape;524;g3e3a61befe4_0_3800"/>
          <p:cNvPicPr preferRelativeResize="0"/>
          <p:nvPr/>
        </p:nvPicPr>
        <p:blipFill rotWithShape="1">
          <a:blip r:embed="rId5">
            <a:alphaModFix/>
          </a:blip>
          <a:srcRect b="0" l="0" r="0" t="0"/>
          <a:stretch/>
        </p:blipFill>
        <p:spPr>
          <a:xfrm>
            <a:off x="218750" y="6052376"/>
            <a:ext cx="1823009" cy="470325"/>
          </a:xfrm>
          <a:prstGeom prst="rect">
            <a:avLst/>
          </a:prstGeom>
          <a:noFill/>
          <a:ln>
            <a:noFill/>
          </a:ln>
        </p:spPr>
      </p:pic>
      <p:pic>
        <p:nvPicPr>
          <p:cNvPr id="525" name="Google Shape;525;g3e3a61befe4_0_3800"/>
          <p:cNvPicPr preferRelativeResize="0"/>
          <p:nvPr/>
        </p:nvPicPr>
        <p:blipFill rotWithShape="1">
          <a:blip r:embed="rId6">
            <a:alphaModFix/>
          </a:blip>
          <a:srcRect b="0" l="0" r="0" t="0"/>
          <a:stretch/>
        </p:blipFill>
        <p:spPr>
          <a:xfrm>
            <a:off x="6996125" y="5975242"/>
            <a:ext cx="1811830" cy="624575"/>
          </a:xfrm>
          <a:prstGeom prst="rect">
            <a:avLst/>
          </a:prstGeom>
          <a:noFill/>
          <a:ln>
            <a:noFill/>
          </a:ln>
        </p:spPr>
      </p:pic>
      <p:sp>
        <p:nvSpPr>
          <p:cNvPr id="526" name="Google Shape;526;g3e3a61befe4_0_3800"/>
          <p:cNvSpPr txBox="1"/>
          <p:nvPr/>
        </p:nvSpPr>
        <p:spPr>
          <a:xfrm>
            <a:off x="285750" y="5518675"/>
            <a:ext cx="9334500" cy="2916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b="1" lang="en-US" sz="1000">
                <a:solidFill>
                  <a:srgbClr val="64748B"/>
                </a:solidFill>
                <a:latin typeface="Arial"/>
                <a:ea typeface="Arial"/>
                <a:cs typeface="Arial"/>
                <a:sym typeface="Arial"/>
              </a:rPr>
              <a:t>Source: </a:t>
            </a:r>
            <a:r>
              <a:rPr b="0" lang="en-US" sz="1000">
                <a:solidFill>
                  <a:srgbClr val="64748B"/>
                </a:solidFill>
                <a:latin typeface="Arial"/>
                <a:ea typeface="Arial"/>
                <a:cs typeface="Arial"/>
                <a:sym typeface="Arial"/>
              </a:rPr>
              <a:t>[</a:t>
            </a:r>
            <a:r>
              <a:rPr lang="en-US" sz="1000">
                <a:solidFill>
                  <a:srgbClr val="64748B"/>
                </a:solidFill>
              </a:rPr>
              <a:t>1</a:t>
            </a:r>
            <a:r>
              <a:rPr b="0" lang="en-US" sz="1000">
                <a:solidFill>
                  <a:srgbClr val="64748B"/>
                </a:solidFill>
                <a:latin typeface="Arial"/>
                <a:ea typeface="Arial"/>
                <a:cs typeface="Arial"/>
                <a:sym typeface="Arial"/>
              </a:rPr>
              <a:t>]  </a:t>
            </a:r>
            <a:endParaRPr b="1" sz="1000">
              <a:solidFill>
                <a:srgbClr val="64748B"/>
              </a:solidFill>
              <a:latin typeface="Arial"/>
              <a:ea typeface="Arial"/>
              <a:cs typeface="Arial"/>
              <a:sym typeface="Arial"/>
            </a:endParaRPr>
          </a:p>
        </p:txBody>
      </p:sp>
      <p:grpSp>
        <p:nvGrpSpPr>
          <p:cNvPr id="527" name="Google Shape;527;g3e3a61befe4_0_3800"/>
          <p:cNvGrpSpPr/>
          <p:nvPr/>
        </p:nvGrpSpPr>
        <p:grpSpPr>
          <a:xfrm>
            <a:off x="381000" y="1047750"/>
            <a:ext cx="9144000" cy="1143000"/>
            <a:chOff x="381000" y="1047750"/>
            <a:chExt cx="9144000" cy="1143000"/>
          </a:xfrm>
        </p:grpSpPr>
        <p:sp>
          <p:nvSpPr>
            <p:cNvPr id="528" name="Google Shape;528;g3e3a61befe4_0_3800"/>
            <p:cNvSpPr/>
            <p:nvPr/>
          </p:nvSpPr>
          <p:spPr>
            <a:xfrm>
              <a:off x="381000" y="1047750"/>
              <a:ext cx="9144000" cy="1143000"/>
            </a:xfrm>
            <a:prstGeom prst="roundRect">
              <a:avLst>
                <a:gd fmla="val 8333" name="adj"/>
              </a:avLst>
            </a:prstGeom>
            <a:solidFill>
              <a:srgbClr val="F1F5F9"/>
            </a:solidFill>
            <a:ln cap="flat" cmpd="sng" w="9525">
              <a:solidFill>
                <a:srgbClr val="1E4E79"/>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29" name="Google Shape;529;g3e3a61befe4_0_3800"/>
            <p:cNvSpPr txBox="1"/>
            <p:nvPr/>
          </p:nvSpPr>
          <p:spPr>
            <a:xfrm>
              <a:off x="571500" y="1047750"/>
              <a:ext cx="8763000" cy="1143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400">
                  <a:solidFill>
                    <a:srgbClr val="1E4E79"/>
                  </a:solidFill>
                  <a:latin typeface="Arial"/>
                  <a:ea typeface="Arial"/>
                  <a:cs typeface="Arial"/>
                  <a:sym typeface="Arial"/>
                </a:rPr>
                <a:t>Life-Cycle Integration</a:t>
              </a:r>
              <a:endParaRPr b="1" sz="1400">
                <a:solidFill>
                  <a:srgbClr val="1E4E79"/>
                </a:solidFill>
                <a:latin typeface="Arial"/>
                <a:ea typeface="Arial"/>
                <a:cs typeface="Arial"/>
                <a:sym typeface="Arial"/>
              </a:endParaRPr>
            </a:p>
            <a:p>
              <a:pPr indent="0" lvl="0" marL="0" rtl="0" algn="l">
                <a:spcBef>
                  <a:spcPts val="600"/>
                </a:spcBef>
                <a:spcAft>
                  <a:spcPts val="0"/>
                </a:spcAft>
                <a:buNone/>
              </a:pPr>
              <a:r>
                <a:rPr lang="en-US" sz="1400">
                  <a:solidFill>
                    <a:srgbClr val="334155"/>
                  </a:solidFill>
                  <a:latin typeface="Arial"/>
                  <a:ea typeface="Arial"/>
                  <a:cs typeface="Arial"/>
                  <a:sym typeface="Arial"/>
                </a:rPr>
                <a:t>Ethical principles are fundamental for developing responsible AI systems and must be considered throughout their entire life cycle.</a:t>
              </a:r>
              <a:endParaRPr sz="1400">
                <a:solidFill>
                  <a:srgbClr val="334155"/>
                </a:solidFill>
                <a:latin typeface="Arial"/>
                <a:ea typeface="Arial"/>
                <a:cs typeface="Arial"/>
                <a:sym typeface="Arial"/>
              </a:endParaRPr>
            </a:p>
          </p:txBody>
        </p:sp>
      </p:grpSp>
    </p:spTree>
  </p:cSld>
  <p:clrMapOvr>
    <a:masterClrMapping/>
  </p:clrMapOvr>
  <mc:AlternateContent>
    <mc:Choice Requires="p14">
      <p:transition spd="slow" p14:dur="700">
        <p:fade/>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3" name="Shape 533"/>
        <p:cNvGrpSpPr/>
        <p:nvPr/>
      </p:nvGrpSpPr>
      <p:grpSpPr>
        <a:xfrm>
          <a:off x="0" y="0"/>
          <a:ext cx="0" cy="0"/>
          <a:chOff x="0" y="0"/>
          <a:chExt cx="0" cy="0"/>
        </a:xfrm>
      </p:grpSpPr>
      <p:sp>
        <p:nvSpPr>
          <p:cNvPr id="534" name="Google Shape;534;g3e387427cbb_136_622"/>
          <p:cNvSpPr/>
          <p:nvPr/>
        </p:nvSpPr>
        <p:spPr>
          <a:xfrm>
            <a:off x="-13050" y="5921896"/>
            <a:ext cx="9919200" cy="936000"/>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535" name="Google Shape;535;g3e387427cbb_136_622"/>
          <p:cNvPicPr preferRelativeResize="0"/>
          <p:nvPr/>
        </p:nvPicPr>
        <p:blipFill rotWithShape="1">
          <a:blip r:embed="rId3">
            <a:alphaModFix/>
          </a:blip>
          <a:srcRect b="0" l="17788" r="19907" t="65239"/>
          <a:stretch/>
        </p:blipFill>
        <p:spPr>
          <a:xfrm>
            <a:off x="920552" y="6155677"/>
            <a:ext cx="1568747" cy="665761"/>
          </a:xfrm>
          <a:prstGeom prst="rect">
            <a:avLst/>
          </a:prstGeom>
          <a:noFill/>
          <a:ln>
            <a:noFill/>
          </a:ln>
        </p:spPr>
      </p:pic>
      <p:pic>
        <p:nvPicPr>
          <p:cNvPr id="536" name="Google Shape;536;g3e387427cbb_136_622"/>
          <p:cNvPicPr preferRelativeResize="0"/>
          <p:nvPr/>
        </p:nvPicPr>
        <p:blipFill rotWithShape="1">
          <a:blip r:embed="rId3">
            <a:alphaModFix/>
          </a:blip>
          <a:srcRect b="34762" l="25520" r="25618" t="3571"/>
          <a:stretch/>
        </p:blipFill>
        <p:spPr>
          <a:xfrm>
            <a:off x="194947" y="6056653"/>
            <a:ext cx="725605" cy="696647"/>
          </a:xfrm>
          <a:prstGeom prst="rect">
            <a:avLst/>
          </a:prstGeom>
          <a:noFill/>
          <a:ln>
            <a:noFill/>
          </a:ln>
        </p:spPr>
      </p:pic>
      <p:sp>
        <p:nvSpPr>
          <p:cNvPr id="537" name="Google Shape;537;g3e387427cbb_136_622"/>
          <p:cNvSpPr/>
          <p:nvPr/>
        </p:nvSpPr>
        <p:spPr>
          <a:xfrm>
            <a:off x="4950907" y="5989477"/>
            <a:ext cx="4953000" cy="831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2400"/>
              <a:buFont typeface="Arial"/>
              <a:buNone/>
            </a:pPr>
            <a:r>
              <a:rPr b="1" i="0" lang="en-US" sz="2400" u="none" cap="none" strike="noStrike">
                <a:solidFill>
                  <a:schemeClr val="lt1"/>
                </a:solidFill>
                <a:latin typeface="Arial"/>
                <a:ea typeface="Arial"/>
                <a:cs typeface="Arial"/>
                <a:sym typeface="Arial"/>
              </a:rPr>
              <a:t>IEEE Intelligence and Security Informatics (ISI) 2018</a:t>
            </a:r>
            <a:endParaRPr b="0" i="0" sz="1400" u="none" cap="none" strike="noStrike">
              <a:solidFill>
                <a:srgbClr val="000000"/>
              </a:solidFill>
              <a:latin typeface="Arial"/>
              <a:ea typeface="Arial"/>
              <a:cs typeface="Arial"/>
              <a:sym typeface="Arial"/>
            </a:endParaRPr>
          </a:p>
        </p:txBody>
      </p:sp>
      <p:grpSp>
        <p:nvGrpSpPr>
          <p:cNvPr id="538" name="Google Shape;538;g3e387427cbb_136_622"/>
          <p:cNvGrpSpPr/>
          <p:nvPr/>
        </p:nvGrpSpPr>
        <p:grpSpPr>
          <a:xfrm>
            <a:off x="-18000" y="5842891"/>
            <a:ext cx="9942000" cy="1014788"/>
            <a:chOff x="-21650" y="5927750"/>
            <a:chExt cx="9942000" cy="930230"/>
          </a:xfrm>
        </p:grpSpPr>
        <p:sp>
          <p:nvSpPr>
            <p:cNvPr id="539" name="Google Shape;539;g3e387427cbb_136_622"/>
            <p:cNvSpPr/>
            <p:nvPr/>
          </p:nvSpPr>
          <p:spPr>
            <a:xfrm>
              <a:off x="5239747" y="5949280"/>
              <a:ext cx="4680600" cy="9087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Arial"/>
                  <a:ea typeface="Arial"/>
                  <a:cs typeface="Arial"/>
                  <a:sym typeface="Arial"/>
                </a:rPr>
                <a:t>25th Annual International Conference on Digital Government Research (dg.o 2024)</a:t>
              </a:r>
              <a:endParaRPr b="0" i="0" sz="1800" u="none" cap="none" strike="noStrike">
                <a:solidFill>
                  <a:schemeClr val="lt1"/>
                </a:solidFill>
                <a:latin typeface="Arial"/>
                <a:ea typeface="Arial"/>
                <a:cs typeface="Arial"/>
                <a:sym typeface="Arial"/>
              </a:endParaRPr>
            </a:p>
          </p:txBody>
        </p:sp>
        <p:pic>
          <p:nvPicPr>
            <p:cNvPr id="540" name="Google Shape;540;g3e387427cbb_136_622"/>
            <p:cNvPicPr preferRelativeResize="0"/>
            <p:nvPr/>
          </p:nvPicPr>
          <p:blipFill rotWithShape="1">
            <a:blip r:embed="rId4">
              <a:alphaModFix/>
            </a:blip>
            <a:srcRect b="-112517" l="-23390" r="23390" t="137700"/>
            <a:stretch/>
          </p:blipFill>
          <p:spPr>
            <a:xfrm>
              <a:off x="0" y="6007596"/>
              <a:ext cx="9920265" cy="792088"/>
            </a:xfrm>
            <a:prstGeom prst="rect">
              <a:avLst/>
            </a:prstGeom>
            <a:noFill/>
            <a:ln>
              <a:noFill/>
            </a:ln>
          </p:spPr>
        </p:pic>
        <p:sp>
          <p:nvSpPr>
            <p:cNvPr id="541" name="Google Shape;541;g3e387427cbb_136_622"/>
            <p:cNvSpPr/>
            <p:nvPr/>
          </p:nvSpPr>
          <p:spPr>
            <a:xfrm>
              <a:off x="-21650" y="5927750"/>
              <a:ext cx="9942000" cy="9087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sp>
        <p:nvSpPr>
          <p:cNvPr id="542" name="Google Shape;542;g3e387427cbb_136_622"/>
          <p:cNvSpPr txBox="1"/>
          <p:nvPr>
            <p:ph type="title"/>
          </p:nvPr>
        </p:nvSpPr>
        <p:spPr>
          <a:xfrm>
            <a:off x="101478" y="108438"/>
            <a:ext cx="9000900" cy="624600"/>
          </a:xfrm>
          <a:prstGeom prst="rect">
            <a:avLst/>
          </a:prstGeom>
          <a:solidFill>
            <a:srgbClr val="000000">
              <a:alpha val="0"/>
            </a:srgbClr>
          </a:solidFill>
          <a:ln>
            <a:noFill/>
          </a:ln>
        </p:spPr>
        <p:txBody>
          <a:bodyPr anchorCtr="0" anchor="ctr" bIns="0" lIns="285750" spcFirstLastPara="1" rIns="0" wrap="square" tIns="0">
            <a:noAutofit/>
          </a:bodyPr>
          <a:lstStyle/>
          <a:p>
            <a:pPr indent="-381000" lvl="0" marL="457200" rtl="0" algn="l">
              <a:spcBef>
                <a:spcPts val="0"/>
              </a:spcBef>
              <a:spcAft>
                <a:spcPts val="0"/>
              </a:spcAft>
              <a:buClr>
                <a:srgbClr val="1E4E79"/>
              </a:buClr>
              <a:buSzPts val="2400"/>
              <a:buFont typeface="Arial"/>
              <a:buAutoNum type="arabicPeriod"/>
            </a:pPr>
            <a:r>
              <a:rPr b="1" i="0" lang="en-US" sz="2400">
                <a:solidFill>
                  <a:srgbClr val="1E4E79"/>
                </a:solidFill>
                <a:latin typeface="Arial"/>
                <a:ea typeface="Arial"/>
                <a:cs typeface="Arial"/>
                <a:sym typeface="Arial"/>
              </a:rPr>
              <a:t>Introduction</a:t>
            </a:r>
            <a:endParaRPr b="1" i="0" sz="2400">
              <a:solidFill>
                <a:srgbClr val="1E4E79"/>
              </a:solidFill>
              <a:latin typeface="Arial"/>
              <a:ea typeface="Arial"/>
              <a:cs typeface="Arial"/>
              <a:sym typeface="Arial"/>
            </a:endParaRPr>
          </a:p>
        </p:txBody>
      </p:sp>
      <p:sp>
        <p:nvSpPr>
          <p:cNvPr id="543" name="Google Shape;543;g3e387427cbb_136_622"/>
          <p:cNvSpPr txBox="1"/>
          <p:nvPr>
            <p:ph idx="12" type="sldNum"/>
          </p:nvPr>
        </p:nvSpPr>
        <p:spPr>
          <a:xfrm>
            <a:off x="6996113" y="6356350"/>
            <a:ext cx="22290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pic>
        <p:nvPicPr>
          <p:cNvPr id="544" name="Google Shape;544;g3e387427cbb_136_622"/>
          <p:cNvPicPr preferRelativeResize="0"/>
          <p:nvPr/>
        </p:nvPicPr>
        <p:blipFill rotWithShape="1">
          <a:blip r:embed="rId5">
            <a:alphaModFix/>
          </a:blip>
          <a:srcRect b="0" l="0" r="0" t="0"/>
          <a:stretch/>
        </p:blipFill>
        <p:spPr>
          <a:xfrm>
            <a:off x="218750" y="6052376"/>
            <a:ext cx="1823009" cy="470325"/>
          </a:xfrm>
          <a:prstGeom prst="rect">
            <a:avLst/>
          </a:prstGeom>
          <a:noFill/>
          <a:ln>
            <a:noFill/>
          </a:ln>
        </p:spPr>
      </p:pic>
      <p:pic>
        <p:nvPicPr>
          <p:cNvPr id="545" name="Google Shape;545;g3e387427cbb_136_622"/>
          <p:cNvPicPr preferRelativeResize="0"/>
          <p:nvPr/>
        </p:nvPicPr>
        <p:blipFill rotWithShape="1">
          <a:blip r:embed="rId6">
            <a:alphaModFix/>
          </a:blip>
          <a:srcRect b="0" l="0" r="0" t="0"/>
          <a:stretch/>
        </p:blipFill>
        <p:spPr>
          <a:xfrm>
            <a:off x="6996125" y="5975242"/>
            <a:ext cx="1811830" cy="624575"/>
          </a:xfrm>
          <a:prstGeom prst="rect">
            <a:avLst/>
          </a:prstGeom>
          <a:noFill/>
          <a:ln>
            <a:noFill/>
          </a:ln>
        </p:spPr>
      </p:pic>
      <p:sp>
        <p:nvSpPr>
          <p:cNvPr id="546" name="Google Shape;546;g3e387427cbb_136_622"/>
          <p:cNvSpPr txBox="1"/>
          <p:nvPr/>
        </p:nvSpPr>
        <p:spPr>
          <a:xfrm>
            <a:off x="285750" y="5518675"/>
            <a:ext cx="9334500" cy="2916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b="1" lang="en-US" sz="1000">
                <a:solidFill>
                  <a:srgbClr val="64748B"/>
                </a:solidFill>
                <a:latin typeface="Arial"/>
                <a:ea typeface="Arial"/>
                <a:cs typeface="Arial"/>
                <a:sym typeface="Arial"/>
              </a:rPr>
              <a:t>Source: </a:t>
            </a:r>
            <a:r>
              <a:rPr b="0" lang="en-US" sz="1000">
                <a:solidFill>
                  <a:srgbClr val="64748B"/>
                </a:solidFill>
                <a:latin typeface="Arial"/>
                <a:ea typeface="Arial"/>
                <a:cs typeface="Arial"/>
                <a:sym typeface="Arial"/>
              </a:rPr>
              <a:t>[</a:t>
            </a:r>
            <a:r>
              <a:rPr lang="en-US" sz="1000">
                <a:solidFill>
                  <a:srgbClr val="64748B"/>
                </a:solidFill>
              </a:rPr>
              <a:t>1</a:t>
            </a:r>
            <a:r>
              <a:rPr b="0" lang="en-US" sz="1000">
                <a:solidFill>
                  <a:srgbClr val="64748B"/>
                </a:solidFill>
                <a:latin typeface="Arial"/>
                <a:ea typeface="Arial"/>
                <a:cs typeface="Arial"/>
                <a:sym typeface="Arial"/>
              </a:rPr>
              <a:t>]  </a:t>
            </a:r>
            <a:endParaRPr b="1" sz="1000">
              <a:solidFill>
                <a:srgbClr val="64748B"/>
              </a:solidFill>
              <a:latin typeface="Arial"/>
              <a:ea typeface="Arial"/>
              <a:cs typeface="Arial"/>
              <a:sym typeface="Arial"/>
            </a:endParaRPr>
          </a:p>
        </p:txBody>
      </p:sp>
      <p:grpSp>
        <p:nvGrpSpPr>
          <p:cNvPr id="547" name="Google Shape;547;g3e387427cbb_136_622"/>
          <p:cNvGrpSpPr/>
          <p:nvPr/>
        </p:nvGrpSpPr>
        <p:grpSpPr>
          <a:xfrm>
            <a:off x="381000" y="1047750"/>
            <a:ext cx="9144000" cy="1143000"/>
            <a:chOff x="381000" y="1047750"/>
            <a:chExt cx="9144000" cy="1143000"/>
          </a:xfrm>
        </p:grpSpPr>
        <p:sp>
          <p:nvSpPr>
            <p:cNvPr id="548" name="Google Shape;548;g3e387427cbb_136_622"/>
            <p:cNvSpPr/>
            <p:nvPr/>
          </p:nvSpPr>
          <p:spPr>
            <a:xfrm>
              <a:off x="381000" y="1047750"/>
              <a:ext cx="9144000" cy="1143000"/>
            </a:xfrm>
            <a:prstGeom prst="roundRect">
              <a:avLst>
                <a:gd fmla="val 8333" name="adj"/>
              </a:avLst>
            </a:prstGeom>
            <a:solidFill>
              <a:srgbClr val="F1F5F9"/>
            </a:solidFill>
            <a:ln cap="flat" cmpd="sng" w="9525">
              <a:solidFill>
                <a:srgbClr val="1E4E79"/>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49" name="Google Shape;549;g3e387427cbb_136_622"/>
            <p:cNvSpPr txBox="1"/>
            <p:nvPr/>
          </p:nvSpPr>
          <p:spPr>
            <a:xfrm>
              <a:off x="571500" y="1047750"/>
              <a:ext cx="8763000" cy="1143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400">
                  <a:solidFill>
                    <a:srgbClr val="1E4E79"/>
                  </a:solidFill>
                  <a:latin typeface="Arial"/>
                  <a:ea typeface="Arial"/>
                  <a:cs typeface="Arial"/>
                  <a:sym typeface="Arial"/>
                </a:rPr>
                <a:t>Life-Cycle Integration</a:t>
              </a:r>
              <a:endParaRPr b="1" sz="1400">
                <a:solidFill>
                  <a:srgbClr val="1E4E79"/>
                </a:solidFill>
                <a:latin typeface="Arial"/>
                <a:ea typeface="Arial"/>
                <a:cs typeface="Arial"/>
                <a:sym typeface="Arial"/>
              </a:endParaRPr>
            </a:p>
            <a:p>
              <a:pPr indent="0" lvl="0" marL="0" rtl="0" algn="l">
                <a:spcBef>
                  <a:spcPts val="600"/>
                </a:spcBef>
                <a:spcAft>
                  <a:spcPts val="0"/>
                </a:spcAft>
                <a:buNone/>
              </a:pPr>
              <a:r>
                <a:rPr lang="en-US" sz="1400">
                  <a:solidFill>
                    <a:srgbClr val="334155"/>
                  </a:solidFill>
                  <a:latin typeface="Arial"/>
                  <a:ea typeface="Arial"/>
                  <a:cs typeface="Arial"/>
                  <a:sym typeface="Arial"/>
                </a:rPr>
                <a:t>Ethical principles are fundamental for developing responsible AI systems and must be considered throughout their entire life cycle.</a:t>
              </a:r>
              <a:endParaRPr sz="1400">
                <a:solidFill>
                  <a:srgbClr val="334155"/>
                </a:solidFill>
                <a:latin typeface="Arial"/>
                <a:ea typeface="Arial"/>
                <a:cs typeface="Arial"/>
                <a:sym typeface="Arial"/>
              </a:endParaRPr>
            </a:p>
          </p:txBody>
        </p:sp>
      </p:grpSp>
      <p:grpSp>
        <p:nvGrpSpPr>
          <p:cNvPr id="550" name="Google Shape;550;g3e387427cbb_136_622"/>
          <p:cNvGrpSpPr/>
          <p:nvPr/>
        </p:nvGrpSpPr>
        <p:grpSpPr>
          <a:xfrm>
            <a:off x="381000" y="2381250"/>
            <a:ext cx="9144000" cy="1143000"/>
            <a:chOff x="381000" y="2381250"/>
            <a:chExt cx="9144000" cy="1143000"/>
          </a:xfrm>
        </p:grpSpPr>
        <p:sp>
          <p:nvSpPr>
            <p:cNvPr id="551" name="Google Shape;551;g3e387427cbb_136_622"/>
            <p:cNvSpPr/>
            <p:nvPr/>
          </p:nvSpPr>
          <p:spPr>
            <a:xfrm>
              <a:off x="381000" y="2381250"/>
              <a:ext cx="9144000" cy="1143000"/>
            </a:xfrm>
            <a:prstGeom prst="roundRect">
              <a:avLst>
                <a:gd fmla="val 8333" name="adj"/>
              </a:avLst>
            </a:prstGeom>
            <a:solidFill>
              <a:srgbClr val="F8FAFC"/>
            </a:solidFill>
            <a:ln cap="flat" cmpd="sng" w="9525">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52" name="Google Shape;552;g3e387427cbb_136_622"/>
            <p:cNvSpPr txBox="1"/>
            <p:nvPr/>
          </p:nvSpPr>
          <p:spPr>
            <a:xfrm>
              <a:off x="571500" y="2381250"/>
              <a:ext cx="8763000" cy="1143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a:solidFill>
                    <a:srgbClr val="1E4E79"/>
                  </a:solidFill>
                  <a:latin typeface="Arial"/>
                  <a:ea typeface="Arial"/>
                  <a:cs typeface="Arial"/>
                  <a:sym typeface="Arial"/>
                </a:rPr>
                <a:t>Several</a:t>
              </a:r>
              <a:r>
                <a:rPr b="1" lang="en-US" sz="1400">
                  <a:solidFill>
                    <a:srgbClr val="1E4E79"/>
                  </a:solidFill>
                  <a:latin typeface="Arial"/>
                  <a:ea typeface="Arial"/>
                  <a:cs typeface="Arial"/>
                  <a:sym typeface="Arial"/>
                </a:rPr>
                <a:t> Ethical </a:t>
              </a:r>
              <a:r>
                <a:rPr b="1" lang="en-US">
                  <a:solidFill>
                    <a:srgbClr val="1E4E79"/>
                  </a:solidFill>
                  <a:latin typeface="Arial"/>
                  <a:ea typeface="Arial"/>
                  <a:cs typeface="Arial"/>
                  <a:sym typeface="Arial"/>
                </a:rPr>
                <a:t>Guides</a:t>
              </a:r>
              <a:endParaRPr b="1" sz="1400">
                <a:solidFill>
                  <a:srgbClr val="1E4E79"/>
                </a:solidFill>
                <a:latin typeface="Arial"/>
                <a:ea typeface="Arial"/>
                <a:cs typeface="Arial"/>
                <a:sym typeface="Arial"/>
              </a:endParaRPr>
            </a:p>
            <a:p>
              <a:pPr indent="0" lvl="0" marL="0" rtl="0" algn="l">
                <a:spcBef>
                  <a:spcPts val="600"/>
                </a:spcBef>
                <a:spcAft>
                  <a:spcPts val="0"/>
                </a:spcAft>
                <a:buNone/>
              </a:pPr>
              <a:r>
                <a:rPr lang="en-US" sz="1400">
                  <a:solidFill>
                    <a:srgbClr val="334155"/>
                  </a:solidFill>
                  <a:latin typeface="Arial"/>
                  <a:ea typeface="Arial"/>
                  <a:cs typeface="Arial"/>
                  <a:sym typeface="Arial"/>
                </a:rPr>
                <a:t>Numerous ethical guides exist, each offering different principles and interpretations based on their origin (e.g., government, NGO, academia) and sociocultural context.</a:t>
              </a:r>
              <a:endParaRPr sz="1400">
                <a:solidFill>
                  <a:srgbClr val="334155"/>
                </a:solidFill>
                <a:latin typeface="Arial"/>
                <a:ea typeface="Arial"/>
                <a:cs typeface="Arial"/>
                <a:sym typeface="Arial"/>
              </a:endParaRPr>
            </a:p>
          </p:txBody>
        </p:sp>
      </p:grpSp>
    </p:spTree>
  </p:cSld>
  <p:clrMapOvr>
    <a:masterClrMapping/>
  </p:clrMapOvr>
  <mc:AlternateContent>
    <mc:Choice Requires="p14">
      <p:transition spd="slow" p14:dur="700">
        <p:fade/>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6" name="Shape 556"/>
        <p:cNvGrpSpPr/>
        <p:nvPr/>
      </p:nvGrpSpPr>
      <p:grpSpPr>
        <a:xfrm>
          <a:off x="0" y="0"/>
          <a:ext cx="0" cy="0"/>
          <a:chOff x="0" y="0"/>
          <a:chExt cx="0" cy="0"/>
        </a:xfrm>
      </p:grpSpPr>
      <p:sp>
        <p:nvSpPr>
          <p:cNvPr id="557" name="Google Shape;557;g3e3a61befe4_0_3825"/>
          <p:cNvSpPr/>
          <p:nvPr/>
        </p:nvSpPr>
        <p:spPr>
          <a:xfrm>
            <a:off x="-13050" y="5921896"/>
            <a:ext cx="9919200" cy="936000"/>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558" name="Google Shape;558;g3e3a61befe4_0_3825"/>
          <p:cNvPicPr preferRelativeResize="0"/>
          <p:nvPr/>
        </p:nvPicPr>
        <p:blipFill rotWithShape="1">
          <a:blip r:embed="rId3">
            <a:alphaModFix/>
          </a:blip>
          <a:srcRect b="0" l="17788" r="19907" t="65239"/>
          <a:stretch/>
        </p:blipFill>
        <p:spPr>
          <a:xfrm>
            <a:off x="920552" y="6155677"/>
            <a:ext cx="1568747" cy="665761"/>
          </a:xfrm>
          <a:prstGeom prst="rect">
            <a:avLst/>
          </a:prstGeom>
          <a:noFill/>
          <a:ln>
            <a:noFill/>
          </a:ln>
        </p:spPr>
      </p:pic>
      <p:pic>
        <p:nvPicPr>
          <p:cNvPr id="559" name="Google Shape;559;g3e3a61befe4_0_3825"/>
          <p:cNvPicPr preferRelativeResize="0"/>
          <p:nvPr/>
        </p:nvPicPr>
        <p:blipFill rotWithShape="1">
          <a:blip r:embed="rId3">
            <a:alphaModFix/>
          </a:blip>
          <a:srcRect b="34762" l="25520" r="25618" t="3571"/>
          <a:stretch/>
        </p:blipFill>
        <p:spPr>
          <a:xfrm>
            <a:off x="194947" y="6056653"/>
            <a:ext cx="725605" cy="696647"/>
          </a:xfrm>
          <a:prstGeom prst="rect">
            <a:avLst/>
          </a:prstGeom>
          <a:noFill/>
          <a:ln>
            <a:noFill/>
          </a:ln>
        </p:spPr>
      </p:pic>
      <p:sp>
        <p:nvSpPr>
          <p:cNvPr id="560" name="Google Shape;560;g3e3a61befe4_0_3825"/>
          <p:cNvSpPr/>
          <p:nvPr/>
        </p:nvSpPr>
        <p:spPr>
          <a:xfrm>
            <a:off x="4950907" y="5989477"/>
            <a:ext cx="4953000" cy="831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2400"/>
              <a:buFont typeface="Arial"/>
              <a:buNone/>
            </a:pPr>
            <a:r>
              <a:rPr b="1" i="0" lang="en-US" sz="2400" u="none" cap="none" strike="noStrike">
                <a:solidFill>
                  <a:schemeClr val="lt1"/>
                </a:solidFill>
                <a:latin typeface="Arial"/>
                <a:ea typeface="Arial"/>
                <a:cs typeface="Arial"/>
                <a:sym typeface="Arial"/>
              </a:rPr>
              <a:t>IEEE Intelligence and Security Informatics (ISI) 2018</a:t>
            </a:r>
            <a:endParaRPr b="0" i="0" sz="1400" u="none" cap="none" strike="noStrike">
              <a:solidFill>
                <a:srgbClr val="000000"/>
              </a:solidFill>
              <a:latin typeface="Arial"/>
              <a:ea typeface="Arial"/>
              <a:cs typeface="Arial"/>
              <a:sym typeface="Arial"/>
            </a:endParaRPr>
          </a:p>
        </p:txBody>
      </p:sp>
      <p:grpSp>
        <p:nvGrpSpPr>
          <p:cNvPr id="561" name="Google Shape;561;g3e3a61befe4_0_3825"/>
          <p:cNvGrpSpPr/>
          <p:nvPr/>
        </p:nvGrpSpPr>
        <p:grpSpPr>
          <a:xfrm>
            <a:off x="-18000" y="5842891"/>
            <a:ext cx="9942000" cy="1014788"/>
            <a:chOff x="-21650" y="5927750"/>
            <a:chExt cx="9942000" cy="930230"/>
          </a:xfrm>
        </p:grpSpPr>
        <p:sp>
          <p:nvSpPr>
            <p:cNvPr id="562" name="Google Shape;562;g3e3a61befe4_0_3825"/>
            <p:cNvSpPr/>
            <p:nvPr/>
          </p:nvSpPr>
          <p:spPr>
            <a:xfrm>
              <a:off x="5239747" y="5949280"/>
              <a:ext cx="4680600" cy="9087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Arial"/>
                  <a:ea typeface="Arial"/>
                  <a:cs typeface="Arial"/>
                  <a:sym typeface="Arial"/>
                </a:rPr>
                <a:t>25th Annual International Conference on Digital Government Research (dg.o 2024)</a:t>
              </a:r>
              <a:endParaRPr b="0" i="0" sz="1800" u="none" cap="none" strike="noStrike">
                <a:solidFill>
                  <a:schemeClr val="lt1"/>
                </a:solidFill>
                <a:latin typeface="Arial"/>
                <a:ea typeface="Arial"/>
                <a:cs typeface="Arial"/>
                <a:sym typeface="Arial"/>
              </a:endParaRPr>
            </a:p>
          </p:txBody>
        </p:sp>
        <p:pic>
          <p:nvPicPr>
            <p:cNvPr id="563" name="Google Shape;563;g3e3a61befe4_0_3825"/>
            <p:cNvPicPr preferRelativeResize="0"/>
            <p:nvPr/>
          </p:nvPicPr>
          <p:blipFill rotWithShape="1">
            <a:blip r:embed="rId4">
              <a:alphaModFix/>
            </a:blip>
            <a:srcRect b="-112517" l="-23390" r="23390" t="137700"/>
            <a:stretch/>
          </p:blipFill>
          <p:spPr>
            <a:xfrm>
              <a:off x="0" y="6007596"/>
              <a:ext cx="9920265" cy="792088"/>
            </a:xfrm>
            <a:prstGeom prst="rect">
              <a:avLst/>
            </a:prstGeom>
            <a:noFill/>
            <a:ln>
              <a:noFill/>
            </a:ln>
          </p:spPr>
        </p:pic>
        <p:sp>
          <p:nvSpPr>
            <p:cNvPr id="564" name="Google Shape;564;g3e3a61befe4_0_3825"/>
            <p:cNvSpPr/>
            <p:nvPr/>
          </p:nvSpPr>
          <p:spPr>
            <a:xfrm>
              <a:off x="-21650" y="5927750"/>
              <a:ext cx="9942000" cy="9087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sp>
        <p:nvSpPr>
          <p:cNvPr id="565" name="Google Shape;565;g3e3a61befe4_0_3825"/>
          <p:cNvSpPr txBox="1"/>
          <p:nvPr>
            <p:ph type="title"/>
          </p:nvPr>
        </p:nvSpPr>
        <p:spPr>
          <a:xfrm>
            <a:off x="101478" y="108438"/>
            <a:ext cx="9000900" cy="624600"/>
          </a:xfrm>
          <a:prstGeom prst="rect">
            <a:avLst/>
          </a:prstGeom>
          <a:solidFill>
            <a:srgbClr val="000000">
              <a:alpha val="0"/>
            </a:srgbClr>
          </a:solidFill>
          <a:ln>
            <a:noFill/>
          </a:ln>
        </p:spPr>
        <p:txBody>
          <a:bodyPr anchorCtr="0" anchor="ctr" bIns="0" lIns="285750" spcFirstLastPara="1" rIns="0" wrap="square" tIns="0">
            <a:noAutofit/>
          </a:bodyPr>
          <a:lstStyle/>
          <a:p>
            <a:pPr indent="-381000" lvl="0" marL="457200" rtl="0" algn="l">
              <a:spcBef>
                <a:spcPts val="0"/>
              </a:spcBef>
              <a:spcAft>
                <a:spcPts val="0"/>
              </a:spcAft>
              <a:buClr>
                <a:srgbClr val="1E4E79"/>
              </a:buClr>
              <a:buSzPts val="2400"/>
              <a:buFont typeface="Arial"/>
              <a:buAutoNum type="arabicPeriod"/>
            </a:pPr>
            <a:r>
              <a:rPr b="1" i="0" lang="en-US" sz="2400">
                <a:solidFill>
                  <a:srgbClr val="1E4E79"/>
                </a:solidFill>
                <a:latin typeface="Arial"/>
                <a:ea typeface="Arial"/>
                <a:cs typeface="Arial"/>
                <a:sym typeface="Arial"/>
              </a:rPr>
              <a:t>Introduction</a:t>
            </a:r>
            <a:endParaRPr b="1" i="0" sz="2400">
              <a:solidFill>
                <a:srgbClr val="1E4E79"/>
              </a:solidFill>
              <a:latin typeface="Arial"/>
              <a:ea typeface="Arial"/>
              <a:cs typeface="Arial"/>
              <a:sym typeface="Arial"/>
            </a:endParaRPr>
          </a:p>
        </p:txBody>
      </p:sp>
      <p:sp>
        <p:nvSpPr>
          <p:cNvPr id="566" name="Google Shape;566;g3e3a61befe4_0_3825"/>
          <p:cNvSpPr txBox="1"/>
          <p:nvPr>
            <p:ph idx="12" type="sldNum"/>
          </p:nvPr>
        </p:nvSpPr>
        <p:spPr>
          <a:xfrm>
            <a:off x="6996113" y="6356350"/>
            <a:ext cx="22290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pic>
        <p:nvPicPr>
          <p:cNvPr id="567" name="Google Shape;567;g3e3a61befe4_0_3825"/>
          <p:cNvPicPr preferRelativeResize="0"/>
          <p:nvPr/>
        </p:nvPicPr>
        <p:blipFill rotWithShape="1">
          <a:blip r:embed="rId5">
            <a:alphaModFix/>
          </a:blip>
          <a:srcRect b="0" l="0" r="0" t="0"/>
          <a:stretch/>
        </p:blipFill>
        <p:spPr>
          <a:xfrm>
            <a:off x="218750" y="6052376"/>
            <a:ext cx="1823009" cy="470325"/>
          </a:xfrm>
          <a:prstGeom prst="rect">
            <a:avLst/>
          </a:prstGeom>
          <a:noFill/>
          <a:ln>
            <a:noFill/>
          </a:ln>
        </p:spPr>
      </p:pic>
      <p:pic>
        <p:nvPicPr>
          <p:cNvPr id="568" name="Google Shape;568;g3e3a61befe4_0_3825"/>
          <p:cNvPicPr preferRelativeResize="0"/>
          <p:nvPr/>
        </p:nvPicPr>
        <p:blipFill rotWithShape="1">
          <a:blip r:embed="rId6">
            <a:alphaModFix/>
          </a:blip>
          <a:srcRect b="0" l="0" r="0" t="0"/>
          <a:stretch/>
        </p:blipFill>
        <p:spPr>
          <a:xfrm>
            <a:off x="6996125" y="5975242"/>
            <a:ext cx="1811830" cy="624575"/>
          </a:xfrm>
          <a:prstGeom prst="rect">
            <a:avLst/>
          </a:prstGeom>
          <a:noFill/>
          <a:ln>
            <a:noFill/>
          </a:ln>
        </p:spPr>
      </p:pic>
      <p:sp>
        <p:nvSpPr>
          <p:cNvPr id="569" name="Google Shape;569;g3e3a61befe4_0_3825"/>
          <p:cNvSpPr txBox="1"/>
          <p:nvPr/>
        </p:nvSpPr>
        <p:spPr>
          <a:xfrm>
            <a:off x="285750" y="5518675"/>
            <a:ext cx="9334500" cy="2916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b="1" lang="en-US" sz="1000">
                <a:solidFill>
                  <a:srgbClr val="64748B"/>
                </a:solidFill>
                <a:latin typeface="Arial"/>
                <a:ea typeface="Arial"/>
                <a:cs typeface="Arial"/>
                <a:sym typeface="Arial"/>
              </a:rPr>
              <a:t>Source: </a:t>
            </a:r>
            <a:r>
              <a:rPr b="0" lang="en-US" sz="1000">
                <a:solidFill>
                  <a:srgbClr val="64748B"/>
                </a:solidFill>
                <a:latin typeface="Arial"/>
                <a:ea typeface="Arial"/>
                <a:cs typeface="Arial"/>
                <a:sym typeface="Arial"/>
              </a:rPr>
              <a:t>[</a:t>
            </a:r>
            <a:r>
              <a:rPr lang="en-US" sz="1000">
                <a:solidFill>
                  <a:srgbClr val="64748B"/>
                </a:solidFill>
              </a:rPr>
              <a:t>1</a:t>
            </a:r>
            <a:r>
              <a:rPr b="0" lang="en-US" sz="1000">
                <a:solidFill>
                  <a:srgbClr val="64748B"/>
                </a:solidFill>
                <a:latin typeface="Arial"/>
                <a:ea typeface="Arial"/>
                <a:cs typeface="Arial"/>
                <a:sym typeface="Arial"/>
              </a:rPr>
              <a:t>]  </a:t>
            </a:r>
            <a:endParaRPr b="1" sz="1000">
              <a:solidFill>
                <a:srgbClr val="64748B"/>
              </a:solidFill>
              <a:latin typeface="Arial"/>
              <a:ea typeface="Arial"/>
              <a:cs typeface="Arial"/>
              <a:sym typeface="Arial"/>
            </a:endParaRPr>
          </a:p>
        </p:txBody>
      </p:sp>
      <p:grpSp>
        <p:nvGrpSpPr>
          <p:cNvPr id="570" name="Google Shape;570;g3e3a61befe4_0_3825"/>
          <p:cNvGrpSpPr/>
          <p:nvPr/>
        </p:nvGrpSpPr>
        <p:grpSpPr>
          <a:xfrm>
            <a:off x="381000" y="1047750"/>
            <a:ext cx="9144000" cy="1143000"/>
            <a:chOff x="381000" y="1047750"/>
            <a:chExt cx="9144000" cy="1143000"/>
          </a:xfrm>
        </p:grpSpPr>
        <p:sp>
          <p:nvSpPr>
            <p:cNvPr id="571" name="Google Shape;571;g3e3a61befe4_0_3825"/>
            <p:cNvSpPr/>
            <p:nvPr/>
          </p:nvSpPr>
          <p:spPr>
            <a:xfrm>
              <a:off x="381000" y="1047750"/>
              <a:ext cx="9144000" cy="1143000"/>
            </a:xfrm>
            <a:prstGeom prst="roundRect">
              <a:avLst>
                <a:gd fmla="val 8333" name="adj"/>
              </a:avLst>
            </a:prstGeom>
            <a:solidFill>
              <a:srgbClr val="F1F5F9"/>
            </a:solidFill>
            <a:ln cap="flat" cmpd="sng" w="9525">
              <a:solidFill>
                <a:srgbClr val="1E4E79"/>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72" name="Google Shape;572;g3e3a61befe4_0_3825"/>
            <p:cNvSpPr txBox="1"/>
            <p:nvPr/>
          </p:nvSpPr>
          <p:spPr>
            <a:xfrm>
              <a:off x="571500" y="1047750"/>
              <a:ext cx="8763000" cy="1143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400">
                  <a:solidFill>
                    <a:srgbClr val="1E4E79"/>
                  </a:solidFill>
                  <a:latin typeface="Arial"/>
                  <a:ea typeface="Arial"/>
                  <a:cs typeface="Arial"/>
                  <a:sym typeface="Arial"/>
                </a:rPr>
                <a:t>Life-Cycle Integration</a:t>
              </a:r>
              <a:endParaRPr b="1" sz="1400">
                <a:solidFill>
                  <a:srgbClr val="1E4E79"/>
                </a:solidFill>
                <a:latin typeface="Arial"/>
                <a:ea typeface="Arial"/>
                <a:cs typeface="Arial"/>
                <a:sym typeface="Arial"/>
              </a:endParaRPr>
            </a:p>
            <a:p>
              <a:pPr indent="0" lvl="0" marL="0" rtl="0" algn="l">
                <a:spcBef>
                  <a:spcPts val="600"/>
                </a:spcBef>
                <a:spcAft>
                  <a:spcPts val="0"/>
                </a:spcAft>
                <a:buNone/>
              </a:pPr>
              <a:r>
                <a:rPr lang="en-US" sz="1400">
                  <a:solidFill>
                    <a:srgbClr val="334155"/>
                  </a:solidFill>
                  <a:latin typeface="Arial"/>
                  <a:ea typeface="Arial"/>
                  <a:cs typeface="Arial"/>
                  <a:sym typeface="Arial"/>
                </a:rPr>
                <a:t>Ethical principles are fundamental for developing responsible AI systems and must be considered throughout their entire life cycle.</a:t>
              </a:r>
              <a:endParaRPr sz="1400">
                <a:solidFill>
                  <a:srgbClr val="334155"/>
                </a:solidFill>
                <a:latin typeface="Arial"/>
                <a:ea typeface="Arial"/>
                <a:cs typeface="Arial"/>
                <a:sym typeface="Arial"/>
              </a:endParaRPr>
            </a:p>
          </p:txBody>
        </p:sp>
      </p:grpSp>
      <p:grpSp>
        <p:nvGrpSpPr>
          <p:cNvPr id="573" name="Google Shape;573;g3e3a61befe4_0_3825"/>
          <p:cNvGrpSpPr/>
          <p:nvPr/>
        </p:nvGrpSpPr>
        <p:grpSpPr>
          <a:xfrm>
            <a:off x="381000" y="2381250"/>
            <a:ext cx="9144000" cy="1143000"/>
            <a:chOff x="381000" y="2381250"/>
            <a:chExt cx="9144000" cy="1143000"/>
          </a:xfrm>
        </p:grpSpPr>
        <p:sp>
          <p:nvSpPr>
            <p:cNvPr id="574" name="Google Shape;574;g3e3a61befe4_0_3825"/>
            <p:cNvSpPr/>
            <p:nvPr/>
          </p:nvSpPr>
          <p:spPr>
            <a:xfrm>
              <a:off x="381000" y="2381250"/>
              <a:ext cx="9144000" cy="1143000"/>
            </a:xfrm>
            <a:prstGeom prst="roundRect">
              <a:avLst>
                <a:gd fmla="val 8333" name="adj"/>
              </a:avLst>
            </a:prstGeom>
            <a:solidFill>
              <a:srgbClr val="F8FAFC"/>
            </a:solidFill>
            <a:ln cap="flat" cmpd="sng" w="9525">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75" name="Google Shape;575;g3e3a61befe4_0_3825"/>
            <p:cNvSpPr txBox="1"/>
            <p:nvPr/>
          </p:nvSpPr>
          <p:spPr>
            <a:xfrm>
              <a:off x="571500" y="2381250"/>
              <a:ext cx="8763000" cy="1143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a:solidFill>
                    <a:srgbClr val="1E4E79"/>
                  </a:solidFill>
                  <a:latin typeface="Arial"/>
                  <a:ea typeface="Arial"/>
                  <a:cs typeface="Arial"/>
                  <a:sym typeface="Arial"/>
                </a:rPr>
                <a:t>Several</a:t>
              </a:r>
              <a:r>
                <a:rPr b="1" lang="en-US" sz="1400">
                  <a:solidFill>
                    <a:srgbClr val="1E4E79"/>
                  </a:solidFill>
                  <a:latin typeface="Arial"/>
                  <a:ea typeface="Arial"/>
                  <a:cs typeface="Arial"/>
                  <a:sym typeface="Arial"/>
                </a:rPr>
                <a:t> Ethical </a:t>
              </a:r>
              <a:r>
                <a:rPr b="1" lang="en-US">
                  <a:solidFill>
                    <a:srgbClr val="1E4E79"/>
                  </a:solidFill>
                  <a:latin typeface="Arial"/>
                  <a:ea typeface="Arial"/>
                  <a:cs typeface="Arial"/>
                  <a:sym typeface="Arial"/>
                </a:rPr>
                <a:t>Guides</a:t>
              </a:r>
              <a:endParaRPr b="1" sz="1400">
                <a:solidFill>
                  <a:srgbClr val="1E4E79"/>
                </a:solidFill>
                <a:latin typeface="Arial"/>
                <a:ea typeface="Arial"/>
                <a:cs typeface="Arial"/>
                <a:sym typeface="Arial"/>
              </a:endParaRPr>
            </a:p>
            <a:p>
              <a:pPr indent="0" lvl="0" marL="0" rtl="0" algn="l">
                <a:spcBef>
                  <a:spcPts val="600"/>
                </a:spcBef>
                <a:spcAft>
                  <a:spcPts val="0"/>
                </a:spcAft>
                <a:buNone/>
              </a:pPr>
              <a:r>
                <a:rPr lang="en-US" sz="1400">
                  <a:solidFill>
                    <a:srgbClr val="334155"/>
                  </a:solidFill>
                  <a:latin typeface="Arial"/>
                  <a:ea typeface="Arial"/>
                  <a:cs typeface="Arial"/>
                  <a:sym typeface="Arial"/>
                </a:rPr>
                <a:t>Numerous ethical guides exist, each offering different principles and interpretations based on their origin (e.g., government, NGO, academia) and sociocultural context.</a:t>
              </a:r>
              <a:endParaRPr sz="1400">
                <a:solidFill>
                  <a:srgbClr val="334155"/>
                </a:solidFill>
                <a:latin typeface="Arial"/>
                <a:ea typeface="Arial"/>
                <a:cs typeface="Arial"/>
                <a:sym typeface="Arial"/>
              </a:endParaRPr>
            </a:p>
          </p:txBody>
        </p:sp>
      </p:grpSp>
      <p:grpSp>
        <p:nvGrpSpPr>
          <p:cNvPr id="576" name="Google Shape;576;g3e3a61befe4_0_3825"/>
          <p:cNvGrpSpPr/>
          <p:nvPr/>
        </p:nvGrpSpPr>
        <p:grpSpPr>
          <a:xfrm>
            <a:off x="381000" y="3714750"/>
            <a:ext cx="9144000" cy="1143000"/>
            <a:chOff x="381000" y="3714750"/>
            <a:chExt cx="9144000" cy="1143000"/>
          </a:xfrm>
        </p:grpSpPr>
        <p:sp>
          <p:nvSpPr>
            <p:cNvPr id="577" name="Google Shape;577;g3e3a61befe4_0_3825"/>
            <p:cNvSpPr/>
            <p:nvPr/>
          </p:nvSpPr>
          <p:spPr>
            <a:xfrm>
              <a:off x="381000" y="3714750"/>
              <a:ext cx="9144000" cy="1143000"/>
            </a:xfrm>
            <a:prstGeom prst="roundRect">
              <a:avLst>
                <a:gd fmla="val 8333" name="adj"/>
              </a:avLst>
            </a:prstGeom>
            <a:solidFill>
              <a:srgbClr val="F0F9FF"/>
            </a:solidFill>
            <a:ln cap="flat" cmpd="sng" w="9525">
              <a:solidFill>
                <a:srgbClr val="0EA5E9"/>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78" name="Google Shape;578;g3e3a61befe4_0_3825"/>
            <p:cNvSpPr txBox="1"/>
            <p:nvPr/>
          </p:nvSpPr>
          <p:spPr>
            <a:xfrm>
              <a:off x="571500" y="3714750"/>
              <a:ext cx="8763000" cy="1143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400">
                  <a:solidFill>
                    <a:srgbClr val="1E4E79"/>
                  </a:solidFill>
                  <a:latin typeface="Arial"/>
                  <a:ea typeface="Arial"/>
                  <a:cs typeface="Arial"/>
                  <a:sym typeface="Arial"/>
                </a:rPr>
                <a:t>Unified Reference Framework</a:t>
              </a:r>
              <a:endParaRPr b="1" sz="1400">
                <a:solidFill>
                  <a:srgbClr val="1E4E79"/>
                </a:solidFill>
                <a:latin typeface="Arial"/>
                <a:ea typeface="Arial"/>
                <a:cs typeface="Arial"/>
                <a:sym typeface="Arial"/>
              </a:endParaRPr>
            </a:p>
            <a:p>
              <a:pPr indent="0" lvl="0" marL="0" rtl="0" algn="l">
                <a:spcBef>
                  <a:spcPts val="600"/>
                </a:spcBef>
                <a:spcAft>
                  <a:spcPts val="0"/>
                </a:spcAft>
                <a:buNone/>
              </a:pPr>
              <a:r>
                <a:rPr lang="en-US" sz="1400">
                  <a:solidFill>
                    <a:srgbClr val="334155"/>
                  </a:solidFill>
                  <a:latin typeface="Arial"/>
                  <a:ea typeface="Arial"/>
                  <a:cs typeface="Arial"/>
                  <a:sym typeface="Arial"/>
                </a:rPr>
                <a:t>Due to the lack of consensus, we have established a unified set of ethical principles as a reference to guide the development of responsible AI systems.</a:t>
              </a:r>
              <a:endParaRPr sz="1400">
                <a:solidFill>
                  <a:srgbClr val="334155"/>
                </a:solidFill>
                <a:latin typeface="Arial"/>
                <a:ea typeface="Arial"/>
                <a:cs typeface="Arial"/>
                <a:sym typeface="Arial"/>
              </a:endParaRPr>
            </a:p>
          </p:txBody>
        </p:sp>
      </p:grpSp>
    </p:spTree>
  </p:cSld>
  <p:clrMapOvr>
    <a:masterClrMapping/>
  </p:clrMapOvr>
  <mc:AlternateContent>
    <mc:Choice Requires="p14">
      <p:transition spd="slow" p14:dur="700">
        <p:fade/>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2" name="Shape 582"/>
        <p:cNvGrpSpPr/>
        <p:nvPr/>
      </p:nvGrpSpPr>
      <p:grpSpPr>
        <a:xfrm>
          <a:off x="0" y="0"/>
          <a:ext cx="0" cy="0"/>
          <a:chOff x="0" y="0"/>
          <a:chExt cx="0" cy="0"/>
        </a:xfrm>
      </p:grpSpPr>
      <p:sp>
        <p:nvSpPr>
          <p:cNvPr id="583" name="Google Shape;583;g3e292f661c6_30_1016"/>
          <p:cNvSpPr txBox="1"/>
          <p:nvPr>
            <p:ph type="title"/>
          </p:nvPr>
        </p:nvSpPr>
        <p:spPr>
          <a:xfrm>
            <a:off x="101475" y="108450"/>
            <a:ext cx="9604200" cy="6246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1E4E79"/>
              </a:buClr>
              <a:buSzPts val="4000"/>
              <a:buFont typeface="Arial"/>
              <a:buNone/>
            </a:pPr>
            <a:r>
              <a:rPr lang="en-US" sz="2400"/>
              <a:t>2. Unified Ethical Principles Guide</a:t>
            </a:r>
            <a:endParaRPr sz="2400"/>
          </a:p>
        </p:txBody>
      </p:sp>
      <p:grpSp>
        <p:nvGrpSpPr>
          <p:cNvPr id="584" name="Google Shape;584;g3e292f661c6_30_1016"/>
          <p:cNvGrpSpPr/>
          <p:nvPr/>
        </p:nvGrpSpPr>
        <p:grpSpPr>
          <a:xfrm>
            <a:off x="-18000" y="5842891"/>
            <a:ext cx="9942000" cy="1014788"/>
            <a:chOff x="-21650" y="5927750"/>
            <a:chExt cx="9942000" cy="930230"/>
          </a:xfrm>
        </p:grpSpPr>
        <p:sp>
          <p:nvSpPr>
            <p:cNvPr id="585" name="Google Shape;585;g3e292f661c6_30_1016"/>
            <p:cNvSpPr/>
            <p:nvPr/>
          </p:nvSpPr>
          <p:spPr>
            <a:xfrm>
              <a:off x="5239747" y="5949280"/>
              <a:ext cx="4680600" cy="9087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Arial"/>
                  <a:ea typeface="Arial"/>
                  <a:cs typeface="Arial"/>
                  <a:sym typeface="Arial"/>
                </a:rPr>
                <a:t>25th Annual International Conference on Digital Government Research (dg.o 2024)</a:t>
              </a:r>
              <a:endParaRPr b="0" i="0" sz="1800" u="none" cap="none" strike="noStrike">
                <a:solidFill>
                  <a:schemeClr val="lt1"/>
                </a:solidFill>
                <a:latin typeface="Arial"/>
                <a:ea typeface="Arial"/>
                <a:cs typeface="Arial"/>
                <a:sym typeface="Arial"/>
              </a:endParaRPr>
            </a:p>
          </p:txBody>
        </p:sp>
        <p:pic>
          <p:nvPicPr>
            <p:cNvPr id="586" name="Google Shape;586;g3e292f661c6_30_1016"/>
            <p:cNvPicPr preferRelativeResize="0"/>
            <p:nvPr/>
          </p:nvPicPr>
          <p:blipFill rotWithShape="1">
            <a:blip r:embed="rId3">
              <a:alphaModFix/>
            </a:blip>
            <a:srcRect b="-112517" l="-23390" r="23390" t="137700"/>
            <a:stretch/>
          </p:blipFill>
          <p:spPr>
            <a:xfrm>
              <a:off x="0" y="6007596"/>
              <a:ext cx="9920265" cy="792088"/>
            </a:xfrm>
            <a:prstGeom prst="rect">
              <a:avLst/>
            </a:prstGeom>
            <a:noFill/>
            <a:ln>
              <a:noFill/>
            </a:ln>
          </p:spPr>
        </p:pic>
        <p:sp>
          <p:nvSpPr>
            <p:cNvPr id="587" name="Google Shape;587;g3e292f661c6_30_1016"/>
            <p:cNvSpPr/>
            <p:nvPr/>
          </p:nvSpPr>
          <p:spPr>
            <a:xfrm>
              <a:off x="-21650" y="5927750"/>
              <a:ext cx="9942000" cy="9087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sp>
        <p:nvSpPr>
          <p:cNvPr id="588" name="Google Shape;588;g3e292f661c6_30_1016"/>
          <p:cNvSpPr txBox="1"/>
          <p:nvPr>
            <p:ph idx="12" type="sldNum"/>
          </p:nvPr>
        </p:nvSpPr>
        <p:spPr>
          <a:xfrm>
            <a:off x="6996113" y="6356350"/>
            <a:ext cx="22290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pic>
        <p:nvPicPr>
          <p:cNvPr id="589" name="Google Shape;589;g3e292f661c6_30_1016"/>
          <p:cNvPicPr preferRelativeResize="0"/>
          <p:nvPr/>
        </p:nvPicPr>
        <p:blipFill rotWithShape="1">
          <a:blip r:embed="rId4">
            <a:alphaModFix/>
          </a:blip>
          <a:srcRect b="0" l="0" r="0" t="0"/>
          <a:stretch/>
        </p:blipFill>
        <p:spPr>
          <a:xfrm>
            <a:off x="218750" y="6052376"/>
            <a:ext cx="1823009" cy="470325"/>
          </a:xfrm>
          <a:prstGeom prst="rect">
            <a:avLst/>
          </a:prstGeom>
          <a:noFill/>
          <a:ln>
            <a:noFill/>
          </a:ln>
        </p:spPr>
      </p:pic>
      <p:pic>
        <p:nvPicPr>
          <p:cNvPr id="590" name="Google Shape;590;g3e292f661c6_30_1016"/>
          <p:cNvPicPr preferRelativeResize="0"/>
          <p:nvPr/>
        </p:nvPicPr>
        <p:blipFill rotWithShape="1">
          <a:blip r:embed="rId5">
            <a:alphaModFix/>
          </a:blip>
          <a:srcRect b="0" l="0" r="0" t="0"/>
          <a:stretch/>
        </p:blipFill>
        <p:spPr>
          <a:xfrm>
            <a:off x="6996125" y="5975242"/>
            <a:ext cx="1811830" cy="624575"/>
          </a:xfrm>
          <a:prstGeom prst="rect">
            <a:avLst/>
          </a:prstGeom>
          <a:noFill/>
          <a:ln>
            <a:noFill/>
          </a:ln>
        </p:spPr>
      </p:pic>
      <p:pic>
        <p:nvPicPr>
          <p:cNvPr id="591" name="Google Shape;591;g3e292f661c6_30_1016"/>
          <p:cNvPicPr preferRelativeResize="0"/>
          <p:nvPr/>
        </p:nvPicPr>
        <p:blipFill rotWithShape="1">
          <a:blip r:embed="rId6">
            <a:alphaModFix/>
          </a:blip>
          <a:srcRect b="0" l="0" r="0" t="5785"/>
          <a:stretch/>
        </p:blipFill>
        <p:spPr>
          <a:xfrm>
            <a:off x="1653600" y="733050"/>
            <a:ext cx="6598799" cy="4808700"/>
          </a:xfrm>
          <a:prstGeom prst="rect">
            <a:avLst/>
          </a:prstGeom>
          <a:noFill/>
          <a:ln>
            <a:noFill/>
          </a:ln>
        </p:spPr>
      </p:pic>
      <p:sp>
        <p:nvSpPr>
          <p:cNvPr id="592" name="Google Shape;592;g3e292f661c6_30_1016"/>
          <p:cNvSpPr txBox="1"/>
          <p:nvPr/>
        </p:nvSpPr>
        <p:spPr>
          <a:xfrm>
            <a:off x="2376175" y="5541750"/>
            <a:ext cx="43824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Table 1: Recurring ethical principles in international guidelines</a:t>
            </a:r>
            <a:endParaRPr sz="1200">
              <a:solidFill>
                <a:schemeClr val="dk1"/>
              </a:solidFill>
              <a:latin typeface="Calibri"/>
              <a:ea typeface="Calibri"/>
              <a:cs typeface="Calibri"/>
              <a:sym typeface="Calibri"/>
            </a:endParaRPr>
          </a:p>
        </p:txBody>
      </p:sp>
      <p:sp>
        <p:nvSpPr>
          <p:cNvPr id="593" name="Google Shape;593;g3e292f661c6_30_1016"/>
          <p:cNvSpPr/>
          <p:nvPr/>
        </p:nvSpPr>
        <p:spPr>
          <a:xfrm>
            <a:off x="1653600" y="733100"/>
            <a:ext cx="1630200" cy="4808700"/>
          </a:xfrm>
          <a:prstGeom prst="rect">
            <a:avLst/>
          </a:prstGeom>
          <a:noFill/>
          <a:ln cap="flat" cmpd="sng" w="28575">
            <a:solidFill>
              <a:srgbClr val="98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7" name="Shape 597"/>
        <p:cNvGrpSpPr/>
        <p:nvPr/>
      </p:nvGrpSpPr>
      <p:grpSpPr>
        <a:xfrm>
          <a:off x="0" y="0"/>
          <a:ext cx="0" cy="0"/>
          <a:chOff x="0" y="0"/>
          <a:chExt cx="0" cy="0"/>
        </a:xfrm>
      </p:grpSpPr>
      <p:sp>
        <p:nvSpPr>
          <p:cNvPr id="598" name="Google Shape;598;g3e33499f370_0_470"/>
          <p:cNvSpPr/>
          <p:nvPr/>
        </p:nvSpPr>
        <p:spPr>
          <a:xfrm>
            <a:off x="0" y="768088"/>
            <a:ext cx="9906000" cy="6090000"/>
          </a:xfrm>
          <a:prstGeom prst="rect">
            <a:avLst/>
          </a:prstGeom>
          <a:solidFill>
            <a:schemeClr val="lt1">
              <a:alpha val="6000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599" name="Google Shape;599;g3e33499f370_0_470"/>
          <p:cNvSpPr/>
          <p:nvPr/>
        </p:nvSpPr>
        <p:spPr>
          <a:xfrm>
            <a:off x="-13050" y="5921896"/>
            <a:ext cx="9919200" cy="936000"/>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600" name="Google Shape;600;g3e33499f370_0_470"/>
          <p:cNvPicPr preferRelativeResize="0"/>
          <p:nvPr/>
        </p:nvPicPr>
        <p:blipFill rotWithShape="1">
          <a:blip r:embed="rId3">
            <a:alphaModFix/>
          </a:blip>
          <a:srcRect b="0" l="17788" r="19906" t="65239"/>
          <a:stretch/>
        </p:blipFill>
        <p:spPr>
          <a:xfrm>
            <a:off x="920552" y="6155677"/>
            <a:ext cx="1568747" cy="665761"/>
          </a:xfrm>
          <a:prstGeom prst="rect">
            <a:avLst/>
          </a:prstGeom>
          <a:noFill/>
          <a:ln>
            <a:noFill/>
          </a:ln>
        </p:spPr>
      </p:pic>
      <p:pic>
        <p:nvPicPr>
          <p:cNvPr id="601" name="Google Shape;601;g3e33499f370_0_470"/>
          <p:cNvPicPr preferRelativeResize="0"/>
          <p:nvPr/>
        </p:nvPicPr>
        <p:blipFill rotWithShape="1">
          <a:blip r:embed="rId3">
            <a:alphaModFix/>
          </a:blip>
          <a:srcRect b="34761" l="25519" r="25620" t="3570"/>
          <a:stretch/>
        </p:blipFill>
        <p:spPr>
          <a:xfrm>
            <a:off x="194947" y="6056653"/>
            <a:ext cx="725605" cy="696647"/>
          </a:xfrm>
          <a:prstGeom prst="rect">
            <a:avLst/>
          </a:prstGeom>
          <a:noFill/>
          <a:ln>
            <a:noFill/>
          </a:ln>
        </p:spPr>
      </p:pic>
      <p:sp>
        <p:nvSpPr>
          <p:cNvPr id="602" name="Google Shape;602;g3e33499f370_0_470"/>
          <p:cNvSpPr/>
          <p:nvPr/>
        </p:nvSpPr>
        <p:spPr>
          <a:xfrm>
            <a:off x="4950907" y="5989477"/>
            <a:ext cx="4953000" cy="8310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400"/>
              <a:buFont typeface="Arial"/>
              <a:buNone/>
            </a:pPr>
            <a:r>
              <a:rPr b="1" i="0" lang="en-US" sz="2400" u="none" cap="none" strike="noStrike">
                <a:solidFill>
                  <a:schemeClr val="lt1"/>
                </a:solidFill>
                <a:latin typeface="Arial"/>
                <a:ea typeface="Arial"/>
                <a:cs typeface="Arial"/>
                <a:sym typeface="Arial"/>
              </a:rPr>
              <a:t>IEEE Intelligence and Security Informatics (ISI) 2018</a:t>
            </a:r>
            <a:endParaRPr b="0" i="0" sz="1400" u="none" cap="none" strike="noStrike">
              <a:solidFill>
                <a:srgbClr val="000000"/>
              </a:solidFill>
              <a:latin typeface="Arial"/>
              <a:ea typeface="Arial"/>
              <a:cs typeface="Arial"/>
              <a:sym typeface="Arial"/>
            </a:endParaRPr>
          </a:p>
        </p:txBody>
      </p:sp>
      <p:grpSp>
        <p:nvGrpSpPr>
          <p:cNvPr id="603" name="Google Shape;603;g3e33499f370_0_470"/>
          <p:cNvGrpSpPr/>
          <p:nvPr/>
        </p:nvGrpSpPr>
        <p:grpSpPr>
          <a:xfrm>
            <a:off x="-18000" y="5842892"/>
            <a:ext cx="9942000" cy="1014788"/>
            <a:chOff x="-21650" y="5927750"/>
            <a:chExt cx="9942000" cy="930230"/>
          </a:xfrm>
        </p:grpSpPr>
        <p:sp>
          <p:nvSpPr>
            <p:cNvPr id="604" name="Google Shape;604;g3e33499f370_0_470"/>
            <p:cNvSpPr/>
            <p:nvPr/>
          </p:nvSpPr>
          <p:spPr>
            <a:xfrm>
              <a:off x="5239747" y="5949280"/>
              <a:ext cx="4680600" cy="9087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Arial"/>
                  <a:ea typeface="Arial"/>
                  <a:cs typeface="Arial"/>
                  <a:sym typeface="Arial"/>
                </a:rPr>
                <a:t>25th Annual International Conference on Digital Government Research (dg.o 2024)</a:t>
              </a:r>
              <a:endParaRPr b="0" i="0" sz="1800" u="none" cap="none" strike="noStrike">
                <a:solidFill>
                  <a:schemeClr val="lt1"/>
                </a:solidFill>
                <a:latin typeface="Arial"/>
                <a:ea typeface="Arial"/>
                <a:cs typeface="Arial"/>
                <a:sym typeface="Arial"/>
              </a:endParaRPr>
            </a:p>
          </p:txBody>
        </p:sp>
        <p:pic>
          <p:nvPicPr>
            <p:cNvPr id="605" name="Google Shape;605;g3e33499f370_0_470"/>
            <p:cNvPicPr preferRelativeResize="0"/>
            <p:nvPr/>
          </p:nvPicPr>
          <p:blipFill rotWithShape="1">
            <a:blip r:embed="rId4">
              <a:alphaModFix/>
            </a:blip>
            <a:srcRect b="-112533" l="-23390" r="23390" t="137710"/>
            <a:stretch/>
          </p:blipFill>
          <p:spPr>
            <a:xfrm>
              <a:off x="0" y="6007596"/>
              <a:ext cx="9920265" cy="792088"/>
            </a:xfrm>
            <a:prstGeom prst="rect">
              <a:avLst/>
            </a:prstGeom>
            <a:noFill/>
            <a:ln>
              <a:noFill/>
            </a:ln>
          </p:spPr>
        </p:pic>
        <p:sp>
          <p:nvSpPr>
            <p:cNvPr id="606" name="Google Shape;606;g3e33499f370_0_470"/>
            <p:cNvSpPr/>
            <p:nvPr/>
          </p:nvSpPr>
          <p:spPr>
            <a:xfrm>
              <a:off x="-21650" y="5927750"/>
              <a:ext cx="9942000" cy="9087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pic>
        <p:nvPicPr>
          <p:cNvPr id="607" name="Google Shape;607;g3e33499f370_0_470"/>
          <p:cNvPicPr preferRelativeResize="0"/>
          <p:nvPr/>
        </p:nvPicPr>
        <p:blipFill rotWithShape="1">
          <a:blip r:embed="rId5">
            <a:alphaModFix/>
          </a:blip>
          <a:srcRect b="0" l="0" r="0" t="0"/>
          <a:stretch/>
        </p:blipFill>
        <p:spPr>
          <a:xfrm>
            <a:off x="218750" y="6052376"/>
            <a:ext cx="1823009" cy="470325"/>
          </a:xfrm>
          <a:prstGeom prst="rect">
            <a:avLst/>
          </a:prstGeom>
          <a:noFill/>
          <a:ln>
            <a:noFill/>
          </a:ln>
        </p:spPr>
      </p:pic>
      <p:pic>
        <p:nvPicPr>
          <p:cNvPr id="608" name="Google Shape;608;g3e33499f370_0_470"/>
          <p:cNvPicPr preferRelativeResize="0"/>
          <p:nvPr/>
        </p:nvPicPr>
        <p:blipFill rotWithShape="1">
          <a:blip r:embed="rId6">
            <a:alphaModFix/>
          </a:blip>
          <a:srcRect b="0" l="0" r="0" t="0"/>
          <a:stretch/>
        </p:blipFill>
        <p:spPr>
          <a:xfrm>
            <a:off x="8015000" y="6038017"/>
            <a:ext cx="1811830" cy="624575"/>
          </a:xfrm>
          <a:prstGeom prst="rect">
            <a:avLst/>
          </a:prstGeom>
          <a:noFill/>
          <a:ln>
            <a:noFill/>
          </a:ln>
        </p:spPr>
      </p:pic>
      <p:sp>
        <p:nvSpPr>
          <p:cNvPr id="609" name="Google Shape;609;g3e33499f370_0_470"/>
          <p:cNvSpPr txBox="1"/>
          <p:nvPr>
            <p:ph type="title"/>
          </p:nvPr>
        </p:nvSpPr>
        <p:spPr>
          <a:xfrm>
            <a:off x="41075" y="196650"/>
            <a:ext cx="9657000" cy="696600"/>
          </a:xfrm>
          <a:prstGeom prst="rect">
            <a:avLst/>
          </a:prstGeom>
          <a:solidFill>
            <a:srgbClr val="000000">
              <a:alpha val="0"/>
            </a:srgbClr>
          </a:solidFill>
          <a:ln>
            <a:noFill/>
          </a:ln>
        </p:spPr>
        <p:txBody>
          <a:bodyPr anchorCtr="0" anchor="ctr" bIns="0" lIns="285750" spcFirstLastPara="1" rIns="0" wrap="square" tIns="0">
            <a:noAutofit/>
          </a:bodyPr>
          <a:lstStyle/>
          <a:p>
            <a:pPr indent="0" lvl="0" marL="0" rtl="0" algn="l">
              <a:spcBef>
                <a:spcPts val="0"/>
              </a:spcBef>
              <a:spcAft>
                <a:spcPts val="0"/>
              </a:spcAft>
              <a:buNone/>
            </a:pPr>
            <a:r>
              <a:rPr lang="en-US" sz="2400">
                <a:latin typeface="Arial"/>
                <a:ea typeface="Arial"/>
                <a:cs typeface="Arial"/>
                <a:sym typeface="Arial"/>
              </a:rPr>
              <a:t>3. EP1 </a:t>
            </a:r>
            <a:r>
              <a:rPr b="1" lang="en-US" sz="2400">
                <a:solidFill>
                  <a:srgbClr val="1E4E79"/>
                </a:solidFill>
                <a:latin typeface="Arial"/>
                <a:ea typeface="Arial"/>
                <a:cs typeface="Arial"/>
                <a:sym typeface="Arial"/>
              </a:rPr>
              <a:t>Principle: Sustainable Development and Social Welfare</a:t>
            </a:r>
            <a:endParaRPr b="1" sz="2400">
              <a:solidFill>
                <a:srgbClr val="1E4E79"/>
              </a:solidFill>
              <a:latin typeface="Arial"/>
              <a:ea typeface="Arial"/>
              <a:cs typeface="Arial"/>
              <a:sym typeface="Arial"/>
            </a:endParaRPr>
          </a:p>
        </p:txBody>
      </p:sp>
      <p:grpSp>
        <p:nvGrpSpPr>
          <p:cNvPr id="610" name="Google Shape;610;g3e33499f370_0_470"/>
          <p:cNvGrpSpPr/>
          <p:nvPr/>
        </p:nvGrpSpPr>
        <p:grpSpPr>
          <a:xfrm>
            <a:off x="476250" y="1333500"/>
            <a:ext cx="8763150" cy="2667000"/>
            <a:chOff x="476250" y="1333500"/>
            <a:chExt cx="8763150" cy="2667000"/>
          </a:xfrm>
        </p:grpSpPr>
        <p:sp>
          <p:nvSpPr>
            <p:cNvPr id="611" name="Google Shape;611;g3e33499f370_0_470"/>
            <p:cNvSpPr/>
            <p:nvPr/>
          </p:nvSpPr>
          <p:spPr>
            <a:xfrm>
              <a:off x="476250" y="1333500"/>
              <a:ext cx="4286400" cy="2667000"/>
            </a:xfrm>
            <a:prstGeom prst="roundRect">
              <a:avLst>
                <a:gd fmla="val 5357" name="adj"/>
              </a:avLst>
            </a:prstGeom>
            <a:solidFill>
              <a:srgbClr val="F8FAFC"/>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12" name="Google Shape;612;g3e33499f370_0_470"/>
            <p:cNvSpPr txBox="1"/>
            <p:nvPr/>
          </p:nvSpPr>
          <p:spPr>
            <a:xfrm>
              <a:off x="666750" y="1517269"/>
              <a:ext cx="381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2380">
                  <a:solidFill>
                    <a:srgbClr val="1E4E79"/>
                  </a:solidFill>
                  <a:latin typeface="Material Icons"/>
                  <a:ea typeface="Material Icons"/>
                  <a:cs typeface="Material Icons"/>
                  <a:sym typeface="Material Icons"/>
                </a:rPr>
                <a:t>public</a:t>
              </a:r>
              <a:endParaRPr sz="2380">
                <a:solidFill>
                  <a:srgbClr val="1E4E79"/>
                </a:solidFill>
                <a:latin typeface="Material Icons"/>
                <a:ea typeface="Material Icons"/>
                <a:cs typeface="Material Icons"/>
                <a:sym typeface="Material Icons"/>
              </a:endParaRPr>
            </a:p>
          </p:txBody>
        </p:sp>
        <p:sp>
          <p:nvSpPr>
            <p:cNvPr id="613" name="Google Shape;613;g3e33499f370_0_470"/>
            <p:cNvSpPr txBox="1"/>
            <p:nvPr/>
          </p:nvSpPr>
          <p:spPr>
            <a:xfrm>
              <a:off x="666750" y="1905000"/>
              <a:ext cx="3905400" cy="1905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600">
                  <a:solidFill>
                    <a:srgbClr val="1E4E79"/>
                  </a:solidFill>
                  <a:latin typeface="Arial"/>
                  <a:ea typeface="Arial"/>
                  <a:cs typeface="Arial"/>
                  <a:sym typeface="Arial"/>
                </a:rPr>
                <a:t>Preservation &amp; Well-being</a:t>
              </a:r>
              <a:endParaRPr b="1" sz="1600">
                <a:solidFill>
                  <a:srgbClr val="1E4E79"/>
                </a:solidFill>
                <a:latin typeface="Arial"/>
                <a:ea typeface="Arial"/>
                <a:cs typeface="Arial"/>
                <a:sym typeface="Arial"/>
              </a:endParaRPr>
            </a:p>
            <a:p>
              <a:pPr indent="0" lvl="0" marL="0" rtl="0" algn="l">
                <a:spcBef>
                  <a:spcPts val="750"/>
                </a:spcBef>
                <a:spcAft>
                  <a:spcPts val="0"/>
                </a:spcAft>
                <a:buNone/>
              </a:pPr>
              <a:r>
                <a:rPr lang="en-US" sz="1300">
                  <a:solidFill>
                    <a:srgbClr val="334155"/>
                  </a:solidFill>
                  <a:latin typeface="Arial"/>
                  <a:ea typeface="Arial"/>
                  <a:cs typeface="Arial"/>
                  <a:sym typeface="Arial"/>
                </a:rPr>
                <a:t>AI or s</a:t>
              </a:r>
              <a:r>
                <a:rPr lang="en-US" sz="1300">
                  <a:solidFill>
                    <a:srgbClr val="334155"/>
                  </a:solidFill>
                </a:rPr>
                <a:t>ystem </a:t>
              </a:r>
              <a:r>
                <a:rPr lang="en-US" sz="1300">
                  <a:solidFill>
                    <a:srgbClr val="334155"/>
                  </a:solidFill>
                  <a:latin typeface="Arial"/>
                  <a:ea typeface="Arial"/>
                  <a:cs typeface="Arial"/>
                  <a:sym typeface="Arial"/>
                </a:rPr>
                <a:t>must preserve </a:t>
              </a:r>
              <a:r>
                <a:rPr b="1" lang="en-US" sz="1300">
                  <a:solidFill>
                    <a:srgbClr val="334155"/>
                  </a:solidFill>
                </a:rPr>
                <a:t>human rights</a:t>
              </a:r>
              <a:r>
                <a:rPr lang="en-US" sz="1300">
                  <a:solidFill>
                    <a:srgbClr val="334155"/>
                  </a:solidFill>
                  <a:latin typeface="Arial"/>
                  <a:ea typeface="Arial"/>
                  <a:cs typeface="Arial"/>
                  <a:sym typeface="Arial"/>
                </a:rPr>
                <a:t> and provide individual and collective </a:t>
              </a:r>
              <a:r>
                <a:rPr b="1" lang="en-US" sz="1300">
                  <a:solidFill>
                    <a:srgbClr val="334155"/>
                  </a:solidFill>
                </a:rPr>
                <a:t>benefits</a:t>
              </a:r>
              <a:r>
                <a:rPr lang="en-US" sz="1300">
                  <a:solidFill>
                    <a:srgbClr val="334155"/>
                  </a:solidFill>
                  <a:latin typeface="Arial"/>
                  <a:ea typeface="Arial"/>
                  <a:cs typeface="Arial"/>
                  <a:sym typeface="Arial"/>
                </a:rPr>
                <a:t>.</a:t>
              </a:r>
              <a:endParaRPr sz="1300">
                <a:solidFill>
                  <a:srgbClr val="334155"/>
                </a:solidFill>
                <a:latin typeface="Arial"/>
                <a:ea typeface="Arial"/>
                <a:cs typeface="Arial"/>
                <a:sym typeface="Arial"/>
              </a:endParaRPr>
            </a:p>
            <a:p>
              <a:pPr indent="0" lvl="0" marL="0" rtl="0" algn="l">
                <a:spcBef>
                  <a:spcPts val="600"/>
                </a:spcBef>
                <a:spcAft>
                  <a:spcPts val="0"/>
                </a:spcAft>
                <a:buNone/>
              </a:pPr>
              <a:r>
                <a:rPr lang="en-US" sz="1300">
                  <a:solidFill>
                    <a:srgbClr val="334155"/>
                  </a:solidFill>
                  <a:latin typeface="Arial"/>
                  <a:ea typeface="Arial"/>
                  <a:cs typeface="Arial"/>
                  <a:sym typeface="Arial"/>
                </a:rPr>
                <a:t>It must not cause harm and should support </a:t>
              </a:r>
              <a:r>
                <a:rPr b="1" lang="en-US" sz="1300">
                  <a:solidFill>
                    <a:srgbClr val="334155"/>
                  </a:solidFill>
                </a:rPr>
                <a:t>sustainable development goals (SDGs)</a:t>
              </a:r>
              <a:r>
                <a:rPr lang="en-US" sz="1300">
                  <a:solidFill>
                    <a:srgbClr val="334155"/>
                  </a:solidFill>
                  <a:latin typeface="Arial"/>
                  <a:ea typeface="Arial"/>
                  <a:cs typeface="Arial"/>
                  <a:sym typeface="Arial"/>
                </a:rPr>
                <a:t>.</a:t>
              </a:r>
              <a:endParaRPr sz="1300">
                <a:solidFill>
                  <a:srgbClr val="334155"/>
                </a:solidFill>
                <a:latin typeface="Arial"/>
                <a:ea typeface="Arial"/>
                <a:cs typeface="Arial"/>
                <a:sym typeface="Arial"/>
              </a:endParaRPr>
            </a:p>
          </p:txBody>
        </p:sp>
        <p:sp>
          <p:nvSpPr>
            <p:cNvPr id="614" name="Google Shape;614;g3e33499f370_0_470"/>
            <p:cNvSpPr/>
            <p:nvPr/>
          </p:nvSpPr>
          <p:spPr>
            <a:xfrm>
              <a:off x="4953000" y="1333500"/>
              <a:ext cx="4286400" cy="2667000"/>
            </a:xfrm>
            <a:prstGeom prst="roundRect">
              <a:avLst>
                <a:gd fmla="val 5357" name="adj"/>
              </a:avLst>
            </a:prstGeom>
            <a:solidFill>
              <a:srgbClr val="F8FAFC"/>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15" name="Google Shape;615;g3e33499f370_0_470"/>
            <p:cNvSpPr txBox="1"/>
            <p:nvPr/>
          </p:nvSpPr>
          <p:spPr>
            <a:xfrm>
              <a:off x="5143500" y="1517269"/>
              <a:ext cx="381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2380">
                  <a:solidFill>
                    <a:srgbClr val="1E4E79"/>
                  </a:solidFill>
                  <a:latin typeface="Material Icons"/>
                  <a:ea typeface="Material Icons"/>
                  <a:cs typeface="Material Icons"/>
                  <a:sym typeface="Material Icons"/>
                </a:rPr>
                <a:t>analytics</a:t>
              </a:r>
              <a:endParaRPr sz="2380">
                <a:solidFill>
                  <a:srgbClr val="1E4E79"/>
                </a:solidFill>
                <a:latin typeface="Material Icons"/>
                <a:ea typeface="Material Icons"/>
                <a:cs typeface="Material Icons"/>
                <a:sym typeface="Material Icons"/>
              </a:endParaRPr>
            </a:p>
          </p:txBody>
        </p:sp>
        <p:sp>
          <p:nvSpPr>
            <p:cNvPr id="616" name="Google Shape;616;g3e33499f370_0_470"/>
            <p:cNvSpPr txBox="1"/>
            <p:nvPr/>
          </p:nvSpPr>
          <p:spPr>
            <a:xfrm>
              <a:off x="5143500" y="1905000"/>
              <a:ext cx="3905400" cy="1905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600">
                  <a:solidFill>
                    <a:srgbClr val="1E4E79"/>
                  </a:solidFill>
                  <a:latin typeface="Arial"/>
                  <a:ea typeface="Arial"/>
                  <a:cs typeface="Arial"/>
                  <a:sym typeface="Arial"/>
                </a:rPr>
                <a:t>Monitoring &amp; Assessment</a:t>
              </a:r>
              <a:endParaRPr b="1" sz="1600">
                <a:solidFill>
                  <a:srgbClr val="1E4E79"/>
                </a:solidFill>
                <a:latin typeface="Arial"/>
                <a:ea typeface="Arial"/>
                <a:cs typeface="Arial"/>
                <a:sym typeface="Arial"/>
              </a:endParaRPr>
            </a:p>
            <a:p>
              <a:pPr indent="0" lvl="0" marL="0" rtl="0" algn="l">
                <a:spcBef>
                  <a:spcPts val="750"/>
                </a:spcBef>
                <a:spcAft>
                  <a:spcPts val="0"/>
                </a:spcAft>
                <a:buNone/>
              </a:pPr>
              <a:r>
                <a:rPr lang="en-US" sz="1300">
                  <a:solidFill>
                    <a:srgbClr val="334155"/>
                  </a:solidFill>
                  <a:latin typeface="Arial"/>
                  <a:ea typeface="Arial"/>
                  <a:cs typeface="Arial"/>
                  <a:sym typeface="Arial"/>
                </a:rPr>
                <a:t>The economic and cultural </a:t>
              </a:r>
              <a:r>
                <a:rPr b="1" lang="en-US" sz="1300">
                  <a:solidFill>
                    <a:srgbClr val="334155"/>
                  </a:solidFill>
                </a:rPr>
                <a:t>impacts </a:t>
              </a:r>
              <a:r>
                <a:rPr lang="en-US" sz="1300">
                  <a:solidFill>
                    <a:srgbClr val="334155"/>
                  </a:solidFill>
                  <a:latin typeface="Arial"/>
                  <a:ea typeface="Arial"/>
                  <a:cs typeface="Arial"/>
                  <a:sym typeface="Arial"/>
                </a:rPr>
                <a:t>caused by AI should be continuously monitored.</a:t>
              </a:r>
              <a:endParaRPr sz="1300">
                <a:solidFill>
                  <a:srgbClr val="334155"/>
                </a:solidFill>
                <a:latin typeface="Arial"/>
                <a:ea typeface="Arial"/>
                <a:cs typeface="Arial"/>
                <a:sym typeface="Arial"/>
              </a:endParaRPr>
            </a:p>
            <a:p>
              <a:pPr indent="0" lvl="0" marL="0" rtl="0" algn="l">
                <a:spcBef>
                  <a:spcPts val="600"/>
                </a:spcBef>
                <a:spcAft>
                  <a:spcPts val="0"/>
                </a:spcAft>
                <a:buNone/>
              </a:pPr>
              <a:r>
                <a:rPr lang="en-US" sz="1300">
                  <a:solidFill>
                    <a:srgbClr val="334155"/>
                  </a:solidFill>
                  <a:latin typeface="Arial"/>
                  <a:ea typeface="Arial"/>
                  <a:cs typeface="Arial"/>
                  <a:sym typeface="Arial"/>
                </a:rPr>
                <a:t>Continuous assessment is vital to prevent undesirable consequences throughout its lifecycle.</a:t>
              </a:r>
              <a:endParaRPr sz="1300">
                <a:solidFill>
                  <a:srgbClr val="334155"/>
                </a:solidFill>
                <a:latin typeface="Arial"/>
                <a:ea typeface="Arial"/>
                <a:cs typeface="Arial"/>
                <a:sym typeface="Arial"/>
              </a:endParaRPr>
            </a:p>
          </p:txBody>
        </p:sp>
      </p:grpSp>
      <p:sp>
        <p:nvSpPr>
          <p:cNvPr id="617" name="Google Shape;617;g3e33499f370_0_470"/>
          <p:cNvSpPr txBox="1"/>
          <p:nvPr/>
        </p:nvSpPr>
        <p:spPr>
          <a:xfrm>
            <a:off x="285750" y="5238750"/>
            <a:ext cx="9334500" cy="5715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b="1" lang="en-US" sz="1000">
                <a:solidFill>
                  <a:srgbClr val="64748B"/>
                </a:solidFill>
                <a:latin typeface="Arial"/>
                <a:ea typeface="Arial"/>
                <a:cs typeface="Arial"/>
                <a:sym typeface="Arial"/>
              </a:rPr>
              <a:t>Sources</a:t>
            </a:r>
            <a:r>
              <a:rPr b="1" lang="en-US" sz="1000">
                <a:solidFill>
                  <a:srgbClr val="64748B"/>
                </a:solidFill>
                <a:latin typeface="Arial"/>
                <a:ea typeface="Arial"/>
                <a:cs typeface="Arial"/>
                <a:sym typeface="Arial"/>
              </a:rPr>
              <a:t>:</a:t>
            </a:r>
            <a:r>
              <a:rPr lang="en-US" sz="1000">
                <a:solidFill>
                  <a:srgbClr val="64748B"/>
                </a:solidFill>
                <a:latin typeface="Arial"/>
                <a:ea typeface="Arial"/>
                <a:cs typeface="Arial"/>
                <a:sym typeface="Arial"/>
              </a:rPr>
              <a:t> [1] </a:t>
            </a:r>
            <a:r>
              <a:rPr lang="en-US" sz="1000">
                <a:solidFill>
                  <a:srgbClr val="64748B"/>
                </a:solidFill>
              </a:rPr>
              <a:t>[</a:t>
            </a:r>
            <a:r>
              <a:rPr lang="en-US" sz="1000">
                <a:solidFill>
                  <a:srgbClr val="64748B"/>
                </a:solidFill>
                <a:latin typeface="Arial"/>
                <a:ea typeface="Arial"/>
                <a:cs typeface="Arial"/>
                <a:sym typeface="Arial"/>
              </a:rPr>
              <a:t>2] </a:t>
            </a:r>
            <a:endParaRPr sz="1000">
              <a:solidFill>
                <a:srgbClr val="64748B"/>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1" name="Shape 621"/>
        <p:cNvGrpSpPr/>
        <p:nvPr/>
      </p:nvGrpSpPr>
      <p:grpSpPr>
        <a:xfrm>
          <a:off x="0" y="0"/>
          <a:ext cx="0" cy="0"/>
          <a:chOff x="0" y="0"/>
          <a:chExt cx="0" cy="0"/>
        </a:xfrm>
      </p:grpSpPr>
      <p:sp>
        <p:nvSpPr>
          <p:cNvPr id="622" name="Google Shape;622;g3e36394e788_0_508"/>
          <p:cNvSpPr/>
          <p:nvPr/>
        </p:nvSpPr>
        <p:spPr>
          <a:xfrm>
            <a:off x="0" y="768088"/>
            <a:ext cx="9906000" cy="6090000"/>
          </a:xfrm>
          <a:prstGeom prst="rect">
            <a:avLst/>
          </a:prstGeom>
          <a:solidFill>
            <a:schemeClr val="lt1">
              <a:alpha val="6000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623" name="Google Shape;623;g3e36394e788_0_508"/>
          <p:cNvSpPr/>
          <p:nvPr/>
        </p:nvSpPr>
        <p:spPr>
          <a:xfrm>
            <a:off x="-13050" y="5921896"/>
            <a:ext cx="9919200" cy="936000"/>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624" name="Google Shape;624;g3e36394e788_0_508"/>
          <p:cNvPicPr preferRelativeResize="0"/>
          <p:nvPr/>
        </p:nvPicPr>
        <p:blipFill rotWithShape="1">
          <a:blip r:embed="rId3">
            <a:alphaModFix/>
          </a:blip>
          <a:srcRect b="0" l="17788" r="19906" t="65239"/>
          <a:stretch/>
        </p:blipFill>
        <p:spPr>
          <a:xfrm>
            <a:off x="920552" y="6155677"/>
            <a:ext cx="1568747" cy="665761"/>
          </a:xfrm>
          <a:prstGeom prst="rect">
            <a:avLst/>
          </a:prstGeom>
          <a:noFill/>
          <a:ln>
            <a:noFill/>
          </a:ln>
        </p:spPr>
      </p:pic>
      <p:pic>
        <p:nvPicPr>
          <p:cNvPr id="625" name="Google Shape;625;g3e36394e788_0_508"/>
          <p:cNvPicPr preferRelativeResize="0"/>
          <p:nvPr/>
        </p:nvPicPr>
        <p:blipFill rotWithShape="1">
          <a:blip r:embed="rId3">
            <a:alphaModFix/>
          </a:blip>
          <a:srcRect b="34761" l="25519" r="25620" t="3570"/>
          <a:stretch/>
        </p:blipFill>
        <p:spPr>
          <a:xfrm>
            <a:off x="194947" y="6056653"/>
            <a:ext cx="725605" cy="696647"/>
          </a:xfrm>
          <a:prstGeom prst="rect">
            <a:avLst/>
          </a:prstGeom>
          <a:noFill/>
          <a:ln>
            <a:noFill/>
          </a:ln>
        </p:spPr>
      </p:pic>
      <p:sp>
        <p:nvSpPr>
          <p:cNvPr id="626" name="Google Shape;626;g3e36394e788_0_508"/>
          <p:cNvSpPr/>
          <p:nvPr/>
        </p:nvSpPr>
        <p:spPr>
          <a:xfrm>
            <a:off x="4950907" y="5989477"/>
            <a:ext cx="4953000" cy="8310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400"/>
              <a:buFont typeface="Arial"/>
              <a:buNone/>
            </a:pPr>
            <a:r>
              <a:rPr b="1" i="0" lang="en-US" sz="2400" u="none" cap="none" strike="noStrike">
                <a:solidFill>
                  <a:schemeClr val="lt1"/>
                </a:solidFill>
                <a:latin typeface="Arial"/>
                <a:ea typeface="Arial"/>
                <a:cs typeface="Arial"/>
                <a:sym typeface="Arial"/>
              </a:rPr>
              <a:t>IEEE Intelligence and Security Informatics (ISI) 2018</a:t>
            </a:r>
            <a:endParaRPr b="0" i="0" sz="1400" u="none" cap="none" strike="noStrike">
              <a:solidFill>
                <a:srgbClr val="000000"/>
              </a:solidFill>
              <a:latin typeface="Arial"/>
              <a:ea typeface="Arial"/>
              <a:cs typeface="Arial"/>
              <a:sym typeface="Arial"/>
            </a:endParaRPr>
          </a:p>
        </p:txBody>
      </p:sp>
      <p:grpSp>
        <p:nvGrpSpPr>
          <p:cNvPr id="627" name="Google Shape;627;g3e36394e788_0_508"/>
          <p:cNvGrpSpPr/>
          <p:nvPr/>
        </p:nvGrpSpPr>
        <p:grpSpPr>
          <a:xfrm>
            <a:off x="-18000" y="5842892"/>
            <a:ext cx="9942000" cy="1014788"/>
            <a:chOff x="-21650" y="5927750"/>
            <a:chExt cx="9942000" cy="930230"/>
          </a:xfrm>
        </p:grpSpPr>
        <p:sp>
          <p:nvSpPr>
            <p:cNvPr id="628" name="Google Shape;628;g3e36394e788_0_508"/>
            <p:cNvSpPr/>
            <p:nvPr/>
          </p:nvSpPr>
          <p:spPr>
            <a:xfrm>
              <a:off x="5239747" y="5949280"/>
              <a:ext cx="4680600" cy="9087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Arial"/>
                  <a:ea typeface="Arial"/>
                  <a:cs typeface="Arial"/>
                  <a:sym typeface="Arial"/>
                </a:rPr>
                <a:t>25th Annual International Conference on Digital Government Research (dg.o 2024)</a:t>
              </a:r>
              <a:endParaRPr b="0" i="0" sz="1800" u="none" cap="none" strike="noStrike">
                <a:solidFill>
                  <a:schemeClr val="lt1"/>
                </a:solidFill>
                <a:latin typeface="Arial"/>
                <a:ea typeface="Arial"/>
                <a:cs typeface="Arial"/>
                <a:sym typeface="Arial"/>
              </a:endParaRPr>
            </a:p>
          </p:txBody>
        </p:sp>
        <p:pic>
          <p:nvPicPr>
            <p:cNvPr id="629" name="Google Shape;629;g3e36394e788_0_508"/>
            <p:cNvPicPr preferRelativeResize="0"/>
            <p:nvPr/>
          </p:nvPicPr>
          <p:blipFill rotWithShape="1">
            <a:blip r:embed="rId4">
              <a:alphaModFix/>
            </a:blip>
            <a:srcRect b="-112533" l="-23390" r="23390" t="137710"/>
            <a:stretch/>
          </p:blipFill>
          <p:spPr>
            <a:xfrm>
              <a:off x="0" y="6007596"/>
              <a:ext cx="9920265" cy="792088"/>
            </a:xfrm>
            <a:prstGeom prst="rect">
              <a:avLst/>
            </a:prstGeom>
            <a:noFill/>
            <a:ln>
              <a:noFill/>
            </a:ln>
          </p:spPr>
        </p:pic>
        <p:sp>
          <p:nvSpPr>
            <p:cNvPr id="630" name="Google Shape;630;g3e36394e788_0_508"/>
            <p:cNvSpPr/>
            <p:nvPr/>
          </p:nvSpPr>
          <p:spPr>
            <a:xfrm>
              <a:off x="-21650" y="5927750"/>
              <a:ext cx="9942000" cy="9087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pic>
        <p:nvPicPr>
          <p:cNvPr id="631" name="Google Shape;631;g3e36394e788_0_508"/>
          <p:cNvPicPr preferRelativeResize="0"/>
          <p:nvPr/>
        </p:nvPicPr>
        <p:blipFill rotWithShape="1">
          <a:blip r:embed="rId5">
            <a:alphaModFix/>
          </a:blip>
          <a:srcRect b="0" l="0" r="0" t="0"/>
          <a:stretch/>
        </p:blipFill>
        <p:spPr>
          <a:xfrm>
            <a:off x="218750" y="6052376"/>
            <a:ext cx="1823009" cy="470325"/>
          </a:xfrm>
          <a:prstGeom prst="rect">
            <a:avLst/>
          </a:prstGeom>
          <a:noFill/>
          <a:ln>
            <a:noFill/>
          </a:ln>
        </p:spPr>
      </p:pic>
      <p:pic>
        <p:nvPicPr>
          <p:cNvPr id="632" name="Google Shape;632;g3e36394e788_0_508"/>
          <p:cNvPicPr preferRelativeResize="0"/>
          <p:nvPr/>
        </p:nvPicPr>
        <p:blipFill rotWithShape="1">
          <a:blip r:embed="rId6">
            <a:alphaModFix/>
          </a:blip>
          <a:srcRect b="0" l="0" r="0" t="0"/>
          <a:stretch/>
        </p:blipFill>
        <p:spPr>
          <a:xfrm>
            <a:off x="8015000" y="6038017"/>
            <a:ext cx="1811830" cy="624575"/>
          </a:xfrm>
          <a:prstGeom prst="rect">
            <a:avLst/>
          </a:prstGeom>
          <a:noFill/>
          <a:ln>
            <a:noFill/>
          </a:ln>
        </p:spPr>
      </p:pic>
      <p:sp>
        <p:nvSpPr>
          <p:cNvPr id="633" name="Google Shape;633;g3e36394e788_0_508"/>
          <p:cNvSpPr txBox="1"/>
          <p:nvPr>
            <p:ph type="title"/>
          </p:nvPr>
        </p:nvSpPr>
        <p:spPr>
          <a:xfrm>
            <a:off x="41075" y="139850"/>
            <a:ext cx="9906000" cy="925200"/>
          </a:xfrm>
          <a:prstGeom prst="rect">
            <a:avLst/>
          </a:prstGeom>
          <a:solidFill>
            <a:srgbClr val="000000">
              <a:alpha val="0"/>
            </a:srgbClr>
          </a:solidFill>
          <a:ln>
            <a:noFill/>
          </a:ln>
        </p:spPr>
        <p:txBody>
          <a:bodyPr anchorCtr="0" anchor="ctr" bIns="0" lIns="285750" spcFirstLastPara="1" rIns="0" wrap="square" tIns="0">
            <a:noAutofit/>
          </a:bodyPr>
          <a:lstStyle/>
          <a:p>
            <a:pPr indent="0" lvl="0" marL="0" rtl="0" algn="l">
              <a:spcBef>
                <a:spcPts val="0"/>
              </a:spcBef>
              <a:spcAft>
                <a:spcPts val="0"/>
              </a:spcAft>
              <a:buNone/>
            </a:pPr>
            <a:r>
              <a:rPr lang="en-US" sz="2400">
                <a:latin typeface="Arial"/>
                <a:ea typeface="Arial"/>
                <a:cs typeface="Arial"/>
                <a:sym typeface="Arial"/>
              </a:rPr>
              <a:t>3. </a:t>
            </a:r>
            <a:r>
              <a:rPr b="1" lang="en-US" sz="2400">
                <a:solidFill>
                  <a:srgbClr val="1E4E79"/>
                </a:solidFill>
                <a:latin typeface="Arial"/>
                <a:ea typeface="Arial"/>
                <a:cs typeface="Arial"/>
                <a:sym typeface="Arial"/>
              </a:rPr>
              <a:t>Examples of MAS</a:t>
            </a:r>
            <a:r>
              <a:rPr lang="en-US" sz="2400">
                <a:latin typeface="Arial"/>
                <a:ea typeface="Arial"/>
                <a:cs typeface="Arial"/>
                <a:sym typeface="Arial"/>
              </a:rPr>
              <a:t> </a:t>
            </a:r>
            <a:r>
              <a:rPr b="1" lang="en-US" sz="2400">
                <a:solidFill>
                  <a:srgbClr val="1E4E79"/>
                </a:solidFill>
                <a:latin typeface="Arial"/>
                <a:ea typeface="Arial"/>
                <a:cs typeface="Arial"/>
                <a:sym typeface="Arial"/>
              </a:rPr>
              <a:t>Focused on Promoting Sustainable Development and Social Welfare</a:t>
            </a:r>
            <a:endParaRPr b="1" sz="2400">
              <a:solidFill>
                <a:srgbClr val="1E4E79"/>
              </a:solidFill>
              <a:latin typeface="Arial"/>
              <a:ea typeface="Arial"/>
              <a:cs typeface="Arial"/>
              <a:sym typeface="Arial"/>
            </a:endParaRPr>
          </a:p>
        </p:txBody>
      </p:sp>
      <p:grpSp>
        <p:nvGrpSpPr>
          <p:cNvPr id="634" name="Google Shape;634;g3e36394e788_0_508"/>
          <p:cNvGrpSpPr/>
          <p:nvPr/>
        </p:nvGrpSpPr>
        <p:grpSpPr>
          <a:xfrm>
            <a:off x="238125" y="1333500"/>
            <a:ext cx="9429900" cy="3619500"/>
            <a:chOff x="238125" y="1333500"/>
            <a:chExt cx="9429900" cy="3619500"/>
          </a:xfrm>
        </p:grpSpPr>
        <p:sp>
          <p:nvSpPr>
            <p:cNvPr id="635" name="Google Shape;635;g3e36394e788_0_508"/>
            <p:cNvSpPr/>
            <p:nvPr/>
          </p:nvSpPr>
          <p:spPr>
            <a:xfrm>
              <a:off x="238125" y="1333500"/>
              <a:ext cx="2952900" cy="3619500"/>
            </a:xfrm>
            <a:prstGeom prst="roundRect">
              <a:avLst>
                <a:gd fmla="val 4838" name="adj"/>
              </a:avLst>
            </a:prstGeom>
            <a:solidFill>
              <a:srgbClr val="F8FAFC"/>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36" name="Google Shape;636;g3e36394e788_0_508"/>
            <p:cNvSpPr txBox="1"/>
            <p:nvPr/>
          </p:nvSpPr>
          <p:spPr>
            <a:xfrm>
              <a:off x="428625" y="1559052"/>
              <a:ext cx="381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2400">
                  <a:solidFill>
                    <a:srgbClr val="1E4E79"/>
                  </a:solidFill>
                  <a:latin typeface="Material Icons"/>
                  <a:ea typeface="Material Icons"/>
                  <a:cs typeface="Material Icons"/>
                  <a:sym typeface="Material Icons"/>
                </a:rPr>
                <a:t>agriculture</a:t>
              </a:r>
              <a:endParaRPr sz="2400">
                <a:solidFill>
                  <a:srgbClr val="1E4E79"/>
                </a:solidFill>
                <a:latin typeface="Material Icons"/>
                <a:ea typeface="Material Icons"/>
                <a:cs typeface="Material Icons"/>
                <a:sym typeface="Material Icons"/>
              </a:endParaRPr>
            </a:p>
          </p:txBody>
        </p:sp>
        <p:sp>
          <p:nvSpPr>
            <p:cNvPr id="637" name="Google Shape;637;g3e36394e788_0_508"/>
            <p:cNvSpPr txBox="1"/>
            <p:nvPr/>
          </p:nvSpPr>
          <p:spPr>
            <a:xfrm>
              <a:off x="428625" y="2000250"/>
              <a:ext cx="2571900" cy="2762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600">
                  <a:solidFill>
                    <a:srgbClr val="1E4E79"/>
                  </a:solidFill>
                  <a:latin typeface="Arial"/>
                  <a:ea typeface="Arial"/>
                  <a:cs typeface="Arial"/>
                  <a:sym typeface="Arial"/>
                </a:rPr>
                <a:t>Smart Agriculture</a:t>
              </a:r>
              <a:endParaRPr b="1" sz="1600">
                <a:solidFill>
                  <a:srgbClr val="1E4E79"/>
                </a:solidFill>
                <a:latin typeface="Arial"/>
                <a:ea typeface="Arial"/>
                <a:cs typeface="Arial"/>
                <a:sym typeface="Arial"/>
              </a:endParaRPr>
            </a:p>
            <a:p>
              <a:pPr indent="0" lvl="0" marL="0" rtl="0" algn="l">
                <a:spcBef>
                  <a:spcPts val="750"/>
                </a:spcBef>
                <a:spcAft>
                  <a:spcPts val="0"/>
                </a:spcAft>
                <a:buNone/>
              </a:pPr>
              <a:r>
                <a:rPr lang="en-US" sz="1300">
                  <a:solidFill>
                    <a:srgbClr val="334155"/>
                  </a:solidFill>
                  <a:latin typeface="Arial"/>
                  <a:ea typeface="Arial"/>
                  <a:cs typeface="Arial"/>
                  <a:sym typeface="Arial"/>
                </a:rPr>
                <a:t>Optimization of water resources and precise fertilizer application through autonomous agent monitoring.</a:t>
              </a:r>
              <a:endParaRPr sz="1300">
                <a:solidFill>
                  <a:srgbClr val="334155"/>
                </a:solidFill>
                <a:latin typeface="Arial"/>
                <a:ea typeface="Arial"/>
                <a:cs typeface="Arial"/>
                <a:sym typeface="Arial"/>
              </a:endParaRPr>
            </a:p>
          </p:txBody>
        </p:sp>
        <p:sp>
          <p:nvSpPr>
            <p:cNvPr id="638" name="Google Shape;638;g3e36394e788_0_508"/>
            <p:cNvSpPr/>
            <p:nvPr/>
          </p:nvSpPr>
          <p:spPr>
            <a:xfrm>
              <a:off x="3476625" y="1333500"/>
              <a:ext cx="2952900" cy="3619500"/>
            </a:xfrm>
            <a:prstGeom prst="roundRect">
              <a:avLst>
                <a:gd fmla="val 4838" name="adj"/>
              </a:avLst>
            </a:prstGeom>
            <a:solidFill>
              <a:srgbClr val="F8FAFC"/>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39" name="Google Shape;639;g3e36394e788_0_508"/>
            <p:cNvSpPr txBox="1"/>
            <p:nvPr/>
          </p:nvSpPr>
          <p:spPr>
            <a:xfrm>
              <a:off x="3667125" y="1559052"/>
              <a:ext cx="381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2400">
                  <a:solidFill>
                    <a:srgbClr val="1E4E79"/>
                  </a:solidFill>
                  <a:latin typeface="Material Icons"/>
                  <a:ea typeface="Material Icons"/>
                  <a:cs typeface="Material Icons"/>
                  <a:sym typeface="Material Icons"/>
                </a:rPr>
                <a:t>traffic</a:t>
              </a:r>
              <a:endParaRPr sz="2400">
                <a:solidFill>
                  <a:srgbClr val="1E4E79"/>
                </a:solidFill>
                <a:latin typeface="Material Icons"/>
                <a:ea typeface="Material Icons"/>
                <a:cs typeface="Material Icons"/>
                <a:sym typeface="Material Icons"/>
              </a:endParaRPr>
            </a:p>
          </p:txBody>
        </p:sp>
        <p:sp>
          <p:nvSpPr>
            <p:cNvPr id="640" name="Google Shape;640;g3e36394e788_0_508"/>
            <p:cNvSpPr txBox="1"/>
            <p:nvPr/>
          </p:nvSpPr>
          <p:spPr>
            <a:xfrm>
              <a:off x="3667125" y="2000250"/>
              <a:ext cx="2571900" cy="2762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600">
                  <a:solidFill>
                    <a:srgbClr val="1E4E79"/>
                  </a:solidFill>
                  <a:latin typeface="Arial"/>
                  <a:ea typeface="Arial"/>
                  <a:cs typeface="Arial"/>
                  <a:sym typeface="Arial"/>
                </a:rPr>
                <a:t>Urban Mobility</a:t>
              </a:r>
              <a:endParaRPr b="1" sz="1600">
                <a:solidFill>
                  <a:srgbClr val="1E4E79"/>
                </a:solidFill>
                <a:latin typeface="Arial"/>
                <a:ea typeface="Arial"/>
                <a:cs typeface="Arial"/>
                <a:sym typeface="Arial"/>
              </a:endParaRPr>
            </a:p>
            <a:p>
              <a:pPr indent="0" lvl="0" marL="0" rtl="0" algn="l">
                <a:spcBef>
                  <a:spcPts val="750"/>
                </a:spcBef>
                <a:spcAft>
                  <a:spcPts val="0"/>
                </a:spcAft>
                <a:buNone/>
              </a:pPr>
              <a:r>
                <a:rPr lang="en-US" sz="1300">
                  <a:solidFill>
                    <a:srgbClr val="334155"/>
                  </a:solidFill>
                  <a:latin typeface="Arial"/>
                  <a:ea typeface="Arial"/>
                  <a:cs typeface="Arial"/>
                  <a:sym typeface="Arial"/>
                </a:rPr>
                <a:t>Traffic signal control and public transport management to enhance traffic flow and reduce congestion.</a:t>
              </a:r>
              <a:endParaRPr sz="1300">
                <a:solidFill>
                  <a:srgbClr val="334155"/>
                </a:solidFill>
                <a:latin typeface="Arial"/>
                <a:ea typeface="Arial"/>
                <a:cs typeface="Arial"/>
                <a:sym typeface="Arial"/>
              </a:endParaRPr>
            </a:p>
          </p:txBody>
        </p:sp>
        <p:sp>
          <p:nvSpPr>
            <p:cNvPr id="641" name="Google Shape;641;g3e36394e788_0_508"/>
            <p:cNvSpPr/>
            <p:nvPr/>
          </p:nvSpPr>
          <p:spPr>
            <a:xfrm>
              <a:off x="6715125" y="1333500"/>
              <a:ext cx="2952900" cy="3619500"/>
            </a:xfrm>
            <a:prstGeom prst="roundRect">
              <a:avLst>
                <a:gd fmla="val 4838" name="adj"/>
              </a:avLst>
            </a:prstGeom>
            <a:solidFill>
              <a:srgbClr val="F8FAFC"/>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42" name="Google Shape;642;g3e36394e788_0_508"/>
            <p:cNvSpPr txBox="1"/>
            <p:nvPr/>
          </p:nvSpPr>
          <p:spPr>
            <a:xfrm>
              <a:off x="6905625" y="1559052"/>
              <a:ext cx="381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2400">
                  <a:solidFill>
                    <a:srgbClr val="1E4E79"/>
                  </a:solidFill>
                  <a:latin typeface="Material Icons"/>
                  <a:ea typeface="Material Icons"/>
                  <a:cs typeface="Material Icons"/>
                  <a:sym typeface="Material Icons"/>
                </a:rPr>
                <a:t>trending_up</a:t>
              </a:r>
              <a:endParaRPr sz="2400">
                <a:solidFill>
                  <a:srgbClr val="1E4E79"/>
                </a:solidFill>
                <a:latin typeface="Material Icons"/>
                <a:ea typeface="Material Icons"/>
                <a:cs typeface="Material Icons"/>
                <a:sym typeface="Material Icons"/>
              </a:endParaRPr>
            </a:p>
          </p:txBody>
        </p:sp>
        <p:sp>
          <p:nvSpPr>
            <p:cNvPr id="643" name="Google Shape;643;g3e36394e788_0_508"/>
            <p:cNvSpPr txBox="1"/>
            <p:nvPr/>
          </p:nvSpPr>
          <p:spPr>
            <a:xfrm>
              <a:off x="6905625" y="2000250"/>
              <a:ext cx="2571900" cy="2762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600">
                  <a:solidFill>
                    <a:srgbClr val="1E4E79"/>
                  </a:solidFill>
                  <a:latin typeface="Arial"/>
                  <a:ea typeface="Arial"/>
                  <a:cs typeface="Arial"/>
                  <a:sym typeface="Arial"/>
                </a:rPr>
                <a:t>Sustainable Finance</a:t>
              </a:r>
              <a:endParaRPr b="1" sz="1600">
                <a:solidFill>
                  <a:srgbClr val="1E4E79"/>
                </a:solidFill>
                <a:latin typeface="Arial"/>
                <a:ea typeface="Arial"/>
                <a:cs typeface="Arial"/>
                <a:sym typeface="Arial"/>
              </a:endParaRPr>
            </a:p>
            <a:p>
              <a:pPr indent="0" lvl="0" marL="0" rtl="0" algn="l">
                <a:spcBef>
                  <a:spcPts val="750"/>
                </a:spcBef>
                <a:spcAft>
                  <a:spcPts val="0"/>
                </a:spcAft>
                <a:buNone/>
              </a:pPr>
              <a:r>
                <a:rPr lang="en-US" sz="1300">
                  <a:solidFill>
                    <a:srgbClr val="334155"/>
                  </a:solidFill>
                  <a:latin typeface="Arial"/>
                  <a:ea typeface="Arial"/>
                  <a:cs typeface="Arial"/>
                  <a:sym typeface="Arial"/>
                </a:rPr>
                <a:t>Stock trading negotiations favoring companies with sustainable practices and divesting from non-certified entities.</a:t>
              </a:r>
              <a:endParaRPr sz="1300">
                <a:solidFill>
                  <a:srgbClr val="334155"/>
                </a:solidFill>
                <a:latin typeface="Arial"/>
                <a:ea typeface="Arial"/>
                <a:cs typeface="Arial"/>
                <a:sym typeface="Arial"/>
              </a:endParaRPr>
            </a:p>
          </p:txBody>
        </p:sp>
      </p:grpSp>
      <p:sp>
        <p:nvSpPr>
          <p:cNvPr id="644" name="Google Shape;644;g3e36394e788_0_508"/>
          <p:cNvSpPr txBox="1"/>
          <p:nvPr/>
        </p:nvSpPr>
        <p:spPr>
          <a:xfrm>
            <a:off x="285750" y="5238750"/>
            <a:ext cx="9334500" cy="5715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b="1" lang="en-US" sz="1000">
                <a:solidFill>
                  <a:srgbClr val="64748B"/>
                </a:solidFill>
                <a:latin typeface="Arial"/>
                <a:ea typeface="Arial"/>
                <a:cs typeface="Arial"/>
                <a:sym typeface="Arial"/>
              </a:rPr>
              <a:t>Sources: </a:t>
            </a:r>
            <a:r>
              <a:rPr b="0" lang="en-US" sz="1000">
                <a:solidFill>
                  <a:srgbClr val="64748B"/>
                </a:solidFill>
                <a:latin typeface="Arial"/>
                <a:ea typeface="Arial"/>
                <a:cs typeface="Arial"/>
                <a:sym typeface="Arial"/>
              </a:rPr>
              <a:t>[3, 4, 5, 6]  MAS Research Papers </a:t>
            </a:r>
            <a:endParaRPr b="1" sz="1000">
              <a:solidFill>
                <a:srgbClr val="64748B"/>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8" name="Shape 648"/>
        <p:cNvGrpSpPr/>
        <p:nvPr/>
      </p:nvGrpSpPr>
      <p:grpSpPr>
        <a:xfrm>
          <a:off x="0" y="0"/>
          <a:ext cx="0" cy="0"/>
          <a:chOff x="0" y="0"/>
          <a:chExt cx="0" cy="0"/>
        </a:xfrm>
      </p:grpSpPr>
      <p:grpSp>
        <p:nvGrpSpPr>
          <p:cNvPr id="649" name="Google Shape;649;g3e36394e788_0_519"/>
          <p:cNvGrpSpPr/>
          <p:nvPr/>
        </p:nvGrpSpPr>
        <p:grpSpPr>
          <a:xfrm>
            <a:off x="-18000" y="5842892"/>
            <a:ext cx="9942000" cy="1014788"/>
            <a:chOff x="-21650" y="5927750"/>
            <a:chExt cx="9942000" cy="930230"/>
          </a:xfrm>
        </p:grpSpPr>
        <p:sp>
          <p:nvSpPr>
            <p:cNvPr id="650" name="Google Shape;650;g3e36394e788_0_519"/>
            <p:cNvSpPr/>
            <p:nvPr/>
          </p:nvSpPr>
          <p:spPr>
            <a:xfrm>
              <a:off x="5239747" y="5949280"/>
              <a:ext cx="4680600" cy="9087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Arial"/>
                  <a:ea typeface="Arial"/>
                  <a:cs typeface="Arial"/>
                  <a:sym typeface="Arial"/>
                </a:rPr>
                <a:t>25th Annual International Conference on Digital Government Research (dg.o 2024)</a:t>
              </a:r>
              <a:endParaRPr b="0" i="0" sz="1800" u="none" cap="none" strike="noStrike">
                <a:solidFill>
                  <a:schemeClr val="lt1"/>
                </a:solidFill>
                <a:latin typeface="Arial"/>
                <a:ea typeface="Arial"/>
                <a:cs typeface="Arial"/>
                <a:sym typeface="Arial"/>
              </a:endParaRPr>
            </a:p>
          </p:txBody>
        </p:sp>
        <p:pic>
          <p:nvPicPr>
            <p:cNvPr id="651" name="Google Shape;651;g3e36394e788_0_519"/>
            <p:cNvPicPr preferRelativeResize="0"/>
            <p:nvPr/>
          </p:nvPicPr>
          <p:blipFill rotWithShape="1">
            <a:blip r:embed="rId3">
              <a:alphaModFix/>
            </a:blip>
            <a:srcRect b="-112533" l="-23390" r="23390" t="137710"/>
            <a:stretch/>
          </p:blipFill>
          <p:spPr>
            <a:xfrm>
              <a:off x="0" y="6007596"/>
              <a:ext cx="9920265" cy="792088"/>
            </a:xfrm>
            <a:prstGeom prst="rect">
              <a:avLst/>
            </a:prstGeom>
            <a:noFill/>
            <a:ln>
              <a:noFill/>
            </a:ln>
          </p:spPr>
        </p:pic>
        <p:sp>
          <p:nvSpPr>
            <p:cNvPr id="652" name="Google Shape;652;g3e36394e788_0_519"/>
            <p:cNvSpPr/>
            <p:nvPr/>
          </p:nvSpPr>
          <p:spPr>
            <a:xfrm>
              <a:off x="-21650" y="5927750"/>
              <a:ext cx="9942000" cy="9087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pic>
        <p:nvPicPr>
          <p:cNvPr id="653" name="Google Shape;653;g3e36394e788_0_519"/>
          <p:cNvPicPr preferRelativeResize="0"/>
          <p:nvPr/>
        </p:nvPicPr>
        <p:blipFill rotWithShape="1">
          <a:blip r:embed="rId4">
            <a:alphaModFix/>
          </a:blip>
          <a:srcRect b="0" l="0" r="0" t="0"/>
          <a:stretch/>
        </p:blipFill>
        <p:spPr>
          <a:xfrm>
            <a:off x="218750" y="6052376"/>
            <a:ext cx="1823009" cy="470325"/>
          </a:xfrm>
          <a:prstGeom prst="rect">
            <a:avLst/>
          </a:prstGeom>
          <a:noFill/>
          <a:ln>
            <a:noFill/>
          </a:ln>
        </p:spPr>
      </p:pic>
      <p:pic>
        <p:nvPicPr>
          <p:cNvPr id="654" name="Google Shape;654;g3e36394e788_0_519"/>
          <p:cNvPicPr preferRelativeResize="0"/>
          <p:nvPr/>
        </p:nvPicPr>
        <p:blipFill rotWithShape="1">
          <a:blip r:embed="rId5">
            <a:alphaModFix/>
          </a:blip>
          <a:srcRect b="0" l="0" r="0" t="0"/>
          <a:stretch/>
        </p:blipFill>
        <p:spPr>
          <a:xfrm>
            <a:off x="8015000" y="6038017"/>
            <a:ext cx="1811830" cy="624575"/>
          </a:xfrm>
          <a:prstGeom prst="rect">
            <a:avLst/>
          </a:prstGeom>
          <a:noFill/>
          <a:ln>
            <a:noFill/>
          </a:ln>
        </p:spPr>
      </p:pic>
      <p:sp>
        <p:nvSpPr>
          <p:cNvPr id="655" name="Google Shape;655;g3e36394e788_0_519"/>
          <p:cNvSpPr txBox="1"/>
          <p:nvPr/>
        </p:nvSpPr>
        <p:spPr>
          <a:xfrm>
            <a:off x="285750" y="285750"/>
            <a:ext cx="9334500" cy="762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2400">
                <a:solidFill>
                  <a:srgbClr val="1E4E79"/>
                </a:solidFill>
                <a:latin typeface="Arial"/>
                <a:ea typeface="Arial"/>
                <a:cs typeface="Arial"/>
                <a:sym typeface="Arial"/>
              </a:rPr>
              <a:t>3. EP2 </a:t>
            </a:r>
            <a:r>
              <a:rPr b="1" lang="en-US" sz="2400">
                <a:solidFill>
                  <a:srgbClr val="1E4E79"/>
                </a:solidFill>
                <a:latin typeface="Arial"/>
                <a:ea typeface="Arial"/>
                <a:cs typeface="Arial"/>
                <a:sym typeface="Arial"/>
              </a:rPr>
              <a:t>Principle: Fairness and Non-Discrimination</a:t>
            </a:r>
            <a:endParaRPr b="1" sz="2400">
              <a:solidFill>
                <a:srgbClr val="1E4E79"/>
              </a:solidFill>
              <a:latin typeface="Arial"/>
              <a:ea typeface="Arial"/>
              <a:cs typeface="Arial"/>
              <a:sym typeface="Arial"/>
            </a:endParaRPr>
          </a:p>
        </p:txBody>
      </p:sp>
      <p:grpSp>
        <p:nvGrpSpPr>
          <p:cNvPr id="656" name="Google Shape;656;g3e36394e788_0_519"/>
          <p:cNvGrpSpPr/>
          <p:nvPr/>
        </p:nvGrpSpPr>
        <p:grpSpPr>
          <a:xfrm>
            <a:off x="285750" y="1333500"/>
            <a:ext cx="4429200" cy="3238500"/>
            <a:chOff x="285750" y="1333500"/>
            <a:chExt cx="4429200" cy="3238500"/>
          </a:xfrm>
        </p:grpSpPr>
        <p:sp>
          <p:nvSpPr>
            <p:cNvPr id="657" name="Google Shape;657;g3e36394e788_0_519"/>
            <p:cNvSpPr/>
            <p:nvPr/>
          </p:nvSpPr>
          <p:spPr>
            <a:xfrm>
              <a:off x="285750" y="1333500"/>
              <a:ext cx="4429200" cy="3238500"/>
            </a:xfrm>
            <a:prstGeom prst="roundRect">
              <a:avLst>
                <a:gd fmla="val 4411" name="adj"/>
              </a:avLst>
            </a:prstGeom>
            <a:solidFill>
              <a:srgbClr val="F8FAFC"/>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58" name="Google Shape;658;g3e36394e788_0_519"/>
            <p:cNvSpPr txBox="1"/>
            <p:nvPr/>
          </p:nvSpPr>
          <p:spPr>
            <a:xfrm>
              <a:off x="476250" y="1564894"/>
              <a:ext cx="381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2380">
                  <a:solidFill>
                    <a:srgbClr val="1E4E79"/>
                  </a:solidFill>
                  <a:latin typeface="Material Icons"/>
                  <a:ea typeface="Material Icons"/>
                  <a:cs typeface="Material Icons"/>
                  <a:sym typeface="Material Icons"/>
                </a:rPr>
                <a:t>balance</a:t>
              </a:r>
              <a:endParaRPr sz="2380">
                <a:solidFill>
                  <a:srgbClr val="1E4E79"/>
                </a:solidFill>
                <a:latin typeface="Material Icons"/>
                <a:ea typeface="Material Icons"/>
                <a:cs typeface="Material Icons"/>
                <a:sym typeface="Material Icons"/>
              </a:endParaRPr>
            </a:p>
          </p:txBody>
        </p:sp>
        <p:sp>
          <p:nvSpPr>
            <p:cNvPr id="659" name="Google Shape;659;g3e36394e788_0_519"/>
            <p:cNvSpPr txBox="1"/>
            <p:nvPr/>
          </p:nvSpPr>
          <p:spPr>
            <a:xfrm>
              <a:off x="476250" y="2000250"/>
              <a:ext cx="4048200" cy="2381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600">
                  <a:solidFill>
                    <a:srgbClr val="1E4E79"/>
                  </a:solidFill>
                  <a:latin typeface="Arial"/>
                  <a:ea typeface="Arial"/>
                  <a:cs typeface="Arial"/>
                  <a:sym typeface="Arial"/>
                </a:rPr>
                <a:t>Social Justice &amp; Equity</a:t>
              </a:r>
              <a:endParaRPr b="1" sz="1600">
                <a:solidFill>
                  <a:srgbClr val="1E4E79"/>
                </a:solidFill>
                <a:latin typeface="Arial"/>
                <a:ea typeface="Arial"/>
                <a:cs typeface="Arial"/>
                <a:sym typeface="Arial"/>
              </a:endParaRPr>
            </a:p>
            <a:p>
              <a:pPr indent="0" lvl="0" marL="0" rtl="0" algn="l">
                <a:spcBef>
                  <a:spcPts val="900"/>
                </a:spcBef>
                <a:spcAft>
                  <a:spcPts val="0"/>
                </a:spcAft>
                <a:buNone/>
              </a:pPr>
              <a:r>
                <a:rPr lang="en-US" sz="1300">
                  <a:solidFill>
                    <a:srgbClr val="334155"/>
                  </a:solidFill>
                </a:rPr>
                <a:t>AI and system</a:t>
              </a:r>
              <a:r>
                <a:rPr b="0" lang="en-US" sz="1300">
                  <a:solidFill>
                    <a:srgbClr val="334155"/>
                  </a:solidFill>
                  <a:latin typeface="Arial"/>
                  <a:ea typeface="Arial"/>
                  <a:cs typeface="Arial"/>
                  <a:sym typeface="Arial"/>
                </a:rPr>
                <a:t> must promote</a:t>
              </a:r>
              <a:r>
                <a:rPr b="1" lang="en-US" sz="1300">
                  <a:solidFill>
                    <a:srgbClr val="334155"/>
                  </a:solidFill>
                </a:rPr>
                <a:t> social justice</a:t>
              </a:r>
              <a:r>
                <a:rPr b="0" lang="en-US" sz="1300">
                  <a:solidFill>
                    <a:srgbClr val="334155"/>
                  </a:solidFill>
                  <a:latin typeface="Arial"/>
                  <a:ea typeface="Arial"/>
                  <a:cs typeface="Arial"/>
                  <a:sym typeface="Arial"/>
                </a:rPr>
                <a:t>, </a:t>
              </a:r>
              <a:r>
                <a:rPr b="1" lang="en-US" sz="1300">
                  <a:solidFill>
                    <a:srgbClr val="334155"/>
                  </a:solidFill>
                </a:rPr>
                <a:t>equity</a:t>
              </a:r>
              <a:r>
                <a:rPr b="0" lang="en-US" sz="1300">
                  <a:solidFill>
                    <a:srgbClr val="334155"/>
                  </a:solidFill>
                  <a:latin typeface="Arial"/>
                  <a:ea typeface="Arial"/>
                  <a:cs typeface="Arial"/>
                  <a:sym typeface="Arial"/>
                </a:rPr>
                <a:t>, and</a:t>
              </a:r>
              <a:r>
                <a:rPr b="1" lang="en-US" sz="1300">
                  <a:solidFill>
                    <a:srgbClr val="334155"/>
                  </a:solidFill>
                </a:rPr>
                <a:t> non-discrimination</a:t>
              </a:r>
              <a:r>
                <a:rPr b="0" lang="en-US" sz="1300">
                  <a:solidFill>
                    <a:srgbClr val="334155"/>
                  </a:solidFill>
                  <a:latin typeface="Arial"/>
                  <a:ea typeface="Arial"/>
                  <a:cs typeface="Arial"/>
                  <a:sym typeface="Arial"/>
                </a:rPr>
                <a:t> in accordance with international law.</a:t>
              </a:r>
              <a:endParaRPr b="0" sz="1300">
                <a:solidFill>
                  <a:srgbClr val="334155"/>
                </a:solidFill>
                <a:latin typeface="Arial"/>
                <a:ea typeface="Arial"/>
                <a:cs typeface="Arial"/>
                <a:sym typeface="Arial"/>
              </a:endParaRPr>
            </a:p>
            <a:p>
              <a:pPr indent="0" lvl="0" marL="0" rtl="0" algn="l">
                <a:spcBef>
                  <a:spcPts val="750"/>
                </a:spcBef>
                <a:spcAft>
                  <a:spcPts val="0"/>
                </a:spcAft>
                <a:buNone/>
              </a:pPr>
              <a:r>
                <a:rPr b="0" lang="en-US" sz="1300">
                  <a:solidFill>
                    <a:srgbClr val="334155"/>
                  </a:solidFill>
                  <a:latin typeface="Arial"/>
                  <a:ea typeface="Arial"/>
                  <a:cs typeface="Arial"/>
                  <a:sym typeface="Arial"/>
                </a:rPr>
                <a:t>It should be accessible to all, considering specific needs and </a:t>
              </a:r>
              <a:r>
                <a:rPr b="1" lang="en-US" sz="1300">
                  <a:solidFill>
                    <a:srgbClr val="334155"/>
                  </a:solidFill>
                </a:rPr>
                <a:t>diversities </a:t>
              </a:r>
              <a:r>
                <a:rPr b="0" lang="en-US" sz="1300">
                  <a:solidFill>
                    <a:srgbClr val="334155"/>
                  </a:solidFill>
                  <a:latin typeface="Arial"/>
                  <a:ea typeface="Arial"/>
                  <a:cs typeface="Arial"/>
                  <a:sym typeface="Arial"/>
                </a:rPr>
                <a:t>of different </a:t>
              </a:r>
              <a:r>
                <a:rPr b="1" lang="en-US" sz="1300">
                  <a:solidFill>
                    <a:srgbClr val="334155"/>
                  </a:solidFill>
                </a:rPr>
                <a:t>social groups</a:t>
              </a:r>
              <a:r>
                <a:rPr b="0" lang="en-US" sz="1300">
                  <a:solidFill>
                    <a:srgbClr val="334155"/>
                  </a:solidFill>
                  <a:latin typeface="Arial"/>
                  <a:ea typeface="Arial"/>
                  <a:cs typeface="Arial"/>
                  <a:sym typeface="Arial"/>
                </a:rPr>
                <a:t> (e.g., age, culture, language, disability).</a:t>
              </a:r>
              <a:endParaRPr b="0" sz="1300">
                <a:solidFill>
                  <a:srgbClr val="334155"/>
                </a:solidFill>
                <a:latin typeface="Arial"/>
                <a:ea typeface="Arial"/>
                <a:cs typeface="Arial"/>
                <a:sym typeface="Arial"/>
              </a:endParaRPr>
            </a:p>
          </p:txBody>
        </p:sp>
      </p:grpSp>
      <p:grpSp>
        <p:nvGrpSpPr>
          <p:cNvPr id="660" name="Google Shape;660;g3e36394e788_0_519"/>
          <p:cNvGrpSpPr/>
          <p:nvPr/>
        </p:nvGrpSpPr>
        <p:grpSpPr>
          <a:xfrm>
            <a:off x="5191125" y="1333500"/>
            <a:ext cx="4429200" cy="3238500"/>
            <a:chOff x="5191125" y="1333500"/>
            <a:chExt cx="4429200" cy="3238500"/>
          </a:xfrm>
        </p:grpSpPr>
        <p:sp>
          <p:nvSpPr>
            <p:cNvPr id="661" name="Google Shape;661;g3e36394e788_0_519"/>
            <p:cNvSpPr/>
            <p:nvPr/>
          </p:nvSpPr>
          <p:spPr>
            <a:xfrm>
              <a:off x="5191125" y="1333500"/>
              <a:ext cx="4429200" cy="3238500"/>
            </a:xfrm>
            <a:prstGeom prst="roundRect">
              <a:avLst>
                <a:gd fmla="val 4411" name="adj"/>
              </a:avLst>
            </a:prstGeom>
            <a:solidFill>
              <a:srgbClr val="F8FAFC"/>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62" name="Google Shape;662;g3e36394e788_0_519"/>
            <p:cNvSpPr txBox="1"/>
            <p:nvPr/>
          </p:nvSpPr>
          <p:spPr>
            <a:xfrm>
              <a:off x="5381625" y="1564894"/>
              <a:ext cx="381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2380">
                  <a:solidFill>
                    <a:srgbClr val="1E4E79"/>
                  </a:solidFill>
                  <a:latin typeface="Material Icons"/>
                  <a:ea typeface="Material Icons"/>
                  <a:cs typeface="Material Icons"/>
                  <a:sym typeface="Material Icons"/>
                </a:rPr>
                <a:t>gavel</a:t>
              </a:r>
              <a:endParaRPr sz="2380">
                <a:solidFill>
                  <a:srgbClr val="1E4E79"/>
                </a:solidFill>
                <a:latin typeface="Material Icons"/>
                <a:ea typeface="Material Icons"/>
                <a:cs typeface="Material Icons"/>
                <a:sym typeface="Material Icons"/>
              </a:endParaRPr>
            </a:p>
          </p:txBody>
        </p:sp>
        <p:sp>
          <p:nvSpPr>
            <p:cNvPr id="663" name="Google Shape;663;g3e36394e788_0_519"/>
            <p:cNvSpPr txBox="1"/>
            <p:nvPr/>
          </p:nvSpPr>
          <p:spPr>
            <a:xfrm>
              <a:off x="5381625" y="2000250"/>
              <a:ext cx="4048200" cy="2381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600">
                  <a:solidFill>
                    <a:srgbClr val="1E4E79"/>
                  </a:solidFill>
                  <a:latin typeface="Arial"/>
                  <a:ea typeface="Arial"/>
                  <a:cs typeface="Arial"/>
                  <a:sym typeface="Arial"/>
                </a:rPr>
                <a:t>Prevention of Bias</a:t>
              </a:r>
              <a:endParaRPr b="1" sz="1600">
                <a:solidFill>
                  <a:srgbClr val="1E4E79"/>
                </a:solidFill>
                <a:latin typeface="Arial"/>
                <a:ea typeface="Arial"/>
                <a:cs typeface="Arial"/>
                <a:sym typeface="Arial"/>
              </a:endParaRPr>
            </a:p>
            <a:p>
              <a:pPr indent="0" lvl="0" marL="0" rtl="0" algn="l">
                <a:spcBef>
                  <a:spcPts val="900"/>
                </a:spcBef>
                <a:spcAft>
                  <a:spcPts val="0"/>
                </a:spcAft>
                <a:buNone/>
              </a:pPr>
              <a:r>
                <a:rPr b="0" lang="en-US" sz="1300">
                  <a:solidFill>
                    <a:srgbClr val="334155"/>
                  </a:solidFill>
                  <a:latin typeface="Arial"/>
                  <a:ea typeface="Arial"/>
                  <a:cs typeface="Arial"/>
                  <a:sym typeface="Arial"/>
                </a:rPr>
                <a:t>It is fundamental that AI does not reinforce or </a:t>
              </a:r>
              <a:r>
                <a:rPr b="1" lang="en-US" sz="1300">
                  <a:solidFill>
                    <a:srgbClr val="334155"/>
                  </a:solidFill>
                </a:rPr>
                <a:t>perpetuate discriminatory</a:t>
              </a:r>
              <a:r>
                <a:rPr b="0" lang="en-US" sz="1300">
                  <a:solidFill>
                    <a:srgbClr val="334155"/>
                  </a:solidFill>
                  <a:latin typeface="Arial"/>
                  <a:ea typeface="Arial"/>
                  <a:cs typeface="Arial"/>
                  <a:sym typeface="Arial"/>
                </a:rPr>
                <a:t> or </a:t>
              </a:r>
              <a:r>
                <a:rPr b="1" lang="en-US" sz="1300">
                  <a:solidFill>
                    <a:srgbClr val="334155"/>
                  </a:solidFill>
                </a:rPr>
                <a:t>biased outcomes</a:t>
              </a:r>
              <a:r>
                <a:rPr b="0" lang="en-US" sz="1300">
                  <a:solidFill>
                    <a:srgbClr val="334155"/>
                  </a:solidFill>
                  <a:latin typeface="Arial"/>
                  <a:ea typeface="Arial"/>
                  <a:cs typeface="Arial"/>
                  <a:sym typeface="Arial"/>
                </a:rPr>
                <a:t> related to race, gender, religion, or any other characteristic.</a:t>
              </a:r>
              <a:endParaRPr b="0" sz="1300">
                <a:solidFill>
                  <a:srgbClr val="334155"/>
                </a:solidFill>
                <a:latin typeface="Arial"/>
                <a:ea typeface="Arial"/>
                <a:cs typeface="Arial"/>
                <a:sym typeface="Arial"/>
              </a:endParaRPr>
            </a:p>
            <a:p>
              <a:pPr indent="0" lvl="0" marL="0" rtl="0" algn="l">
                <a:spcBef>
                  <a:spcPts val="750"/>
                </a:spcBef>
                <a:spcAft>
                  <a:spcPts val="0"/>
                </a:spcAft>
                <a:buNone/>
              </a:pPr>
              <a:r>
                <a:rPr b="0" lang="en-US" sz="1300">
                  <a:solidFill>
                    <a:srgbClr val="334155"/>
                  </a:solidFill>
                  <a:latin typeface="Arial"/>
                  <a:ea typeface="Arial"/>
                  <a:cs typeface="Arial"/>
                  <a:sym typeface="Arial"/>
                </a:rPr>
                <a:t>The goal is to ensure a fair distribution of benefits and keep individuals free from prejudice.</a:t>
              </a:r>
              <a:endParaRPr b="0" sz="1300">
                <a:solidFill>
                  <a:srgbClr val="334155"/>
                </a:solidFill>
                <a:latin typeface="Arial"/>
                <a:ea typeface="Arial"/>
                <a:cs typeface="Arial"/>
                <a:sym typeface="Arial"/>
              </a:endParaRPr>
            </a:p>
          </p:txBody>
        </p:sp>
      </p:grpSp>
      <p:sp>
        <p:nvSpPr>
          <p:cNvPr id="664" name="Google Shape;664;g3e36394e788_0_519"/>
          <p:cNvSpPr txBox="1"/>
          <p:nvPr/>
        </p:nvSpPr>
        <p:spPr>
          <a:xfrm>
            <a:off x="285750" y="5143500"/>
            <a:ext cx="9334500" cy="5715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b="1" lang="en-US" sz="1000">
                <a:solidFill>
                  <a:srgbClr val="64748B"/>
                </a:solidFill>
                <a:latin typeface="Arial"/>
                <a:ea typeface="Arial"/>
                <a:cs typeface="Arial"/>
                <a:sym typeface="Arial"/>
              </a:rPr>
              <a:t>Source: </a:t>
            </a:r>
            <a:r>
              <a:rPr b="0" lang="en-US" sz="1000">
                <a:solidFill>
                  <a:srgbClr val="64748B"/>
                </a:solidFill>
                <a:latin typeface="Arial"/>
                <a:ea typeface="Arial"/>
                <a:cs typeface="Arial"/>
                <a:sym typeface="Arial"/>
              </a:rPr>
              <a:t>[</a:t>
            </a:r>
            <a:r>
              <a:rPr lang="en-US" sz="1000">
                <a:solidFill>
                  <a:srgbClr val="64748B"/>
                </a:solidFill>
              </a:rPr>
              <a:t>2</a:t>
            </a:r>
            <a:r>
              <a:rPr b="0" lang="en-US" sz="1000">
                <a:solidFill>
                  <a:srgbClr val="64748B"/>
                </a:solidFill>
                <a:latin typeface="Arial"/>
                <a:ea typeface="Arial"/>
                <a:cs typeface="Arial"/>
                <a:sym typeface="Arial"/>
              </a:rPr>
              <a:t>]</a:t>
            </a:r>
            <a:endParaRPr b="1" sz="1000">
              <a:solidFill>
                <a:srgbClr val="64748B"/>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8" name="Shape 668"/>
        <p:cNvGrpSpPr/>
        <p:nvPr/>
      </p:nvGrpSpPr>
      <p:grpSpPr>
        <a:xfrm>
          <a:off x="0" y="0"/>
          <a:ext cx="0" cy="0"/>
          <a:chOff x="0" y="0"/>
          <a:chExt cx="0" cy="0"/>
        </a:xfrm>
      </p:grpSpPr>
      <p:sp>
        <p:nvSpPr>
          <p:cNvPr id="669" name="Google Shape;669;g3e36394e788_0_530"/>
          <p:cNvSpPr/>
          <p:nvPr/>
        </p:nvSpPr>
        <p:spPr>
          <a:xfrm>
            <a:off x="0" y="768088"/>
            <a:ext cx="9906000" cy="6090000"/>
          </a:xfrm>
          <a:prstGeom prst="rect">
            <a:avLst/>
          </a:prstGeom>
          <a:solidFill>
            <a:schemeClr val="lt1">
              <a:alpha val="6000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670" name="Google Shape;670;g3e36394e788_0_530"/>
          <p:cNvSpPr/>
          <p:nvPr/>
        </p:nvSpPr>
        <p:spPr>
          <a:xfrm>
            <a:off x="-13050" y="5921896"/>
            <a:ext cx="9919200" cy="936000"/>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671" name="Google Shape;671;g3e36394e788_0_530"/>
          <p:cNvPicPr preferRelativeResize="0"/>
          <p:nvPr/>
        </p:nvPicPr>
        <p:blipFill rotWithShape="1">
          <a:blip r:embed="rId3">
            <a:alphaModFix/>
          </a:blip>
          <a:srcRect b="0" l="17788" r="19906" t="65239"/>
          <a:stretch/>
        </p:blipFill>
        <p:spPr>
          <a:xfrm>
            <a:off x="920552" y="6155677"/>
            <a:ext cx="1568747" cy="665761"/>
          </a:xfrm>
          <a:prstGeom prst="rect">
            <a:avLst/>
          </a:prstGeom>
          <a:noFill/>
          <a:ln>
            <a:noFill/>
          </a:ln>
        </p:spPr>
      </p:pic>
      <p:pic>
        <p:nvPicPr>
          <p:cNvPr id="672" name="Google Shape;672;g3e36394e788_0_530"/>
          <p:cNvPicPr preferRelativeResize="0"/>
          <p:nvPr/>
        </p:nvPicPr>
        <p:blipFill rotWithShape="1">
          <a:blip r:embed="rId3">
            <a:alphaModFix/>
          </a:blip>
          <a:srcRect b="34761" l="25519" r="25620" t="3570"/>
          <a:stretch/>
        </p:blipFill>
        <p:spPr>
          <a:xfrm>
            <a:off x="194947" y="6056653"/>
            <a:ext cx="725605" cy="696647"/>
          </a:xfrm>
          <a:prstGeom prst="rect">
            <a:avLst/>
          </a:prstGeom>
          <a:noFill/>
          <a:ln>
            <a:noFill/>
          </a:ln>
        </p:spPr>
      </p:pic>
      <p:sp>
        <p:nvSpPr>
          <p:cNvPr id="673" name="Google Shape;673;g3e36394e788_0_530"/>
          <p:cNvSpPr/>
          <p:nvPr/>
        </p:nvSpPr>
        <p:spPr>
          <a:xfrm>
            <a:off x="4950907" y="5989477"/>
            <a:ext cx="4953000" cy="8310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400"/>
              <a:buFont typeface="Arial"/>
              <a:buNone/>
            </a:pPr>
            <a:r>
              <a:rPr b="1" i="0" lang="en-US" sz="2400" u="none" cap="none" strike="noStrike">
                <a:solidFill>
                  <a:schemeClr val="lt1"/>
                </a:solidFill>
                <a:latin typeface="Arial"/>
                <a:ea typeface="Arial"/>
                <a:cs typeface="Arial"/>
                <a:sym typeface="Arial"/>
              </a:rPr>
              <a:t>IEEE Intelligence and Security Informatics (ISI) 2018</a:t>
            </a:r>
            <a:endParaRPr b="0" i="0" sz="1400" u="none" cap="none" strike="noStrike">
              <a:solidFill>
                <a:srgbClr val="000000"/>
              </a:solidFill>
              <a:latin typeface="Arial"/>
              <a:ea typeface="Arial"/>
              <a:cs typeface="Arial"/>
              <a:sym typeface="Arial"/>
            </a:endParaRPr>
          </a:p>
        </p:txBody>
      </p:sp>
      <p:grpSp>
        <p:nvGrpSpPr>
          <p:cNvPr id="674" name="Google Shape;674;g3e36394e788_0_530"/>
          <p:cNvGrpSpPr/>
          <p:nvPr/>
        </p:nvGrpSpPr>
        <p:grpSpPr>
          <a:xfrm>
            <a:off x="-18000" y="5842892"/>
            <a:ext cx="9942000" cy="1014788"/>
            <a:chOff x="-21650" y="5927750"/>
            <a:chExt cx="9942000" cy="930230"/>
          </a:xfrm>
        </p:grpSpPr>
        <p:sp>
          <p:nvSpPr>
            <p:cNvPr id="675" name="Google Shape;675;g3e36394e788_0_530"/>
            <p:cNvSpPr/>
            <p:nvPr/>
          </p:nvSpPr>
          <p:spPr>
            <a:xfrm>
              <a:off x="5239747" y="5949280"/>
              <a:ext cx="4680600" cy="9087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Arial"/>
                  <a:ea typeface="Arial"/>
                  <a:cs typeface="Arial"/>
                  <a:sym typeface="Arial"/>
                </a:rPr>
                <a:t>25th Annual International Conference on Digital Government Research (dg.o 2024)</a:t>
              </a:r>
              <a:endParaRPr b="0" i="0" sz="1800" u="none" cap="none" strike="noStrike">
                <a:solidFill>
                  <a:schemeClr val="lt1"/>
                </a:solidFill>
                <a:latin typeface="Arial"/>
                <a:ea typeface="Arial"/>
                <a:cs typeface="Arial"/>
                <a:sym typeface="Arial"/>
              </a:endParaRPr>
            </a:p>
          </p:txBody>
        </p:sp>
        <p:pic>
          <p:nvPicPr>
            <p:cNvPr id="676" name="Google Shape;676;g3e36394e788_0_530"/>
            <p:cNvPicPr preferRelativeResize="0"/>
            <p:nvPr/>
          </p:nvPicPr>
          <p:blipFill rotWithShape="1">
            <a:blip r:embed="rId4">
              <a:alphaModFix/>
            </a:blip>
            <a:srcRect b="-112533" l="-23390" r="23390" t="137710"/>
            <a:stretch/>
          </p:blipFill>
          <p:spPr>
            <a:xfrm>
              <a:off x="0" y="6007596"/>
              <a:ext cx="9920265" cy="792088"/>
            </a:xfrm>
            <a:prstGeom prst="rect">
              <a:avLst/>
            </a:prstGeom>
            <a:noFill/>
            <a:ln>
              <a:noFill/>
            </a:ln>
          </p:spPr>
        </p:pic>
        <p:sp>
          <p:nvSpPr>
            <p:cNvPr id="677" name="Google Shape;677;g3e36394e788_0_530"/>
            <p:cNvSpPr/>
            <p:nvPr/>
          </p:nvSpPr>
          <p:spPr>
            <a:xfrm>
              <a:off x="-21650" y="5927750"/>
              <a:ext cx="9942000" cy="9087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pic>
        <p:nvPicPr>
          <p:cNvPr id="678" name="Google Shape;678;g3e36394e788_0_530"/>
          <p:cNvPicPr preferRelativeResize="0"/>
          <p:nvPr/>
        </p:nvPicPr>
        <p:blipFill rotWithShape="1">
          <a:blip r:embed="rId5">
            <a:alphaModFix/>
          </a:blip>
          <a:srcRect b="0" l="0" r="0" t="0"/>
          <a:stretch/>
        </p:blipFill>
        <p:spPr>
          <a:xfrm>
            <a:off x="218750" y="6052376"/>
            <a:ext cx="1823009" cy="470325"/>
          </a:xfrm>
          <a:prstGeom prst="rect">
            <a:avLst/>
          </a:prstGeom>
          <a:noFill/>
          <a:ln>
            <a:noFill/>
          </a:ln>
        </p:spPr>
      </p:pic>
      <p:pic>
        <p:nvPicPr>
          <p:cNvPr id="679" name="Google Shape;679;g3e36394e788_0_530"/>
          <p:cNvPicPr preferRelativeResize="0"/>
          <p:nvPr/>
        </p:nvPicPr>
        <p:blipFill rotWithShape="1">
          <a:blip r:embed="rId6">
            <a:alphaModFix/>
          </a:blip>
          <a:srcRect b="0" l="0" r="0" t="0"/>
          <a:stretch/>
        </p:blipFill>
        <p:spPr>
          <a:xfrm>
            <a:off x="8015000" y="6038017"/>
            <a:ext cx="1811830" cy="624575"/>
          </a:xfrm>
          <a:prstGeom prst="rect">
            <a:avLst/>
          </a:prstGeom>
          <a:noFill/>
          <a:ln>
            <a:noFill/>
          </a:ln>
        </p:spPr>
      </p:pic>
      <p:sp>
        <p:nvSpPr>
          <p:cNvPr id="680" name="Google Shape;680;g3e36394e788_0_530"/>
          <p:cNvSpPr txBox="1"/>
          <p:nvPr>
            <p:ph type="title"/>
          </p:nvPr>
        </p:nvSpPr>
        <p:spPr>
          <a:xfrm>
            <a:off x="285750" y="196650"/>
            <a:ext cx="9334500" cy="693600"/>
          </a:xfrm>
          <a:prstGeom prst="rect">
            <a:avLst/>
          </a:prstGeom>
          <a:solidFill>
            <a:srgbClr val="000000">
              <a:alpha val="0"/>
            </a:srgbClr>
          </a:solidFill>
          <a:ln>
            <a:noFill/>
          </a:ln>
        </p:spPr>
        <p:txBody>
          <a:bodyPr anchorCtr="0" anchor="ctr" bIns="45700" lIns="91400" spcFirstLastPara="1" rIns="91400" wrap="square" tIns="45700">
            <a:noAutofit/>
          </a:bodyPr>
          <a:lstStyle/>
          <a:p>
            <a:pPr indent="0" lvl="0" marL="0" rtl="0" algn="l">
              <a:spcBef>
                <a:spcPts val="0"/>
              </a:spcBef>
              <a:spcAft>
                <a:spcPts val="0"/>
              </a:spcAft>
              <a:buNone/>
            </a:pPr>
            <a:r>
              <a:rPr lang="en-US" sz="2400">
                <a:latin typeface="Arial"/>
                <a:ea typeface="Arial"/>
                <a:cs typeface="Arial"/>
                <a:sym typeface="Arial"/>
              </a:rPr>
              <a:t>3. </a:t>
            </a:r>
            <a:r>
              <a:rPr b="1" i="0" lang="en-US" sz="2400">
                <a:solidFill>
                  <a:srgbClr val="1E4E79"/>
                </a:solidFill>
                <a:latin typeface="Arial"/>
                <a:ea typeface="Arial"/>
                <a:cs typeface="Arial"/>
                <a:sym typeface="Arial"/>
              </a:rPr>
              <a:t>Example of MAS Focused on Promoting the Principle of Justice and Non-Discrimination</a:t>
            </a:r>
            <a:endParaRPr b="1" i="0" sz="2400">
              <a:solidFill>
                <a:srgbClr val="1E4E79"/>
              </a:solidFill>
              <a:latin typeface="Arial"/>
              <a:ea typeface="Arial"/>
              <a:cs typeface="Arial"/>
              <a:sym typeface="Arial"/>
            </a:endParaRPr>
          </a:p>
        </p:txBody>
      </p:sp>
      <p:grpSp>
        <p:nvGrpSpPr>
          <p:cNvPr id="681" name="Google Shape;681;g3e36394e788_0_530"/>
          <p:cNvGrpSpPr/>
          <p:nvPr/>
        </p:nvGrpSpPr>
        <p:grpSpPr>
          <a:xfrm>
            <a:off x="379900" y="1104922"/>
            <a:ext cx="9334500" cy="2477452"/>
            <a:chOff x="379900" y="1034676"/>
            <a:chExt cx="9334500" cy="3238500"/>
          </a:xfrm>
        </p:grpSpPr>
        <p:sp>
          <p:nvSpPr>
            <p:cNvPr id="682" name="Google Shape;682;g3e36394e788_0_530"/>
            <p:cNvSpPr/>
            <p:nvPr/>
          </p:nvSpPr>
          <p:spPr>
            <a:xfrm>
              <a:off x="379900" y="1034676"/>
              <a:ext cx="9334500" cy="3238500"/>
            </a:xfrm>
            <a:prstGeom prst="roundRect">
              <a:avLst>
                <a:gd fmla="val 4411" name="adj"/>
              </a:avLst>
            </a:prstGeom>
            <a:solidFill>
              <a:srgbClr val="F8FAFC"/>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683" name="Google Shape;683;g3e36394e788_0_530"/>
            <p:cNvGrpSpPr/>
            <p:nvPr/>
          </p:nvGrpSpPr>
          <p:grpSpPr>
            <a:xfrm>
              <a:off x="571500" y="1666875"/>
              <a:ext cx="457200" cy="503936"/>
              <a:chOff x="571500" y="1666875"/>
              <a:chExt cx="457200" cy="503936"/>
            </a:xfrm>
          </p:grpSpPr>
          <p:sp>
            <p:nvSpPr>
              <p:cNvPr id="684" name="Google Shape;684;g3e36394e788_0_530"/>
              <p:cNvSpPr/>
              <p:nvPr/>
            </p:nvSpPr>
            <p:spPr>
              <a:xfrm>
                <a:off x="571500" y="1666875"/>
                <a:ext cx="457200" cy="4572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85" name="Google Shape;685;g3e36394e788_0_530"/>
              <p:cNvSpPr txBox="1"/>
              <p:nvPr/>
            </p:nvSpPr>
            <p:spPr>
              <a:xfrm>
                <a:off x="571500" y="1713611"/>
                <a:ext cx="457200" cy="45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2960">
                    <a:solidFill>
                      <a:srgbClr val="1E4E79"/>
                    </a:solidFill>
                    <a:latin typeface="Material Icons"/>
                    <a:ea typeface="Material Icons"/>
                    <a:cs typeface="Material Icons"/>
                    <a:sym typeface="Material Icons"/>
                  </a:rPr>
                  <a:t>gavel</a:t>
                </a:r>
                <a:endParaRPr sz="2960">
                  <a:solidFill>
                    <a:srgbClr val="1E4E79"/>
                  </a:solidFill>
                  <a:latin typeface="Material Icons"/>
                  <a:ea typeface="Material Icons"/>
                  <a:cs typeface="Material Icons"/>
                  <a:sym typeface="Material Icons"/>
                </a:endParaRPr>
              </a:p>
            </p:txBody>
          </p:sp>
        </p:grpSp>
        <p:sp>
          <p:nvSpPr>
            <p:cNvPr id="686" name="Google Shape;686;g3e36394e788_0_530"/>
            <p:cNvSpPr txBox="1"/>
            <p:nvPr/>
          </p:nvSpPr>
          <p:spPr>
            <a:xfrm>
              <a:off x="1159650" y="1713600"/>
              <a:ext cx="8027400" cy="14115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i="0" lang="en-US" sz="2000">
                  <a:solidFill>
                    <a:srgbClr val="1E4E79"/>
                  </a:solidFill>
                  <a:latin typeface="Arial"/>
                  <a:ea typeface="Arial"/>
                  <a:cs typeface="Arial"/>
                  <a:sym typeface="Arial"/>
                </a:rPr>
                <a:t>Judicial Process Management</a:t>
              </a:r>
              <a:endParaRPr b="1" i="0" sz="2000">
                <a:solidFill>
                  <a:srgbClr val="1E4E79"/>
                </a:solidFill>
                <a:latin typeface="Arial"/>
                <a:ea typeface="Arial"/>
                <a:cs typeface="Arial"/>
                <a:sym typeface="Arial"/>
              </a:endParaRPr>
            </a:p>
            <a:p>
              <a:pPr indent="0" lvl="0" marL="0" rtl="0" algn="l">
                <a:spcBef>
                  <a:spcPts val="1125"/>
                </a:spcBef>
                <a:spcAft>
                  <a:spcPts val="1125"/>
                </a:spcAft>
                <a:buNone/>
              </a:pPr>
              <a:r>
                <a:rPr b="0" i="0" lang="en-US" sz="1500">
                  <a:solidFill>
                    <a:srgbClr val="334155"/>
                  </a:solidFill>
                  <a:latin typeface="Arial"/>
                  <a:ea typeface="Arial"/>
                  <a:cs typeface="Arial"/>
                  <a:sym typeface="Arial"/>
                </a:rPr>
                <a:t>MAS were applied in the management of judicial processes, assisting in workload distribution and hearing anticipation, which contributes to improved productivity and faster access to justice.</a:t>
              </a:r>
              <a:endParaRPr b="0" i="0" sz="1500">
                <a:solidFill>
                  <a:srgbClr val="334155"/>
                </a:solidFill>
                <a:latin typeface="Arial"/>
                <a:ea typeface="Arial"/>
                <a:cs typeface="Arial"/>
                <a:sym typeface="Arial"/>
              </a:endParaRPr>
            </a:p>
          </p:txBody>
        </p:sp>
      </p:grpSp>
      <p:grpSp>
        <p:nvGrpSpPr>
          <p:cNvPr id="687" name="Google Shape;687;g3e36394e788_0_530"/>
          <p:cNvGrpSpPr/>
          <p:nvPr/>
        </p:nvGrpSpPr>
        <p:grpSpPr>
          <a:xfrm>
            <a:off x="285750" y="5238750"/>
            <a:ext cx="9334500" cy="381000"/>
            <a:chOff x="285750" y="5238750"/>
            <a:chExt cx="9334500" cy="381000"/>
          </a:xfrm>
        </p:grpSpPr>
        <p:sp>
          <p:nvSpPr>
            <p:cNvPr id="688" name="Google Shape;688;g3e36394e788_0_530"/>
            <p:cNvSpPr/>
            <p:nvPr/>
          </p:nvSpPr>
          <p:spPr>
            <a:xfrm>
              <a:off x="285750" y="5238750"/>
              <a:ext cx="9334500" cy="381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89" name="Google Shape;689;g3e36394e788_0_530"/>
            <p:cNvSpPr txBox="1"/>
            <p:nvPr/>
          </p:nvSpPr>
          <p:spPr>
            <a:xfrm>
              <a:off x="285750" y="5238750"/>
              <a:ext cx="9334500" cy="3810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b="1" lang="en-US" sz="1000">
                  <a:solidFill>
                    <a:srgbClr val="64748B"/>
                  </a:solidFill>
                  <a:latin typeface="Arial"/>
                  <a:ea typeface="Arial"/>
                  <a:cs typeface="Arial"/>
                  <a:sym typeface="Arial"/>
                </a:rPr>
                <a:t>Source: </a:t>
              </a:r>
              <a:r>
                <a:rPr b="0" lang="en-US" sz="1000">
                  <a:solidFill>
                    <a:srgbClr val="64748B"/>
                  </a:solidFill>
                  <a:latin typeface="Arial"/>
                  <a:ea typeface="Arial"/>
                  <a:cs typeface="Arial"/>
                  <a:sym typeface="Arial"/>
                </a:rPr>
                <a:t>[9]</a:t>
              </a:r>
              <a:endParaRPr b="1" sz="1000">
                <a:solidFill>
                  <a:srgbClr val="64748B"/>
                </a:solidFill>
                <a:latin typeface="Arial"/>
                <a:ea typeface="Arial"/>
                <a:cs typeface="Arial"/>
                <a:sym typeface="Arial"/>
              </a:endParaRPr>
            </a:p>
          </p:txBody>
        </p:sp>
      </p:grpSp>
    </p:spTree>
  </p:cSld>
  <p:clrMapOvr>
    <a:masterClrMapping/>
  </p:clrMapOvr>
  <mc:AlternateContent>
    <mc:Choice Requires="p14">
      <p:transition spd="slow" p14:dur="700">
        <p:fade/>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3" name="Shape 693"/>
        <p:cNvGrpSpPr/>
        <p:nvPr/>
      </p:nvGrpSpPr>
      <p:grpSpPr>
        <a:xfrm>
          <a:off x="0" y="0"/>
          <a:ext cx="0" cy="0"/>
          <a:chOff x="0" y="0"/>
          <a:chExt cx="0" cy="0"/>
        </a:xfrm>
      </p:grpSpPr>
      <p:grpSp>
        <p:nvGrpSpPr>
          <p:cNvPr id="694" name="Google Shape;694;g3e36394e788_0_541"/>
          <p:cNvGrpSpPr/>
          <p:nvPr/>
        </p:nvGrpSpPr>
        <p:grpSpPr>
          <a:xfrm>
            <a:off x="-18000" y="5842892"/>
            <a:ext cx="9942000" cy="1014788"/>
            <a:chOff x="-21650" y="5927750"/>
            <a:chExt cx="9942000" cy="930230"/>
          </a:xfrm>
        </p:grpSpPr>
        <p:sp>
          <p:nvSpPr>
            <p:cNvPr id="695" name="Google Shape;695;g3e36394e788_0_541"/>
            <p:cNvSpPr/>
            <p:nvPr/>
          </p:nvSpPr>
          <p:spPr>
            <a:xfrm>
              <a:off x="5239747" y="5949280"/>
              <a:ext cx="4680600" cy="9087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Arial"/>
                  <a:ea typeface="Arial"/>
                  <a:cs typeface="Arial"/>
                  <a:sym typeface="Arial"/>
                </a:rPr>
                <a:t>25th Annual International Conference on Digital Government Research (dg.o 2024)</a:t>
              </a:r>
              <a:endParaRPr b="0" i="0" sz="1800" u="none" cap="none" strike="noStrike">
                <a:solidFill>
                  <a:schemeClr val="lt1"/>
                </a:solidFill>
                <a:latin typeface="Arial"/>
                <a:ea typeface="Arial"/>
                <a:cs typeface="Arial"/>
                <a:sym typeface="Arial"/>
              </a:endParaRPr>
            </a:p>
          </p:txBody>
        </p:sp>
        <p:pic>
          <p:nvPicPr>
            <p:cNvPr id="696" name="Google Shape;696;g3e36394e788_0_541"/>
            <p:cNvPicPr preferRelativeResize="0"/>
            <p:nvPr/>
          </p:nvPicPr>
          <p:blipFill rotWithShape="1">
            <a:blip r:embed="rId3">
              <a:alphaModFix/>
            </a:blip>
            <a:srcRect b="-112533" l="-23390" r="23390" t="137710"/>
            <a:stretch/>
          </p:blipFill>
          <p:spPr>
            <a:xfrm>
              <a:off x="0" y="6007596"/>
              <a:ext cx="9920265" cy="792088"/>
            </a:xfrm>
            <a:prstGeom prst="rect">
              <a:avLst/>
            </a:prstGeom>
            <a:noFill/>
            <a:ln>
              <a:noFill/>
            </a:ln>
          </p:spPr>
        </p:pic>
        <p:sp>
          <p:nvSpPr>
            <p:cNvPr id="697" name="Google Shape;697;g3e36394e788_0_541"/>
            <p:cNvSpPr/>
            <p:nvPr/>
          </p:nvSpPr>
          <p:spPr>
            <a:xfrm>
              <a:off x="-21650" y="5927750"/>
              <a:ext cx="9942000" cy="9087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pic>
        <p:nvPicPr>
          <p:cNvPr id="698" name="Google Shape;698;g3e36394e788_0_541"/>
          <p:cNvPicPr preferRelativeResize="0"/>
          <p:nvPr/>
        </p:nvPicPr>
        <p:blipFill rotWithShape="1">
          <a:blip r:embed="rId4">
            <a:alphaModFix/>
          </a:blip>
          <a:srcRect b="0" l="0" r="0" t="0"/>
          <a:stretch/>
        </p:blipFill>
        <p:spPr>
          <a:xfrm>
            <a:off x="218750" y="6052376"/>
            <a:ext cx="1823009" cy="470325"/>
          </a:xfrm>
          <a:prstGeom prst="rect">
            <a:avLst/>
          </a:prstGeom>
          <a:noFill/>
          <a:ln>
            <a:noFill/>
          </a:ln>
        </p:spPr>
      </p:pic>
      <p:pic>
        <p:nvPicPr>
          <p:cNvPr id="699" name="Google Shape;699;g3e36394e788_0_541"/>
          <p:cNvPicPr preferRelativeResize="0"/>
          <p:nvPr/>
        </p:nvPicPr>
        <p:blipFill rotWithShape="1">
          <a:blip r:embed="rId5">
            <a:alphaModFix/>
          </a:blip>
          <a:srcRect b="0" l="0" r="0" t="0"/>
          <a:stretch/>
        </p:blipFill>
        <p:spPr>
          <a:xfrm>
            <a:off x="8015000" y="6038017"/>
            <a:ext cx="1811830" cy="624575"/>
          </a:xfrm>
          <a:prstGeom prst="rect">
            <a:avLst/>
          </a:prstGeom>
          <a:noFill/>
          <a:ln>
            <a:noFill/>
          </a:ln>
        </p:spPr>
      </p:pic>
      <p:sp>
        <p:nvSpPr>
          <p:cNvPr id="700" name="Google Shape;700;g3e36394e788_0_541"/>
          <p:cNvSpPr txBox="1"/>
          <p:nvPr/>
        </p:nvSpPr>
        <p:spPr>
          <a:xfrm>
            <a:off x="285750" y="251575"/>
            <a:ext cx="9334500" cy="762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2400">
                <a:solidFill>
                  <a:srgbClr val="1E4E79"/>
                </a:solidFill>
                <a:latin typeface="Arial"/>
                <a:ea typeface="Arial"/>
                <a:cs typeface="Arial"/>
                <a:sym typeface="Arial"/>
              </a:rPr>
              <a:t>3. EP3</a:t>
            </a:r>
            <a:r>
              <a:rPr b="1" lang="en-US" sz="2400">
                <a:solidFill>
                  <a:srgbClr val="1E4E79"/>
                </a:solidFill>
                <a:latin typeface="Arial"/>
                <a:ea typeface="Arial"/>
                <a:cs typeface="Arial"/>
                <a:sym typeface="Arial"/>
              </a:rPr>
              <a:t> Principle: Privacy and Data Protection</a:t>
            </a:r>
            <a:endParaRPr b="1" sz="2400">
              <a:solidFill>
                <a:srgbClr val="1E4E79"/>
              </a:solidFill>
              <a:latin typeface="Arial"/>
              <a:ea typeface="Arial"/>
              <a:cs typeface="Arial"/>
              <a:sym typeface="Arial"/>
            </a:endParaRPr>
          </a:p>
        </p:txBody>
      </p:sp>
      <p:grpSp>
        <p:nvGrpSpPr>
          <p:cNvPr id="701" name="Google Shape;701;g3e36394e788_0_541"/>
          <p:cNvGrpSpPr/>
          <p:nvPr/>
        </p:nvGrpSpPr>
        <p:grpSpPr>
          <a:xfrm>
            <a:off x="285750" y="1333500"/>
            <a:ext cx="4524300" cy="3429000"/>
            <a:chOff x="285750" y="1333500"/>
            <a:chExt cx="4524300" cy="3429000"/>
          </a:xfrm>
        </p:grpSpPr>
        <p:sp>
          <p:nvSpPr>
            <p:cNvPr id="702" name="Google Shape;702;g3e36394e788_0_541"/>
            <p:cNvSpPr/>
            <p:nvPr/>
          </p:nvSpPr>
          <p:spPr>
            <a:xfrm>
              <a:off x="285750" y="1333500"/>
              <a:ext cx="4524300" cy="3429000"/>
            </a:xfrm>
            <a:prstGeom prst="roundRect">
              <a:avLst>
                <a:gd fmla="val 4166" name="adj"/>
              </a:avLst>
            </a:prstGeom>
            <a:solidFill>
              <a:srgbClr val="F8FAFC"/>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03" name="Google Shape;703;g3e36394e788_0_541"/>
            <p:cNvSpPr txBox="1"/>
            <p:nvPr/>
          </p:nvSpPr>
          <p:spPr>
            <a:xfrm>
              <a:off x="476250" y="1559052"/>
              <a:ext cx="381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2400">
                  <a:solidFill>
                    <a:srgbClr val="1E4E79"/>
                  </a:solidFill>
                  <a:latin typeface="Material Icons"/>
                  <a:ea typeface="Material Icons"/>
                  <a:cs typeface="Material Icons"/>
                  <a:sym typeface="Material Icons"/>
                </a:rPr>
                <a:t>security</a:t>
              </a:r>
              <a:endParaRPr sz="2400">
                <a:solidFill>
                  <a:srgbClr val="1E4E79"/>
                </a:solidFill>
                <a:latin typeface="Material Icons"/>
                <a:ea typeface="Material Icons"/>
                <a:cs typeface="Material Icons"/>
                <a:sym typeface="Material Icons"/>
              </a:endParaRPr>
            </a:p>
          </p:txBody>
        </p:sp>
        <p:sp>
          <p:nvSpPr>
            <p:cNvPr id="704" name="Google Shape;704;g3e36394e788_0_541"/>
            <p:cNvSpPr txBox="1"/>
            <p:nvPr/>
          </p:nvSpPr>
          <p:spPr>
            <a:xfrm>
              <a:off x="476250" y="2000250"/>
              <a:ext cx="4143300" cy="2571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600">
                  <a:solidFill>
                    <a:srgbClr val="1E4E79"/>
                  </a:solidFill>
                  <a:latin typeface="Arial"/>
                  <a:ea typeface="Arial"/>
                  <a:cs typeface="Arial"/>
                  <a:sym typeface="Arial"/>
                </a:rPr>
                <a:t>Rights &amp; Protection</a:t>
              </a:r>
              <a:endParaRPr b="1" sz="1600">
                <a:solidFill>
                  <a:srgbClr val="1E4E79"/>
                </a:solidFill>
                <a:latin typeface="Arial"/>
                <a:ea typeface="Arial"/>
                <a:cs typeface="Arial"/>
                <a:sym typeface="Arial"/>
              </a:endParaRPr>
            </a:p>
            <a:p>
              <a:pPr indent="0" lvl="0" marL="0" rtl="0" algn="l">
                <a:spcBef>
                  <a:spcPts val="750"/>
                </a:spcBef>
                <a:spcAft>
                  <a:spcPts val="0"/>
                </a:spcAft>
                <a:buNone/>
              </a:pPr>
              <a:r>
                <a:rPr b="0" lang="en-US" sz="1300">
                  <a:solidFill>
                    <a:srgbClr val="334155"/>
                  </a:solidFill>
                  <a:latin typeface="Arial"/>
                  <a:ea typeface="Arial"/>
                  <a:cs typeface="Arial"/>
                  <a:sym typeface="Arial"/>
                </a:rPr>
                <a:t>Covers the </a:t>
              </a:r>
              <a:r>
                <a:rPr b="1" lang="en-US" sz="1300">
                  <a:solidFill>
                    <a:srgbClr val="4472C4"/>
                  </a:solidFill>
                  <a:latin typeface="Arial"/>
                  <a:ea typeface="Arial"/>
                  <a:cs typeface="Arial"/>
                  <a:sym typeface="Arial"/>
                </a:rPr>
                <a:t>rights of data subjects</a:t>
              </a:r>
              <a:r>
                <a:rPr b="0" lang="en-US" sz="1300">
                  <a:solidFill>
                    <a:srgbClr val="334155"/>
                  </a:solidFill>
                  <a:latin typeface="Arial"/>
                  <a:ea typeface="Arial"/>
                  <a:cs typeface="Arial"/>
                  <a:sym typeface="Arial"/>
                </a:rPr>
                <a:t> regarding the processing of their </a:t>
              </a:r>
              <a:r>
                <a:rPr b="1" lang="en-US" sz="1300">
                  <a:solidFill>
                    <a:srgbClr val="4472C4"/>
                  </a:solidFill>
                  <a:latin typeface="Arial"/>
                  <a:ea typeface="Arial"/>
                  <a:cs typeface="Arial"/>
                  <a:sym typeface="Arial"/>
                </a:rPr>
                <a:t>personal data</a:t>
              </a:r>
              <a:r>
                <a:rPr b="0" lang="en-US" sz="1300">
                  <a:solidFill>
                    <a:srgbClr val="334155"/>
                  </a:solidFill>
                  <a:latin typeface="Arial"/>
                  <a:ea typeface="Arial"/>
                  <a:cs typeface="Arial"/>
                  <a:sym typeface="Arial"/>
                </a:rPr>
                <a:t> within the AI context.</a:t>
              </a:r>
              <a:endParaRPr b="0" sz="1300">
                <a:solidFill>
                  <a:srgbClr val="334155"/>
                </a:solidFill>
                <a:latin typeface="Arial"/>
                <a:ea typeface="Arial"/>
                <a:cs typeface="Arial"/>
                <a:sym typeface="Arial"/>
              </a:endParaRPr>
            </a:p>
            <a:p>
              <a:pPr indent="-304800" lvl="0" marL="457200" rtl="0" algn="l">
                <a:spcBef>
                  <a:spcPts val="750"/>
                </a:spcBef>
                <a:spcAft>
                  <a:spcPts val="0"/>
                </a:spcAft>
                <a:buClr>
                  <a:srgbClr val="334155"/>
                </a:buClr>
                <a:buSzPts val="1200"/>
                <a:buFont typeface="Arial"/>
                <a:buChar char="●"/>
              </a:pPr>
              <a:r>
                <a:rPr lang="en-US" sz="1200">
                  <a:solidFill>
                    <a:srgbClr val="334155"/>
                  </a:solidFill>
                  <a:latin typeface="Arial"/>
                  <a:ea typeface="Arial"/>
                  <a:cs typeface="Arial"/>
                  <a:sym typeface="Arial"/>
                </a:rPr>
                <a:t>Data consent management</a:t>
              </a:r>
              <a:endParaRPr sz="1200">
                <a:solidFill>
                  <a:srgbClr val="334155"/>
                </a:solidFill>
                <a:latin typeface="Arial"/>
                <a:ea typeface="Arial"/>
                <a:cs typeface="Arial"/>
                <a:sym typeface="Arial"/>
              </a:endParaRPr>
            </a:p>
            <a:p>
              <a:pPr indent="-304800" lvl="0" marL="457200" rtl="0" algn="l">
                <a:spcBef>
                  <a:spcPts val="375"/>
                </a:spcBef>
                <a:spcAft>
                  <a:spcPts val="0"/>
                </a:spcAft>
                <a:buClr>
                  <a:srgbClr val="334155"/>
                </a:buClr>
                <a:buSzPts val="1200"/>
                <a:buFont typeface="Arial"/>
                <a:buChar char="●"/>
              </a:pPr>
              <a:r>
                <a:rPr lang="en-US" sz="1200">
                  <a:solidFill>
                    <a:srgbClr val="334155"/>
                  </a:solidFill>
                  <a:latin typeface="Arial"/>
                  <a:ea typeface="Arial"/>
                  <a:cs typeface="Arial"/>
                  <a:sym typeface="Arial"/>
                </a:rPr>
                <a:t>Sensitive data protection techniques</a:t>
              </a:r>
              <a:endParaRPr sz="1200">
                <a:solidFill>
                  <a:srgbClr val="334155"/>
                </a:solidFill>
                <a:latin typeface="Arial"/>
                <a:ea typeface="Arial"/>
                <a:cs typeface="Arial"/>
                <a:sym typeface="Arial"/>
              </a:endParaRPr>
            </a:p>
            <a:p>
              <a:pPr indent="-304800" lvl="0" marL="457200" rtl="0" algn="l">
                <a:spcBef>
                  <a:spcPts val="375"/>
                </a:spcBef>
                <a:spcAft>
                  <a:spcPts val="0"/>
                </a:spcAft>
                <a:buClr>
                  <a:srgbClr val="334155"/>
                </a:buClr>
                <a:buSzPts val="1200"/>
                <a:buFont typeface="Arial"/>
                <a:buChar char="●"/>
              </a:pPr>
              <a:r>
                <a:rPr lang="en-US" sz="1200">
                  <a:solidFill>
                    <a:srgbClr val="334155"/>
                  </a:solidFill>
                  <a:latin typeface="Arial"/>
                  <a:ea typeface="Arial"/>
                  <a:cs typeface="Arial"/>
                  <a:sym typeface="Arial"/>
                </a:rPr>
                <a:t>Data leakage prevention</a:t>
              </a:r>
              <a:endParaRPr sz="1200">
                <a:solidFill>
                  <a:srgbClr val="334155"/>
                </a:solidFill>
                <a:latin typeface="Arial"/>
                <a:ea typeface="Arial"/>
                <a:cs typeface="Arial"/>
                <a:sym typeface="Arial"/>
              </a:endParaRPr>
            </a:p>
          </p:txBody>
        </p:sp>
      </p:grpSp>
      <p:grpSp>
        <p:nvGrpSpPr>
          <p:cNvPr id="705" name="Google Shape;705;g3e36394e788_0_541"/>
          <p:cNvGrpSpPr/>
          <p:nvPr/>
        </p:nvGrpSpPr>
        <p:grpSpPr>
          <a:xfrm>
            <a:off x="5095875" y="1333500"/>
            <a:ext cx="4524300" cy="3429000"/>
            <a:chOff x="5095875" y="1333500"/>
            <a:chExt cx="4524300" cy="3429000"/>
          </a:xfrm>
        </p:grpSpPr>
        <p:sp>
          <p:nvSpPr>
            <p:cNvPr id="706" name="Google Shape;706;g3e36394e788_0_541"/>
            <p:cNvSpPr/>
            <p:nvPr/>
          </p:nvSpPr>
          <p:spPr>
            <a:xfrm>
              <a:off x="5095875" y="1333500"/>
              <a:ext cx="4524300" cy="3429000"/>
            </a:xfrm>
            <a:prstGeom prst="roundRect">
              <a:avLst>
                <a:gd fmla="val 4166" name="adj"/>
              </a:avLst>
            </a:prstGeom>
            <a:solidFill>
              <a:srgbClr val="F8FAFC"/>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07" name="Google Shape;707;g3e36394e788_0_541"/>
            <p:cNvSpPr txBox="1"/>
            <p:nvPr/>
          </p:nvSpPr>
          <p:spPr>
            <a:xfrm>
              <a:off x="5286375" y="1559052"/>
              <a:ext cx="381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2400">
                  <a:solidFill>
                    <a:srgbClr val="1E4E79"/>
                  </a:solidFill>
                  <a:latin typeface="Material Icons"/>
                  <a:ea typeface="Material Icons"/>
                  <a:cs typeface="Material Icons"/>
                  <a:sym typeface="Material Icons"/>
                </a:rPr>
                <a:t>gavel</a:t>
              </a:r>
              <a:endParaRPr sz="2400">
                <a:solidFill>
                  <a:srgbClr val="1E4E79"/>
                </a:solidFill>
                <a:latin typeface="Material Icons"/>
                <a:ea typeface="Material Icons"/>
                <a:cs typeface="Material Icons"/>
                <a:sym typeface="Material Icons"/>
              </a:endParaRPr>
            </a:p>
          </p:txBody>
        </p:sp>
        <p:sp>
          <p:nvSpPr>
            <p:cNvPr id="708" name="Google Shape;708;g3e36394e788_0_541"/>
            <p:cNvSpPr txBox="1"/>
            <p:nvPr/>
          </p:nvSpPr>
          <p:spPr>
            <a:xfrm>
              <a:off x="5286375" y="2000250"/>
              <a:ext cx="4143300" cy="2571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600">
                  <a:solidFill>
                    <a:srgbClr val="1E4E79"/>
                  </a:solidFill>
                  <a:latin typeface="Arial"/>
                  <a:ea typeface="Arial"/>
                  <a:cs typeface="Arial"/>
                  <a:sym typeface="Arial"/>
                </a:rPr>
                <a:t>Legal Framework</a:t>
              </a:r>
              <a:endParaRPr b="1" sz="1600">
                <a:solidFill>
                  <a:srgbClr val="1E4E79"/>
                </a:solidFill>
                <a:latin typeface="Arial"/>
                <a:ea typeface="Arial"/>
                <a:cs typeface="Arial"/>
                <a:sym typeface="Arial"/>
              </a:endParaRPr>
            </a:p>
            <a:p>
              <a:pPr indent="0" lvl="0" marL="0" rtl="0" algn="l">
                <a:spcBef>
                  <a:spcPts val="750"/>
                </a:spcBef>
                <a:spcAft>
                  <a:spcPts val="0"/>
                </a:spcAft>
                <a:buNone/>
              </a:pPr>
              <a:r>
                <a:rPr b="0" lang="en-US" sz="1300">
                  <a:solidFill>
                    <a:srgbClr val="334155"/>
                  </a:solidFill>
                  <a:latin typeface="Arial"/>
                  <a:ea typeface="Arial"/>
                  <a:cs typeface="Arial"/>
                  <a:sym typeface="Arial"/>
                </a:rPr>
                <a:t>Compliance with regulations like the </a:t>
              </a:r>
              <a:r>
                <a:rPr b="1" lang="en-US" sz="1300">
                  <a:solidFill>
                    <a:srgbClr val="4472C4"/>
                  </a:solidFill>
                  <a:latin typeface="Arial"/>
                  <a:ea typeface="Arial"/>
                  <a:cs typeface="Arial"/>
                  <a:sym typeface="Arial"/>
                </a:rPr>
                <a:t>General Data Protection Regulation (GDPR) </a:t>
              </a:r>
              <a:r>
                <a:rPr b="0" lang="en-US" sz="1300">
                  <a:solidFill>
                    <a:srgbClr val="334155"/>
                  </a:solidFill>
                  <a:latin typeface="Arial"/>
                  <a:ea typeface="Arial"/>
                  <a:cs typeface="Arial"/>
                  <a:sym typeface="Arial"/>
                </a:rPr>
                <a:t> is essential throughout the AI lifecycle.</a:t>
              </a:r>
              <a:endParaRPr b="0" sz="1300">
                <a:solidFill>
                  <a:srgbClr val="334155"/>
                </a:solidFill>
                <a:latin typeface="Arial"/>
                <a:ea typeface="Arial"/>
                <a:cs typeface="Arial"/>
                <a:sym typeface="Arial"/>
              </a:endParaRPr>
            </a:p>
            <a:p>
              <a:pPr indent="0" lvl="0" marL="0" rtl="0" algn="l">
                <a:spcBef>
                  <a:spcPts val="750"/>
                </a:spcBef>
                <a:spcAft>
                  <a:spcPts val="0"/>
                </a:spcAft>
                <a:buNone/>
              </a:pPr>
              <a:r>
                <a:rPr b="0" lang="en-US" sz="1300">
                  <a:solidFill>
                    <a:srgbClr val="334155"/>
                  </a:solidFill>
                  <a:latin typeface="Arial"/>
                  <a:ea typeface="Arial"/>
                  <a:cs typeface="Arial"/>
                  <a:sym typeface="Arial"/>
                </a:rPr>
                <a:t>Ensures subjects can exercise their rights and provide </a:t>
              </a:r>
              <a:r>
                <a:rPr b="1" lang="en-US" sz="1300">
                  <a:solidFill>
                    <a:srgbClr val="4472C4"/>
                  </a:solidFill>
                  <a:latin typeface="Arial"/>
                  <a:ea typeface="Arial"/>
                  <a:cs typeface="Arial"/>
                  <a:sym typeface="Arial"/>
                </a:rPr>
                <a:t>informed consent</a:t>
              </a:r>
              <a:r>
                <a:rPr b="0" lang="en-US" sz="1300">
                  <a:solidFill>
                    <a:srgbClr val="334155"/>
                  </a:solidFill>
                  <a:latin typeface="Arial"/>
                  <a:ea typeface="Arial"/>
                  <a:cs typeface="Arial"/>
                  <a:sym typeface="Arial"/>
                </a:rPr>
                <a:t> for data usage.</a:t>
              </a:r>
              <a:endParaRPr b="0" sz="1300">
                <a:solidFill>
                  <a:srgbClr val="334155"/>
                </a:solidFill>
                <a:latin typeface="Arial"/>
                <a:ea typeface="Arial"/>
                <a:cs typeface="Arial"/>
                <a:sym typeface="Arial"/>
              </a:endParaRPr>
            </a:p>
          </p:txBody>
        </p:sp>
      </p:grpSp>
      <p:sp>
        <p:nvSpPr>
          <p:cNvPr id="709" name="Google Shape;709;g3e36394e788_0_541"/>
          <p:cNvSpPr txBox="1"/>
          <p:nvPr/>
        </p:nvSpPr>
        <p:spPr>
          <a:xfrm>
            <a:off x="285750" y="5238750"/>
            <a:ext cx="9334500" cy="3810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b="1" lang="en-US" sz="1000">
                <a:solidFill>
                  <a:srgbClr val="64748B"/>
                </a:solidFill>
                <a:latin typeface="Arial"/>
                <a:ea typeface="Arial"/>
                <a:cs typeface="Arial"/>
                <a:sym typeface="Arial"/>
              </a:rPr>
              <a:t>Source: </a:t>
            </a:r>
            <a:r>
              <a:rPr b="0" lang="en-US" sz="1000">
                <a:solidFill>
                  <a:srgbClr val="64748B"/>
                </a:solidFill>
                <a:latin typeface="Arial"/>
                <a:ea typeface="Arial"/>
                <a:cs typeface="Arial"/>
                <a:sym typeface="Arial"/>
              </a:rPr>
              <a:t>[10]</a:t>
            </a:r>
            <a:endParaRPr b="1" sz="1000">
              <a:solidFill>
                <a:srgbClr val="64748B"/>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3" name="Shape 713"/>
        <p:cNvGrpSpPr/>
        <p:nvPr/>
      </p:nvGrpSpPr>
      <p:grpSpPr>
        <a:xfrm>
          <a:off x="0" y="0"/>
          <a:ext cx="0" cy="0"/>
          <a:chOff x="0" y="0"/>
          <a:chExt cx="0" cy="0"/>
        </a:xfrm>
      </p:grpSpPr>
      <p:pic>
        <p:nvPicPr>
          <p:cNvPr id="714" name="Google Shape;714;g3e36394e788_0_552"/>
          <p:cNvPicPr preferRelativeResize="0"/>
          <p:nvPr/>
        </p:nvPicPr>
        <p:blipFill rotWithShape="1">
          <a:blip r:embed="rId3">
            <a:alphaModFix/>
          </a:blip>
          <a:srcRect b="0" l="0" r="0" t="0"/>
          <a:stretch/>
        </p:blipFill>
        <p:spPr>
          <a:xfrm>
            <a:off x="218750" y="6052376"/>
            <a:ext cx="1823009" cy="470325"/>
          </a:xfrm>
          <a:prstGeom prst="rect">
            <a:avLst/>
          </a:prstGeom>
          <a:noFill/>
          <a:ln>
            <a:noFill/>
          </a:ln>
        </p:spPr>
      </p:pic>
      <p:pic>
        <p:nvPicPr>
          <p:cNvPr id="715" name="Google Shape;715;g3e36394e788_0_552"/>
          <p:cNvPicPr preferRelativeResize="0"/>
          <p:nvPr/>
        </p:nvPicPr>
        <p:blipFill rotWithShape="1">
          <a:blip r:embed="rId4">
            <a:alphaModFix/>
          </a:blip>
          <a:srcRect b="0" l="0" r="0" t="0"/>
          <a:stretch/>
        </p:blipFill>
        <p:spPr>
          <a:xfrm>
            <a:off x="8015000" y="6038017"/>
            <a:ext cx="1811830" cy="624575"/>
          </a:xfrm>
          <a:prstGeom prst="rect">
            <a:avLst/>
          </a:prstGeom>
          <a:noFill/>
          <a:ln>
            <a:noFill/>
          </a:ln>
        </p:spPr>
      </p:pic>
      <p:sp>
        <p:nvSpPr>
          <p:cNvPr id="716" name="Google Shape;716;g3e36394e788_0_552"/>
          <p:cNvSpPr txBox="1"/>
          <p:nvPr/>
        </p:nvSpPr>
        <p:spPr>
          <a:xfrm>
            <a:off x="285750" y="238125"/>
            <a:ext cx="9334500" cy="762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2405">
                <a:solidFill>
                  <a:srgbClr val="1E4E79"/>
                </a:solidFill>
                <a:latin typeface="Arial"/>
                <a:ea typeface="Arial"/>
                <a:cs typeface="Arial"/>
                <a:sym typeface="Arial"/>
              </a:rPr>
              <a:t>3. </a:t>
            </a:r>
            <a:r>
              <a:rPr b="1" lang="en-US" sz="2405">
                <a:solidFill>
                  <a:srgbClr val="1E4E79"/>
                </a:solidFill>
                <a:latin typeface="Arial"/>
                <a:ea typeface="Arial"/>
                <a:cs typeface="Arial"/>
                <a:sym typeface="Arial"/>
              </a:rPr>
              <a:t>Examples of MAS Focused on Promoting Privacy and Data Protection</a:t>
            </a:r>
            <a:endParaRPr b="1" sz="2405">
              <a:solidFill>
                <a:srgbClr val="1E4E79"/>
              </a:solidFill>
              <a:latin typeface="Arial"/>
              <a:ea typeface="Arial"/>
              <a:cs typeface="Arial"/>
              <a:sym typeface="Arial"/>
            </a:endParaRPr>
          </a:p>
        </p:txBody>
      </p:sp>
      <p:grpSp>
        <p:nvGrpSpPr>
          <p:cNvPr id="717" name="Google Shape;717;g3e36394e788_0_552"/>
          <p:cNvGrpSpPr/>
          <p:nvPr/>
        </p:nvGrpSpPr>
        <p:grpSpPr>
          <a:xfrm>
            <a:off x="285750" y="1333500"/>
            <a:ext cx="4524300" cy="3619500"/>
            <a:chOff x="285750" y="1333500"/>
            <a:chExt cx="4524300" cy="3619500"/>
          </a:xfrm>
        </p:grpSpPr>
        <p:sp>
          <p:nvSpPr>
            <p:cNvPr id="718" name="Google Shape;718;g3e36394e788_0_552"/>
            <p:cNvSpPr/>
            <p:nvPr/>
          </p:nvSpPr>
          <p:spPr>
            <a:xfrm>
              <a:off x="285750" y="1333500"/>
              <a:ext cx="4524300" cy="3619500"/>
            </a:xfrm>
            <a:prstGeom prst="roundRect">
              <a:avLst>
                <a:gd fmla="val 3947" name="adj"/>
              </a:avLst>
            </a:prstGeom>
            <a:solidFill>
              <a:srgbClr val="F8FAFC"/>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19" name="Google Shape;719;g3e36394e788_0_552"/>
            <p:cNvSpPr txBox="1"/>
            <p:nvPr/>
          </p:nvSpPr>
          <p:spPr>
            <a:xfrm>
              <a:off x="476250" y="1564894"/>
              <a:ext cx="381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2380">
                  <a:solidFill>
                    <a:srgbClr val="1E4E79"/>
                  </a:solidFill>
                  <a:latin typeface="Material Icons"/>
                  <a:ea typeface="Material Icons"/>
                  <a:cs typeface="Material Icons"/>
                  <a:sym typeface="Material Icons"/>
                </a:rPr>
                <a:t>verified_user</a:t>
              </a:r>
              <a:endParaRPr sz="2380">
                <a:solidFill>
                  <a:srgbClr val="1E4E79"/>
                </a:solidFill>
                <a:latin typeface="Material Icons"/>
                <a:ea typeface="Material Icons"/>
                <a:cs typeface="Material Icons"/>
                <a:sym typeface="Material Icons"/>
              </a:endParaRPr>
            </a:p>
          </p:txBody>
        </p:sp>
        <p:sp>
          <p:nvSpPr>
            <p:cNvPr id="720" name="Google Shape;720;g3e36394e788_0_552"/>
            <p:cNvSpPr txBox="1"/>
            <p:nvPr/>
          </p:nvSpPr>
          <p:spPr>
            <a:xfrm>
              <a:off x="476250" y="2000250"/>
              <a:ext cx="4143300" cy="2762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800">
                  <a:solidFill>
                    <a:srgbClr val="1E4E79"/>
                  </a:solidFill>
                  <a:latin typeface="Arial"/>
                  <a:ea typeface="Arial"/>
                  <a:cs typeface="Arial"/>
                  <a:sym typeface="Arial"/>
                </a:rPr>
                <a:t>Data Consent</a:t>
              </a:r>
              <a:endParaRPr b="1" sz="1800">
                <a:solidFill>
                  <a:srgbClr val="1E4E79"/>
                </a:solidFill>
                <a:latin typeface="Arial"/>
                <a:ea typeface="Arial"/>
                <a:cs typeface="Arial"/>
                <a:sym typeface="Arial"/>
              </a:endParaRPr>
            </a:p>
            <a:p>
              <a:pPr indent="0" lvl="0" marL="0" rtl="0" algn="l">
                <a:spcBef>
                  <a:spcPts val="900"/>
                </a:spcBef>
                <a:spcAft>
                  <a:spcPts val="0"/>
                </a:spcAft>
                <a:buNone/>
              </a:pPr>
              <a:r>
                <a:rPr lang="en-US" sz="1300">
                  <a:solidFill>
                    <a:srgbClr val="334155"/>
                  </a:solidFill>
                  <a:latin typeface="Arial"/>
                  <a:ea typeface="Arial"/>
                  <a:cs typeface="Arial"/>
                  <a:sym typeface="Arial"/>
                </a:rPr>
                <a:t>Agents must adapt and operate in compliance with data protection standards in a jurisdiction, such as Brazil or Europe.</a:t>
              </a:r>
              <a:endParaRPr sz="1300">
                <a:solidFill>
                  <a:srgbClr val="334155"/>
                </a:solidFill>
                <a:latin typeface="Arial"/>
                <a:ea typeface="Arial"/>
                <a:cs typeface="Arial"/>
                <a:sym typeface="Arial"/>
              </a:endParaRPr>
            </a:p>
            <a:p>
              <a:pPr indent="-304800" lvl="0" marL="457200" rtl="0" algn="l">
                <a:spcBef>
                  <a:spcPts val="900"/>
                </a:spcBef>
                <a:spcAft>
                  <a:spcPts val="0"/>
                </a:spcAft>
                <a:buClr>
                  <a:srgbClr val="475569"/>
                </a:buClr>
                <a:buSzPts val="1200"/>
                <a:buFont typeface="Arial"/>
                <a:buChar char="●"/>
              </a:pPr>
              <a:r>
                <a:rPr lang="en-US" sz="1200">
                  <a:solidFill>
                    <a:srgbClr val="475569"/>
                  </a:solidFill>
                  <a:latin typeface="Arial"/>
                  <a:ea typeface="Arial"/>
                  <a:cs typeface="Arial"/>
                  <a:sym typeface="Arial"/>
                </a:rPr>
                <a:t>Transition from LGPD to GDPR compliance</a:t>
              </a:r>
              <a:endParaRPr sz="1200">
                <a:solidFill>
                  <a:srgbClr val="475569"/>
                </a:solidFill>
                <a:latin typeface="Arial"/>
                <a:ea typeface="Arial"/>
                <a:cs typeface="Arial"/>
                <a:sym typeface="Arial"/>
              </a:endParaRPr>
            </a:p>
            <a:p>
              <a:pPr indent="-304800" lvl="0" marL="457200" rtl="0" algn="l">
                <a:spcBef>
                  <a:spcPts val="600"/>
                </a:spcBef>
                <a:spcAft>
                  <a:spcPts val="0"/>
                </a:spcAft>
                <a:buClr>
                  <a:srgbClr val="475569"/>
                </a:buClr>
                <a:buSzPts val="1200"/>
                <a:buFont typeface="Arial"/>
                <a:buChar char="●"/>
              </a:pPr>
              <a:r>
                <a:rPr lang="en-US" sz="1200">
                  <a:solidFill>
                    <a:srgbClr val="475569"/>
                  </a:solidFill>
                  <a:latin typeface="Arial"/>
                  <a:ea typeface="Arial"/>
                  <a:cs typeface="Arial"/>
                  <a:sym typeface="Arial"/>
                </a:rPr>
                <a:t>Context-aware regulatory adaptation</a:t>
              </a:r>
              <a:endParaRPr sz="1200">
                <a:solidFill>
                  <a:srgbClr val="475569"/>
                </a:solidFill>
                <a:latin typeface="Arial"/>
                <a:ea typeface="Arial"/>
                <a:cs typeface="Arial"/>
                <a:sym typeface="Arial"/>
              </a:endParaRPr>
            </a:p>
          </p:txBody>
        </p:sp>
      </p:grpSp>
      <p:grpSp>
        <p:nvGrpSpPr>
          <p:cNvPr id="721" name="Google Shape;721;g3e36394e788_0_552"/>
          <p:cNvGrpSpPr/>
          <p:nvPr/>
        </p:nvGrpSpPr>
        <p:grpSpPr>
          <a:xfrm>
            <a:off x="5095875" y="1333500"/>
            <a:ext cx="4524300" cy="3619500"/>
            <a:chOff x="5095875" y="1333500"/>
            <a:chExt cx="4524300" cy="3619500"/>
          </a:xfrm>
        </p:grpSpPr>
        <p:sp>
          <p:nvSpPr>
            <p:cNvPr id="722" name="Google Shape;722;g3e36394e788_0_552"/>
            <p:cNvSpPr/>
            <p:nvPr/>
          </p:nvSpPr>
          <p:spPr>
            <a:xfrm>
              <a:off x="5095875" y="1333500"/>
              <a:ext cx="4524300" cy="3619500"/>
            </a:xfrm>
            <a:prstGeom prst="roundRect">
              <a:avLst>
                <a:gd fmla="val 3947" name="adj"/>
              </a:avLst>
            </a:prstGeom>
            <a:solidFill>
              <a:srgbClr val="F8FAFC"/>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23" name="Google Shape;723;g3e36394e788_0_552"/>
            <p:cNvSpPr txBox="1"/>
            <p:nvPr/>
          </p:nvSpPr>
          <p:spPr>
            <a:xfrm>
              <a:off x="5286375" y="1564894"/>
              <a:ext cx="381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2380">
                  <a:solidFill>
                    <a:srgbClr val="1E4E79"/>
                  </a:solidFill>
                  <a:latin typeface="Material Icons"/>
                  <a:ea typeface="Material Icons"/>
                  <a:cs typeface="Material Icons"/>
                  <a:sym typeface="Material Icons"/>
                </a:rPr>
                <a:t>handshake</a:t>
              </a:r>
              <a:endParaRPr sz="2380">
                <a:solidFill>
                  <a:srgbClr val="1E4E79"/>
                </a:solidFill>
                <a:latin typeface="Material Icons"/>
                <a:ea typeface="Material Icons"/>
                <a:cs typeface="Material Icons"/>
                <a:sym typeface="Material Icons"/>
              </a:endParaRPr>
            </a:p>
          </p:txBody>
        </p:sp>
        <p:sp>
          <p:nvSpPr>
            <p:cNvPr id="724" name="Google Shape;724;g3e36394e788_0_552"/>
            <p:cNvSpPr txBox="1"/>
            <p:nvPr/>
          </p:nvSpPr>
          <p:spPr>
            <a:xfrm>
              <a:off x="5286375" y="2000250"/>
              <a:ext cx="4143300" cy="2762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800">
                  <a:solidFill>
                    <a:srgbClr val="1E4E79"/>
                  </a:solidFill>
                  <a:latin typeface="Arial"/>
                  <a:ea typeface="Arial"/>
                  <a:cs typeface="Arial"/>
                  <a:sym typeface="Arial"/>
                </a:rPr>
                <a:t>Negotiation Process</a:t>
              </a:r>
              <a:endParaRPr b="1" sz="1800">
                <a:solidFill>
                  <a:srgbClr val="1E4E79"/>
                </a:solidFill>
                <a:latin typeface="Arial"/>
                <a:ea typeface="Arial"/>
                <a:cs typeface="Arial"/>
                <a:sym typeface="Arial"/>
              </a:endParaRPr>
            </a:p>
            <a:p>
              <a:pPr indent="0" lvl="0" marL="0" rtl="0" algn="l">
                <a:spcBef>
                  <a:spcPts val="900"/>
                </a:spcBef>
                <a:spcAft>
                  <a:spcPts val="0"/>
                </a:spcAft>
                <a:buNone/>
              </a:pPr>
              <a:r>
                <a:rPr lang="en-US" sz="1300">
                  <a:solidFill>
                    <a:srgbClr val="334155"/>
                  </a:solidFill>
                  <a:latin typeface="Arial"/>
                  <a:ea typeface="Arial"/>
                  <a:cs typeface="Arial"/>
                  <a:sym typeface="Arial"/>
                </a:rPr>
                <a:t>The goal is to minimize sensitive information sharing between agents without compromising agreement possibilities.</a:t>
              </a:r>
              <a:endParaRPr sz="1300">
                <a:solidFill>
                  <a:srgbClr val="334155"/>
                </a:solidFill>
                <a:latin typeface="Arial"/>
                <a:ea typeface="Arial"/>
                <a:cs typeface="Arial"/>
                <a:sym typeface="Arial"/>
              </a:endParaRPr>
            </a:p>
            <a:p>
              <a:pPr indent="-304800" lvl="0" marL="457200" rtl="0" algn="l">
                <a:spcBef>
                  <a:spcPts val="900"/>
                </a:spcBef>
                <a:spcAft>
                  <a:spcPts val="0"/>
                </a:spcAft>
                <a:buClr>
                  <a:srgbClr val="475569"/>
                </a:buClr>
                <a:buSzPts val="1200"/>
                <a:buFont typeface="Arial"/>
                <a:buChar char="●"/>
              </a:pPr>
              <a:r>
                <a:rPr lang="en-US" sz="1200">
                  <a:solidFill>
                    <a:srgbClr val="475569"/>
                  </a:solidFill>
                  <a:latin typeface="Arial"/>
                  <a:ea typeface="Arial"/>
                  <a:cs typeface="Arial"/>
                  <a:sym typeface="Arial"/>
                </a:rPr>
                <a:t>Secure multi-party computation logic</a:t>
              </a:r>
              <a:endParaRPr sz="1200">
                <a:solidFill>
                  <a:srgbClr val="475569"/>
                </a:solidFill>
                <a:latin typeface="Arial"/>
                <a:ea typeface="Arial"/>
                <a:cs typeface="Arial"/>
                <a:sym typeface="Arial"/>
              </a:endParaRPr>
            </a:p>
            <a:p>
              <a:pPr indent="-304800" lvl="0" marL="457200" rtl="0" algn="l">
                <a:spcBef>
                  <a:spcPts val="600"/>
                </a:spcBef>
                <a:spcAft>
                  <a:spcPts val="0"/>
                </a:spcAft>
                <a:buClr>
                  <a:srgbClr val="475569"/>
                </a:buClr>
                <a:buSzPts val="1200"/>
                <a:buFont typeface="Arial"/>
                <a:buChar char="●"/>
              </a:pPr>
              <a:r>
                <a:rPr lang="en-US" sz="1200">
                  <a:solidFill>
                    <a:srgbClr val="475569"/>
                  </a:solidFill>
                  <a:latin typeface="Arial"/>
                  <a:ea typeface="Arial"/>
                  <a:cs typeface="Arial"/>
                  <a:sym typeface="Arial"/>
                </a:rPr>
                <a:t>Differential privacy in agent interaction</a:t>
              </a:r>
              <a:endParaRPr sz="1200">
                <a:solidFill>
                  <a:srgbClr val="475569"/>
                </a:solidFill>
                <a:latin typeface="Arial"/>
                <a:ea typeface="Arial"/>
                <a:cs typeface="Arial"/>
                <a:sym typeface="Arial"/>
              </a:endParaRPr>
            </a:p>
          </p:txBody>
        </p:sp>
      </p:grpSp>
      <p:sp>
        <p:nvSpPr>
          <p:cNvPr id="725" name="Google Shape;725;g3e36394e788_0_552"/>
          <p:cNvSpPr txBox="1"/>
          <p:nvPr/>
        </p:nvSpPr>
        <p:spPr>
          <a:xfrm>
            <a:off x="285750" y="5334000"/>
            <a:ext cx="9334500" cy="2859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b="1" lang="en-US" sz="1000">
                <a:solidFill>
                  <a:srgbClr val="64748B"/>
                </a:solidFill>
                <a:latin typeface="Arial"/>
                <a:ea typeface="Arial"/>
                <a:cs typeface="Arial"/>
                <a:sym typeface="Arial"/>
              </a:rPr>
              <a:t>Sources: </a:t>
            </a:r>
            <a:r>
              <a:rPr b="0" lang="en-US" sz="1000">
                <a:solidFill>
                  <a:srgbClr val="64748B"/>
                </a:solidFill>
                <a:latin typeface="Arial"/>
                <a:ea typeface="Arial"/>
                <a:cs typeface="Arial"/>
                <a:sym typeface="Arial"/>
              </a:rPr>
              <a:t>[13, 14, 15]</a:t>
            </a:r>
            <a:endParaRPr b="1" sz="1000">
              <a:solidFill>
                <a:srgbClr val="64748B"/>
              </a:solidFill>
              <a:latin typeface="Arial"/>
              <a:ea typeface="Arial"/>
              <a:cs typeface="Arial"/>
              <a:sym typeface="Arial"/>
            </a:endParaRPr>
          </a:p>
        </p:txBody>
      </p:sp>
      <p:grpSp>
        <p:nvGrpSpPr>
          <p:cNvPr id="726" name="Google Shape;726;g3e36394e788_0_552"/>
          <p:cNvGrpSpPr/>
          <p:nvPr/>
        </p:nvGrpSpPr>
        <p:grpSpPr>
          <a:xfrm>
            <a:off x="-18000" y="5842892"/>
            <a:ext cx="9942000" cy="1014788"/>
            <a:chOff x="-21650" y="5927750"/>
            <a:chExt cx="9942000" cy="930230"/>
          </a:xfrm>
        </p:grpSpPr>
        <p:sp>
          <p:nvSpPr>
            <p:cNvPr id="727" name="Google Shape;727;g3e36394e788_0_552"/>
            <p:cNvSpPr/>
            <p:nvPr/>
          </p:nvSpPr>
          <p:spPr>
            <a:xfrm>
              <a:off x="5239747" y="5949280"/>
              <a:ext cx="4680600" cy="9087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Arial"/>
                  <a:ea typeface="Arial"/>
                  <a:cs typeface="Arial"/>
                  <a:sym typeface="Arial"/>
                </a:rPr>
                <a:t>25th Annual International Conference on Digital Government Research (dg.o 2024)</a:t>
              </a:r>
              <a:endParaRPr b="0" i="0" sz="1800" u="none" cap="none" strike="noStrike">
                <a:solidFill>
                  <a:schemeClr val="lt1"/>
                </a:solidFill>
                <a:latin typeface="Arial"/>
                <a:ea typeface="Arial"/>
                <a:cs typeface="Arial"/>
                <a:sym typeface="Arial"/>
              </a:endParaRPr>
            </a:p>
          </p:txBody>
        </p:sp>
        <p:pic>
          <p:nvPicPr>
            <p:cNvPr id="728" name="Google Shape;728;g3e36394e788_0_552"/>
            <p:cNvPicPr preferRelativeResize="0"/>
            <p:nvPr/>
          </p:nvPicPr>
          <p:blipFill rotWithShape="1">
            <a:blip r:embed="rId5">
              <a:alphaModFix/>
            </a:blip>
            <a:srcRect b="-112533" l="-23390" r="23390" t="137710"/>
            <a:stretch/>
          </p:blipFill>
          <p:spPr>
            <a:xfrm>
              <a:off x="0" y="6007596"/>
              <a:ext cx="9920265" cy="792088"/>
            </a:xfrm>
            <a:prstGeom prst="rect">
              <a:avLst/>
            </a:prstGeom>
            <a:noFill/>
            <a:ln>
              <a:noFill/>
            </a:ln>
          </p:spPr>
        </p:pic>
        <p:sp>
          <p:nvSpPr>
            <p:cNvPr id="729" name="Google Shape;729;g3e36394e788_0_552"/>
            <p:cNvSpPr/>
            <p:nvPr/>
          </p:nvSpPr>
          <p:spPr>
            <a:xfrm>
              <a:off x="-21650" y="5927750"/>
              <a:ext cx="9942000" cy="9087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pic>
        <p:nvPicPr>
          <p:cNvPr id="730" name="Google Shape;730;g3e36394e788_0_552"/>
          <p:cNvPicPr preferRelativeResize="0"/>
          <p:nvPr/>
        </p:nvPicPr>
        <p:blipFill rotWithShape="1">
          <a:blip r:embed="rId3">
            <a:alphaModFix/>
          </a:blip>
          <a:srcRect b="0" l="0" r="0" t="0"/>
          <a:stretch/>
        </p:blipFill>
        <p:spPr>
          <a:xfrm>
            <a:off x="218750" y="6052376"/>
            <a:ext cx="1823009" cy="470325"/>
          </a:xfrm>
          <a:prstGeom prst="rect">
            <a:avLst/>
          </a:prstGeom>
          <a:noFill/>
          <a:ln>
            <a:noFill/>
          </a:ln>
        </p:spPr>
      </p:pic>
      <p:pic>
        <p:nvPicPr>
          <p:cNvPr id="731" name="Google Shape;731;g3e36394e788_0_552"/>
          <p:cNvPicPr preferRelativeResize="0"/>
          <p:nvPr/>
        </p:nvPicPr>
        <p:blipFill rotWithShape="1">
          <a:blip r:embed="rId4">
            <a:alphaModFix/>
          </a:blip>
          <a:srcRect b="0" l="0" r="0" t="0"/>
          <a:stretch/>
        </p:blipFill>
        <p:spPr>
          <a:xfrm>
            <a:off x="8015000" y="6038017"/>
            <a:ext cx="1811830" cy="62457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5" name="Shape 735"/>
        <p:cNvGrpSpPr/>
        <p:nvPr/>
      </p:nvGrpSpPr>
      <p:grpSpPr>
        <a:xfrm>
          <a:off x="0" y="0"/>
          <a:ext cx="0" cy="0"/>
          <a:chOff x="0" y="0"/>
          <a:chExt cx="0" cy="0"/>
        </a:xfrm>
      </p:grpSpPr>
      <p:sp>
        <p:nvSpPr>
          <p:cNvPr id="736" name="Google Shape;736;g3e36394e788_0_563"/>
          <p:cNvSpPr/>
          <p:nvPr/>
        </p:nvSpPr>
        <p:spPr>
          <a:xfrm>
            <a:off x="0" y="768088"/>
            <a:ext cx="9906000" cy="6090000"/>
          </a:xfrm>
          <a:prstGeom prst="rect">
            <a:avLst/>
          </a:prstGeom>
          <a:solidFill>
            <a:schemeClr val="lt1">
              <a:alpha val="6000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737" name="Google Shape;737;g3e36394e788_0_563"/>
          <p:cNvSpPr/>
          <p:nvPr/>
        </p:nvSpPr>
        <p:spPr>
          <a:xfrm>
            <a:off x="-13050" y="5921896"/>
            <a:ext cx="9919200" cy="936000"/>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738" name="Google Shape;738;g3e36394e788_0_563"/>
          <p:cNvPicPr preferRelativeResize="0"/>
          <p:nvPr/>
        </p:nvPicPr>
        <p:blipFill rotWithShape="1">
          <a:blip r:embed="rId3">
            <a:alphaModFix/>
          </a:blip>
          <a:srcRect b="0" l="17788" r="19906" t="65239"/>
          <a:stretch/>
        </p:blipFill>
        <p:spPr>
          <a:xfrm>
            <a:off x="920552" y="6155677"/>
            <a:ext cx="1568747" cy="665761"/>
          </a:xfrm>
          <a:prstGeom prst="rect">
            <a:avLst/>
          </a:prstGeom>
          <a:noFill/>
          <a:ln>
            <a:noFill/>
          </a:ln>
        </p:spPr>
      </p:pic>
      <p:pic>
        <p:nvPicPr>
          <p:cNvPr id="739" name="Google Shape;739;g3e36394e788_0_563"/>
          <p:cNvPicPr preferRelativeResize="0"/>
          <p:nvPr/>
        </p:nvPicPr>
        <p:blipFill rotWithShape="1">
          <a:blip r:embed="rId3">
            <a:alphaModFix/>
          </a:blip>
          <a:srcRect b="34761" l="25519" r="25620" t="3570"/>
          <a:stretch/>
        </p:blipFill>
        <p:spPr>
          <a:xfrm>
            <a:off x="194947" y="6056653"/>
            <a:ext cx="725605" cy="696647"/>
          </a:xfrm>
          <a:prstGeom prst="rect">
            <a:avLst/>
          </a:prstGeom>
          <a:noFill/>
          <a:ln>
            <a:noFill/>
          </a:ln>
        </p:spPr>
      </p:pic>
      <p:sp>
        <p:nvSpPr>
          <p:cNvPr id="740" name="Google Shape;740;g3e36394e788_0_563"/>
          <p:cNvSpPr/>
          <p:nvPr/>
        </p:nvSpPr>
        <p:spPr>
          <a:xfrm>
            <a:off x="4950907" y="5989477"/>
            <a:ext cx="4953000" cy="8310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400"/>
              <a:buFont typeface="Arial"/>
              <a:buNone/>
            </a:pPr>
            <a:r>
              <a:rPr b="1" i="0" lang="en-US" sz="2400" u="none" cap="none" strike="noStrike">
                <a:solidFill>
                  <a:schemeClr val="lt1"/>
                </a:solidFill>
                <a:latin typeface="Arial"/>
                <a:ea typeface="Arial"/>
                <a:cs typeface="Arial"/>
                <a:sym typeface="Arial"/>
              </a:rPr>
              <a:t>IEEE Intelligence and Security Informatics (ISI) 2018</a:t>
            </a:r>
            <a:endParaRPr b="0" i="0" sz="1400" u="none" cap="none" strike="noStrike">
              <a:solidFill>
                <a:srgbClr val="000000"/>
              </a:solidFill>
              <a:latin typeface="Arial"/>
              <a:ea typeface="Arial"/>
              <a:cs typeface="Arial"/>
              <a:sym typeface="Arial"/>
            </a:endParaRPr>
          </a:p>
        </p:txBody>
      </p:sp>
      <p:grpSp>
        <p:nvGrpSpPr>
          <p:cNvPr id="741" name="Google Shape;741;g3e36394e788_0_563"/>
          <p:cNvGrpSpPr/>
          <p:nvPr/>
        </p:nvGrpSpPr>
        <p:grpSpPr>
          <a:xfrm>
            <a:off x="-18000" y="5842892"/>
            <a:ext cx="9942000" cy="1014788"/>
            <a:chOff x="-21650" y="5927750"/>
            <a:chExt cx="9942000" cy="930230"/>
          </a:xfrm>
        </p:grpSpPr>
        <p:sp>
          <p:nvSpPr>
            <p:cNvPr id="742" name="Google Shape;742;g3e36394e788_0_563"/>
            <p:cNvSpPr/>
            <p:nvPr/>
          </p:nvSpPr>
          <p:spPr>
            <a:xfrm>
              <a:off x="5239747" y="5949280"/>
              <a:ext cx="4680600" cy="9087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Arial"/>
                  <a:ea typeface="Arial"/>
                  <a:cs typeface="Arial"/>
                  <a:sym typeface="Arial"/>
                </a:rPr>
                <a:t>25th Annual International Conference on Digital Government Research (dg.o 2024)</a:t>
              </a:r>
              <a:endParaRPr b="0" i="0" sz="1800" u="none" cap="none" strike="noStrike">
                <a:solidFill>
                  <a:schemeClr val="lt1"/>
                </a:solidFill>
                <a:latin typeface="Arial"/>
                <a:ea typeface="Arial"/>
                <a:cs typeface="Arial"/>
                <a:sym typeface="Arial"/>
              </a:endParaRPr>
            </a:p>
          </p:txBody>
        </p:sp>
        <p:pic>
          <p:nvPicPr>
            <p:cNvPr id="743" name="Google Shape;743;g3e36394e788_0_563"/>
            <p:cNvPicPr preferRelativeResize="0"/>
            <p:nvPr/>
          </p:nvPicPr>
          <p:blipFill rotWithShape="1">
            <a:blip r:embed="rId4">
              <a:alphaModFix/>
            </a:blip>
            <a:srcRect b="-112533" l="-23390" r="23390" t="137710"/>
            <a:stretch/>
          </p:blipFill>
          <p:spPr>
            <a:xfrm>
              <a:off x="0" y="6007596"/>
              <a:ext cx="9920265" cy="792088"/>
            </a:xfrm>
            <a:prstGeom prst="rect">
              <a:avLst/>
            </a:prstGeom>
            <a:noFill/>
            <a:ln>
              <a:noFill/>
            </a:ln>
          </p:spPr>
        </p:pic>
        <p:sp>
          <p:nvSpPr>
            <p:cNvPr id="744" name="Google Shape;744;g3e36394e788_0_563"/>
            <p:cNvSpPr/>
            <p:nvPr/>
          </p:nvSpPr>
          <p:spPr>
            <a:xfrm>
              <a:off x="-21650" y="5927750"/>
              <a:ext cx="9942000" cy="9087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pic>
        <p:nvPicPr>
          <p:cNvPr id="745" name="Google Shape;745;g3e36394e788_0_563"/>
          <p:cNvPicPr preferRelativeResize="0"/>
          <p:nvPr/>
        </p:nvPicPr>
        <p:blipFill rotWithShape="1">
          <a:blip r:embed="rId5">
            <a:alphaModFix/>
          </a:blip>
          <a:srcRect b="0" l="0" r="0" t="0"/>
          <a:stretch/>
        </p:blipFill>
        <p:spPr>
          <a:xfrm>
            <a:off x="218750" y="6052376"/>
            <a:ext cx="1823009" cy="470325"/>
          </a:xfrm>
          <a:prstGeom prst="rect">
            <a:avLst/>
          </a:prstGeom>
          <a:noFill/>
          <a:ln>
            <a:noFill/>
          </a:ln>
        </p:spPr>
      </p:pic>
      <p:pic>
        <p:nvPicPr>
          <p:cNvPr id="746" name="Google Shape;746;g3e36394e788_0_563"/>
          <p:cNvPicPr preferRelativeResize="0"/>
          <p:nvPr/>
        </p:nvPicPr>
        <p:blipFill rotWithShape="1">
          <a:blip r:embed="rId6">
            <a:alphaModFix/>
          </a:blip>
          <a:srcRect b="0" l="0" r="0" t="0"/>
          <a:stretch/>
        </p:blipFill>
        <p:spPr>
          <a:xfrm>
            <a:off x="8015000" y="6038017"/>
            <a:ext cx="1811830" cy="624575"/>
          </a:xfrm>
          <a:prstGeom prst="rect">
            <a:avLst/>
          </a:prstGeom>
          <a:noFill/>
          <a:ln>
            <a:noFill/>
          </a:ln>
        </p:spPr>
      </p:pic>
      <p:sp>
        <p:nvSpPr>
          <p:cNvPr id="747" name="Google Shape;747;g3e36394e788_0_563"/>
          <p:cNvSpPr txBox="1"/>
          <p:nvPr>
            <p:ph type="title"/>
          </p:nvPr>
        </p:nvSpPr>
        <p:spPr>
          <a:xfrm>
            <a:off x="0" y="63850"/>
            <a:ext cx="10035600" cy="693600"/>
          </a:xfrm>
          <a:prstGeom prst="rect">
            <a:avLst/>
          </a:prstGeom>
          <a:solidFill>
            <a:srgbClr val="000000">
              <a:alpha val="0"/>
            </a:srgbClr>
          </a:solidFill>
          <a:ln>
            <a:noFill/>
          </a:ln>
        </p:spPr>
        <p:txBody>
          <a:bodyPr anchorCtr="0" anchor="ctr" bIns="45700" lIns="91400" spcFirstLastPara="1" rIns="91400" wrap="square" tIns="45700">
            <a:noAutofit/>
          </a:bodyPr>
          <a:lstStyle/>
          <a:p>
            <a:pPr indent="0" lvl="0" marL="0" rtl="0" algn="l">
              <a:spcBef>
                <a:spcPts val="0"/>
              </a:spcBef>
              <a:spcAft>
                <a:spcPts val="0"/>
              </a:spcAft>
              <a:buNone/>
            </a:pPr>
            <a:r>
              <a:rPr lang="en-US" sz="2400">
                <a:latin typeface="Arial"/>
                <a:ea typeface="Arial"/>
                <a:cs typeface="Arial"/>
                <a:sym typeface="Arial"/>
              </a:rPr>
              <a:t>3. </a:t>
            </a:r>
            <a:r>
              <a:rPr b="1" i="0" lang="en-US" sz="2400">
                <a:solidFill>
                  <a:srgbClr val="1E4E79"/>
                </a:solidFill>
                <a:latin typeface="Arial"/>
                <a:ea typeface="Arial"/>
                <a:cs typeface="Arial"/>
                <a:sym typeface="Arial"/>
              </a:rPr>
              <a:t>EP4 Principle: Responsibility and Accountability</a:t>
            </a:r>
            <a:endParaRPr b="1" i="0" sz="2400">
              <a:solidFill>
                <a:srgbClr val="1E4E79"/>
              </a:solidFill>
              <a:latin typeface="Arial"/>
              <a:ea typeface="Arial"/>
              <a:cs typeface="Arial"/>
              <a:sym typeface="Arial"/>
            </a:endParaRPr>
          </a:p>
        </p:txBody>
      </p:sp>
      <p:grpSp>
        <p:nvGrpSpPr>
          <p:cNvPr id="748" name="Google Shape;748;g3e36394e788_0_563"/>
          <p:cNvGrpSpPr/>
          <p:nvPr/>
        </p:nvGrpSpPr>
        <p:grpSpPr>
          <a:xfrm>
            <a:off x="285750" y="1333500"/>
            <a:ext cx="9334425" cy="3238500"/>
            <a:chOff x="285750" y="1333500"/>
            <a:chExt cx="9334425" cy="3238500"/>
          </a:xfrm>
        </p:grpSpPr>
        <p:sp>
          <p:nvSpPr>
            <p:cNvPr id="749" name="Google Shape;749;g3e36394e788_0_563"/>
            <p:cNvSpPr/>
            <p:nvPr/>
          </p:nvSpPr>
          <p:spPr>
            <a:xfrm>
              <a:off x="285750" y="1333500"/>
              <a:ext cx="4524300" cy="3238500"/>
            </a:xfrm>
            <a:prstGeom prst="roundRect">
              <a:avLst>
                <a:gd fmla="val 4411" name="adj"/>
              </a:avLst>
            </a:prstGeom>
            <a:solidFill>
              <a:srgbClr val="F8FAFC"/>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50" name="Google Shape;750;g3e36394e788_0_563"/>
            <p:cNvSpPr txBox="1"/>
            <p:nvPr/>
          </p:nvSpPr>
          <p:spPr>
            <a:xfrm>
              <a:off x="476250" y="1606677"/>
              <a:ext cx="381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2400">
                  <a:solidFill>
                    <a:srgbClr val="1E4E79"/>
                  </a:solidFill>
                  <a:latin typeface="Material Icons"/>
                  <a:ea typeface="Material Icons"/>
                  <a:cs typeface="Material Icons"/>
                  <a:sym typeface="Material Icons"/>
                </a:rPr>
                <a:t>assignment_ind</a:t>
              </a:r>
              <a:endParaRPr sz="2400">
                <a:solidFill>
                  <a:srgbClr val="1E4E79"/>
                </a:solidFill>
                <a:latin typeface="Material Icons"/>
                <a:ea typeface="Material Icons"/>
                <a:cs typeface="Material Icons"/>
                <a:sym typeface="Material Icons"/>
              </a:endParaRPr>
            </a:p>
          </p:txBody>
        </p:sp>
        <p:sp>
          <p:nvSpPr>
            <p:cNvPr id="751" name="Google Shape;751;g3e36394e788_0_563"/>
            <p:cNvSpPr txBox="1"/>
            <p:nvPr/>
          </p:nvSpPr>
          <p:spPr>
            <a:xfrm>
              <a:off x="476250" y="2047875"/>
              <a:ext cx="4143300" cy="2286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800">
                  <a:solidFill>
                    <a:srgbClr val="1E4E79"/>
                  </a:solidFill>
                  <a:latin typeface="Arial"/>
                  <a:ea typeface="Arial"/>
                  <a:cs typeface="Arial"/>
                  <a:sym typeface="Arial"/>
                </a:rPr>
                <a:t>Responsibility</a:t>
              </a:r>
              <a:endParaRPr b="1" sz="1800">
                <a:solidFill>
                  <a:srgbClr val="1E4E79"/>
                </a:solidFill>
                <a:latin typeface="Arial"/>
                <a:ea typeface="Arial"/>
                <a:cs typeface="Arial"/>
                <a:sym typeface="Arial"/>
              </a:endParaRPr>
            </a:p>
            <a:p>
              <a:pPr indent="0" lvl="0" marL="0" rtl="0" algn="l">
                <a:spcBef>
                  <a:spcPts val="750"/>
                </a:spcBef>
                <a:spcAft>
                  <a:spcPts val="0"/>
                </a:spcAft>
                <a:buNone/>
              </a:pPr>
              <a:r>
                <a:rPr b="0" lang="en-US" sz="1300">
                  <a:solidFill>
                    <a:srgbClr val="334155"/>
                  </a:solidFill>
                  <a:latin typeface="Arial"/>
                  <a:ea typeface="Arial"/>
                  <a:cs typeface="Arial"/>
                  <a:sym typeface="Arial"/>
                </a:rPr>
                <a:t>This principle deals with the attribution of responsibility for decisions made by AI to the corresponding actors according to their role in the life cycle. In MAS, responsibility can be directed towards the </a:t>
              </a:r>
              <a:r>
                <a:rPr b="1" lang="en-US" sz="1300">
                  <a:solidFill>
                    <a:srgbClr val="4472C4"/>
                  </a:solidFill>
                  <a:latin typeface="Arial"/>
                  <a:ea typeface="Arial"/>
                  <a:cs typeface="Arial"/>
                  <a:sym typeface="Arial"/>
                </a:rPr>
                <a:t>assignment</a:t>
              </a:r>
              <a:r>
                <a:rPr b="0" lang="en-US" sz="1300">
                  <a:solidFill>
                    <a:srgbClr val="334155"/>
                  </a:solidFill>
                  <a:latin typeface="Arial"/>
                  <a:ea typeface="Arial"/>
                  <a:cs typeface="Arial"/>
                  <a:sym typeface="Arial"/>
                </a:rPr>
                <a:t> of </a:t>
              </a:r>
              <a:r>
                <a:rPr b="1" lang="en-US" sz="1300">
                  <a:solidFill>
                    <a:srgbClr val="4472C4"/>
                  </a:solidFill>
                  <a:latin typeface="Arial"/>
                  <a:ea typeface="Arial"/>
                  <a:cs typeface="Arial"/>
                  <a:sym typeface="Arial"/>
                </a:rPr>
                <a:t>degrees</a:t>
              </a:r>
              <a:r>
                <a:rPr b="0" lang="en-US" sz="1300">
                  <a:solidFill>
                    <a:srgbClr val="334155"/>
                  </a:solidFill>
                  <a:latin typeface="Arial"/>
                  <a:ea typeface="Arial"/>
                  <a:cs typeface="Arial"/>
                  <a:sym typeface="Arial"/>
                </a:rPr>
                <a:t> of responsibility among agents.</a:t>
              </a:r>
              <a:endParaRPr b="0" sz="1300">
                <a:solidFill>
                  <a:srgbClr val="334155"/>
                </a:solidFill>
                <a:latin typeface="Arial"/>
                <a:ea typeface="Arial"/>
                <a:cs typeface="Arial"/>
                <a:sym typeface="Arial"/>
              </a:endParaRPr>
            </a:p>
          </p:txBody>
        </p:sp>
        <p:sp>
          <p:nvSpPr>
            <p:cNvPr id="752" name="Google Shape;752;g3e36394e788_0_563"/>
            <p:cNvSpPr/>
            <p:nvPr/>
          </p:nvSpPr>
          <p:spPr>
            <a:xfrm>
              <a:off x="5095875" y="1333500"/>
              <a:ext cx="4524300" cy="3238500"/>
            </a:xfrm>
            <a:prstGeom prst="roundRect">
              <a:avLst>
                <a:gd fmla="val 4411" name="adj"/>
              </a:avLst>
            </a:prstGeom>
            <a:solidFill>
              <a:srgbClr val="F8FAFC"/>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53" name="Google Shape;753;g3e36394e788_0_563"/>
            <p:cNvSpPr txBox="1"/>
            <p:nvPr/>
          </p:nvSpPr>
          <p:spPr>
            <a:xfrm>
              <a:off x="5286375" y="1606677"/>
              <a:ext cx="381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2400">
                  <a:solidFill>
                    <a:srgbClr val="1E4E79"/>
                  </a:solidFill>
                  <a:latin typeface="Material Icons"/>
                  <a:ea typeface="Material Icons"/>
                  <a:cs typeface="Material Icons"/>
                  <a:sym typeface="Material Icons"/>
                </a:rPr>
                <a:t>fact_check</a:t>
              </a:r>
              <a:endParaRPr sz="2400">
                <a:solidFill>
                  <a:srgbClr val="1E4E79"/>
                </a:solidFill>
                <a:latin typeface="Material Icons"/>
                <a:ea typeface="Material Icons"/>
                <a:cs typeface="Material Icons"/>
                <a:sym typeface="Material Icons"/>
              </a:endParaRPr>
            </a:p>
          </p:txBody>
        </p:sp>
        <p:sp>
          <p:nvSpPr>
            <p:cNvPr id="754" name="Google Shape;754;g3e36394e788_0_563"/>
            <p:cNvSpPr txBox="1"/>
            <p:nvPr/>
          </p:nvSpPr>
          <p:spPr>
            <a:xfrm>
              <a:off x="5286375" y="2047875"/>
              <a:ext cx="4143300" cy="2286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800">
                  <a:solidFill>
                    <a:srgbClr val="1E4E79"/>
                  </a:solidFill>
                  <a:latin typeface="Arial"/>
                  <a:ea typeface="Arial"/>
                  <a:cs typeface="Arial"/>
                  <a:sym typeface="Arial"/>
                </a:rPr>
                <a:t>Accountability</a:t>
              </a:r>
              <a:endParaRPr b="1" sz="1800">
                <a:solidFill>
                  <a:srgbClr val="1E4E79"/>
                </a:solidFill>
                <a:latin typeface="Arial"/>
                <a:ea typeface="Arial"/>
                <a:cs typeface="Arial"/>
                <a:sym typeface="Arial"/>
              </a:endParaRPr>
            </a:p>
            <a:p>
              <a:pPr indent="0" lvl="0" marL="0" rtl="0" algn="l">
                <a:spcBef>
                  <a:spcPts val="750"/>
                </a:spcBef>
                <a:spcAft>
                  <a:spcPts val="0"/>
                </a:spcAft>
                <a:buNone/>
              </a:pPr>
              <a:r>
                <a:rPr b="0" lang="en-US" sz="1300">
                  <a:solidFill>
                    <a:srgbClr val="334155"/>
                  </a:solidFill>
                  <a:latin typeface="Arial"/>
                  <a:ea typeface="Arial"/>
                  <a:cs typeface="Arial"/>
                  <a:sym typeface="Arial"/>
                </a:rPr>
                <a:t>Accountability refers to the ability of an agent or system to </a:t>
              </a:r>
              <a:r>
                <a:rPr b="1" lang="en-US" sz="1300">
                  <a:solidFill>
                    <a:srgbClr val="4472C4"/>
                  </a:solidFill>
                  <a:latin typeface="Arial"/>
                  <a:ea typeface="Arial"/>
                  <a:cs typeface="Arial"/>
                  <a:sym typeface="Arial"/>
                </a:rPr>
                <a:t>justify</a:t>
              </a:r>
              <a:r>
                <a:rPr b="0" lang="en-US" sz="1300">
                  <a:solidFill>
                    <a:srgbClr val="334155"/>
                  </a:solidFill>
                  <a:latin typeface="Arial"/>
                  <a:ea typeface="Arial"/>
                  <a:cs typeface="Arial"/>
                  <a:sym typeface="Arial"/>
                </a:rPr>
                <a:t> or </a:t>
              </a:r>
              <a:r>
                <a:rPr b="1" lang="en-US" sz="1300">
                  <a:solidFill>
                    <a:srgbClr val="4472C4"/>
                  </a:solidFill>
                  <a:latin typeface="Arial"/>
                  <a:ea typeface="Arial"/>
                  <a:cs typeface="Arial"/>
                  <a:sym typeface="Arial"/>
                </a:rPr>
                <a:t>inform</a:t>
              </a:r>
              <a:r>
                <a:rPr b="0" lang="en-US" sz="1300">
                  <a:solidFill>
                    <a:srgbClr val="334155"/>
                  </a:solidFill>
                  <a:latin typeface="Arial"/>
                  <a:ea typeface="Arial"/>
                  <a:cs typeface="Arial"/>
                  <a:sym typeface="Arial"/>
                </a:rPr>
                <a:t> about its actions for which it has responsibility to another agent legitimized to make this demand.</a:t>
              </a:r>
              <a:endParaRPr b="0" sz="1300">
                <a:solidFill>
                  <a:srgbClr val="334155"/>
                </a:solidFill>
                <a:latin typeface="Arial"/>
                <a:ea typeface="Arial"/>
                <a:cs typeface="Arial"/>
                <a:sym typeface="Arial"/>
              </a:endParaRPr>
            </a:p>
          </p:txBody>
        </p:sp>
      </p:grpSp>
      <p:sp>
        <p:nvSpPr>
          <p:cNvPr id="755" name="Google Shape;755;g3e36394e788_0_563"/>
          <p:cNvSpPr txBox="1"/>
          <p:nvPr/>
        </p:nvSpPr>
        <p:spPr>
          <a:xfrm>
            <a:off x="285750" y="5238750"/>
            <a:ext cx="9334500" cy="3810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b="1" lang="en-US" sz="1000">
                <a:solidFill>
                  <a:srgbClr val="64748B"/>
                </a:solidFill>
                <a:latin typeface="Arial"/>
                <a:ea typeface="Arial"/>
                <a:cs typeface="Arial"/>
                <a:sym typeface="Arial"/>
              </a:rPr>
              <a:t>Sources: </a:t>
            </a:r>
            <a:r>
              <a:rPr b="0" lang="en-US" sz="1000">
                <a:solidFill>
                  <a:srgbClr val="64748B"/>
                </a:solidFill>
                <a:latin typeface="Arial"/>
                <a:ea typeface="Arial"/>
                <a:cs typeface="Arial"/>
                <a:sym typeface="Arial"/>
              </a:rPr>
              <a:t>[2, 11, 12]</a:t>
            </a:r>
            <a:endParaRPr b="1" sz="1000">
              <a:solidFill>
                <a:srgbClr val="64748B"/>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9" name="Shape 759"/>
        <p:cNvGrpSpPr/>
        <p:nvPr/>
      </p:nvGrpSpPr>
      <p:grpSpPr>
        <a:xfrm>
          <a:off x="0" y="0"/>
          <a:ext cx="0" cy="0"/>
          <a:chOff x="0" y="0"/>
          <a:chExt cx="0" cy="0"/>
        </a:xfrm>
      </p:grpSpPr>
      <p:sp>
        <p:nvSpPr>
          <p:cNvPr id="760" name="Google Shape;760;g3e36394e788_0_574"/>
          <p:cNvSpPr/>
          <p:nvPr/>
        </p:nvSpPr>
        <p:spPr>
          <a:xfrm>
            <a:off x="0" y="768088"/>
            <a:ext cx="9906000" cy="6090000"/>
          </a:xfrm>
          <a:prstGeom prst="rect">
            <a:avLst/>
          </a:prstGeom>
          <a:solidFill>
            <a:schemeClr val="lt1">
              <a:alpha val="6000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761" name="Google Shape;761;g3e36394e788_0_574"/>
          <p:cNvSpPr/>
          <p:nvPr/>
        </p:nvSpPr>
        <p:spPr>
          <a:xfrm>
            <a:off x="-13050" y="5921896"/>
            <a:ext cx="9919200" cy="936000"/>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762" name="Google Shape;762;g3e36394e788_0_574"/>
          <p:cNvPicPr preferRelativeResize="0"/>
          <p:nvPr/>
        </p:nvPicPr>
        <p:blipFill rotWithShape="1">
          <a:blip r:embed="rId3">
            <a:alphaModFix/>
          </a:blip>
          <a:srcRect b="0" l="17788" r="19906" t="65239"/>
          <a:stretch/>
        </p:blipFill>
        <p:spPr>
          <a:xfrm>
            <a:off x="920552" y="6155677"/>
            <a:ext cx="1568747" cy="665761"/>
          </a:xfrm>
          <a:prstGeom prst="rect">
            <a:avLst/>
          </a:prstGeom>
          <a:noFill/>
          <a:ln>
            <a:noFill/>
          </a:ln>
        </p:spPr>
      </p:pic>
      <p:pic>
        <p:nvPicPr>
          <p:cNvPr id="763" name="Google Shape;763;g3e36394e788_0_574"/>
          <p:cNvPicPr preferRelativeResize="0"/>
          <p:nvPr/>
        </p:nvPicPr>
        <p:blipFill rotWithShape="1">
          <a:blip r:embed="rId3">
            <a:alphaModFix/>
          </a:blip>
          <a:srcRect b="34761" l="25519" r="25620" t="3570"/>
          <a:stretch/>
        </p:blipFill>
        <p:spPr>
          <a:xfrm>
            <a:off x="194947" y="6056653"/>
            <a:ext cx="725605" cy="696647"/>
          </a:xfrm>
          <a:prstGeom prst="rect">
            <a:avLst/>
          </a:prstGeom>
          <a:noFill/>
          <a:ln>
            <a:noFill/>
          </a:ln>
        </p:spPr>
      </p:pic>
      <p:sp>
        <p:nvSpPr>
          <p:cNvPr id="764" name="Google Shape;764;g3e36394e788_0_574"/>
          <p:cNvSpPr/>
          <p:nvPr/>
        </p:nvSpPr>
        <p:spPr>
          <a:xfrm>
            <a:off x="4950907" y="5989477"/>
            <a:ext cx="4953000" cy="8310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400"/>
              <a:buFont typeface="Arial"/>
              <a:buNone/>
            </a:pPr>
            <a:r>
              <a:rPr b="1" i="0" lang="en-US" sz="2400" u="none" cap="none" strike="noStrike">
                <a:solidFill>
                  <a:schemeClr val="lt1"/>
                </a:solidFill>
                <a:latin typeface="Arial"/>
                <a:ea typeface="Arial"/>
                <a:cs typeface="Arial"/>
                <a:sym typeface="Arial"/>
              </a:rPr>
              <a:t>IEEE Intelligence and Security Informatics (ISI) 2018</a:t>
            </a:r>
            <a:endParaRPr b="0" i="0" sz="1400" u="none" cap="none" strike="noStrike">
              <a:solidFill>
                <a:srgbClr val="000000"/>
              </a:solidFill>
              <a:latin typeface="Arial"/>
              <a:ea typeface="Arial"/>
              <a:cs typeface="Arial"/>
              <a:sym typeface="Arial"/>
            </a:endParaRPr>
          </a:p>
        </p:txBody>
      </p:sp>
      <p:grpSp>
        <p:nvGrpSpPr>
          <p:cNvPr id="765" name="Google Shape;765;g3e36394e788_0_574"/>
          <p:cNvGrpSpPr/>
          <p:nvPr/>
        </p:nvGrpSpPr>
        <p:grpSpPr>
          <a:xfrm>
            <a:off x="-18000" y="5842892"/>
            <a:ext cx="9942000" cy="1014788"/>
            <a:chOff x="-21650" y="5927750"/>
            <a:chExt cx="9942000" cy="930230"/>
          </a:xfrm>
        </p:grpSpPr>
        <p:sp>
          <p:nvSpPr>
            <p:cNvPr id="766" name="Google Shape;766;g3e36394e788_0_574"/>
            <p:cNvSpPr/>
            <p:nvPr/>
          </p:nvSpPr>
          <p:spPr>
            <a:xfrm>
              <a:off x="5239747" y="5949280"/>
              <a:ext cx="4680600" cy="9087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Arial"/>
                  <a:ea typeface="Arial"/>
                  <a:cs typeface="Arial"/>
                  <a:sym typeface="Arial"/>
                </a:rPr>
                <a:t>25th Annual International Conference on Digital Government Research (dg.o 2024)</a:t>
              </a:r>
              <a:endParaRPr b="0" i="0" sz="1800" u="none" cap="none" strike="noStrike">
                <a:solidFill>
                  <a:schemeClr val="lt1"/>
                </a:solidFill>
                <a:latin typeface="Arial"/>
                <a:ea typeface="Arial"/>
                <a:cs typeface="Arial"/>
                <a:sym typeface="Arial"/>
              </a:endParaRPr>
            </a:p>
          </p:txBody>
        </p:sp>
        <p:pic>
          <p:nvPicPr>
            <p:cNvPr id="767" name="Google Shape;767;g3e36394e788_0_574"/>
            <p:cNvPicPr preferRelativeResize="0"/>
            <p:nvPr/>
          </p:nvPicPr>
          <p:blipFill rotWithShape="1">
            <a:blip r:embed="rId4">
              <a:alphaModFix/>
            </a:blip>
            <a:srcRect b="-112533" l="-23390" r="23390" t="137710"/>
            <a:stretch/>
          </p:blipFill>
          <p:spPr>
            <a:xfrm>
              <a:off x="0" y="6007596"/>
              <a:ext cx="9920265" cy="792088"/>
            </a:xfrm>
            <a:prstGeom prst="rect">
              <a:avLst/>
            </a:prstGeom>
            <a:noFill/>
            <a:ln>
              <a:noFill/>
            </a:ln>
          </p:spPr>
        </p:pic>
        <p:sp>
          <p:nvSpPr>
            <p:cNvPr id="768" name="Google Shape;768;g3e36394e788_0_574"/>
            <p:cNvSpPr/>
            <p:nvPr/>
          </p:nvSpPr>
          <p:spPr>
            <a:xfrm>
              <a:off x="-21650" y="5927750"/>
              <a:ext cx="9942000" cy="9087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pic>
        <p:nvPicPr>
          <p:cNvPr id="769" name="Google Shape;769;g3e36394e788_0_574"/>
          <p:cNvPicPr preferRelativeResize="0"/>
          <p:nvPr/>
        </p:nvPicPr>
        <p:blipFill rotWithShape="1">
          <a:blip r:embed="rId5">
            <a:alphaModFix/>
          </a:blip>
          <a:srcRect b="0" l="0" r="0" t="0"/>
          <a:stretch/>
        </p:blipFill>
        <p:spPr>
          <a:xfrm>
            <a:off x="218750" y="6052376"/>
            <a:ext cx="1823009" cy="470325"/>
          </a:xfrm>
          <a:prstGeom prst="rect">
            <a:avLst/>
          </a:prstGeom>
          <a:noFill/>
          <a:ln>
            <a:noFill/>
          </a:ln>
        </p:spPr>
      </p:pic>
      <p:pic>
        <p:nvPicPr>
          <p:cNvPr id="770" name="Google Shape;770;g3e36394e788_0_574"/>
          <p:cNvPicPr preferRelativeResize="0"/>
          <p:nvPr/>
        </p:nvPicPr>
        <p:blipFill rotWithShape="1">
          <a:blip r:embed="rId6">
            <a:alphaModFix/>
          </a:blip>
          <a:srcRect b="0" l="0" r="0" t="0"/>
          <a:stretch/>
        </p:blipFill>
        <p:spPr>
          <a:xfrm>
            <a:off x="8015000" y="6038017"/>
            <a:ext cx="1811830" cy="624575"/>
          </a:xfrm>
          <a:prstGeom prst="rect">
            <a:avLst/>
          </a:prstGeom>
          <a:noFill/>
          <a:ln>
            <a:noFill/>
          </a:ln>
        </p:spPr>
      </p:pic>
      <p:sp>
        <p:nvSpPr>
          <p:cNvPr id="771" name="Google Shape;771;g3e36394e788_0_574"/>
          <p:cNvSpPr txBox="1"/>
          <p:nvPr>
            <p:ph type="title"/>
          </p:nvPr>
        </p:nvSpPr>
        <p:spPr>
          <a:xfrm>
            <a:off x="327750" y="184872"/>
            <a:ext cx="9237600" cy="693600"/>
          </a:xfrm>
          <a:prstGeom prst="rect">
            <a:avLst/>
          </a:prstGeom>
          <a:solidFill>
            <a:srgbClr val="000000">
              <a:alpha val="0"/>
            </a:srgbClr>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sz="2440">
                <a:latin typeface="Arial"/>
                <a:ea typeface="Arial"/>
                <a:cs typeface="Arial"/>
                <a:sym typeface="Arial"/>
              </a:rPr>
              <a:t>3. </a:t>
            </a:r>
            <a:r>
              <a:rPr b="1" lang="en-US" sz="2440">
                <a:solidFill>
                  <a:srgbClr val="1E4E79"/>
                </a:solidFill>
                <a:latin typeface="Arial"/>
                <a:ea typeface="Arial"/>
                <a:cs typeface="Arial"/>
                <a:sym typeface="Arial"/>
              </a:rPr>
              <a:t>Examples of MAS and Adoption of the Responsibility and Accountability Principle</a:t>
            </a:r>
            <a:endParaRPr b="1" sz="2440">
              <a:solidFill>
                <a:srgbClr val="1E4E79"/>
              </a:solidFill>
              <a:latin typeface="Arial"/>
              <a:ea typeface="Arial"/>
              <a:cs typeface="Arial"/>
              <a:sym typeface="Arial"/>
            </a:endParaRPr>
          </a:p>
        </p:txBody>
      </p:sp>
      <p:grpSp>
        <p:nvGrpSpPr>
          <p:cNvPr id="772" name="Google Shape;772;g3e36394e788_0_574"/>
          <p:cNvGrpSpPr/>
          <p:nvPr/>
        </p:nvGrpSpPr>
        <p:grpSpPr>
          <a:xfrm>
            <a:off x="285750" y="1333500"/>
            <a:ext cx="4524300" cy="3238500"/>
            <a:chOff x="285750" y="1333500"/>
            <a:chExt cx="4524300" cy="3238500"/>
          </a:xfrm>
        </p:grpSpPr>
        <p:sp>
          <p:nvSpPr>
            <p:cNvPr id="773" name="Google Shape;773;g3e36394e788_0_574"/>
            <p:cNvSpPr/>
            <p:nvPr/>
          </p:nvSpPr>
          <p:spPr>
            <a:xfrm>
              <a:off x="285750" y="1333500"/>
              <a:ext cx="4524300" cy="3238500"/>
            </a:xfrm>
            <a:prstGeom prst="roundRect">
              <a:avLst>
                <a:gd fmla="val 4411" name="adj"/>
              </a:avLst>
            </a:prstGeom>
            <a:solidFill>
              <a:srgbClr val="F8FAFC"/>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74" name="Google Shape;774;g3e36394e788_0_574"/>
            <p:cNvSpPr txBox="1"/>
            <p:nvPr/>
          </p:nvSpPr>
          <p:spPr>
            <a:xfrm>
              <a:off x="476250" y="1559052"/>
              <a:ext cx="381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2400">
                  <a:solidFill>
                    <a:srgbClr val="1E4E79"/>
                  </a:solidFill>
                  <a:latin typeface="Material Icons"/>
                  <a:ea typeface="Material Icons"/>
                  <a:cs typeface="Material Icons"/>
                  <a:sym typeface="Material Icons"/>
                </a:rPr>
                <a:t>groups</a:t>
              </a:r>
              <a:endParaRPr sz="2400">
                <a:solidFill>
                  <a:srgbClr val="1E4E79"/>
                </a:solidFill>
                <a:latin typeface="Material Icons"/>
                <a:ea typeface="Material Icons"/>
                <a:cs typeface="Material Icons"/>
                <a:sym typeface="Material Icons"/>
              </a:endParaRPr>
            </a:p>
          </p:txBody>
        </p:sp>
        <p:sp>
          <p:nvSpPr>
            <p:cNvPr id="775" name="Google Shape;775;g3e36394e788_0_574"/>
            <p:cNvSpPr txBox="1"/>
            <p:nvPr/>
          </p:nvSpPr>
          <p:spPr>
            <a:xfrm>
              <a:off x="476250" y="2047875"/>
              <a:ext cx="4143300" cy="2286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800">
                  <a:solidFill>
                    <a:srgbClr val="1E4E79"/>
                  </a:solidFill>
                  <a:latin typeface="Arial"/>
                  <a:ea typeface="Arial"/>
                  <a:cs typeface="Arial"/>
                  <a:sym typeface="Arial"/>
                </a:rPr>
                <a:t>Degrees of Responsibility</a:t>
              </a:r>
              <a:endParaRPr b="1" sz="1800">
                <a:solidFill>
                  <a:srgbClr val="1E4E79"/>
                </a:solidFill>
                <a:latin typeface="Arial"/>
                <a:ea typeface="Arial"/>
                <a:cs typeface="Arial"/>
                <a:sym typeface="Arial"/>
              </a:endParaRPr>
            </a:p>
            <a:p>
              <a:pPr indent="0" lvl="0" marL="0" rtl="0" algn="l">
                <a:spcBef>
                  <a:spcPts val="750"/>
                </a:spcBef>
                <a:spcAft>
                  <a:spcPts val="0"/>
                </a:spcAft>
                <a:buNone/>
              </a:pPr>
              <a:r>
                <a:rPr b="0" lang="en-US" sz="1300">
                  <a:solidFill>
                    <a:srgbClr val="334155"/>
                  </a:solidFill>
                  <a:latin typeface="Arial"/>
                  <a:ea typeface="Arial"/>
                  <a:cs typeface="Arial"/>
                  <a:sym typeface="Arial"/>
                </a:rPr>
                <a:t>Each agent holds a portion of responsibility for the success or failure of the task.</a:t>
              </a:r>
              <a:endParaRPr b="0" sz="1300">
                <a:solidFill>
                  <a:srgbClr val="334155"/>
                </a:solidFill>
                <a:latin typeface="Arial"/>
                <a:ea typeface="Arial"/>
                <a:cs typeface="Arial"/>
                <a:sym typeface="Arial"/>
              </a:endParaRPr>
            </a:p>
            <a:p>
              <a:pPr indent="-304800" lvl="0" marL="457200" rtl="0" algn="l">
                <a:spcBef>
                  <a:spcPts val="750"/>
                </a:spcBef>
                <a:spcAft>
                  <a:spcPts val="450"/>
                </a:spcAft>
                <a:buClr>
                  <a:srgbClr val="475569"/>
                </a:buClr>
                <a:buSzPts val="1200"/>
                <a:buFont typeface="Arial"/>
                <a:buChar char="●"/>
              </a:pPr>
              <a:r>
                <a:rPr b="0" lang="en-US" sz="1200">
                  <a:solidFill>
                    <a:srgbClr val="475569"/>
                  </a:solidFill>
                  <a:latin typeface="Arial"/>
                  <a:ea typeface="Arial"/>
                  <a:cs typeface="Arial"/>
                  <a:sym typeface="Arial"/>
                </a:rPr>
                <a:t>Challenges in assigning different degrees of responsibility to agents.</a:t>
              </a:r>
              <a:endParaRPr b="0" sz="1200">
                <a:solidFill>
                  <a:srgbClr val="475569"/>
                </a:solidFill>
                <a:latin typeface="Arial"/>
                <a:ea typeface="Arial"/>
                <a:cs typeface="Arial"/>
                <a:sym typeface="Arial"/>
              </a:endParaRPr>
            </a:p>
          </p:txBody>
        </p:sp>
      </p:grpSp>
      <p:grpSp>
        <p:nvGrpSpPr>
          <p:cNvPr id="776" name="Google Shape;776;g3e36394e788_0_574"/>
          <p:cNvGrpSpPr/>
          <p:nvPr/>
        </p:nvGrpSpPr>
        <p:grpSpPr>
          <a:xfrm>
            <a:off x="5095875" y="1333500"/>
            <a:ext cx="4524300" cy="3238500"/>
            <a:chOff x="5095875" y="1333500"/>
            <a:chExt cx="4524300" cy="3238500"/>
          </a:xfrm>
        </p:grpSpPr>
        <p:sp>
          <p:nvSpPr>
            <p:cNvPr id="777" name="Google Shape;777;g3e36394e788_0_574"/>
            <p:cNvSpPr/>
            <p:nvPr/>
          </p:nvSpPr>
          <p:spPr>
            <a:xfrm>
              <a:off x="5095875" y="1333500"/>
              <a:ext cx="4524300" cy="3238500"/>
            </a:xfrm>
            <a:prstGeom prst="roundRect">
              <a:avLst>
                <a:gd fmla="val 4411" name="adj"/>
              </a:avLst>
            </a:prstGeom>
            <a:solidFill>
              <a:srgbClr val="F8FAFC"/>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78" name="Google Shape;778;g3e36394e788_0_574"/>
            <p:cNvSpPr txBox="1"/>
            <p:nvPr/>
          </p:nvSpPr>
          <p:spPr>
            <a:xfrm>
              <a:off x="5286375" y="1559052"/>
              <a:ext cx="381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2400">
                  <a:solidFill>
                    <a:srgbClr val="1E4E79"/>
                  </a:solidFill>
                  <a:latin typeface="Material Icons"/>
                  <a:ea typeface="Material Icons"/>
                  <a:cs typeface="Material Icons"/>
                  <a:sym typeface="Material Icons"/>
                </a:rPr>
                <a:t>handshake</a:t>
              </a:r>
              <a:endParaRPr sz="2400">
                <a:solidFill>
                  <a:srgbClr val="1E4E79"/>
                </a:solidFill>
                <a:latin typeface="Material Icons"/>
                <a:ea typeface="Material Icons"/>
                <a:cs typeface="Material Icons"/>
                <a:sym typeface="Material Icons"/>
              </a:endParaRPr>
            </a:p>
          </p:txBody>
        </p:sp>
        <p:sp>
          <p:nvSpPr>
            <p:cNvPr id="779" name="Google Shape;779;g3e36394e788_0_574"/>
            <p:cNvSpPr txBox="1"/>
            <p:nvPr/>
          </p:nvSpPr>
          <p:spPr>
            <a:xfrm>
              <a:off x="5286375" y="2047875"/>
              <a:ext cx="4143300" cy="2286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800">
                  <a:solidFill>
                    <a:srgbClr val="1E4E79"/>
                  </a:solidFill>
                  <a:latin typeface="Arial"/>
                  <a:ea typeface="Arial"/>
                  <a:cs typeface="Arial"/>
                  <a:sym typeface="Arial"/>
                </a:rPr>
                <a:t>Accountability Process</a:t>
              </a:r>
              <a:endParaRPr b="1" sz="1800">
                <a:solidFill>
                  <a:srgbClr val="1E4E79"/>
                </a:solidFill>
                <a:latin typeface="Arial"/>
                <a:ea typeface="Arial"/>
                <a:cs typeface="Arial"/>
                <a:sym typeface="Arial"/>
              </a:endParaRPr>
            </a:p>
            <a:p>
              <a:pPr indent="0" lvl="0" marL="0" rtl="0" algn="l">
                <a:spcBef>
                  <a:spcPts val="750"/>
                </a:spcBef>
                <a:spcAft>
                  <a:spcPts val="0"/>
                </a:spcAft>
                <a:buNone/>
              </a:pPr>
              <a:r>
                <a:rPr b="0" lang="en-US" sz="1300">
                  <a:solidFill>
                    <a:srgbClr val="334155"/>
                  </a:solidFill>
                  <a:latin typeface="Arial"/>
                  <a:ea typeface="Arial"/>
                  <a:cs typeface="Arial"/>
                  <a:sym typeface="Arial"/>
                </a:rPr>
                <a:t>Accountability within the negotiation process ensures agents justify their actions.</a:t>
              </a:r>
              <a:endParaRPr b="0" sz="1300">
                <a:solidFill>
                  <a:srgbClr val="334155"/>
                </a:solidFill>
                <a:latin typeface="Arial"/>
                <a:ea typeface="Arial"/>
                <a:cs typeface="Arial"/>
                <a:sym typeface="Arial"/>
              </a:endParaRPr>
            </a:p>
            <a:p>
              <a:pPr indent="-304800" lvl="0" marL="457200" rtl="0" algn="l">
                <a:spcBef>
                  <a:spcPts val="750"/>
                </a:spcBef>
                <a:spcAft>
                  <a:spcPts val="450"/>
                </a:spcAft>
                <a:buClr>
                  <a:srgbClr val="475569"/>
                </a:buClr>
                <a:buSzPts val="1200"/>
                <a:buFont typeface="Arial"/>
                <a:buChar char="●"/>
              </a:pPr>
              <a:r>
                <a:rPr b="0" lang="en-US" sz="1200">
                  <a:solidFill>
                    <a:srgbClr val="475569"/>
                  </a:solidFill>
                  <a:latin typeface="Arial"/>
                  <a:ea typeface="Arial"/>
                  <a:cs typeface="Arial"/>
                  <a:sym typeface="Arial"/>
                </a:rPr>
                <a:t>Agents must provide justification if they violate commitments made during negotiations.</a:t>
              </a:r>
              <a:endParaRPr b="0" sz="1200">
                <a:solidFill>
                  <a:srgbClr val="475569"/>
                </a:solidFill>
                <a:latin typeface="Arial"/>
                <a:ea typeface="Arial"/>
                <a:cs typeface="Arial"/>
                <a:sym typeface="Arial"/>
              </a:endParaRPr>
            </a:p>
          </p:txBody>
        </p:sp>
      </p:grpSp>
      <p:sp>
        <p:nvSpPr>
          <p:cNvPr id="780" name="Google Shape;780;g3e36394e788_0_574"/>
          <p:cNvSpPr txBox="1"/>
          <p:nvPr/>
        </p:nvSpPr>
        <p:spPr>
          <a:xfrm>
            <a:off x="285750" y="5238750"/>
            <a:ext cx="9334500" cy="3810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b="1" lang="en-US" sz="1000">
                <a:solidFill>
                  <a:srgbClr val="64748B"/>
                </a:solidFill>
                <a:latin typeface="Arial"/>
                <a:ea typeface="Arial"/>
                <a:cs typeface="Arial"/>
                <a:sym typeface="Arial"/>
              </a:rPr>
              <a:t>Sources: </a:t>
            </a:r>
            <a:r>
              <a:rPr b="0" lang="en-US" sz="1000">
                <a:solidFill>
                  <a:srgbClr val="64748B"/>
                </a:solidFill>
                <a:latin typeface="Arial"/>
                <a:ea typeface="Arial"/>
                <a:cs typeface="Arial"/>
                <a:sym typeface="Arial"/>
              </a:rPr>
              <a:t>[16, 17, 18]</a:t>
            </a:r>
            <a:endParaRPr b="1" sz="1000">
              <a:solidFill>
                <a:srgbClr val="64748B"/>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4" name="Shape 784"/>
        <p:cNvGrpSpPr/>
        <p:nvPr/>
      </p:nvGrpSpPr>
      <p:grpSpPr>
        <a:xfrm>
          <a:off x="0" y="0"/>
          <a:ext cx="0" cy="0"/>
          <a:chOff x="0" y="0"/>
          <a:chExt cx="0" cy="0"/>
        </a:xfrm>
      </p:grpSpPr>
      <p:sp>
        <p:nvSpPr>
          <p:cNvPr id="785" name="Google Shape;785;g3e36394e788_0_585"/>
          <p:cNvSpPr/>
          <p:nvPr/>
        </p:nvSpPr>
        <p:spPr>
          <a:xfrm>
            <a:off x="0" y="768088"/>
            <a:ext cx="9906000" cy="6090000"/>
          </a:xfrm>
          <a:prstGeom prst="rect">
            <a:avLst/>
          </a:prstGeom>
          <a:solidFill>
            <a:schemeClr val="lt1">
              <a:alpha val="6000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786" name="Google Shape;786;g3e36394e788_0_585"/>
          <p:cNvSpPr/>
          <p:nvPr/>
        </p:nvSpPr>
        <p:spPr>
          <a:xfrm>
            <a:off x="-13050" y="5921896"/>
            <a:ext cx="9919200" cy="936000"/>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787" name="Google Shape;787;g3e36394e788_0_585"/>
          <p:cNvPicPr preferRelativeResize="0"/>
          <p:nvPr/>
        </p:nvPicPr>
        <p:blipFill rotWithShape="1">
          <a:blip r:embed="rId3">
            <a:alphaModFix/>
          </a:blip>
          <a:srcRect b="0" l="17788" r="19906" t="65239"/>
          <a:stretch/>
        </p:blipFill>
        <p:spPr>
          <a:xfrm>
            <a:off x="920552" y="6155677"/>
            <a:ext cx="1568747" cy="665761"/>
          </a:xfrm>
          <a:prstGeom prst="rect">
            <a:avLst/>
          </a:prstGeom>
          <a:noFill/>
          <a:ln>
            <a:noFill/>
          </a:ln>
        </p:spPr>
      </p:pic>
      <p:pic>
        <p:nvPicPr>
          <p:cNvPr id="788" name="Google Shape;788;g3e36394e788_0_585"/>
          <p:cNvPicPr preferRelativeResize="0"/>
          <p:nvPr/>
        </p:nvPicPr>
        <p:blipFill rotWithShape="1">
          <a:blip r:embed="rId3">
            <a:alphaModFix/>
          </a:blip>
          <a:srcRect b="34761" l="25519" r="25620" t="3570"/>
          <a:stretch/>
        </p:blipFill>
        <p:spPr>
          <a:xfrm>
            <a:off x="194947" y="6056653"/>
            <a:ext cx="725605" cy="696647"/>
          </a:xfrm>
          <a:prstGeom prst="rect">
            <a:avLst/>
          </a:prstGeom>
          <a:noFill/>
          <a:ln>
            <a:noFill/>
          </a:ln>
        </p:spPr>
      </p:pic>
      <p:sp>
        <p:nvSpPr>
          <p:cNvPr id="789" name="Google Shape;789;g3e36394e788_0_585"/>
          <p:cNvSpPr/>
          <p:nvPr/>
        </p:nvSpPr>
        <p:spPr>
          <a:xfrm>
            <a:off x="4950907" y="5989477"/>
            <a:ext cx="4953000" cy="8310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400"/>
              <a:buFont typeface="Arial"/>
              <a:buNone/>
            </a:pPr>
            <a:r>
              <a:rPr b="1" i="0" lang="en-US" sz="2400" u="none" cap="none" strike="noStrike">
                <a:solidFill>
                  <a:schemeClr val="lt1"/>
                </a:solidFill>
                <a:latin typeface="Arial"/>
                <a:ea typeface="Arial"/>
                <a:cs typeface="Arial"/>
                <a:sym typeface="Arial"/>
              </a:rPr>
              <a:t>IEEE Intelligence and Security Informatics (ISI) 2018</a:t>
            </a:r>
            <a:endParaRPr b="0" i="0" sz="1400" u="none" cap="none" strike="noStrike">
              <a:solidFill>
                <a:srgbClr val="000000"/>
              </a:solidFill>
              <a:latin typeface="Arial"/>
              <a:ea typeface="Arial"/>
              <a:cs typeface="Arial"/>
              <a:sym typeface="Arial"/>
            </a:endParaRPr>
          </a:p>
        </p:txBody>
      </p:sp>
      <p:grpSp>
        <p:nvGrpSpPr>
          <p:cNvPr id="790" name="Google Shape;790;g3e36394e788_0_585"/>
          <p:cNvGrpSpPr/>
          <p:nvPr/>
        </p:nvGrpSpPr>
        <p:grpSpPr>
          <a:xfrm>
            <a:off x="-18000" y="5842892"/>
            <a:ext cx="9942000" cy="1014788"/>
            <a:chOff x="-21650" y="5927750"/>
            <a:chExt cx="9942000" cy="930230"/>
          </a:xfrm>
        </p:grpSpPr>
        <p:sp>
          <p:nvSpPr>
            <p:cNvPr id="791" name="Google Shape;791;g3e36394e788_0_585"/>
            <p:cNvSpPr/>
            <p:nvPr/>
          </p:nvSpPr>
          <p:spPr>
            <a:xfrm>
              <a:off x="5239747" y="5949280"/>
              <a:ext cx="4680600" cy="9087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Arial"/>
                  <a:ea typeface="Arial"/>
                  <a:cs typeface="Arial"/>
                  <a:sym typeface="Arial"/>
                </a:rPr>
                <a:t>25th Annual International Conference on Digital Government Research (dg.o 2024)</a:t>
              </a:r>
              <a:endParaRPr b="0" i="0" sz="1800" u="none" cap="none" strike="noStrike">
                <a:solidFill>
                  <a:schemeClr val="lt1"/>
                </a:solidFill>
                <a:latin typeface="Arial"/>
                <a:ea typeface="Arial"/>
                <a:cs typeface="Arial"/>
                <a:sym typeface="Arial"/>
              </a:endParaRPr>
            </a:p>
          </p:txBody>
        </p:sp>
        <p:pic>
          <p:nvPicPr>
            <p:cNvPr id="792" name="Google Shape;792;g3e36394e788_0_585"/>
            <p:cNvPicPr preferRelativeResize="0"/>
            <p:nvPr/>
          </p:nvPicPr>
          <p:blipFill rotWithShape="1">
            <a:blip r:embed="rId4">
              <a:alphaModFix/>
            </a:blip>
            <a:srcRect b="-112533" l="-23390" r="23390" t="137710"/>
            <a:stretch/>
          </p:blipFill>
          <p:spPr>
            <a:xfrm>
              <a:off x="0" y="6007596"/>
              <a:ext cx="9920265" cy="792088"/>
            </a:xfrm>
            <a:prstGeom prst="rect">
              <a:avLst/>
            </a:prstGeom>
            <a:noFill/>
            <a:ln>
              <a:noFill/>
            </a:ln>
          </p:spPr>
        </p:pic>
        <p:sp>
          <p:nvSpPr>
            <p:cNvPr id="793" name="Google Shape;793;g3e36394e788_0_585"/>
            <p:cNvSpPr/>
            <p:nvPr/>
          </p:nvSpPr>
          <p:spPr>
            <a:xfrm>
              <a:off x="-21650" y="5927750"/>
              <a:ext cx="9942000" cy="9087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pic>
        <p:nvPicPr>
          <p:cNvPr id="794" name="Google Shape;794;g3e36394e788_0_585"/>
          <p:cNvPicPr preferRelativeResize="0"/>
          <p:nvPr/>
        </p:nvPicPr>
        <p:blipFill rotWithShape="1">
          <a:blip r:embed="rId5">
            <a:alphaModFix/>
          </a:blip>
          <a:srcRect b="0" l="0" r="0" t="0"/>
          <a:stretch/>
        </p:blipFill>
        <p:spPr>
          <a:xfrm>
            <a:off x="218750" y="6052376"/>
            <a:ext cx="1823009" cy="470325"/>
          </a:xfrm>
          <a:prstGeom prst="rect">
            <a:avLst/>
          </a:prstGeom>
          <a:noFill/>
          <a:ln>
            <a:noFill/>
          </a:ln>
        </p:spPr>
      </p:pic>
      <p:pic>
        <p:nvPicPr>
          <p:cNvPr id="795" name="Google Shape;795;g3e36394e788_0_585"/>
          <p:cNvPicPr preferRelativeResize="0"/>
          <p:nvPr/>
        </p:nvPicPr>
        <p:blipFill rotWithShape="1">
          <a:blip r:embed="rId6">
            <a:alphaModFix/>
          </a:blip>
          <a:srcRect b="0" l="0" r="0" t="0"/>
          <a:stretch/>
        </p:blipFill>
        <p:spPr>
          <a:xfrm>
            <a:off x="8015000" y="6038017"/>
            <a:ext cx="1811830" cy="624575"/>
          </a:xfrm>
          <a:prstGeom prst="rect">
            <a:avLst/>
          </a:prstGeom>
          <a:noFill/>
          <a:ln>
            <a:noFill/>
          </a:ln>
        </p:spPr>
      </p:pic>
      <p:sp>
        <p:nvSpPr>
          <p:cNvPr id="796" name="Google Shape;796;g3e36394e788_0_585"/>
          <p:cNvSpPr txBox="1"/>
          <p:nvPr>
            <p:ph type="title"/>
          </p:nvPr>
        </p:nvSpPr>
        <p:spPr>
          <a:xfrm>
            <a:off x="41075" y="196650"/>
            <a:ext cx="10035600" cy="693600"/>
          </a:xfrm>
          <a:prstGeom prst="rect">
            <a:avLst/>
          </a:prstGeom>
          <a:solidFill>
            <a:srgbClr val="000000">
              <a:alpha val="0"/>
            </a:srgbClr>
          </a:solidFill>
          <a:ln>
            <a:noFill/>
          </a:ln>
        </p:spPr>
        <p:txBody>
          <a:bodyPr anchorCtr="0" anchor="ctr" bIns="45700" lIns="91400" spcFirstLastPara="1" rIns="91400" wrap="square" tIns="45700">
            <a:noAutofit/>
          </a:bodyPr>
          <a:lstStyle/>
          <a:p>
            <a:pPr indent="0" lvl="0" marL="0" rtl="0" algn="l">
              <a:spcBef>
                <a:spcPts val="0"/>
              </a:spcBef>
              <a:spcAft>
                <a:spcPts val="0"/>
              </a:spcAft>
              <a:buNone/>
            </a:pPr>
            <a:r>
              <a:rPr lang="en-US" sz="2400">
                <a:latin typeface="Arial"/>
                <a:ea typeface="Arial"/>
                <a:cs typeface="Arial"/>
                <a:sym typeface="Arial"/>
              </a:rPr>
              <a:t>3. </a:t>
            </a:r>
            <a:r>
              <a:rPr b="1" i="0" lang="en-US" sz="2400">
                <a:solidFill>
                  <a:srgbClr val="1E4E79"/>
                </a:solidFill>
                <a:latin typeface="Arial"/>
                <a:ea typeface="Arial"/>
                <a:cs typeface="Arial"/>
                <a:sym typeface="Arial"/>
              </a:rPr>
              <a:t>EP5 Principle: Robustness and Safety</a:t>
            </a:r>
            <a:endParaRPr b="1" i="0" sz="2400">
              <a:solidFill>
                <a:srgbClr val="1E4E79"/>
              </a:solidFill>
              <a:latin typeface="Arial"/>
              <a:ea typeface="Arial"/>
              <a:cs typeface="Arial"/>
              <a:sym typeface="Arial"/>
            </a:endParaRPr>
          </a:p>
        </p:txBody>
      </p:sp>
      <p:grpSp>
        <p:nvGrpSpPr>
          <p:cNvPr id="797" name="Google Shape;797;g3e36394e788_0_585"/>
          <p:cNvGrpSpPr/>
          <p:nvPr/>
        </p:nvGrpSpPr>
        <p:grpSpPr>
          <a:xfrm>
            <a:off x="285750" y="1333500"/>
            <a:ext cx="9334425" cy="3238500"/>
            <a:chOff x="285750" y="1333500"/>
            <a:chExt cx="9334425" cy="3238500"/>
          </a:xfrm>
        </p:grpSpPr>
        <p:sp>
          <p:nvSpPr>
            <p:cNvPr id="798" name="Google Shape;798;g3e36394e788_0_585"/>
            <p:cNvSpPr/>
            <p:nvPr/>
          </p:nvSpPr>
          <p:spPr>
            <a:xfrm>
              <a:off x="285750" y="1333500"/>
              <a:ext cx="4524300" cy="3238500"/>
            </a:xfrm>
            <a:prstGeom prst="roundRect">
              <a:avLst>
                <a:gd fmla="val 4411" name="adj"/>
              </a:avLst>
            </a:prstGeom>
            <a:solidFill>
              <a:srgbClr val="F8FAFC"/>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99" name="Google Shape;799;g3e36394e788_0_585"/>
            <p:cNvSpPr txBox="1"/>
            <p:nvPr/>
          </p:nvSpPr>
          <p:spPr>
            <a:xfrm>
              <a:off x="476250" y="1606677"/>
              <a:ext cx="381000" cy="381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lang="en-US" sz="2400">
                  <a:solidFill>
                    <a:srgbClr val="1E4E79"/>
                  </a:solidFill>
                  <a:latin typeface="Material Icons"/>
                  <a:ea typeface="Material Icons"/>
                  <a:cs typeface="Material Icons"/>
                  <a:sym typeface="Material Icons"/>
                </a:rPr>
                <a:t>security</a:t>
              </a:r>
              <a:endParaRPr sz="2400">
                <a:solidFill>
                  <a:srgbClr val="1E4E79"/>
                </a:solidFill>
                <a:latin typeface="Material Icons"/>
                <a:ea typeface="Material Icons"/>
                <a:cs typeface="Material Icons"/>
                <a:sym typeface="Material Icons"/>
              </a:endParaRPr>
            </a:p>
          </p:txBody>
        </p:sp>
        <p:sp>
          <p:nvSpPr>
            <p:cNvPr id="800" name="Google Shape;800;g3e36394e788_0_585"/>
            <p:cNvSpPr txBox="1"/>
            <p:nvPr/>
          </p:nvSpPr>
          <p:spPr>
            <a:xfrm>
              <a:off x="476250" y="2047875"/>
              <a:ext cx="4143300" cy="22860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en-US" sz="1800">
                  <a:solidFill>
                    <a:srgbClr val="1E4E79"/>
                  </a:solidFill>
                  <a:latin typeface="Arial"/>
                  <a:ea typeface="Arial"/>
                  <a:cs typeface="Arial"/>
                  <a:sym typeface="Arial"/>
                </a:rPr>
                <a:t>Robustness &amp; Reliability</a:t>
              </a:r>
              <a:endParaRPr b="1" sz="1800">
                <a:solidFill>
                  <a:srgbClr val="1E4E79"/>
                </a:solidFill>
                <a:latin typeface="Arial"/>
                <a:ea typeface="Arial"/>
                <a:cs typeface="Arial"/>
                <a:sym typeface="Arial"/>
              </a:endParaRPr>
            </a:p>
            <a:p>
              <a:pPr indent="0" lvl="0" marL="0" rtl="0" algn="l">
                <a:spcBef>
                  <a:spcPts val="750"/>
                </a:spcBef>
                <a:spcAft>
                  <a:spcPts val="0"/>
                </a:spcAft>
                <a:buNone/>
              </a:pPr>
              <a:r>
                <a:rPr b="0" lang="en-US" sz="1300">
                  <a:solidFill>
                    <a:srgbClr val="334155"/>
                  </a:solidFill>
                  <a:latin typeface="Arial"/>
                  <a:ea typeface="Arial"/>
                  <a:cs typeface="Arial"/>
                  <a:sym typeface="Arial"/>
                </a:rPr>
                <a:t>Ensures AI or </a:t>
              </a:r>
              <a:r>
                <a:rPr lang="en-US" sz="1300">
                  <a:solidFill>
                    <a:srgbClr val="334155"/>
                  </a:solidFill>
                </a:rPr>
                <a:t>system</a:t>
              </a:r>
              <a:r>
                <a:rPr lang="en-US" sz="1300">
                  <a:solidFill>
                    <a:srgbClr val="334155"/>
                  </a:solidFill>
                </a:rPr>
                <a:t> </a:t>
              </a:r>
              <a:r>
                <a:rPr b="0" lang="en-US" sz="1300">
                  <a:solidFill>
                    <a:srgbClr val="334155"/>
                  </a:solidFill>
                  <a:latin typeface="Arial"/>
                  <a:ea typeface="Arial"/>
                  <a:cs typeface="Arial"/>
                  <a:sym typeface="Arial"/>
                </a:rPr>
                <a:t>functions as </a:t>
              </a:r>
              <a:r>
                <a:rPr b="1" lang="en-US" sz="1300">
                  <a:solidFill>
                    <a:srgbClr val="4472C4"/>
                  </a:solidFill>
                  <a:latin typeface="Arial"/>
                  <a:ea typeface="Arial"/>
                  <a:cs typeface="Arial"/>
                  <a:sym typeface="Arial"/>
                </a:rPr>
                <a:t>intended</a:t>
              </a:r>
              <a:r>
                <a:rPr b="0" lang="en-US" sz="1300">
                  <a:solidFill>
                    <a:srgbClr val="334155"/>
                  </a:solidFill>
                  <a:latin typeface="Arial"/>
                  <a:ea typeface="Arial"/>
                  <a:cs typeface="Arial"/>
                  <a:sym typeface="Arial"/>
                </a:rPr>
                <a:t> even under </a:t>
              </a:r>
              <a:r>
                <a:rPr b="1" lang="en-US" sz="1300">
                  <a:solidFill>
                    <a:srgbClr val="4472C4"/>
                  </a:solidFill>
                  <a:latin typeface="Arial"/>
                  <a:ea typeface="Arial"/>
                  <a:cs typeface="Arial"/>
                  <a:sym typeface="Arial"/>
                </a:rPr>
                <a:t>adverse</a:t>
              </a:r>
              <a:r>
                <a:rPr b="0" lang="en-US" sz="1300">
                  <a:solidFill>
                    <a:srgbClr val="334155"/>
                  </a:solidFill>
                  <a:latin typeface="Arial"/>
                  <a:ea typeface="Arial"/>
                  <a:cs typeface="Arial"/>
                  <a:sym typeface="Arial"/>
                </a:rPr>
                <a:t> and </a:t>
              </a:r>
              <a:r>
                <a:rPr b="1" lang="en-US" sz="1300">
                  <a:solidFill>
                    <a:srgbClr val="4472C4"/>
                  </a:solidFill>
                  <a:latin typeface="Arial"/>
                  <a:ea typeface="Arial"/>
                  <a:cs typeface="Arial"/>
                  <a:sym typeface="Arial"/>
                </a:rPr>
                <a:t>unpredictable</a:t>
              </a:r>
              <a:r>
                <a:rPr b="0" lang="en-US" sz="1300">
                  <a:solidFill>
                    <a:srgbClr val="334155"/>
                  </a:solidFill>
                  <a:latin typeface="Arial"/>
                  <a:ea typeface="Arial"/>
                  <a:cs typeface="Arial"/>
                  <a:sym typeface="Arial"/>
                </a:rPr>
                <a:t> conditions.</a:t>
              </a:r>
              <a:endParaRPr b="0" sz="1300">
                <a:solidFill>
                  <a:srgbClr val="334155"/>
                </a:solidFill>
                <a:latin typeface="Arial"/>
                <a:ea typeface="Arial"/>
                <a:cs typeface="Arial"/>
                <a:sym typeface="Arial"/>
              </a:endParaRPr>
            </a:p>
          </p:txBody>
        </p:sp>
        <p:sp>
          <p:nvSpPr>
            <p:cNvPr id="801" name="Google Shape;801;g3e36394e788_0_585"/>
            <p:cNvSpPr/>
            <p:nvPr/>
          </p:nvSpPr>
          <p:spPr>
            <a:xfrm>
              <a:off x="5095875" y="1333500"/>
              <a:ext cx="4524300" cy="3238500"/>
            </a:xfrm>
            <a:prstGeom prst="roundRect">
              <a:avLst>
                <a:gd fmla="val 4411" name="adj"/>
              </a:avLst>
            </a:prstGeom>
            <a:solidFill>
              <a:srgbClr val="F8FAFC"/>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02" name="Google Shape;802;g3e36394e788_0_585"/>
            <p:cNvSpPr txBox="1"/>
            <p:nvPr/>
          </p:nvSpPr>
          <p:spPr>
            <a:xfrm>
              <a:off x="5286375" y="1606677"/>
              <a:ext cx="381000" cy="381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lang="en-US" sz="2400">
                  <a:solidFill>
                    <a:srgbClr val="1E4E79"/>
                  </a:solidFill>
                  <a:latin typeface="Material Icons"/>
                  <a:ea typeface="Material Icons"/>
                  <a:cs typeface="Material Icons"/>
                  <a:sym typeface="Material Icons"/>
                </a:rPr>
                <a:t>health_and_safety</a:t>
              </a:r>
              <a:endParaRPr sz="2400">
                <a:solidFill>
                  <a:srgbClr val="1E4E79"/>
                </a:solidFill>
                <a:latin typeface="Material Icons"/>
                <a:ea typeface="Material Icons"/>
                <a:cs typeface="Material Icons"/>
                <a:sym typeface="Material Icons"/>
              </a:endParaRPr>
            </a:p>
          </p:txBody>
        </p:sp>
        <p:sp>
          <p:nvSpPr>
            <p:cNvPr id="803" name="Google Shape;803;g3e36394e788_0_585"/>
            <p:cNvSpPr txBox="1"/>
            <p:nvPr/>
          </p:nvSpPr>
          <p:spPr>
            <a:xfrm>
              <a:off x="5286375" y="2047875"/>
              <a:ext cx="4143300" cy="22860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en-US" sz="1800">
                  <a:solidFill>
                    <a:srgbClr val="1E4E79"/>
                  </a:solidFill>
                  <a:latin typeface="Arial"/>
                  <a:ea typeface="Arial"/>
                  <a:cs typeface="Arial"/>
                  <a:sym typeface="Arial"/>
                </a:rPr>
                <a:t>Resilience &amp; Safety</a:t>
              </a:r>
              <a:endParaRPr b="1" sz="1800">
                <a:solidFill>
                  <a:srgbClr val="1E4E79"/>
                </a:solidFill>
                <a:latin typeface="Arial"/>
                <a:ea typeface="Arial"/>
                <a:cs typeface="Arial"/>
                <a:sym typeface="Arial"/>
              </a:endParaRPr>
            </a:p>
            <a:p>
              <a:pPr indent="0" lvl="0" marL="0" rtl="0" algn="l">
                <a:spcBef>
                  <a:spcPts val="750"/>
                </a:spcBef>
                <a:spcAft>
                  <a:spcPts val="0"/>
                </a:spcAft>
                <a:buNone/>
              </a:pPr>
              <a:r>
                <a:rPr b="0" lang="en-US" sz="1300">
                  <a:solidFill>
                    <a:srgbClr val="334155"/>
                  </a:solidFill>
                  <a:latin typeface="Arial"/>
                  <a:ea typeface="Arial"/>
                  <a:cs typeface="Arial"/>
                  <a:sym typeface="Arial"/>
                </a:rPr>
                <a:t>Mechanisms for </a:t>
              </a:r>
              <a:r>
                <a:rPr b="1" lang="en-US" sz="1300">
                  <a:solidFill>
                    <a:srgbClr val="4472C4"/>
                  </a:solidFill>
                  <a:latin typeface="Arial"/>
                  <a:ea typeface="Arial"/>
                  <a:cs typeface="Arial"/>
                  <a:sym typeface="Arial"/>
                </a:rPr>
                <a:t>prevention</a:t>
              </a:r>
              <a:r>
                <a:rPr b="0" lang="en-US" sz="1300">
                  <a:solidFill>
                    <a:srgbClr val="334155"/>
                  </a:solidFill>
                  <a:latin typeface="Arial"/>
                  <a:ea typeface="Arial"/>
                  <a:cs typeface="Arial"/>
                  <a:sym typeface="Arial"/>
                </a:rPr>
                <a:t> or </a:t>
              </a:r>
              <a:r>
                <a:rPr b="1" lang="en-US" sz="1300">
                  <a:solidFill>
                    <a:srgbClr val="4472C4"/>
                  </a:solidFill>
                  <a:latin typeface="Arial"/>
                  <a:ea typeface="Arial"/>
                  <a:cs typeface="Arial"/>
                  <a:sym typeface="Arial"/>
                </a:rPr>
                <a:t>mitigation</a:t>
              </a:r>
              <a:r>
                <a:rPr b="0" lang="en-US" sz="1300">
                  <a:solidFill>
                    <a:srgbClr val="334155"/>
                  </a:solidFill>
                  <a:latin typeface="Arial"/>
                  <a:ea typeface="Arial"/>
                  <a:cs typeface="Arial"/>
                  <a:sym typeface="Arial"/>
                </a:rPr>
                <a:t> of failures must minimize unexpected harm. AI must remain </a:t>
              </a:r>
              <a:r>
                <a:rPr b="1" lang="en-US" sz="1300">
                  <a:solidFill>
                    <a:srgbClr val="4472C4"/>
                  </a:solidFill>
                  <a:latin typeface="Arial"/>
                  <a:ea typeface="Arial"/>
                  <a:cs typeface="Arial"/>
                  <a:sym typeface="Arial"/>
                </a:rPr>
                <a:t>resilient</a:t>
              </a:r>
              <a:r>
                <a:rPr b="0" lang="en-US" sz="1300">
                  <a:solidFill>
                    <a:srgbClr val="334155"/>
                  </a:solidFill>
                  <a:latin typeface="Arial"/>
                  <a:ea typeface="Arial"/>
                  <a:cs typeface="Arial"/>
                  <a:sym typeface="Arial"/>
                </a:rPr>
                <a:t> against </a:t>
              </a:r>
              <a:r>
                <a:rPr b="1" lang="en-US" sz="1300">
                  <a:solidFill>
                    <a:srgbClr val="4472C4"/>
                  </a:solidFill>
                  <a:latin typeface="Arial"/>
                  <a:ea typeface="Arial"/>
                  <a:cs typeface="Arial"/>
                  <a:sym typeface="Arial"/>
                </a:rPr>
                <a:t>cyberattacks</a:t>
              </a:r>
              <a:r>
                <a:rPr b="0" lang="en-US" sz="1300">
                  <a:solidFill>
                    <a:srgbClr val="334155"/>
                  </a:solidFill>
                  <a:latin typeface="Arial"/>
                  <a:ea typeface="Arial"/>
                  <a:cs typeface="Arial"/>
                  <a:sym typeface="Arial"/>
                </a:rPr>
                <a:t> or </a:t>
              </a:r>
              <a:r>
                <a:rPr b="1" lang="en-US" sz="1300">
                  <a:solidFill>
                    <a:srgbClr val="4472C4"/>
                  </a:solidFill>
                  <a:latin typeface="Arial"/>
                  <a:ea typeface="Arial"/>
                  <a:cs typeface="Arial"/>
                  <a:sym typeface="Arial"/>
                </a:rPr>
                <a:t>vulnerabilities</a:t>
              </a:r>
              <a:r>
                <a:rPr b="0" lang="en-US" sz="1300">
                  <a:solidFill>
                    <a:srgbClr val="334155"/>
                  </a:solidFill>
                  <a:latin typeface="Arial"/>
                  <a:ea typeface="Arial"/>
                  <a:cs typeface="Arial"/>
                  <a:sym typeface="Arial"/>
                </a:rPr>
                <a:t> throughout its lifecycle.</a:t>
              </a:r>
              <a:endParaRPr b="0" sz="1300">
                <a:solidFill>
                  <a:srgbClr val="334155"/>
                </a:solidFill>
                <a:latin typeface="Arial"/>
                <a:ea typeface="Arial"/>
                <a:cs typeface="Arial"/>
                <a:sym typeface="Arial"/>
              </a:endParaRPr>
            </a:p>
          </p:txBody>
        </p:sp>
      </p:grpSp>
      <p:sp>
        <p:nvSpPr>
          <p:cNvPr id="804" name="Google Shape;804;g3e36394e788_0_585"/>
          <p:cNvSpPr txBox="1"/>
          <p:nvPr/>
        </p:nvSpPr>
        <p:spPr>
          <a:xfrm>
            <a:off x="285750" y="5238750"/>
            <a:ext cx="9334500" cy="381000"/>
          </a:xfrm>
          <a:prstGeom prst="rect">
            <a:avLst/>
          </a:prstGeom>
          <a:solidFill>
            <a:srgbClr val="000000">
              <a:alpha val="0"/>
            </a:srgbClr>
          </a:solidFill>
          <a:ln>
            <a:noFill/>
          </a:ln>
        </p:spPr>
        <p:txBody>
          <a:bodyPr anchorCtr="0" anchor="b" bIns="0" lIns="0" spcFirstLastPara="1" rIns="0" wrap="square" tIns="0">
            <a:noAutofit/>
          </a:bodyPr>
          <a:lstStyle/>
          <a:p>
            <a:pPr indent="0" lvl="0" marL="0" rtl="0" algn="l">
              <a:spcBef>
                <a:spcPts val="0"/>
              </a:spcBef>
              <a:spcAft>
                <a:spcPts val="0"/>
              </a:spcAft>
              <a:buNone/>
            </a:pPr>
            <a:r>
              <a:rPr b="1" lang="en-US" sz="1000">
                <a:solidFill>
                  <a:srgbClr val="64748B"/>
                </a:solidFill>
                <a:latin typeface="Arial"/>
                <a:ea typeface="Arial"/>
                <a:cs typeface="Arial"/>
                <a:sym typeface="Arial"/>
              </a:rPr>
              <a:t>Sources: </a:t>
            </a:r>
            <a:r>
              <a:rPr b="0" lang="en-US" sz="1000">
                <a:solidFill>
                  <a:srgbClr val="64748B"/>
                </a:solidFill>
                <a:latin typeface="Arial"/>
                <a:ea typeface="Arial"/>
                <a:cs typeface="Arial"/>
                <a:sym typeface="Arial"/>
              </a:rPr>
              <a:t>[1]</a:t>
            </a:r>
            <a:endParaRPr b="1" sz="1000">
              <a:solidFill>
                <a:srgbClr val="64748B"/>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8" name="Shape 808"/>
        <p:cNvGrpSpPr/>
        <p:nvPr/>
      </p:nvGrpSpPr>
      <p:grpSpPr>
        <a:xfrm>
          <a:off x="0" y="0"/>
          <a:ext cx="0" cy="0"/>
          <a:chOff x="0" y="0"/>
          <a:chExt cx="0" cy="0"/>
        </a:xfrm>
      </p:grpSpPr>
      <p:sp>
        <p:nvSpPr>
          <p:cNvPr id="809" name="Google Shape;809;g3e36394e788_0_596"/>
          <p:cNvSpPr/>
          <p:nvPr/>
        </p:nvSpPr>
        <p:spPr>
          <a:xfrm>
            <a:off x="0" y="768088"/>
            <a:ext cx="9906000" cy="6090000"/>
          </a:xfrm>
          <a:prstGeom prst="rect">
            <a:avLst/>
          </a:prstGeom>
          <a:solidFill>
            <a:schemeClr val="lt1">
              <a:alpha val="6000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810" name="Google Shape;810;g3e36394e788_0_596"/>
          <p:cNvSpPr/>
          <p:nvPr/>
        </p:nvSpPr>
        <p:spPr>
          <a:xfrm>
            <a:off x="-13050" y="5921896"/>
            <a:ext cx="9919200" cy="936000"/>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811" name="Google Shape;811;g3e36394e788_0_596"/>
          <p:cNvPicPr preferRelativeResize="0"/>
          <p:nvPr/>
        </p:nvPicPr>
        <p:blipFill rotWithShape="1">
          <a:blip r:embed="rId3">
            <a:alphaModFix/>
          </a:blip>
          <a:srcRect b="0" l="17788" r="19906" t="65239"/>
          <a:stretch/>
        </p:blipFill>
        <p:spPr>
          <a:xfrm>
            <a:off x="920552" y="6155677"/>
            <a:ext cx="1568747" cy="665761"/>
          </a:xfrm>
          <a:prstGeom prst="rect">
            <a:avLst/>
          </a:prstGeom>
          <a:noFill/>
          <a:ln>
            <a:noFill/>
          </a:ln>
        </p:spPr>
      </p:pic>
      <p:pic>
        <p:nvPicPr>
          <p:cNvPr id="812" name="Google Shape;812;g3e36394e788_0_596"/>
          <p:cNvPicPr preferRelativeResize="0"/>
          <p:nvPr/>
        </p:nvPicPr>
        <p:blipFill rotWithShape="1">
          <a:blip r:embed="rId3">
            <a:alphaModFix/>
          </a:blip>
          <a:srcRect b="34761" l="25519" r="25620" t="3570"/>
          <a:stretch/>
        </p:blipFill>
        <p:spPr>
          <a:xfrm>
            <a:off x="194947" y="6056653"/>
            <a:ext cx="725605" cy="696647"/>
          </a:xfrm>
          <a:prstGeom prst="rect">
            <a:avLst/>
          </a:prstGeom>
          <a:noFill/>
          <a:ln>
            <a:noFill/>
          </a:ln>
        </p:spPr>
      </p:pic>
      <p:sp>
        <p:nvSpPr>
          <p:cNvPr id="813" name="Google Shape;813;g3e36394e788_0_596"/>
          <p:cNvSpPr/>
          <p:nvPr/>
        </p:nvSpPr>
        <p:spPr>
          <a:xfrm>
            <a:off x="4950907" y="5989477"/>
            <a:ext cx="4953000" cy="8310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400"/>
              <a:buFont typeface="Arial"/>
              <a:buNone/>
            </a:pPr>
            <a:r>
              <a:rPr b="1" i="0" lang="en-US" sz="2400" u="none" cap="none" strike="noStrike">
                <a:solidFill>
                  <a:schemeClr val="lt1"/>
                </a:solidFill>
                <a:latin typeface="Arial"/>
                <a:ea typeface="Arial"/>
                <a:cs typeface="Arial"/>
                <a:sym typeface="Arial"/>
              </a:rPr>
              <a:t>IEEE Intelligence and Security Informatics (ISI) 2018</a:t>
            </a:r>
            <a:endParaRPr b="0" i="0" sz="1400" u="none" cap="none" strike="noStrike">
              <a:solidFill>
                <a:srgbClr val="000000"/>
              </a:solidFill>
              <a:latin typeface="Arial"/>
              <a:ea typeface="Arial"/>
              <a:cs typeface="Arial"/>
              <a:sym typeface="Arial"/>
            </a:endParaRPr>
          </a:p>
        </p:txBody>
      </p:sp>
      <p:grpSp>
        <p:nvGrpSpPr>
          <p:cNvPr id="814" name="Google Shape;814;g3e36394e788_0_596"/>
          <p:cNvGrpSpPr/>
          <p:nvPr/>
        </p:nvGrpSpPr>
        <p:grpSpPr>
          <a:xfrm>
            <a:off x="-18000" y="5842892"/>
            <a:ext cx="9942000" cy="1014788"/>
            <a:chOff x="-21650" y="5927750"/>
            <a:chExt cx="9942000" cy="930230"/>
          </a:xfrm>
        </p:grpSpPr>
        <p:sp>
          <p:nvSpPr>
            <p:cNvPr id="815" name="Google Shape;815;g3e36394e788_0_596"/>
            <p:cNvSpPr/>
            <p:nvPr/>
          </p:nvSpPr>
          <p:spPr>
            <a:xfrm>
              <a:off x="5239747" y="5949280"/>
              <a:ext cx="4680600" cy="9087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Arial"/>
                  <a:ea typeface="Arial"/>
                  <a:cs typeface="Arial"/>
                  <a:sym typeface="Arial"/>
                </a:rPr>
                <a:t>25th Annual International Conference on Digital Government Research (dg.o 2024)</a:t>
              </a:r>
              <a:endParaRPr b="0" i="0" sz="1800" u="none" cap="none" strike="noStrike">
                <a:solidFill>
                  <a:schemeClr val="lt1"/>
                </a:solidFill>
                <a:latin typeface="Arial"/>
                <a:ea typeface="Arial"/>
                <a:cs typeface="Arial"/>
                <a:sym typeface="Arial"/>
              </a:endParaRPr>
            </a:p>
          </p:txBody>
        </p:sp>
        <p:pic>
          <p:nvPicPr>
            <p:cNvPr id="816" name="Google Shape;816;g3e36394e788_0_596"/>
            <p:cNvPicPr preferRelativeResize="0"/>
            <p:nvPr/>
          </p:nvPicPr>
          <p:blipFill rotWithShape="1">
            <a:blip r:embed="rId4">
              <a:alphaModFix/>
            </a:blip>
            <a:srcRect b="-112533" l="-23390" r="23390" t="137710"/>
            <a:stretch/>
          </p:blipFill>
          <p:spPr>
            <a:xfrm>
              <a:off x="0" y="6007596"/>
              <a:ext cx="9920265" cy="792088"/>
            </a:xfrm>
            <a:prstGeom prst="rect">
              <a:avLst/>
            </a:prstGeom>
            <a:noFill/>
            <a:ln>
              <a:noFill/>
            </a:ln>
          </p:spPr>
        </p:pic>
        <p:sp>
          <p:nvSpPr>
            <p:cNvPr id="817" name="Google Shape;817;g3e36394e788_0_596"/>
            <p:cNvSpPr/>
            <p:nvPr/>
          </p:nvSpPr>
          <p:spPr>
            <a:xfrm>
              <a:off x="-21650" y="5927750"/>
              <a:ext cx="9942000" cy="9087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pic>
        <p:nvPicPr>
          <p:cNvPr id="818" name="Google Shape;818;g3e36394e788_0_596"/>
          <p:cNvPicPr preferRelativeResize="0"/>
          <p:nvPr/>
        </p:nvPicPr>
        <p:blipFill rotWithShape="1">
          <a:blip r:embed="rId5">
            <a:alphaModFix/>
          </a:blip>
          <a:srcRect b="0" l="0" r="0" t="0"/>
          <a:stretch/>
        </p:blipFill>
        <p:spPr>
          <a:xfrm>
            <a:off x="218750" y="6052376"/>
            <a:ext cx="1823009" cy="470325"/>
          </a:xfrm>
          <a:prstGeom prst="rect">
            <a:avLst/>
          </a:prstGeom>
          <a:noFill/>
          <a:ln>
            <a:noFill/>
          </a:ln>
        </p:spPr>
      </p:pic>
      <p:pic>
        <p:nvPicPr>
          <p:cNvPr id="819" name="Google Shape;819;g3e36394e788_0_596"/>
          <p:cNvPicPr preferRelativeResize="0"/>
          <p:nvPr/>
        </p:nvPicPr>
        <p:blipFill rotWithShape="1">
          <a:blip r:embed="rId6">
            <a:alphaModFix/>
          </a:blip>
          <a:srcRect b="0" l="0" r="0" t="0"/>
          <a:stretch/>
        </p:blipFill>
        <p:spPr>
          <a:xfrm>
            <a:off x="8015000" y="6038017"/>
            <a:ext cx="1811830" cy="624575"/>
          </a:xfrm>
          <a:prstGeom prst="rect">
            <a:avLst/>
          </a:prstGeom>
          <a:noFill/>
          <a:ln>
            <a:noFill/>
          </a:ln>
        </p:spPr>
      </p:pic>
      <p:sp>
        <p:nvSpPr>
          <p:cNvPr id="820" name="Google Shape;820;g3e36394e788_0_596"/>
          <p:cNvSpPr txBox="1"/>
          <p:nvPr>
            <p:ph type="title"/>
          </p:nvPr>
        </p:nvSpPr>
        <p:spPr>
          <a:xfrm>
            <a:off x="-20848" y="196650"/>
            <a:ext cx="10035600" cy="693600"/>
          </a:xfrm>
          <a:prstGeom prst="rect">
            <a:avLst/>
          </a:prstGeom>
          <a:solidFill>
            <a:srgbClr val="000000">
              <a:alpha val="0"/>
            </a:srgbClr>
          </a:solidFill>
          <a:ln>
            <a:noFill/>
          </a:ln>
        </p:spPr>
        <p:txBody>
          <a:bodyPr anchorCtr="0" anchor="ctr" bIns="0" lIns="285750" spcFirstLastPara="1" rIns="0" wrap="square" tIns="0">
            <a:noAutofit/>
          </a:bodyPr>
          <a:lstStyle/>
          <a:p>
            <a:pPr indent="0" lvl="0" marL="0" rtl="0" algn="l">
              <a:spcBef>
                <a:spcPts val="0"/>
              </a:spcBef>
              <a:spcAft>
                <a:spcPts val="0"/>
              </a:spcAft>
              <a:buNone/>
            </a:pPr>
            <a:r>
              <a:rPr lang="en-US" sz="2451">
                <a:latin typeface="Arial"/>
                <a:ea typeface="Arial"/>
                <a:cs typeface="Arial"/>
                <a:sym typeface="Arial"/>
              </a:rPr>
              <a:t>3. </a:t>
            </a:r>
            <a:r>
              <a:rPr b="1" lang="en-US" sz="2451">
                <a:solidFill>
                  <a:srgbClr val="1E4E79"/>
                </a:solidFill>
                <a:latin typeface="Arial"/>
                <a:ea typeface="Arial"/>
                <a:cs typeface="Arial"/>
                <a:sym typeface="Arial"/>
              </a:rPr>
              <a:t>Examples of MAS and Adoption of the Robustness and Safety Principle</a:t>
            </a:r>
            <a:endParaRPr b="1" sz="2451">
              <a:solidFill>
                <a:srgbClr val="1E4E79"/>
              </a:solidFill>
              <a:latin typeface="Arial"/>
              <a:ea typeface="Arial"/>
              <a:cs typeface="Arial"/>
              <a:sym typeface="Arial"/>
            </a:endParaRPr>
          </a:p>
        </p:txBody>
      </p:sp>
      <p:grpSp>
        <p:nvGrpSpPr>
          <p:cNvPr id="821" name="Google Shape;821;g3e36394e788_0_596"/>
          <p:cNvGrpSpPr/>
          <p:nvPr/>
        </p:nvGrpSpPr>
        <p:grpSpPr>
          <a:xfrm>
            <a:off x="285750" y="1333500"/>
            <a:ext cx="4524300" cy="3238500"/>
            <a:chOff x="285750" y="1333500"/>
            <a:chExt cx="4524300" cy="3238500"/>
          </a:xfrm>
        </p:grpSpPr>
        <p:sp>
          <p:nvSpPr>
            <p:cNvPr id="822" name="Google Shape;822;g3e36394e788_0_596"/>
            <p:cNvSpPr/>
            <p:nvPr/>
          </p:nvSpPr>
          <p:spPr>
            <a:xfrm>
              <a:off x="285750" y="1333500"/>
              <a:ext cx="4524300" cy="3238500"/>
            </a:xfrm>
            <a:prstGeom prst="roundRect">
              <a:avLst>
                <a:gd fmla="val 4411" name="adj"/>
              </a:avLst>
            </a:prstGeom>
            <a:solidFill>
              <a:srgbClr val="F8FAFC"/>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23" name="Google Shape;823;g3e36394e788_0_596"/>
            <p:cNvSpPr txBox="1"/>
            <p:nvPr/>
          </p:nvSpPr>
          <p:spPr>
            <a:xfrm>
              <a:off x="476250" y="1559052"/>
              <a:ext cx="381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2400">
                  <a:solidFill>
                    <a:srgbClr val="1E4E79"/>
                  </a:solidFill>
                  <a:latin typeface="Material Icons"/>
                  <a:ea typeface="Material Icons"/>
                  <a:cs typeface="Material Icons"/>
                  <a:sym typeface="Material Icons"/>
                </a:rPr>
                <a:t>verified_user</a:t>
              </a:r>
              <a:endParaRPr sz="2400">
                <a:solidFill>
                  <a:srgbClr val="1E4E79"/>
                </a:solidFill>
                <a:latin typeface="Material Icons"/>
                <a:ea typeface="Material Icons"/>
                <a:cs typeface="Material Icons"/>
                <a:sym typeface="Material Icons"/>
              </a:endParaRPr>
            </a:p>
          </p:txBody>
        </p:sp>
        <p:sp>
          <p:nvSpPr>
            <p:cNvPr id="824" name="Google Shape;824;g3e36394e788_0_596"/>
            <p:cNvSpPr txBox="1"/>
            <p:nvPr/>
          </p:nvSpPr>
          <p:spPr>
            <a:xfrm>
              <a:off x="476250" y="2047875"/>
              <a:ext cx="4143300" cy="2286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800">
                  <a:solidFill>
                    <a:srgbClr val="1E4E79"/>
                  </a:solidFill>
                  <a:latin typeface="Arial"/>
                  <a:ea typeface="Arial"/>
                  <a:cs typeface="Arial"/>
                  <a:sym typeface="Arial"/>
                </a:rPr>
                <a:t>Secure Communication</a:t>
              </a:r>
              <a:endParaRPr b="1" sz="1800">
                <a:solidFill>
                  <a:srgbClr val="1E4E79"/>
                </a:solidFill>
                <a:latin typeface="Arial"/>
                <a:ea typeface="Arial"/>
                <a:cs typeface="Arial"/>
                <a:sym typeface="Arial"/>
              </a:endParaRPr>
            </a:p>
            <a:p>
              <a:pPr indent="0" lvl="0" marL="0" rtl="0" algn="l">
                <a:spcBef>
                  <a:spcPts val="750"/>
                </a:spcBef>
                <a:spcAft>
                  <a:spcPts val="0"/>
                </a:spcAft>
                <a:buNone/>
              </a:pPr>
              <a:r>
                <a:rPr lang="en-US" sz="1300">
                  <a:solidFill>
                    <a:srgbClr val="334155"/>
                  </a:solidFill>
                  <a:latin typeface="Arial"/>
                  <a:ea typeface="Arial"/>
                  <a:cs typeface="Arial"/>
                  <a:sym typeface="Arial"/>
                </a:rPr>
                <a:t>Secure communication between agents, utilizing a certificate authority service.</a:t>
              </a:r>
              <a:endParaRPr sz="1300">
                <a:solidFill>
                  <a:srgbClr val="334155"/>
                </a:solidFill>
                <a:latin typeface="Arial"/>
                <a:ea typeface="Arial"/>
                <a:cs typeface="Arial"/>
                <a:sym typeface="Arial"/>
              </a:endParaRPr>
            </a:p>
            <a:p>
              <a:pPr indent="-304800" lvl="0" marL="457200" rtl="0" algn="l">
                <a:spcBef>
                  <a:spcPts val="750"/>
                </a:spcBef>
                <a:spcAft>
                  <a:spcPts val="0"/>
                </a:spcAft>
                <a:buClr>
                  <a:srgbClr val="475569"/>
                </a:buClr>
                <a:buSzPts val="1200"/>
                <a:buFont typeface="Arial"/>
                <a:buChar char="●"/>
              </a:pPr>
              <a:r>
                <a:rPr lang="en-US" sz="1200">
                  <a:solidFill>
                    <a:srgbClr val="475569"/>
                  </a:solidFill>
                  <a:latin typeface="Arial"/>
                  <a:ea typeface="Arial"/>
                  <a:cs typeface="Arial"/>
                  <a:sym typeface="Arial"/>
                </a:rPr>
                <a:t>Ensures encryption and identity verification.</a:t>
              </a:r>
              <a:endParaRPr sz="1200">
                <a:solidFill>
                  <a:srgbClr val="475569"/>
                </a:solidFill>
                <a:latin typeface="Arial"/>
                <a:ea typeface="Arial"/>
                <a:cs typeface="Arial"/>
                <a:sym typeface="Arial"/>
              </a:endParaRPr>
            </a:p>
          </p:txBody>
        </p:sp>
      </p:grpSp>
      <p:grpSp>
        <p:nvGrpSpPr>
          <p:cNvPr id="825" name="Google Shape;825;g3e36394e788_0_596"/>
          <p:cNvGrpSpPr/>
          <p:nvPr/>
        </p:nvGrpSpPr>
        <p:grpSpPr>
          <a:xfrm>
            <a:off x="5095875" y="1333500"/>
            <a:ext cx="4524300" cy="3238500"/>
            <a:chOff x="5095875" y="1333500"/>
            <a:chExt cx="4524300" cy="3238500"/>
          </a:xfrm>
        </p:grpSpPr>
        <p:sp>
          <p:nvSpPr>
            <p:cNvPr id="826" name="Google Shape;826;g3e36394e788_0_596"/>
            <p:cNvSpPr/>
            <p:nvPr/>
          </p:nvSpPr>
          <p:spPr>
            <a:xfrm>
              <a:off x="5095875" y="1333500"/>
              <a:ext cx="4524300" cy="3238500"/>
            </a:xfrm>
            <a:prstGeom prst="roundRect">
              <a:avLst>
                <a:gd fmla="val 4411" name="adj"/>
              </a:avLst>
            </a:prstGeom>
            <a:solidFill>
              <a:srgbClr val="F8FAFC"/>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27" name="Google Shape;827;g3e36394e788_0_596"/>
            <p:cNvSpPr txBox="1"/>
            <p:nvPr/>
          </p:nvSpPr>
          <p:spPr>
            <a:xfrm>
              <a:off x="5286375" y="1559052"/>
              <a:ext cx="381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2400">
                  <a:solidFill>
                    <a:srgbClr val="1E4E79"/>
                  </a:solidFill>
                  <a:latin typeface="Material Icons"/>
                  <a:ea typeface="Material Icons"/>
                  <a:cs typeface="Material Icons"/>
                  <a:sym typeface="Material Icons"/>
                </a:rPr>
                <a:t>factory</a:t>
              </a:r>
              <a:endParaRPr sz="2400">
                <a:solidFill>
                  <a:srgbClr val="1E4E79"/>
                </a:solidFill>
                <a:latin typeface="Material Icons"/>
                <a:ea typeface="Material Icons"/>
                <a:cs typeface="Material Icons"/>
                <a:sym typeface="Material Icons"/>
              </a:endParaRPr>
            </a:p>
          </p:txBody>
        </p:sp>
        <p:sp>
          <p:nvSpPr>
            <p:cNvPr id="828" name="Google Shape;828;g3e36394e788_0_596"/>
            <p:cNvSpPr txBox="1"/>
            <p:nvPr/>
          </p:nvSpPr>
          <p:spPr>
            <a:xfrm>
              <a:off x="5286375" y="2047875"/>
              <a:ext cx="4143300" cy="2286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800">
                  <a:solidFill>
                    <a:srgbClr val="1E4E79"/>
                  </a:solidFill>
                  <a:latin typeface="Arial"/>
                  <a:ea typeface="Arial"/>
                  <a:cs typeface="Arial"/>
                  <a:sym typeface="Arial"/>
                </a:rPr>
                <a:t>Industrial Resilience</a:t>
              </a:r>
              <a:endParaRPr b="1" sz="1800">
                <a:solidFill>
                  <a:srgbClr val="1E4E79"/>
                </a:solidFill>
                <a:latin typeface="Arial"/>
                <a:ea typeface="Arial"/>
                <a:cs typeface="Arial"/>
                <a:sym typeface="Arial"/>
              </a:endParaRPr>
            </a:p>
            <a:p>
              <a:pPr indent="0" lvl="0" marL="0" rtl="0" algn="l">
                <a:spcBef>
                  <a:spcPts val="750"/>
                </a:spcBef>
                <a:spcAft>
                  <a:spcPts val="0"/>
                </a:spcAft>
                <a:buNone/>
              </a:pPr>
              <a:r>
                <a:rPr lang="en-US" sz="1300">
                  <a:solidFill>
                    <a:srgbClr val="334155"/>
                  </a:solidFill>
                  <a:latin typeface="Arial"/>
                  <a:ea typeface="Arial"/>
                  <a:cs typeface="Arial"/>
                  <a:sym typeface="Arial"/>
                </a:rPr>
                <a:t>System performance in the face of industrial failures, combined with accountability strategies applied to industrial contexts.</a:t>
              </a:r>
              <a:endParaRPr sz="1300">
                <a:solidFill>
                  <a:srgbClr val="334155"/>
                </a:solidFill>
                <a:latin typeface="Arial"/>
                <a:ea typeface="Arial"/>
                <a:cs typeface="Arial"/>
                <a:sym typeface="Arial"/>
              </a:endParaRPr>
            </a:p>
            <a:p>
              <a:pPr indent="-304800" lvl="0" marL="457200" rtl="0" algn="l">
                <a:spcBef>
                  <a:spcPts val="750"/>
                </a:spcBef>
                <a:spcAft>
                  <a:spcPts val="0"/>
                </a:spcAft>
                <a:buClr>
                  <a:srgbClr val="475569"/>
                </a:buClr>
                <a:buSzPts val="1200"/>
                <a:buFont typeface="Arial"/>
                <a:buChar char="●"/>
              </a:pPr>
              <a:r>
                <a:rPr lang="en-US" sz="1200">
                  <a:solidFill>
                    <a:srgbClr val="475569"/>
                  </a:solidFill>
                  <a:latin typeface="Arial"/>
                  <a:ea typeface="Arial"/>
                  <a:cs typeface="Arial"/>
                  <a:sym typeface="Arial"/>
                </a:rPr>
                <a:t>Focuses on fault tolerance and justification of actions.</a:t>
              </a:r>
              <a:endParaRPr sz="1200">
                <a:solidFill>
                  <a:srgbClr val="475569"/>
                </a:solidFill>
                <a:latin typeface="Arial"/>
                <a:ea typeface="Arial"/>
                <a:cs typeface="Arial"/>
                <a:sym typeface="Arial"/>
              </a:endParaRPr>
            </a:p>
          </p:txBody>
        </p:sp>
      </p:grpSp>
      <p:sp>
        <p:nvSpPr>
          <p:cNvPr id="829" name="Google Shape;829;g3e36394e788_0_596"/>
          <p:cNvSpPr txBox="1"/>
          <p:nvPr/>
        </p:nvSpPr>
        <p:spPr>
          <a:xfrm>
            <a:off x="285750" y="5238750"/>
            <a:ext cx="9334500" cy="3810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b="1" lang="en-US" sz="1000">
                <a:solidFill>
                  <a:srgbClr val="64748B"/>
                </a:solidFill>
                <a:latin typeface="Arial"/>
                <a:ea typeface="Arial"/>
                <a:cs typeface="Arial"/>
                <a:sym typeface="Arial"/>
              </a:rPr>
              <a:t>Sources: </a:t>
            </a:r>
            <a:r>
              <a:rPr b="0" lang="en-US" sz="1000">
                <a:solidFill>
                  <a:srgbClr val="64748B"/>
                </a:solidFill>
                <a:latin typeface="Arial"/>
                <a:ea typeface="Arial"/>
                <a:cs typeface="Arial"/>
                <a:sym typeface="Arial"/>
              </a:rPr>
              <a:t>[19, 20, 21, 22]</a:t>
            </a:r>
            <a:endParaRPr b="1" sz="1000">
              <a:solidFill>
                <a:srgbClr val="64748B"/>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3" name="Shape 833"/>
        <p:cNvGrpSpPr/>
        <p:nvPr/>
      </p:nvGrpSpPr>
      <p:grpSpPr>
        <a:xfrm>
          <a:off x="0" y="0"/>
          <a:ext cx="0" cy="0"/>
          <a:chOff x="0" y="0"/>
          <a:chExt cx="0" cy="0"/>
        </a:xfrm>
      </p:grpSpPr>
      <p:grpSp>
        <p:nvGrpSpPr>
          <p:cNvPr id="834" name="Google Shape;834;g3e36394e788_0_607"/>
          <p:cNvGrpSpPr/>
          <p:nvPr/>
        </p:nvGrpSpPr>
        <p:grpSpPr>
          <a:xfrm>
            <a:off x="-18000" y="5842892"/>
            <a:ext cx="9942000" cy="1014788"/>
            <a:chOff x="-21650" y="5927750"/>
            <a:chExt cx="9942000" cy="930230"/>
          </a:xfrm>
        </p:grpSpPr>
        <p:sp>
          <p:nvSpPr>
            <p:cNvPr id="835" name="Google Shape;835;g3e36394e788_0_607"/>
            <p:cNvSpPr/>
            <p:nvPr/>
          </p:nvSpPr>
          <p:spPr>
            <a:xfrm>
              <a:off x="5239747" y="5949280"/>
              <a:ext cx="4680600" cy="9087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Arial"/>
                  <a:ea typeface="Arial"/>
                  <a:cs typeface="Arial"/>
                  <a:sym typeface="Arial"/>
                </a:rPr>
                <a:t>25th Annual International Conference on Digital Government Research (dg.o 2024)</a:t>
              </a:r>
              <a:endParaRPr b="0" i="0" sz="1800" u="none" cap="none" strike="noStrike">
                <a:solidFill>
                  <a:schemeClr val="lt1"/>
                </a:solidFill>
                <a:latin typeface="Arial"/>
                <a:ea typeface="Arial"/>
                <a:cs typeface="Arial"/>
                <a:sym typeface="Arial"/>
              </a:endParaRPr>
            </a:p>
          </p:txBody>
        </p:sp>
        <p:pic>
          <p:nvPicPr>
            <p:cNvPr id="836" name="Google Shape;836;g3e36394e788_0_607"/>
            <p:cNvPicPr preferRelativeResize="0"/>
            <p:nvPr/>
          </p:nvPicPr>
          <p:blipFill rotWithShape="1">
            <a:blip r:embed="rId3">
              <a:alphaModFix/>
            </a:blip>
            <a:srcRect b="-112533" l="-23390" r="23390" t="137710"/>
            <a:stretch/>
          </p:blipFill>
          <p:spPr>
            <a:xfrm>
              <a:off x="0" y="6007596"/>
              <a:ext cx="9920265" cy="792088"/>
            </a:xfrm>
            <a:prstGeom prst="rect">
              <a:avLst/>
            </a:prstGeom>
            <a:noFill/>
            <a:ln>
              <a:noFill/>
            </a:ln>
          </p:spPr>
        </p:pic>
        <p:sp>
          <p:nvSpPr>
            <p:cNvPr id="837" name="Google Shape;837;g3e36394e788_0_607"/>
            <p:cNvSpPr/>
            <p:nvPr/>
          </p:nvSpPr>
          <p:spPr>
            <a:xfrm>
              <a:off x="-21650" y="5927750"/>
              <a:ext cx="9942000" cy="9087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pic>
        <p:nvPicPr>
          <p:cNvPr id="838" name="Google Shape;838;g3e36394e788_0_607"/>
          <p:cNvPicPr preferRelativeResize="0"/>
          <p:nvPr/>
        </p:nvPicPr>
        <p:blipFill rotWithShape="1">
          <a:blip r:embed="rId4">
            <a:alphaModFix/>
          </a:blip>
          <a:srcRect b="0" l="0" r="0" t="0"/>
          <a:stretch/>
        </p:blipFill>
        <p:spPr>
          <a:xfrm>
            <a:off x="218750" y="6052376"/>
            <a:ext cx="1823009" cy="470325"/>
          </a:xfrm>
          <a:prstGeom prst="rect">
            <a:avLst/>
          </a:prstGeom>
          <a:noFill/>
          <a:ln>
            <a:noFill/>
          </a:ln>
        </p:spPr>
      </p:pic>
      <p:pic>
        <p:nvPicPr>
          <p:cNvPr id="839" name="Google Shape;839;g3e36394e788_0_607"/>
          <p:cNvPicPr preferRelativeResize="0"/>
          <p:nvPr/>
        </p:nvPicPr>
        <p:blipFill rotWithShape="1">
          <a:blip r:embed="rId5">
            <a:alphaModFix/>
          </a:blip>
          <a:srcRect b="0" l="0" r="0" t="0"/>
          <a:stretch/>
        </p:blipFill>
        <p:spPr>
          <a:xfrm>
            <a:off x="8015000" y="6038017"/>
            <a:ext cx="1811830" cy="624575"/>
          </a:xfrm>
          <a:prstGeom prst="rect">
            <a:avLst/>
          </a:prstGeom>
          <a:noFill/>
          <a:ln>
            <a:noFill/>
          </a:ln>
        </p:spPr>
      </p:pic>
      <p:sp>
        <p:nvSpPr>
          <p:cNvPr id="840" name="Google Shape;840;g3e36394e788_0_607"/>
          <p:cNvSpPr txBox="1"/>
          <p:nvPr/>
        </p:nvSpPr>
        <p:spPr>
          <a:xfrm>
            <a:off x="285750" y="238125"/>
            <a:ext cx="93345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2400">
                <a:solidFill>
                  <a:srgbClr val="1E4E79"/>
                </a:solidFill>
                <a:latin typeface="Arial"/>
                <a:ea typeface="Arial"/>
                <a:cs typeface="Arial"/>
                <a:sym typeface="Arial"/>
              </a:rPr>
              <a:t>3. EP6</a:t>
            </a:r>
            <a:r>
              <a:rPr b="1" lang="en-US" sz="2400">
                <a:solidFill>
                  <a:srgbClr val="1E4E79"/>
                </a:solidFill>
                <a:latin typeface="Arial"/>
                <a:ea typeface="Arial"/>
                <a:cs typeface="Arial"/>
                <a:sym typeface="Arial"/>
              </a:rPr>
              <a:t> Principle: Human Oversight</a:t>
            </a:r>
            <a:endParaRPr b="1" sz="2400">
              <a:solidFill>
                <a:srgbClr val="1E4E79"/>
              </a:solidFill>
              <a:latin typeface="Arial"/>
              <a:ea typeface="Arial"/>
              <a:cs typeface="Arial"/>
              <a:sym typeface="Arial"/>
            </a:endParaRPr>
          </a:p>
        </p:txBody>
      </p:sp>
      <p:grpSp>
        <p:nvGrpSpPr>
          <p:cNvPr id="841" name="Google Shape;841;g3e36394e788_0_607"/>
          <p:cNvGrpSpPr/>
          <p:nvPr/>
        </p:nvGrpSpPr>
        <p:grpSpPr>
          <a:xfrm>
            <a:off x="285750" y="1333500"/>
            <a:ext cx="9334500" cy="4000500"/>
            <a:chOff x="285750" y="1333500"/>
            <a:chExt cx="9334500" cy="4000500"/>
          </a:xfrm>
        </p:grpSpPr>
        <p:sp>
          <p:nvSpPr>
            <p:cNvPr id="842" name="Google Shape;842;g3e36394e788_0_607"/>
            <p:cNvSpPr/>
            <p:nvPr/>
          </p:nvSpPr>
          <p:spPr>
            <a:xfrm>
              <a:off x="285750" y="1333500"/>
              <a:ext cx="9334500" cy="4000500"/>
            </a:xfrm>
            <a:prstGeom prst="roundRect">
              <a:avLst>
                <a:gd fmla="val 3571" name="adj"/>
              </a:avLst>
            </a:prstGeom>
            <a:solidFill>
              <a:srgbClr val="F8FAFC"/>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43" name="Google Shape;843;g3e36394e788_0_607"/>
            <p:cNvSpPr txBox="1"/>
            <p:nvPr/>
          </p:nvSpPr>
          <p:spPr>
            <a:xfrm>
              <a:off x="571500" y="1719453"/>
              <a:ext cx="476400" cy="476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3060">
                  <a:solidFill>
                    <a:srgbClr val="1E4E79"/>
                  </a:solidFill>
                  <a:latin typeface="Material Icons"/>
                  <a:ea typeface="Material Icons"/>
                  <a:cs typeface="Material Icons"/>
                  <a:sym typeface="Material Icons"/>
                </a:rPr>
                <a:t>visibility</a:t>
              </a:r>
              <a:endParaRPr sz="3060">
                <a:solidFill>
                  <a:srgbClr val="1E4E79"/>
                </a:solidFill>
                <a:latin typeface="Material Icons"/>
                <a:ea typeface="Material Icons"/>
                <a:cs typeface="Material Icons"/>
                <a:sym typeface="Material Icons"/>
              </a:endParaRPr>
            </a:p>
          </p:txBody>
        </p:sp>
        <p:sp>
          <p:nvSpPr>
            <p:cNvPr id="844" name="Google Shape;844;g3e36394e788_0_607"/>
            <p:cNvSpPr txBox="1"/>
            <p:nvPr/>
          </p:nvSpPr>
          <p:spPr>
            <a:xfrm>
              <a:off x="1238250" y="1619250"/>
              <a:ext cx="8096400" cy="3429000"/>
            </a:xfrm>
            <a:prstGeom prst="rect">
              <a:avLst/>
            </a:prstGeom>
            <a:noFill/>
            <a:ln>
              <a:noFill/>
            </a:ln>
          </p:spPr>
          <p:txBody>
            <a:bodyPr anchorCtr="0" anchor="t" bIns="0" lIns="0" spcFirstLastPara="1" rIns="285750" wrap="square" tIns="0">
              <a:noAutofit/>
            </a:bodyPr>
            <a:lstStyle/>
            <a:p>
              <a:pPr indent="0" lvl="0" marL="0" rtl="0" algn="l">
                <a:spcBef>
                  <a:spcPts val="0"/>
                </a:spcBef>
                <a:spcAft>
                  <a:spcPts val="0"/>
                </a:spcAft>
                <a:buNone/>
              </a:pPr>
              <a:r>
                <a:rPr lang="en-US" sz="1800">
                  <a:solidFill>
                    <a:srgbClr val="334155"/>
                  </a:solidFill>
                  <a:latin typeface="Arial"/>
                  <a:ea typeface="Arial"/>
                  <a:cs typeface="Arial"/>
                  <a:sym typeface="Arial"/>
                </a:rPr>
                <a:t>This principle states that AI users, especially in applications that can affect people's lives and safety, must not be </a:t>
              </a:r>
              <a:r>
                <a:rPr b="1" lang="en-US" sz="1800">
                  <a:solidFill>
                    <a:srgbClr val="4472C4"/>
                  </a:solidFill>
                  <a:latin typeface="Arial"/>
                  <a:ea typeface="Arial"/>
                  <a:cs typeface="Arial"/>
                  <a:sym typeface="Arial"/>
                </a:rPr>
                <a:t>subject to decisions made exclusively by AI</a:t>
              </a:r>
              <a:r>
                <a:rPr lang="en-US" sz="1800">
                  <a:solidFill>
                    <a:srgbClr val="334155"/>
                  </a:solidFill>
                  <a:latin typeface="Arial"/>
                  <a:ea typeface="Arial"/>
                  <a:cs typeface="Arial"/>
                  <a:sym typeface="Arial"/>
                </a:rPr>
                <a:t>, which restricts human autonomy.</a:t>
              </a:r>
              <a:endParaRPr sz="1800">
                <a:solidFill>
                  <a:srgbClr val="334155"/>
                </a:solidFill>
                <a:latin typeface="Arial"/>
                <a:ea typeface="Arial"/>
                <a:cs typeface="Arial"/>
                <a:sym typeface="Arial"/>
              </a:endParaRPr>
            </a:p>
            <a:p>
              <a:pPr indent="0" lvl="0" marL="0" rtl="0" algn="l">
                <a:spcBef>
                  <a:spcPts val="1500"/>
                </a:spcBef>
                <a:spcAft>
                  <a:spcPts val="0"/>
                </a:spcAft>
                <a:buNone/>
              </a:pPr>
              <a:r>
                <a:rPr lang="en-US" sz="1800">
                  <a:solidFill>
                    <a:srgbClr val="334155"/>
                  </a:solidFill>
                  <a:latin typeface="Arial"/>
                  <a:ea typeface="Arial"/>
                  <a:cs typeface="Arial"/>
                  <a:sym typeface="Arial"/>
                </a:rPr>
                <a:t>AI must place the human being at the </a:t>
              </a:r>
              <a:r>
                <a:rPr b="1" lang="en-US" sz="1800">
                  <a:solidFill>
                    <a:srgbClr val="4472C4"/>
                  </a:solidFill>
                  <a:latin typeface="Arial"/>
                  <a:ea typeface="Arial"/>
                  <a:cs typeface="Arial"/>
                  <a:sym typeface="Arial"/>
                </a:rPr>
                <a:t>center</a:t>
              </a:r>
              <a:r>
                <a:rPr lang="en-US" sz="1800">
                  <a:solidFill>
                    <a:srgbClr val="334155"/>
                  </a:solidFill>
                  <a:latin typeface="Arial"/>
                  <a:ea typeface="Arial"/>
                  <a:cs typeface="Arial"/>
                  <a:sym typeface="Arial"/>
                </a:rPr>
                <a:t> of decision-making, enabling </a:t>
              </a:r>
              <a:r>
                <a:rPr b="1" lang="en-US" sz="1800">
                  <a:solidFill>
                    <a:srgbClr val="4472C4"/>
                  </a:solidFill>
                  <a:latin typeface="Arial"/>
                  <a:ea typeface="Arial"/>
                  <a:cs typeface="Arial"/>
                  <a:sym typeface="Arial"/>
                </a:rPr>
                <a:t>oversight</a:t>
              </a:r>
              <a:r>
                <a:rPr lang="en-US" sz="1800">
                  <a:solidFill>
                    <a:srgbClr val="334155"/>
                  </a:solidFill>
                  <a:latin typeface="Arial"/>
                  <a:ea typeface="Arial"/>
                  <a:cs typeface="Arial"/>
                  <a:sym typeface="Arial"/>
                </a:rPr>
                <a:t> and </a:t>
              </a:r>
              <a:r>
                <a:rPr b="1" lang="en-US" sz="1800">
                  <a:solidFill>
                    <a:srgbClr val="4472C4"/>
                  </a:solidFill>
                  <a:latin typeface="Arial"/>
                  <a:ea typeface="Arial"/>
                  <a:cs typeface="Arial"/>
                  <a:sym typeface="Arial"/>
                </a:rPr>
                <a:t>control</a:t>
              </a:r>
              <a:r>
                <a:rPr lang="en-US" sz="1800">
                  <a:solidFill>
                    <a:srgbClr val="334155"/>
                  </a:solidFill>
                  <a:latin typeface="Arial"/>
                  <a:ea typeface="Arial"/>
                  <a:cs typeface="Arial"/>
                  <a:sym typeface="Arial"/>
                </a:rPr>
                <a:t> of the operations performed</a:t>
              </a:r>
              <a:r>
                <a:rPr lang="en-US" sz="1900">
                  <a:solidFill>
                    <a:srgbClr val="334155"/>
                  </a:solidFill>
                  <a:latin typeface="Arial"/>
                  <a:ea typeface="Arial"/>
                  <a:cs typeface="Arial"/>
                  <a:sym typeface="Arial"/>
                </a:rPr>
                <a:t>.</a:t>
              </a:r>
              <a:endParaRPr sz="1900">
                <a:solidFill>
                  <a:srgbClr val="334155"/>
                </a:solidFill>
                <a:latin typeface="Arial"/>
                <a:ea typeface="Arial"/>
                <a:cs typeface="Arial"/>
                <a:sym typeface="Arial"/>
              </a:endParaRPr>
            </a:p>
          </p:txBody>
        </p:sp>
      </p:grpSp>
      <p:sp>
        <p:nvSpPr>
          <p:cNvPr id="845" name="Google Shape;845;g3e36394e788_0_607"/>
          <p:cNvSpPr txBox="1"/>
          <p:nvPr/>
        </p:nvSpPr>
        <p:spPr>
          <a:xfrm>
            <a:off x="285750" y="5524500"/>
            <a:ext cx="9334500" cy="2859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b="1" lang="en-US" sz="1000">
                <a:solidFill>
                  <a:srgbClr val="64748B"/>
                </a:solidFill>
                <a:latin typeface="Arial"/>
                <a:ea typeface="Arial"/>
                <a:cs typeface="Arial"/>
                <a:sym typeface="Arial"/>
              </a:rPr>
              <a:t>Sources: </a:t>
            </a:r>
            <a:r>
              <a:rPr b="0" lang="en-US" sz="1000">
                <a:solidFill>
                  <a:srgbClr val="64748B"/>
                </a:solidFill>
                <a:latin typeface="Arial"/>
                <a:ea typeface="Arial"/>
                <a:cs typeface="Arial"/>
                <a:sym typeface="Arial"/>
              </a:rPr>
              <a:t>[1]</a:t>
            </a:r>
            <a:endParaRPr b="1" sz="1000">
              <a:solidFill>
                <a:srgbClr val="64748B"/>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9" name="Shape 849"/>
        <p:cNvGrpSpPr/>
        <p:nvPr/>
      </p:nvGrpSpPr>
      <p:grpSpPr>
        <a:xfrm>
          <a:off x="0" y="0"/>
          <a:ext cx="0" cy="0"/>
          <a:chOff x="0" y="0"/>
          <a:chExt cx="0" cy="0"/>
        </a:xfrm>
      </p:grpSpPr>
      <p:sp>
        <p:nvSpPr>
          <p:cNvPr id="850" name="Google Shape;850;g3e36394e788_0_618"/>
          <p:cNvSpPr/>
          <p:nvPr/>
        </p:nvSpPr>
        <p:spPr>
          <a:xfrm>
            <a:off x="0" y="768088"/>
            <a:ext cx="9906000" cy="6090000"/>
          </a:xfrm>
          <a:prstGeom prst="rect">
            <a:avLst/>
          </a:prstGeom>
          <a:solidFill>
            <a:schemeClr val="lt1">
              <a:alpha val="6000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851" name="Google Shape;851;g3e36394e788_0_618"/>
          <p:cNvSpPr/>
          <p:nvPr/>
        </p:nvSpPr>
        <p:spPr>
          <a:xfrm>
            <a:off x="-13050" y="5921896"/>
            <a:ext cx="9919200" cy="936000"/>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852" name="Google Shape;852;g3e36394e788_0_618"/>
          <p:cNvPicPr preferRelativeResize="0"/>
          <p:nvPr/>
        </p:nvPicPr>
        <p:blipFill rotWithShape="1">
          <a:blip r:embed="rId3">
            <a:alphaModFix/>
          </a:blip>
          <a:srcRect b="0" l="17788" r="19906" t="65239"/>
          <a:stretch/>
        </p:blipFill>
        <p:spPr>
          <a:xfrm>
            <a:off x="920552" y="6155677"/>
            <a:ext cx="1568747" cy="665761"/>
          </a:xfrm>
          <a:prstGeom prst="rect">
            <a:avLst/>
          </a:prstGeom>
          <a:noFill/>
          <a:ln>
            <a:noFill/>
          </a:ln>
        </p:spPr>
      </p:pic>
      <p:pic>
        <p:nvPicPr>
          <p:cNvPr id="853" name="Google Shape;853;g3e36394e788_0_618"/>
          <p:cNvPicPr preferRelativeResize="0"/>
          <p:nvPr/>
        </p:nvPicPr>
        <p:blipFill rotWithShape="1">
          <a:blip r:embed="rId3">
            <a:alphaModFix/>
          </a:blip>
          <a:srcRect b="34761" l="25519" r="25620" t="3570"/>
          <a:stretch/>
        </p:blipFill>
        <p:spPr>
          <a:xfrm>
            <a:off x="194947" y="6056653"/>
            <a:ext cx="725605" cy="696647"/>
          </a:xfrm>
          <a:prstGeom prst="rect">
            <a:avLst/>
          </a:prstGeom>
          <a:noFill/>
          <a:ln>
            <a:noFill/>
          </a:ln>
        </p:spPr>
      </p:pic>
      <p:sp>
        <p:nvSpPr>
          <p:cNvPr id="854" name="Google Shape;854;g3e36394e788_0_618"/>
          <p:cNvSpPr/>
          <p:nvPr/>
        </p:nvSpPr>
        <p:spPr>
          <a:xfrm>
            <a:off x="4950907" y="5989477"/>
            <a:ext cx="4953000" cy="8310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400"/>
              <a:buFont typeface="Arial"/>
              <a:buNone/>
            </a:pPr>
            <a:r>
              <a:rPr b="1" i="0" lang="en-US" sz="2400" u="none" cap="none" strike="noStrike">
                <a:solidFill>
                  <a:schemeClr val="lt1"/>
                </a:solidFill>
                <a:latin typeface="Arial"/>
                <a:ea typeface="Arial"/>
                <a:cs typeface="Arial"/>
                <a:sym typeface="Arial"/>
              </a:rPr>
              <a:t>IEEE Intelligence and Security Informatics (ISI) 2018</a:t>
            </a:r>
            <a:endParaRPr b="0" i="0" sz="1400" u="none" cap="none" strike="noStrike">
              <a:solidFill>
                <a:srgbClr val="000000"/>
              </a:solidFill>
              <a:latin typeface="Arial"/>
              <a:ea typeface="Arial"/>
              <a:cs typeface="Arial"/>
              <a:sym typeface="Arial"/>
            </a:endParaRPr>
          </a:p>
        </p:txBody>
      </p:sp>
      <p:grpSp>
        <p:nvGrpSpPr>
          <p:cNvPr id="855" name="Google Shape;855;g3e36394e788_0_618"/>
          <p:cNvGrpSpPr/>
          <p:nvPr/>
        </p:nvGrpSpPr>
        <p:grpSpPr>
          <a:xfrm>
            <a:off x="-18000" y="5842892"/>
            <a:ext cx="9942000" cy="1014788"/>
            <a:chOff x="-21650" y="5927750"/>
            <a:chExt cx="9942000" cy="930230"/>
          </a:xfrm>
        </p:grpSpPr>
        <p:sp>
          <p:nvSpPr>
            <p:cNvPr id="856" name="Google Shape;856;g3e36394e788_0_618"/>
            <p:cNvSpPr/>
            <p:nvPr/>
          </p:nvSpPr>
          <p:spPr>
            <a:xfrm>
              <a:off x="5239747" y="5949280"/>
              <a:ext cx="4680600" cy="9087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Arial"/>
                  <a:ea typeface="Arial"/>
                  <a:cs typeface="Arial"/>
                  <a:sym typeface="Arial"/>
                </a:rPr>
                <a:t>25th Annual International Conference on Digital Government Research (dg.o 2024)</a:t>
              </a:r>
              <a:endParaRPr b="0" i="0" sz="1800" u="none" cap="none" strike="noStrike">
                <a:solidFill>
                  <a:schemeClr val="lt1"/>
                </a:solidFill>
                <a:latin typeface="Arial"/>
                <a:ea typeface="Arial"/>
                <a:cs typeface="Arial"/>
                <a:sym typeface="Arial"/>
              </a:endParaRPr>
            </a:p>
          </p:txBody>
        </p:sp>
        <p:pic>
          <p:nvPicPr>
            <p:cNvPr id="857" name="Google Shape;857;g3e36394e788_0_618"/>
            <p:cNvPicPr preferRelativeResize="0"/>
            <p:nvPr/>
          </p:nvPicPr>
          <p:blipFill rotWithShape="1">
            <a:blip r:embed="rId4">
              <a:alphaModFix/>
            </a:blip>
            <a:srcRect b="-112533" l="-23390" r="23390" t="137710"/>
            <a:stretch/>
          </p:blipFill>
          <p:spPr>
            <a:xfrm>
              <a:off x="0" y="6007596"/>
              <a:ext cx="9920265" cy="792088"/>
            </a:xfrm>
            <a:prstGeom prst="rect">
              <a:avLst/>
            </a:prstGeom>
            <a:noFill/>
            <a:ln>
              <a:noFill/>
            </a:ln>
          </p:spPr>
        </p:pic>
        <p:sp>
          <p:nvSpPr>
            <p:cNvPr id="858" name="Google Shape;858;g3e36394e788_0_618"/>
            <p:cNvSpPr/>
            <p:nvPr/>
          </p:nvSpPr>
          <p:spPr>
            <a:xfrm>
              <a:off x="-21650" y="5927750"/>
              <a:ext cx="9942000" cy="9087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pic>
        <p:nvPicPr>
          <p:cNvPr id="859" name="Google Shape;859;g3e36394e788_0_618"/>
          <p:cNvPicPr preferRelativeResize="0"/>
          <p:nvPr/>
        </p:nvPicPr>
        <p:blipFill rotWithShape="1">
          <a:blip r:embed="rId5">
            <a:alphaModFix/>
          </a:blip>
          <a:srcRect b="0" l="0" r="0" t="0"/>
          <a:stretch/>
        </p:blipFill>
        <p:spPr>
          <a:xfrm>
            <a:off x="218750" y="6052376"/>
            <a:ext cx="1823009" cy="470325"/>
          </a:xfrm>
          <a:prstGeom prst="rect">
            <a:avLst/>
          </a:prstGeom>
          <a:noFill/>
          <a:ln>
            <a:noFill/>
          </a:ln>
        </p:spPr>
      </p:pic>
      <p:pic>
        <p:nvPicPr>
          <p:cNvPr id="860" name="Google Shape;860;g3e36394e788_0_618"/>
          <p:cNvPicPr preferRelativeResize="0"/>
          <p:nvPr/>
        </p:nvPicPr>
        <p:blipFill rotWithShape="1">
          <a:blip r:embed="rId6">
            <a:alphaModFix/>
          </a:blip>
          <a:srcRect b="0" l="0" r="0" t="0"/>
          <a:stretch/>
        </p:blipFill>
        <p:spPr>
          <a:xfrm>
            <a:off x="8015000" y="6038017"/>
            <a:ext cx="1811830" cy="624575"/>
          </a:xfrm>
          <a:prstGeom prst="rect">
            <a:avLst/>
          </a:prstGeom>
          <a:noFill/>
          <a:ln>
            <a:noFill/>
          </a:ln>
        </p:spPr>
      </p:pic>
      <p:sp>
        <p:nvSpPr>
          <p:cNvPr id="861" name="Google Shape;861;g3e36394e788_0_618"/>
          <p:cNvSpPr txBox="1"/>
          <p:nvPr>
            <p:ph type="title"/>
          </p:nvPr>
        </p:nvSpPr>
        <p:spPr>
          <a:xfrm>
            <a:off x="285750" y="196650"/>
            <a:ext cx="9334500" cy="693600"/>
          </a:xfrm>
          <a:prstGeom prst="rect">
            <a:avLst/>
          </a:prstGeom>
          <a:solidFill>
            <a:srgbClr val="000000">
              <a:alpha val="0"/>
            </a:srgbClr>
          </a:solidFill>
          <a:ln>
            <a:noFill/>
          </a:ln>
        </p:spPr>
        <p:txBody>
          <a:bodyPr anchorCtr="0" anchor="ctr" bIns="0" lIns="285750" spcFirstLastPara="1" rIns="0" wrap="square" tIns="0">
            <a:noAutofit/>
          </a:bodyPr>
          <a:lstStyle/>
          <a:p>
            <a:pPr indent="0" lvl="0" marL="0" rtl="0" algn="l">
              <a:spcBef>
                <a:spcPts val="0"/>
              </a:spcBef>
              <a:spcAft>
                <a:spcPts val="0"/>
              </a:spcAft>
              <a:buNone/>
            </a:pPr>
            <a:r>
              <a:rPr lang="en-US" sz="2451">
                <a:latin typeface="Arial"/>
                <a:ea typeface="Arial"/>
                <a:cs typeface="Arial"/>
                <a:sym typeface="Arial"/>
              </a:rPr>
              <a:t>3. </a:t>
            </a:r>
            <a:r>
              <a:rPr b="1" i="0" lang="en-US" sz="2451">
                <a:solidFill>
                  <a:srgbClr val="1E4E79"/>
                </a:solidFill>
                <a:latin typeface="Arial"/>
                <a:ea typeface="Arial"/>
                <a:cs typeface="Arial"/>
                <a:sym typeface="Arial"/>
              </a:rPr>
              <a:t>Examples of MAS and Adoption of the Human Oversight Principle</a:t>
            </a:r>
            <a:endParaRPr b="1" i="0" sz="2451">
              <a:solidFill>
                <a:srgbClr val="1E4E79"/>
              </a:solidFill>
              <a:latin typeface="Arial"/>
              <a:ea typeface="Arial"/>
              <a:cs typeface="Arial"/>
              <a:sym typeface="Arial"/>
            </a:endParaRPr>
          </a:p>
        </p:txBody>
      </p:sp>
      <p:grpSp>
        <p:nvGrpSpPr>
          <p:cNvPr id="862" name="Google Shape;862;g3e36394e788_0_618"/>
          <p:cNvGrpSpPr/>
          <p:nvPr/>
        </p:nvGrpSpPr>
        <p:grpSpPr>
          <a:xfrm>
            <a:off x="285750" y="1333500"/>
            <a:ext cx="9334500" cy="4000500"/>
            <a:chOff x="285750" y="1333500"/>
            <a:chExt cx="9334500" cy="4000500"/>
          </a:xfrm>
        </p:grpSpPr>
        <p:sp>
          <p:nvSpPr>
            <p:cNvPr id="863" name="Google Shape;863;g3e36394e788_0_618"/>
            <p:cNvSpPr/>
            <p:nvPr/>
          </p:nvSpPr>
          <p:spPr>
            <a:xfrm>
              <a:off x="285750" y="1333500"/>
              <a:ext cx="9334500" cy="4000500"/>
            </a:xfrm>
            <a:prstGeom prst="roundRect">
              <a:avLst>
                <a:gd fmla="val 3571" name="adj"/>
              </a:avLst>
            </a:prstGeom>
            <a:solidFill>
              <a:srgbClr val="F8FAFC"/>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864" name="Google Shape;864;g3e36394e788_0_618"/>
            <p:cNvGrpSpPr/>
            <p:nvPr/>
          </p:nvGrpSpPr>
          <p:grpSpPr>
            <a:xfrm>
              <a:off x="571500" y="1714500"/>
              <a:ext cx="476400" cy="520215"/>
              <a:chOff x="571500" y="1714500"/>
              <a:chExt cx="476400" cy="520215"/>
            </a:xfrm>
          </p:grpSpPr>
          <p:sp>
            <p:nvSpPr>
              <p:cNvPr id="865" name="Google Shape;865;g3e36394e788_0_618"/>
              <p:cNvSpPr/>
              <p:nvPr/>
            </p:nvSpPr>
            <p:spPr>
              <a:xfrm>
                <a:off x="571500" y="1714500"/>
                <a:ext cx="476400" cy="4764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66" name="Google Shape;866;g3e36394e788_0_618"/>
              <p:cNvSpPr txBox="1"/>
              <p:nvPr/>
            </p:nvSpPr>
            <p:spPr>
              <a:xfrm>
                <a:off x="571500" y="1758315"/>
                <a:ext cx="476400" cy="476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3000">
                    <a:solidFill>
                      <a:srgbClr val="1E4E79"/>
                    </a:solidFill>
                    <a:latin typeface="Material Icons"/>
                    <a:ea typeface="Material Icons"/>
                    <a:cs typeface="Material Icons"/>
                    <a:sym typeface="Material Icons"/>
                  </a:rPr>
                  <a:t>military_tech</a:t>
                </a:r>
                <a:endParaRPr sz="3000">
                  <a:solidFill>
                    <a:srgbClr val="1E4E79"/>
                  </a:solidFill>
                  <a:latin typeface="Material Icons"/>
                  <a:ea typeface="Material Icons"/>
                  <a:cs typeface="Material Icons"/>
                  <a:sym typeface="Material Icons"/>
                </a:endParaRPr>
              </a:p>
            </p:txBody>
          </p:sp>
        </p:grpSp>
        <p:sp>
          <p:nvSpPr>
            <p:cNvPr id="867" name="Google Shape;867;g3e36394e788_0_618"/>
            <p:cNvSpPr txBox="1"/>
            <p:nvPr/>
          </p:nvSpPr>
          <p:spPr>
            <a:xfrm>
              <a:off x="1238250" y="1619250"/>
              <a:ext cx="8096400" cy="3429000"/>
            </a:xfrm>
            <a:prstGeom prst="rect">
              <a:avLst/>
            </a:prstGeom>
            <a:noFill/>
            <a:ln>
              <a:noFill/>
            </a:ln>
          </p:spPr>
          <p:txBody>
            <a:bodyPr anchorCtr="0" anchor="t" bIns="0" lIns="0" spcFirstLastPara="1" rIns="285750" wrap="square" tIns="0">
              <a:noAutofit/>
            </a:bodyPr>
            <a:lstStyle/>
            <a:p>
              <a:pPr indent="0" lvl="0" marL="0" rtl="0" algn="l">
                <a:spcBef>
                  <a:spcPts val="0"/>
                </a:spcBef>
                <a:spcAft>
                  <a:spcPts val="0"/>
                </a:spcAft>
                <a:buNone/>
              </a:pPr>
              <a:r>
                <a:rPr b="1" lang="en-US" sz="1800">
                  <a:solidFill>
                    <a:srgbClr val="1E4E79"/>
                  </a:solidFill>
                  <a:latin typeface="Arial"/>
                  <a:ea typeface="Arial"/>
                  <a:cs typeface="Arial"/>
                  <a:sym typeface="Arial"/>
                </a:rPr>
                <a:t>Military Domain Scenario</a:t>
              </a:r>
              <a:endParaRPr b="1" sz="1800">
                <a:solidFill>
                  <a:srgbClr val="1E4E79"/>
                </a:solidFill>
                <a:latin typeface="Arial"/>
                <a:ea typeface="Arial"/>
                <a:cs typeface="Arial"/>
                <a:sym typeface="Arial"/>
              </a:endParaRPr>
            </a:p>
            <a:p>
              <a:pPr indent="0" lvl="0" marL="0" rtl="0" algn="l">
                <a:spcBef>
                  <a:spcPts val="1500"/>
                </a:spcBef>
                <a:spcAft>
                  <a:spcPts val="0"/>
                </a:spcAft>
                <a:buNone/>
              </a:pPr>
              <a:r>
                <a:rPr lang="en-US" sz="1800">
                  <a:solidFill>
                    <a:srgbClr val="334155"/>
                  </a:solidFill>
                  <a:latin typeface="Arial"/>
                  <a:ea typeface="Arial"/>
                  <a:cs typeface="Arial"/>
                  <a:sym typeface="Arial"/>
                </a:rPr>
                <a:t>In a military domain scenario, agents can undergo or request </a:t>
              </a:r>
              <a:r>
                <a:rPr b="1" lang="en-US" sz="1800">
                  <a:solidFill>
                    <a:srgbClr val="4472C4"/>
                  </a:solidFill>
                  <a:latin typeface="Arial"/>
                  <a:ea typeface="Arial"/>
                  <a:cs typeface="Arial"/>
                  <a:sym typeface="Arial"/>
                </a:rPr>
                <a:t>human intervention</a:t>
              </a:r>
              <a:r>
                <a:rPr lang="en-US" sz="1800">
                  <a:solidFill>
                    <a:srgbClr val="334155"/>
                  </a:solidFill>
                  <a:latin typeface="Arial"/>
                  <a:ea typeface="Arial"/>
                  <a:cs typeface="Arial"/>
                  <a:sym typeface="Arial"/>
                </a:rPr>
                <a:t>.</a:t>
              </a:r>
              <a:endParaRPr sz="1800">
                <a:solidFill>
                  <a:srgbClr val="334155"/>
                </a:solidFill>
                <a:latin typeface="Arial"/>
                <a:ea typeface="Arial"/>
                <a:cs typeface="Arial"/>
                <a:sym typeface="Arial"/>
              </a:endParaRPr>
            </a:p>
            <a:p>
              <a:pPr indent="-342900" lvl="0" marL="457200" rtl="0" algn="l">
                <a:spcBef>
                  <a:spcPts val="1500"/>
                </a:spcBef>
                <a:spcAft>
                  <a:spcPts val="750"/>
                </a:spcAft>
                <a:buClr>
                  <a:srgbClr val="334155"/>
                </a:buClr>
                <a:buSzPts val="1800"/>
                <a:buFont typeface="Arial"/>
                <a:buChar char="●"/>
              </a:pPr>
              <a:r>
                <a:rPr lang="en-US" sz="1800">
                  <a:solidFill>
                    <a:srgbClr val="334155"/>
                  </a:solidFill>
                  <a:latin typeface="Arial"/>
                  <a:ea typeface="Arial"/>
                  <a:cs typeface="Arial"/>
                  <a:sym typeface="Arial"/>
                </a:rPr>
                <a:t>For instance, when an agent detects enemy movement, it may request </a:t>
              </a:r>
              <a:r>
                <a:rPr b="1" lang="en-US" sz="1800">
                  <a:solidFill>
                    <a:srgbClr val="4472C4"/>
                  </a:solidFill>
                  <a:latin typeface="Arial"/>
                  <a:ea typeface="Arial"/>
                  <a:cs typeface="Arial"/>
                  <a:sym typeface="Arial"/>
                </a:rPr>
                <a:t>human assistance</a:t>
              </a:r>
              <a:r>
                <a:rPr lang="en-US" sz="1800">
                  <a:solidFill>
                    <a:srgbClr val="334155"/>
                  </a:solidFill>
                  <a:latin typeface="Arial"/>
                  <a:ea typeface="Arial"/>
                  <a:cs typeface="Arial"/>
                  <a:sym typeface="Arial"/>
                </a:rPr>
                <a:t> to handle the situation.</a:t>
              </a:r>
              <a:endParaRPr sz="1800">
                <a:solidFill>
                  <a:srgbClr val="334155"/>
                </a:solidFill>
                <a:latin typeface="Arial"/>
                <a:ea typeface="Arial"/>
                <a:cs typeface="Arial"/>
                <a:sym typeface="Arial"/>
              </a:endParaRPr>
            </a:p>
          </p:txBody>
        </p:sp>
      </p:grpSp>
      <p:sp>
        <p:nvSpPr>
          <p:cNvPr id="868" name="Google Shape;868;g3e36394e788_0_618"/>
          <p:cNvSpPr txBox="1"/>
          <p:nvPr/>
        </p:nvSpPr>
        <p:spPr>
          <a:xfrm>
            <a:off x="285750" y="5524500"/>
            <a:ext cx="9334500" cy="285900"/>
          </a:xfrm>
          <a:prstGeom prst="rect">
            <a:avLst/>
          </a:prstGeom>
          <a:solidFill>
            <a:srgbClr val="000000">
              <a:alpha val="0"/>
            </a:srgbClr>
          </a:solidFill>
          <a:ln>
            <a:noFill/>
          </a:ln>
        </p:spPr>
        <p:txBody>
          <a:bodyPr anchorCtr="0" anchor="b" bIns="0" lIns="0" spcFirstLastPara="1" rIns="0" wrap="square" tIns="0">
            <a:noAutofit/>
          </a:bodyPr>
          <a:lstStyle/>
          <a:p>
            <a:pPr indent="0" lvl="0" marL="0" rtl="0" algn="l">
              <a:spcBef>
                <a:spcPts val="0"/>
              </a:spcBef>
              <a:spcAft>
                <a:spcPts val="0"/>
              </a:spcAft>
              <a:buNone/>
            </a:pPr>
            <a:r>
              <a:rPr b="1" lang="en-US" sz="1000">
                <a:solidFill>
                  <a:srgbClr val="64748B"/>
                </a:solidFill>
                <a:latin typeface="Arial"/>
                <a:ea typeface="Arial"/>
                <a:cs typeface="Arial"/>
                <a:sym typeface="Arial"/>
              </a:rPr>
              <a:t>Sources: </a:t>
            </a:r>
            <a:r>
              <a:rPr b="0" lang="en-US" sz="1000">
                <a:solidFill>
                  <a:srgbClr val="64748B"/>
                </a:solidFill>
                <a:latin typeface="Arial"/>
                <a:ea typeface="Arial"/>
                <a:cs typeface="Arial"/>
                <a:sym typeface="Arial"/>
              </a:rPr>
              <a:t>[23]</a:t>
            </a:r>
            <a:endParaRPr b="1" sz="1000">
              <a:solidFill>
                <a:srgbClr val="64748B"/>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2" name="Shape 872"/>
        <p:cNvGrpSpPr/>
        <p:nvPr/>
      </p:nvGrpSpPr>
      <p:grpSpPr>
        <a:xfrm>
          <a:off x="0" y="0"/>
          <a:ext cx="0" cy="0"/>
          <a:chOff x="0" y="0"/>
          <a:chExt cx="0" cy="0"/>
        </a:xfrm>
      </p:grpSpPr>
      <p:sp>
        <p:nvSpPr>
          <p:cNvPr id="873" name="Google Shape;873;g3e36394e788_0_629"/>
          <p:cNvSpPr/>
          <p:nvPr/>
        </p:nvSpPr>
        <p:spPr>
          <a:xfrm>
            <a:off x="0" y="768088"/>
            <a:ext cx="9906000" cy="6090000"/>
          </a:xfrm>
          <a:prstGeom prst="rect">
            <a:avLst/>
          </a:prstGeom>
          <a:solidFill>
            <a:schemeClr val="lt1">
              <a:alpha val="6000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874" name="Google Shape;874;g3e36394e788_0_629"/>
          <p:cNvSpPr/>
          <p:nvPr/>
        </p:nvSpPr>
        <p:spPr>
          <a:xfrm>
            <a:off x="-13050" y="5921896"/>
            <a:ext cx="9919200" cy="936000"/>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875" name="Google Shape;875;g3e36394e788_0_629"/>
          <p:cNvPicPr preferRelativeResize="0"/>
          <p:nvPr/>
        </p:nvPicPr>
        <p:blipFill rotWithShape="1">
          <a:blip r:embed="rId3">
            <a:alphaModFix/>
          </a:blip>
          <a:srcRect b="0" l="17788" r="19906" t="65239"/>
          <a:stretch/>
        </p:blipFill>
        <p:spPr>
          <a:xfrm>
            <a:off x="920552" y="6155677"/>
            <a:ext cx="1568747" cy="665761"/>
          </a:xfrm>
          <a:prstGeom prst="rect">
            <a:avLst/>
          </a:prstGeom>
          <a:noFill/>
          <a:ln>
            <a:noFill/>
          </a:ln>
        </p:spPr>
      </p:pic>
      <p:pic>
        <p:nvPicPr>
          <p:cNvPr id="876" name="Google Shape;876;g3e36394e788_0_629"/>
          <p:cNvPicPr preferRelativeResize="0"/>
          <p:nvPr/>
        </p:nvPicPr>
        <p:blipFill rotWithShape="1">
          <a:blip r:embed="rId3">
            <a:alphaModFix/>
          </a:blip>
          <a:srcRect b="34761" l="25519" r="25620" t="3570"/>
          <a:stretch/>
        </p:blipFill>
        <p:spPr>
          <a:xfrm>
            <a:off x="194947" y="6056653"/>
            <a:ext cx="725605" cy="696647"/>
          </a:xfrm>
          <a:prstGeom prst="rect">
            <a:avLst/>
          </a:prstGeom>
          <a:noFill/>
          <a:ln>
            <a:noFill/>
          </a:ln>
        </p:spPr>
      </p:pic>
      <p:sp>
        <p:nvSpPr>
          <p:cNvPr id="877" name="Google Shape;877;g3e36394e788_0_629"/>
          <p:cNvSpPr/>
          <p:nvPr/>
        </p:nvSpPr>
        <p:spPr>
          <a:xfrm>
            <a:off x="4950907" y="5989477"/>
            <a:ext cx="4953000" cy="8310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400"/>
              <a:buFont typeface="Arial"/>
              <a:buNone/>
            </a:pPr>
            <a:r>
              <a:rPr b="1" i="0" lang="en-US" sz="2400" u="none" cap="none" strike="noStrike">
                <a:solidFill>
                  <a:schemeClr val="lt1"/>
                </a:solidFill>
                <a:latin typeface="Arial"/>
                <a:ea typeface="Arial"/>
                <a:cs typeface="Arial"/>
                <a:sym typeface="Arial"/>
              </a:rPr>
              <a:t>IEEE Intelligence and Security Informatics (ISI) 2018</a:t>
            </a:r>
            <a:endParaRPr b="0" i="0" sz="1400" u="none" cap="none" strike="noStrike">
              <a:solidFill>
                <a:srgbClr val="000000"/>
              </a:solidFill>
              <a:latin typeface="Arial"/>
              <a:ea typeface="Arial"/>
              <a:cs typeface="Arial"/>
              <a:sym typeface="Arial"/>
            </a:endParaRPr>
          </a:p>
        </p:txBody>
      </p:sp>
      <p:grpSp>
        <p:nvGrpSpPr>
          <p:cNvPr id="878" name="Google Shape;878;g3e36394e788_0_629"/>
          <p:cNvGrpSpPr/>
          <p:nvPr/>
        </p:nvGrpSpPr>
        <p:grpSpPr>
          <a:xfrm>
            <a:off x="-18000" y="5842892"/>
            <a:ext cx="9942000" cy="1014788"/>
            <a:chOff x="-21650" y="5927750"/>
            <a:chExt cx="9942000" cy="930230"/>
          </a:xfrm>
        </p:grpSpPr>
        <p:sp>
          <p:nvSpPr>
            <p:cNvPr id="879" name="Google Shape;879;g3e36394e788_0_629"/>
            <p:cNvSpPr/>
            <p:nvPr/>
          </p:nvSpPr>
          <p:spPr>
            <a:xfrm>
              <a:off x="5239747" y="5949280"/>
              <a:ext cx="4680600" cy="9087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Arial"/>
                  <a:ea typeface="Arial"/>
                  <a:cs typeface="Arial"/>
                  <a:sym typeface="Arial"/>
                </a:rPr>
                <a:t>25th Annual International Conference on Digital Government Research (dg.o 2024)</a:t>
              </a:r>
              <a:endParaRPr b="0" i="0" sz="1800" u="none" cap="none" strike="noStrike">
                <a:solidFill>
                  <a:schemeClr val="lt1"/>
                </a:solidFill>
                <a:latin typeface="Arial"/>
                <a:ea typeface="Arial"/>
                <a:cs typeface="Arial"/>
                <a:sym typeface="Arial"/>
              </a:endParaRPr>
            </a:p>
          </p:txBody>
        </p:sp>
        <p:pic>
          <p:nvPicPr>
            <p:cNvPr id="880" name="Google Shape;880;g3e36394e788_0_629"/>
            <p:cNvPicPr preferRelativeResize="0"/>
            <p:nvPr/>
          </p:nvPicPr>
          <p:blipFill rotWithShape="1">
            <a:blip r:embed="rId4">
              <a:alphaModFix/>
            </a:blip>
            <a:srcRect b="-112533" l="-23390" r="23390" t="137710"/>
            <a:stretch/>
          </p:blipFill>
          <p:spPr>
            <a:xfrm>
              <a:off x="0" y="6007596"/>
              <a:ext cx="9920265" cy="792088"/>
            </a:xfrm>
            <a:prstGeom prst="rect">
              <a:avLst/>
            </a:prstGeom>
            <a:noFill/>
            <a:ln>
              <a:noFill/>
            </a:ln>
          </p:spPr>
        </p:pic>
        <p:sp>
          <p:nvSpPr>
            <p:cNvPr id="881" name="Google Shape;881;g3e36394e788_0_629"/>
            <p:cNvSpPr/>
            <p:nvPr/>
          </p:nvSpPr>
          <p:spPr>
            <a:xfrm>
              <a:off x="-21650" y="5927750"/>
              <a:ext cx="9942000" cy="9087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pic>
        <p:nvPicPr>
          <p:cNvPr id="882" name="Google Shape;882;g3e36394e788_0_629"/>
          <p:cNvPicPr preferRelativeResize="0"/>
          <p:nvPr/>
        </p:nvPicPr>
        <p:blipFill rotWithShape="1">
          <a:blip r:embed="rId5">
            <a:alphaModFix/>
          </a:blip>
          <a:srcRect b="0" l="0" r="0" t="0"/>
          <a:stretch/>
        </p:blipFill>
        <p:spPr>
          <a:xfrm>
            <a:off x="218750" y="6052376"/>
            <a:ext cx="1823009" cy="470325"/>
          </a:xfrm>
          <a:prstGeom prst="rect">
            <a:avLst/>
          </a:prstGeom>
          <a:noFill/>
          <a:ln>
            <a:noFill/>
          </a:ln>
        </p:spPr>
      </p:pic>
      <p:pic>
        <p:nvPicPr>
          <p:cNvPr id="883" name="Google Shape;883;g3e36394e788_0_629"/>
          <p:cNvPicPr preferRelativeResize="0"/>
          <p:nvPr/>
        </p:nvPicPr>
        <p:blipFill rotWithShape="1">
          <a:blip r:embed="rId6">
            <a:alphaModFix/>
          </a:blip>
          <a:srcRect b="0" l="0" r="0" t="0"/>
          <a:stretch/>
        </p:blipFill>
        <p:spPr>
          <a:xfrm>
            <a:off x="8015000" y="6038017"/>
            <a:ext cx="1811830" cy="624575"/>
          </a:xfrm>
          <a:prstGeom prst="rect">
            <a:avLst/>
          </a:prstGeom>
          <a:noFill/>
          <a:ln>
            <a:noFill/>
          </a:ln>
        </p:spPr>
      </p:pic>
      <p:sp>
        <p:nvSpPr>
          <p:cNvPr id="884" name="Google Shape;884;g3e36394e788_0_629"/>
          <p:cNvSpPr txBox="1"/>
          <p:nvPr>
            <p:ph type="title"/>
          </p:nvPr>
        </p:nvSpPr>
        <p:spPr>
          <a:xfrm>
            <a:off x="41075" y="196650"/>
            <a:ext cx="10035600" cy="693600"/>
          </a:xfrm>
          <a:prstGeom prst="rect">
            <a:avLst/>
          </a:prstGeom>
          <a:solidFill>
            <a:srgbClr val="000000">
              <a:alpha val="0"/>
            </a:srgbClr>
          </a:solidFill>
          <a:ln>
            <a:noFill/>
          </a:ln>
        </p:spPr>
        <p:txBody>
          <a:bodyPr anchorCtr="0" anchor="ctr" bIns="0" lIns="285750" spcFirstLastPara="1" rIns="0" wrap="square" tIns="0">
            <a:noAutofit/>
          </a:bodyPr>
          <a:lstStyle/>
          <a:p>
            <a:pPr indent="0" lvl="0" marL="0" rtl="0" algn="l">
              <a:spcBef>
                <a:spcPts val="0"/>
              </a:spcBef>
              <a:spcAft>
                <a:spcPts val="0"/>
              </a:spcAft>
              <a:buNone/>
            </a:pPr>
            <a:r>
              <a:rPr lang="en-US" sz="2400">
                <a:latin typeface="Arial"/>
                <a:ea typeface="Arial"/>
                <a:cs typeface="Arial"/>
                <a:sym typeface="Arial"/>
              </a:rPr>
              <a:t>3. </a:t>
            </a:r>
            <a:r>
              <a:rPr b="1" i="0" lang="en-US" sz="2400" u="none" strike="noStrike">
                <a:solidFill>
                  <a:srgbClr val="1E4E79"/>
                </a:solidFill>
                <a:latin typeface="Arial"/>
                <a:ea typeface="Arial"/>
                <a:cs typeface="Arial"/>
                <a:sym typeface="Arial"/>
              </a:rPr>
              <a:t>EP7 Principle: Transparency and Explainability</a:t>
            </a:r>
            <a:endParaRPr b="1" i="0" sz="2400" u="none" strike="noStrike">
              <a:solidFill>
                <a:srgbClr val="1E4E79"/>
              </a:solidFill>
              <a:latin typeface="Arial"/>
              <a:ea typeface="Arial"/>
              <a:cs typeface="Arial"/>
              <a:sym typeface="Arial"/>
            </a:endParaRPr>
          </a:p>
        </p:txBody>
      </p:sp>
      <p:grpSp>
        <p:nvGrpSpPr>
          <p:cNvPr id="885" name="Google Shape;885;g3e36394e788_0_629"/>
          <p:cNvGrpSpPr/>
          <p:nvPr/>
        </p:nvGrpSpPr>
        <p:grpSpPr>
          <a:xfrm>
            <a:off x="428625" y="1333500"/>
            <a:ext cx="4333800" cy="3429000"/>
            <a:chOff x="428625" y="1333500"/>
            <a:chExt cx="4333800" cy="3429000"/>
          </a:xfrm>
        </p:grpSpPr>
        <p:sp>
          <p:nvSpPr>
            <p:cNvPr id="886" name="Google Shape;886;g3e36394e788_0_629"/>
            <p:cNvSpPr/>
            <p:nvPr/>
          </p:nvSpPr>
          <p:spPr>
            <a:xfrm>
              <a:off x="428625" y="1333500"/>
              <a:ext cx="4333800" cy="3429000"/>
            </a:xfrm>
            <a:prstGeom prst="roundRect">
              <a:avLst>
                <a:gd fmla="val 4166" name="adj"/>
              </a:avLst>
            </a:prstGeom>
            <a:solidFill>
              <a:srgbClr val="F8FAFC"/>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87" name="Google Shape;887;g3e36394e788_0_629"/>
            <p:cNvSpPr txBox="1"/>
            <p:nvPr/>
          </p:nvSpPr>
          <p:spPr>
            <a:xfrm>
              <a:off x="428625" y="1333500"/>
              <a:ext cx="4333800" cy="3429000"/>
            </a:xfrm>
            <a:prstGeom prst="rect">
              <a:avLst/>
            </a:prstGeom>
            <a:noFill/>
            <a:ln>
              <a:noFill/>
            </a:ln>
          </p:spPr>
          <p:txBody>
            <a:bodyPr anchorCtr="0" anchor="t" bIns="285750" lIns="285750" spcFirstLastPara="1" rIns="285750" wrap="square" tIns="285750">
              <a:noAutofit/>
            </a:bodyPr>
            <a:lstStyle/>
            <a:p>
              <a:pPr indent="0" lvl="0" marL="0" rtl="0" algn="l">
                <a:spcBef>
                  <a:spcPts val="0"/>
                </a:spcBef>
                <a:spcAft>
                  <a:spcPts val="0"/>
                </a:spcAft>
                <a:buNone/>
              </a:pPr>
              <a:r>
                <a:rPr lang="en-US" sz="3200">
                  <a:solidFill>
                    <a:srgbClr val="1E4E79"/>
                  </a:solidFill>
                  <a:latin typeface="Material Icons"/>
                  <a:ea typeface="Material Icons"/>
                  <a:cs typeface="Material Icons"/>
                  <a:sym typeface="Material Icons"/>
                </a:rPr>
                <a:t>visibility </a:t>
              </a:r>
              <a:r>
                <a:rPr b="1" lang="en-US" sz="2200">
                  <a:solidFill>
                    <a:srgbClr val="1E4E79"/>
                  </a:solidFill>
                  <a:latin typeface="Arial"/>
                  <a:ea typeface="Arial"/>
                  <a:cs typeface="Arial"/>
                  <a:sym typeface="Arial"/>
                </a:rPr>
                <a:t>Transparency</a:t>
              </a:r>
              <a:endParaRPr>
                <a:latin typeface="Arial"/>
                <a:ea typeface="Arial"/>
                <a:cs typeface="Arial"/>
                <a:sym typeface="Arial"/>
              </a:endParaRPr>
            </a:p>
            <a:p>
              <a:pPr indent="0" lvl="0" marL="0" rtl="0" algn="l">
                <a:spcBef>
                  <a:spcPts val="1500"/>
                </a:spcBef>
                <a:spcAft>
                  <a:spcPts val="0"/>
                </a:spcAft>
                <a:buNone/>
              </a:pPr>
              <a:r>
                <a:rPr lang="en-US" sz="1500">
                  <a:solidFill>
                    <a:srgbClr val="334155"/>
                  </a:solidFill>
                  <a:latin typeface="Arial"/>
                  <a:ea typeface="Arial"/>
                  <a:cs typeface="Arial"/>
                  <a:sym typeface="Arial"/>
                </a:rPr>
                <a:t>Focuses on </a:t>
              </a:r>
              <a:r>
                <a:rPr b="1" lang="en-US" sz="1500">
                  <a:solidFill>
                    <a:srgbClr val="4472C4"/>
                  </a:solidFill>
                  <a:latin typeface="Arial"/>
                  <a:ea typeface="Arial"/>
                  <a:cs typeface="Arial"/>
                  <a:sym typeface="Arial"/>
                </a:rPr>
                <a:t>information disclosure</a:t>
              </a:r>
              <a:r>
                <a:rPr lang="en-US" sz="1500">
                  <a:solidFill>
                    <a:srgbClr val="334155"/>
                  </a:solidFill>
                  <a:latin typeface="Arial"/>
                  <a:ea typeface="Arial"/>
                  <a:cs typeface="Arial"/>
                  <a:sym typeface="Arial"/>
                </a:rPr>
                <a:t> (objectives and limitations) so that stakeholders understand the AI system.</a:t>
              </a:r>
              <a:endParaRPr sz="1500">
                <a:solidFill>
                  <a:srgbClr val="334155"/>
                </a:solidFill>
                <a:latin typeface="Arial"/>
                <a:ea typeface="Arial"/>
                <a:cs typeface="Arial"/>
                <a:sym typeface="Arial"/>
              </a:endParaRPr>
            </a:p>
            <a:p>
              <a:pPr indent="0" lvl="0" marL="0" rtl="0" algn="l">
                <a:spcBef>
                  <a:spcPts val="1125"/>
                </a:spcBef>
                <a:spcAft>
                  <a:spcPts val="0"/>
                </a:spcAft>
                <a:buNone/>
              </a:pPr>
              <a:r>
                <a:rPr lang="en-US" sz="1500">
                  <a:solidFill>
                    <a:srgbClr val="334155"/>
                  </a:solidFill>
                  <a:latin typeface="Arial"/>
                  <a:ea typeface="Arial"/>
                  <a:cs typeface="Arial"/>
                  <a:sym typeface="Arial"/>
                </a:rPr>
                <a:t>Allows those affected to </a:t>
              </a:r>
              <a:r>
                <a:rPr b="1" lang="en-US" sz="1500">
                  <a:solidFill>
                    <a:srgbClr val="4472C4"/>
                  </a:solidFill>
                  <a:latin typeface="Arial"/>
                  <a:ea typeface="Arial"/>
                  <a:cs typeface="Arial"/>
                  <a:sym typeface="Arial"/>
                </a:rPr>
                <a:t>challenge results</a:t>
              </a:r>
              <a:r>
                <a:rPr lang="en-US" sz="1500">
                  <a:solidFill>
                    <a:srgbClr val="334155"/>
                  </a:solidFill>
                  <a:latin typeface="Arial"/>
                  <a:ea typeface="Arial"/>
                  <a:cs typeface="Arial"/>
                  <a:sym typeface="Arial"/>
                </a:rPr>
                <a:t> by understanding the logic, data, and processes behind decisions.</a:t>
              </a:r>
              <a:endParaRPr sz="1500">
                <a:solidFill>
                  <a:srgbClr val="334155"/>
                </a:solidFill>
                <a:latin typeface="Arial"/>
                <a:ea typeface="Arial"/>
                <a:cs typeface="Arial"/>
                <a:sym typeface="Arial"/>
              </a:endParaRPr>
            </a:p>
          </p:txBody>
        </p:sp>
      </p:grpSp>
      <p:sp>
        <p:nvSpPr>
          <p:cNvPr id="888" name="Google Shape;888;g3e36394e788_0_629"/>
          <p:cNvSpPr txBox="1"/>
          <p:nvPr/>
        </p:nvSpPr>
        <p:spPr>
          <a:xfrm>
            <a:off x="285750" y="5524500"/>
            <a:ext cx="9334500" cy="2859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b="1" lang="en-US" sz="1000">
                <a:solidFill>
                  <a:srgbClr val="64748B"/>
                </a:solidFill>
                <a:latin typeface="Arial"/>
                <a:ea typeface="Arial"/>
                <a:cs typeface="Arial"/>
                <a:sym typeface="Arial"/>
              </a:rPr>
              <a:t>Sources: </a:t>
            </a:r>
            <a:r>
              <a:rPr b="0" lang="en-US" sz="1000">
                <a:solidFill>
                  <a:srgbClr val="64748B"/>
                </a:solidFill>
                <a:latin typeface="Arial"/>
                <a:ea typeface="Arial"/>
                <a:cs typeface="Arial"/>
                <a:sym typeface="Arial"/>
              </a:rPr>
              <a:t>[1]</a:t>
            </a:r>
            <a:endParaRPr b="1" sz="1000">
              <a:solidFill>
                <a:srgbClr val="64748B"/>
              </a:solidFill>
              <a:latin typeface="Arial"/>
              <a:ea typeface="Arial"/>
              <a:cs typeface="Arial"/>
              <a:sym typeface="Arial"/>
            </a:endParaRPr>
          </a:p>
        </p:txBody>
      </p:sp>
      <p:grpSp>
        <p:nvGrpSpPr>
          <p:cNvPr id="889" name="Google Shape;889;g3e36394e788_0_629"/>
          <p:cNvGrpSpPr/>
          <p:nvPr/>
        </p:nvGrpSpPr>
        <p:grpSpPr>
          <a:xfrm>
            <a:off x="5143500" y="1333500"/>
            <a:ext cx="4333800" cy="3429000"/>
            <a:chOff x="5143500" y="1333500"/>
            <a:chExt cx="4333800" cy="3429000"/>
          </a:xfrm>
        </p:grpSpPr>
        <p:sp>
          <p:nvSpPr>
            <p:cNvPr id="890" name="Google Shape;890;g3e36394e788_0_629"/>
            <p:cNvSpPr/>
            <p:nvPr/>
          </p:nvSpPr>
          <p:spPr>
            <a:xfrm>
              <a:off x="5143500" y="1333500"/>
              <a:ext cx="4333800" cy="3429000"/>
            </a:xfrm>
            <a:prstGeom prst="roundRect">
              <a:avLst>
                <a:gd fmla="val 4166" name="adj"/>
              </a:avLst>
            </a:prstGeom>
            <a:solidFill>
              <a:srgbClr val="F8FAFC"/>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91" name="Google Shape;891;g3e36394e788_0_629"/>
            <p:cNvSpPr txBox="1"/>
            <p:nvPr/>
          </p:nvSpPr>
          <p:spPr>
            <a:xfrm>
              <a:off x="5143500" y="1333500"/>
              <a:ext cx="4333800" cy="3429000"/>
            </a:xfrm>
            <a:prstGeom prst="rect">
              <a:avLst/>
            </a:prstGeom>
            <a:noFill/>
            <a:ln>
              <a:noFill/>
            </a:ln>
          </p:spPr>
          <p:txBody>
            <a:bodyPr anchorCtr="0" anchor="t" bIns="285750" lIns="285750" spcFirstLastPara="1" rIns="285750" wrap="square" tIns="285750">
              <a:noAutofit/>
            </a:bodyPr>
            <a:lstStyle/>
            <a:p>
              <a:pPr indent="0" lvl="0" marL="0" rtl="0" algn="l">
                <a:spcBef>
                  <a:spcPts val="0"/>
                </a:spcBef>
                <a:spcAft>
                  <a:spcPts val="0"/>
                </a:spcAft>
                <a:buNone/>
              </a:pPr>
              <a:r>
                <a:rPr lang="en-US" sz="3200">
                  <a:solidFill>
                    <a:srgbClr val="1E4E79"/>
                  </a:solidFill>
                  <a:latin typeface="Material Icons"/>
                  <a:ea typeface="Material Icons"/>
                  <a:cs typeface="Material Icons"/>
                  <a:sym typeface="Material Icons"/>
                </a:rPr>
                <a:t>psychology </a:t>
              </a:r>
              <a:r>
                <a:rPr b="1" lang="en-US" sz="2200">
                  <a:solidFill>
                    <a:srgbClr val="1E4E79"/>
                  </a:solidFill>
                  <a:latin typeface="Arial"/>
                  <a:ea typeface="Arial"/>
                  <a:cs typeface="Arial"/>
                  <a:sym typeface="Arial"/>
                </a:rPr>
                <a:t>Explainability</a:t>
              </a:r>
              <a:endParaRPr>
                <a:latin typeface="Arial"/>
                <a:ea typeface="Arial"/>
                <a:cs typeface="Arial"/>
                <a:sym typeface="Arial"/>
              </a:endParaRPr>
            </a:p>
            <a:p>
              <a:pPr indent="0" lvl="0" marL="0" rtl="0" algn="l">
                <a:spcBef>
                  <a:spcPts val="1500"/>
                </a:spcBef>
                <a:spcAft>
                  <a:spcPts val="0"/>
                </a:spcAft>
                <a:buNone/>
              </a:pPr>
              <a:r>
                <a:rPr lang="en-US" sz="1500">
                  <a:solidFill>
                    <a:srgbClr val="334155"/>
                  </a:solidFill>
                  <a:latin typeface="Arial"/>
                  <a:ea typeface="Arial"/>
                  <a:cs typeface="Arial"/>
                  <a:sym typeface="Arial"/>
                </a:rPr>
                <a:t>Provides </a:t>
              </a:r>
              <a:r>
                <a:rPr b="1" lang="en-US" sz="1500">
                  <a:solidFill>
                    <a:srgbClr val="4472C4"/>
                  </a:solidFill>
                  <a:latin typeface="Arial"/>
                  <a:ea typeface="Arial"/>
                  <a:cs typeface="Arial"/>
                  <a:sym typeface="Arial"/>
                </a:rPr>
                <a:t>intelligible information</a:t>
              </a:r>
              <a:r>
                <a:rPr lang="en-US" sz="1500">
                  <a:solidFill>
                    <a:srgbClr val="334155"/>
                  </a:solidFill>
                  <a:latin typeface="Arial"/>
                  <a:ea typeface="Arial"/>
                  <a:cs typeface="Arial"/>
                  <a:sym typeface="Arial"/>
                </a:rPr>
                <a:t> regarding inputs, outputs, and internal functioning.</a:t>
              </a:r>
              <a:endParaRPr sz="1500">
                <a:solidFill>
                  <a:srgbClr val="334155"/>
                </a:solidFill>
                <a:latin typeface="Arial"/>
                <a:ea typeface="Arial"/>
                <a:cs typeface="Arial"/>
                <a:sym typeface="Arial"/>
              </a:endParaRPr>
            </a:p>
            <a:p>
              <a:pPr indent="0" lvl="0" marL="0" rtl="0" algn="l">
                <a:spcBef>
                  <a:spcPts val="1125"/>
                </a:spcBef>
                <a:spcAft>
                  <a:spcPts val="0"/>
                </a:spcAft>
                <a:buNone/>
              </a:pPr>
              <a:r>
                <a:rPr lang="en-US" sz="1500">
                  <a:solidFill>
                    <a:srgbClr val="334155"/>
                  </a:solidFill>
                  <a:latin typeface="Arial"/>
                  <a:ea typeface="Arial"/>
                  <a:cs typeface="Arial"/>
                  <a:sym typeface="Arial"/>
                </a:rPr>
                <a:t>AI algorithms and outcomes must be fundamentally </a:t>
              </a:r>
              <a:r>
                <a:rPr b="1" lang="en-US" sz="1500">
                  <a:solidFill>
                    <a:srgbClr val="4472C4"/>
                  </a:solidFill>
                  <a:latin typeface="Arial"/>
                  <a:ea typeface="Arial"/>
                  <a:cs typeface="Arial"/>
                  <a:sym typeface="Arial"/>
                </a:rPr>
                <a:t>explainable</a:t>
              </a:r>
              <a:r>
                <a:rPr lang="en-US" sz="1500">
                  <a:solidFill>
                    <a:srgbClr val="334155"/>
                  </a:solidFill>
                  <a:latin typeface="Arial"/>
                  <a:ea typeface="Arial"/>
                  <a:cs typeface="Arial"/>
                  <a:sym typeface="Arial"/>
                </a:rPr>
                <a:t> and </a:t>
              </a:r>
              <a:r>
                <a:rPr b="1" lang="en-US" sz="1500">
                  <a:solidFill>
                    <a:srgbClr val="4472C4"/>
                  </a:solidFill>
                  <a:latin typeface="Arial"/>
                  <a:ea typeface="Arial"/>
                  <a:cs typeface="Arial"/>
                  <a:sym typeface="Arial"/>
                </a:rPr>
                <a:t>auditable</a:t>
              </a:r>
              <a:r>
                <a:rPr lang="en-US" sz="1500">
                  <a:solidFill>
                    <a:srgbClr val="334155"/>
                  </a:solidFill>
                  <a:latin typeface="Arial"/>
                  <a:ea typeface="Arial"/>
                  <a:cs typeface="Arial"/>
                  <a:sym typeface="Arial"/>
                </a:rPr>
                <a:t>.</a:t>
              </a:r>
              <a:endParaRPr sz="1500">
                <a:solidFill>
                  <a:srgbClr val="334155"/>
                </a:solidFill>
                <a:latin typeface="Arial"/>
                <a:ea typeface="Arial"/>
                <a:cs typeface="Arial"/>
                <a:sym typeface="Arial"/>
              </a:endParaRPr>
            </a:p>
          </p:txBody>
        </p:sp>
      </p:grpSp>
    </p:spTree>
  </p:cSld>
  <p:clrMapOvr>
    <a:masterClrMapping/>
  </p:clrMapOvr>
  <mc:AlternateContent>
    <mc:Choice Requires="p14">
      <p:transition spd="slow" p14:dur="700">
        <p:fade/>
      </p:transition>
    </mc:Choice>
    <mc:Fallback>
      <p:transition spd="slow">
        <p:fade/>
      </p:transition>
    </mc:Fallback>
  </mc:AlternateContent>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5" name="Shape 895"/>
        <p:cNvGrpSpPr/>
        <p:nvPr/>
      </p:nvGrpSpPr>
      <p:grpSpPr>
        <a:xfrm>
          <a:off x="0" y="0"/>
          <a:ext cx="0" cy="0"/>
          <a:chOff x="0" y="0"/>
          <a:chExt cx="0" cy="0"/>
        </a:xfrm>
      </p:grpSpPr>
      <p:sp>
        <p:nvSpPr>
          <p:cNvPr id="896" name="Google Shape;896;g3e3a61befe4_0_3881"/>
          <p:cNvSpPr txBox="1"/>
          <p:nvPr>
            <p:ph type="title"/>
          </p:nvPr>
        </p:nvSpPr>
        <p:spPr>
          <a:xfrm>
            <a:off x="101475" y="108450"/>
            <a:ext cx="9604200" cy="6246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1E4E79"/>
              </a:buClr>
              <a:buSzPts val="4000"/>
              <a:buFont typeface="Arial"/>
              <a:buNone/>
            </a:pPr>
            <a:r>
              <a:rPr lang="en-US" sz="2400"/>
              <a:t>4. Problems</a:t>
            </a:r>
            <a:endParaRPr sz="2400"/>
          </a:p>
        </p:txBody>
      </p:sp>
      <p:grpSp>
        <p:nvGrpSpPr>
          <p:cNvPr id="897" name="Google Shape;897;g3e3a61befe4_0_3881"/>
          <p:cNvGrpSpPr/>
          <p:nvPr/>
        </p:nvGrpSpPr>
        <p:grpSpPr>
          <a:xfrm>
            <a:off x="-18000" y="5842891"/>
            <a:ext cx="9942000" cy="1014788"/>
            <a:chOff x="-21650" y="5927750"/>
            <a:chExt cx="9942000" cy="930230"/>
          </a:xfrm>
        </p:grpSpPr>
        <p:sp>
          <p:nvSpPr>
            <p:cNvPr id="898" name="Google Shape;898;g3e3a61befe4_0_3881"/>
            <p:cNvSpPr/>
            <p:nvPr/>
          </p:nvSpPr>
          <p:spPr>
            <a:xfrm>
              <a:off x="5239747" y="5949280"/>
              <a:ext cx="4680600" cy="9087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Arial"/>
                  <a:ea typeface="Arial"/>
                  <a:cs typeface="Arial"/>
                  <a:sym typeface="Arial"/>
                </a:rPr>
                <a:t>25th Annual International Conference on Digital Government Research (dg.o 2024)</a:t>
              </a:r>
              <a:endParaRPr b="0" i="0" sz="1800" u="none" cap="none" strike="noStrike">
                <a:solidFill>
                  <a:schemeClr val="lt1"/>
                </a:solidFill>
                <a:latin typeface="Arial"/>
                <a:ea typeface="Arial"/>
                <a:cs typeface="Arial"/>
                <a:sym typeface="Arial"/>
              </a:endParaRPr>
            </a:p>
          </p:txBody>
        </p:sp>
        <p:pic>
          <p:nvPicPr>
            <p:cNvPr id="899" name="Google Shape;899;g3e3a61befe4_0_3881"/>
            <p:cNvPicPr preferRelativeResize="0"/>
            <p:nvPr/>
          </p:nvPicPr>
          <p:blipFill rotWithShape="1">
            <a:blip r:embed="rId3">
              <a:alphaModFix/>
            </a:blip>
            <a:srcRect b="-112517" l="-23390" r="23390" t="137700"/>
            <a:stretch/>
          </p:blipFill>
          <p:spPr>
            <a:xfrm>
              <a:off x="0" y="6007596"/>
              <a:ext cx="9920265" cy="792088"/>
            </a:xfrm>
            <a:prstGeom prst="rect">
              <a:avLst/>
            </a:prstGeom>
            <a:noFill/>
            <a:ln>
              <a:noFill/>
            </a:ln>
          </p:spPr>
        </p:pic>
        <p:sp>
          <p:nvSpPr>
            <p:cNvPr id="900" name="Google Shape;900;g3e3a61befe4_0_3881"/>
            <p:cNvSpPr/>
            <p:nvPr/>
          </p:nvSpPr>
          <p:spPr>
            <a:xfrm>
              <a:off x="-21650" y="5927750"/>
              <a:ext cx="9942000" cy="9087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sp>
        <p:nvSpPr>
          <p:cNvPr id="901" name="Google Shape;901;g3e3a61befe4_0_3881"/>
          <p:cNvSpPr txBox="1"/>
          <p:nvPr>
            <p:ph idx="12" type="sldNum"/>
          </p:nvPr>
        </p:nvSpPr>
        <p:spPr>
          <a:xfrm>
            <a:off x="6996113" y="6356350"/>
            <a:ext cx="22290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pic>
        <p:nvPicPr>
          <p:cNvPr id="902" name="Google Shape;902;g3e3a61befe4_0_3881"/>
          <p:cNvPicPr preferRelativeResize="0"/>
          <p:nvPr/>
        </p:nvPicPr>
        <p:blipFill rotWithShape="1">
          <a:blip r:embed="rId4">
            <a:alphaModFix/>
          </a:blip>
          <a:srcRect b="0" l="0" r="0" t="0"/>
          <a:stretch/>
        </p:blipFill>
        <p:spPr>
          <a:xfrm>
            <a:off x="218750" y="6052376"/>
            <a:ext cx="1823009" cy="470325"/>
          </a:xfrm>
          <a:prstGeom prst="rect">
            <a:avLst/>
          </a:prstGeom>
          <a:noFill/>
          <a:ln>
            <a:noFill/>
          </a:ln>
        </p:spPr>
      </p:pic>
      <p:pic>
        <p:nvPicPr>
          <p:cNvPr id="903" name="Google Shape;903;g3e3a61befe4_0_3881"/>
          <p:cNvPicPr preferRelativeResize="0"/>
          <p:nvPr/>
        </p:nvPicPr>
        <p:blipFill rotWithShape="1">
          <a:blip r:embed="rId5">
            <a:alphaModFix/>
          </a:blip>
          <a:srcRect b="0" l="0" r="0" t="0"/>
          <a:stretch/>
        </p:blipFill>
        <p:spPr>
          <a:xfrm>
            <a:off x="6996125" y="5975242"/>
            <a:ext cx="1811830" cy="624575"/>
          </a:xfrm>
          <a:prstGeom prst="rect">
            <a:avLst/>
          </a:prstGeom>
          <a:noFill/>
          <a:ln>
            <a:noFill/>
          </a:ln>
        </p:spPr>
      </p:pic>
      <p:grpSp>
        <p:nvGrpSpPr>
          <p:cNvPr id="904" name="Google Shape;904;g3e3a61befe4_0_3881"/>
          <p:cNvGrpSpPr/>
          <p:nvPr/>
        </p:nvGrpSpPr>
        <p:grpSpPr>
          <a:xfrm>
            <a:off x="476250" y="1333500"/>
            <a:ext cx="4333800" cy="2857500"/>
            <a:chOff x="476250" y="1333500"/>
            <a:chExt cx="4333800" cy="2857500"/>
          </a:xfrm>
        </p:grpSpPr>
        <p:sp>
          <p:nvSpPr>
            <p:cNvPr id="905" name="Google Shape;905;g3e3a61befe4_0_3881"/>
            <p:cNvSpPr/>
            <p:nvPr/>
          </p:nvSpPr>
          <p:spPr>
            <a:xfrm>
              <a:off x="476250" y="1333500"/>
              <a:ext cx="4333800" cy="2857500"/>
            </a:xfrm>
            <a:prstGeom prst="roundRect">
              <a:avLst>
                <a:gd fmla="val 5000" name="adj"/>
              </a:avLst>
            </a:prstGeom>
            <a:solidFill>
              <a:srgbClr val="F8FAFC"/>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06" name="Google Shape;906;g3e3a61befe4_0_3881"/>
            <p:cNvSpPr txBox="1"/>
            <p:nvPr/>
          </p:nvSpPr>
          <p:spPr>
            <a:xfrm>
              <a:off x="762000" y="1671828"/>
              <a:ext cx="571500" cy="571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3600">
                  <a:solidFill>
                    <a:srgbClr val="1E4E79"/>
                  </a:solidFill>
                  <a:latin typeface="Material Icons"/>
                  <a:ea typeface="Material Icons"/>
                  <a:cs typeface="Material Icons"/>
                  <a:sym typeface="Material Icons"/>
                </a:rPr>
                <a:t>search</a:t>
              </a:r>
              <a:endParaRPr sz="3600">
                <a:solidFill>
                  <a:srgbClr val="1E4E79"/>
                </a:solidFill>
                <a:latin typeface="Material Icons"/>
                <a:ea typeface="Material Icons"/>
                <a:cs typeface="Material Icons"/>
                <a:sym typeface="Material Icons"/>
              </a:endParaRPr>
            </a:p>
          </p:txBody>
        </p:sp>
        <p:sp>
          <p:nvSpPr>
            <p:cNvPr id="907" name="Google Shape;907;g3e3a61befe4_0_3881"/>
            <p:cNvSpPr txBox="1"/>
            <p:nvPr/>
          </p:nvSpPr>
          <p:spPr>
            <a:xfrm>
              <a:off x="762000" y="2286000"/>
              <a:ext cx="3762300" cy="1619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2200">
                  <a:solidFill>
                    <a:srgbClr val="1E4E79"/>
                  </a:solidFill>
                  <a:latin typeface="Arial"/>
                  <a:ea typeface="Arial"/>
                  <a:cs typeface="Arial"/>
                  <a:sym typeface="Arial"/>
                </a:rPr>
                <a:t>Identification</a:t>
              </a:r>
              <a:endParaRPr b="1" sz="2200">
                <a:solidFill>
                  <a:srgbClr val="1E4E79"/>
                </a:solidFill>
                <a:latin typeface="Arial"/>
                <a:ea typeface="Arial"/>
                <a:cs typeface="Arial"/>
                <a:sym typeface="Arial"/>
              </a:endParaRPr>
            </a:p>
            <a:p>
              <a:pPr indent="0" lvl="0" marL="0" rtl="0" algn="l">
                <a:spcBef>
                  <a:spcPts val="750"/>
                </a:spcBef>
                <a:spcAft>
                  <a:spcPts val="0"/>
                </a:spcAft>
                <a:buNone/>
              </a:pPr>
              <a:r>
                <a:rPr b="0" lang="en-US" sz="1800">
                  <a:solidFill>
                    <a:srgbClr val="334155"/>
                  </a:solidFill>
                  <a:latin typeface="Arial"/>
                  <a:ea typeface="Arial"/>
                  <a:cs typeface="Arial"/>
                  <a:sym typeface="Arial"/>
                </a:rPr>
                <a:t>How can negative ethical consequences in systems be identified?</a:t>
              </a:r>
              <a:endParaRPr b="0" sz="1800">
                <a:solidFill>
                  <a:srgbClr val="334155"/>
                </a:solidFill>
                <a:latin typeface="Arial"/>
                <a:ea typeface="Arial"/>
                <a:cs typeface="Arial"/>
                <a:sym typeface="Arial"/>
              </a:endParaRPr>
            </a:p>
          </p:txBody>
        </p:sp>
      </p:grpSp>
    </p:spTree>
  </p:cSld>
  <p:clrMapOvr>
    <a:masterClrMapping/>
  </p:clrMapOvr>
  <mc:AlternateContent>
    <mc:Choice Requires="p14">
      <p:transition spd="slow" p14:dur="700">
        <p:fade/>
      </p:transition>
    </mc:Choice>
    <mc:Fallback>
      <p:transition spd="slow">
        <p:fade/>
      </p:transition>
    </mc:Fallback>
  </mc:AlternateContent>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1" name="Shape 911"/>
        <p:cNvGrpSpPr/>
        <p:nvPr/>
      </p:nvGrpSpPr>
      <p:grpSpPr>
        <a:xfrm>
          <a:off x="0" y="0"/>
          <a:ext cx="0" cy="0"/>
          <a:chOff x="0" y="0"/>
          <a:chExt cx="0" cy="0"/>
        </a:xfrm>
      </p:grpSpPr>
      <p:sp>
        <p:nvSpPr>
          <p:cNvPr id="912" name="Google Shape;912;g3e33499f370_0_414"/>
          <p:cNvSpPr txBox="1"/>
          <p:nvPr>
            <p:ph type="title"/>
          </p:nvPr>
        </p:nvSpPr>
        <p:spPr>
          <a:xfrm>
            <a:off x="101475" y="108450"/>
            <a:ext cx="9604200" cy="6246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1E4E79"/>
              </a:buClr>
              <a:buSzPts val="4000"/>
              <a:buFont typeface="Arial"/>
              <a:buNone/>
            </a:pPr>
            <a:r>
              <a:rPr lang="en-US" sz="2400"/>
              <a:t>4. Problems</a:t>
            </a:r>
            <a:endParaRPr sz="2400"/>
          </a:p>
        </p:txBody>
      </p:sp>
      <p:grpSp>
        <p:nvGrpSpPr>
          <p:cNvPr id="913" name="Google Shape;913;g3e33499f370_0_414"/>
          <p:cNvGrpSpPr/>
          <p:nvPr/>
        </p:nvGrpSpPr>
        <p:grpSpPr>
          <a:xfrm>
            <a:off x="-18000" y="5842891"/>
            <a:ext cx="9942000" cy="1014788"/>
            <a:chOff x="-21650" y="5927750"/>
            <a:chExt cx="9942000" cy="930230"/>
          </a:xfrm>
        </p:grpSpPr>
        <p:sp>
          <p:nvSpPr>
            <p:cNvPr id="914" name="Google Shape;914;g3e33499f370_0_414"/>
            <p:cNvSpPr/>
            <p:nvPr/>
          </p:nvSpPr>
          <p:spPr>
            <a:xfrm>
              <a:off x="5239747" y="5949280"/>
              <a:ext cx="4680600" cy="9087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Arial"/>
                  <a:ea typeface="Arial"/>
                  <a:cs typeface="Arial"/>
                  <a:sym typeface="Arial"/>
                </a:rPr>
                <a:t>25th Annual International Conference on Digital Government Research (dg.o 2024)</a:t>
              </a:r>
              <a:endParaRPr b="0" i="0" sz="1800" u="none" cap="none" strike="noStrike">
                <a:solidFill>
                  <a:schemeClr val="lt1"/>
                </a:solidFill>
                <a:latin typeface="Arial"/>
                <a:ea typeface="Arial"/>
                <a:cs typeface="Arial"/>
                <a:sym typeface="Arial"/>
              </a:endParaRPr>
            </a:p>
          </p:txBody>
        </p:sp>
        <p:pic>
          <p:nvPicPr>
            <p:cNvPr id="915" name="Google Shape;915;g3e33499f370_0_414"/>
            <p:cNvPicPr preferRelativeResize="0"/>
            <p:nvPr/>
          </p:nvPicPr>
          <p:blipFill rotWithShape="1">
            <a:blip r:embed="rId3">
              <a:alphaModFix/>
            </a:blip>
            <a:srcRect b="-112517" l="-23390" r="23390" t="137700"/>
            <a:stretch/>
          </p:blipFill>
          <p:spPr>
            <a:xfrm>
              <a:off x="0" y="6007596"/>
              <a:ext cx="9920265" cy="792088"/>
            </a:xfrm>
            <a:prstGeom prst="rect">
              <a:avLst/>
            </a:prstGeom>
            <a:noFill/>
            <a:ln>
              <a:noFill/>
            </a:ln>
          </p:spPr>
        </p:pic>
        <p:sp>
          <p:nvSpPr>
            <p:cNvPr id="916" name="Google Shape;916;g3e33499f370_0_414"/>
            <p:cNvSpPr/>
            <p:nvPr/>
          </p:nvSpPr>
          <p:spPr>
            <a:xfrm>
              <a:off x="-21650" y="5927750"/>
              <a:ext cx="9942000" cy="9087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sp>
        <p:nvSpPr>
          <p:cNvPr id="917" name="Google Shape;917;g3e33499f370_0_414"/>
          <p:cNvSpPr txBox="1"/>
          <p:nvPr>
            <p:ph idx="12" type="sldNum"/>
          </p:nvPr>
        </p:nvSpPr>
        <p:spPr>
          <a:xfrm>
            <a:off x="6996113" y="6356350"/>
            <a:ext cx="22290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pic>
        <p:nvPicPr>
          <p:cNvPr id="918" name="Google Shape;918;g3e33499f370_0_414"/>
          <p:cNvPicPr preferRelativeResize="0"/>
          <p:nvPr/>
        </p:nvPicPr>
        <p:blipFill rotWithShape="1">
          <a:blip r:embed="rId4">
            <a:alphaModFix/>
          </a:blip>
          <a:srcRect b="0" l="0" r="0" t="0"/>
          <a:stretch/>
        </p:blipFill>
        <p:spPr>
          <a:xfrm>
            <a:off x="218750" y="6052376"/>
            <a:ext cx="1823009" cy="470325"/>
          </a:xfrm>
          <a:prstGeom prst="rect">
            <a:avLst/>
          </a:prstGeom>
          <a:noFill/>
          <a:ln>
            <a:noFill/>
          </a:ln>
        </p:spPr>
      </p:pic>
      <p:pic>
        <p:nvPicPr>
          <p:cNvPr id="919" name="Google Shape;919;g3e33499f370_0_414"/>
          <p:cNvPicPr preferRelativeResize="0"/>
          <p:nvPr/>
        </p:nvPicPr>
        <p:blipFill rotWithShape="1">
          <a:blip r:embed="rId5">
            <a:alphaModFix/>
          </a:blip>
          <a:srcRect b="0" l="0" r="0" t="0"/>
          <a:stretch/>
        </p:blipFill>
        <p:spPr>
          <a:xfrm>
            <a:off x="6996125" y="5975242"/>
            <a:ext cx="1811830" cy="624575"/>
          </a:xfrm>
          <a:prstGeom prst="rect">
            <a:avLst/>
          </a:prstGeom>
          <a:noFill/>
          <a:ln>
            <a:noFill/>
          </a:ln>
        </p:spPr>
      </p:pic>
      <p:grpSp>
        <p:nvGrpSpPr>
          <p:cNvPr id="920" name="Google Shape;920;g3e33499f370_0_414"/>
          <p:cNvGrpSpPr/>
          <p:nvPr/>
        </p:nvGrpSpPr>
        <p:grpSpPr>
          <a:xfrm>
            <a:off x="476250" y="1333500"/>
            <a:ext cx="4333800" cy="2857500"/>
            <a:chOff x="476250" y="1333500"/>
            <a:chExt cx="4333800" cy="2857500"/>
          </a:xfrm>
        </p:grpSpPr>
        <p:sp>
          <p:nvSpPr>
            <p:cNvPr id="921" name="Google Shape;921;g3e33499f370_0_414"/>
            <p:cNvSpPr/>
            <p:nvPr/>
          </p:nvSpPr>
          <p:spPr>
            <a:xfrm>
              <a:off x="476250" y="1333500"/>
              <a:ext cx="4333800" cy="2857500"/>
            </a:xfrm>
            <a:prstGeom prst="roundRect">
              <a:avLst>
                <a:gd fmla="val 5000" name="adj"/>
              </a:avLst>
            </a:prstGeom>
            <a:solidFill>
              <a:srgbClr val="F8FAFC"/>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22" name="Google Shape;922;g3e33499f370_0_414"/>
            <p:cNvSpPr txBox="1"/>
            <p:nvPr/>
          </p:nvSpPr>
          <p:spPr>
            <a:xfrm>
              <a:off x="762000" y="1671828"/>
              <a:ext cx="571500" cy="571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3600">
                  <a:solidFill>
                    <a:srgbClr val="1E4E79"/>
                  </a:solidFill>
                  <a:latin typeface="Material Icons"/>
                  <a:ea typeface="Material Icons"/>
                  <a:cs typeface="Material Icons"/>
                  <a:sym typeface="Material Icons"/>
                </a:rPr>
                <a:t>search</a:t>
              </a:r>
              <a:endParaRPr sz="3600">
                <a:solidFill>
                  <a:srgbClr val="1E4E79"/>
                </a:solidFill>
                <a:latin typeface="Material Icons"/>
                <a:ea typeface="Material Icons"/>
                <a:cs typeface="Material Icons"/>
                <a:sym typeface="Material Icons"/>
              </a:endParaRPr>
            </a:p>
          </p:txBody>
        </p:sp>
        <p:sp>
          <p:nvSpPr>
            <p:cNvPr id="923" name="Google Shape;923;g3e33499f370_0_414"/>
            <p:cNvSpPr txBox="1"/>
            <p:nvPr/>
          </p:nvSpPr>
          <p:spPr>
            <a:xfrm>
              <a:off x="762000" y="2286000"/>
              <a:ext cx="3762300" cy="1619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2200">
                  <a:solidFill>
                    <a:srgbClr val="1E4E79"/>
                  </a:solidFill>
                  <a:latin typeface="Arial"/>
                  <a:ea typeface="Arial"/>
                  <a:cs typeface="Arial"/>
                  <a:sym typeface="Arial"/>
                </a:rPr>
                <a:t>Identification</a:t>
              </a:r>
              <a:endParaRPr b="1" sz="2200">
                <a:solidFill>
                  <a:srgbClr val="1E4E79"/>
                </a:solidFill>
                <a:latin typeface="Arial"/>
                <a:ea typeface="Arial"/>
                <a:cs typeface="Arial"/>
                <a:sym typeface="Arial"/>
              </a:endParaRPr>
            </a:p>
            <a:p>
              <a:pPr indent="0" lvl="0" marL="0" rtl="0" algn="l">
                <a:spcBef>
                  <a:spcPts val="750"/>
                </a:spcBef>
                <a:spcAft>
                  <a:spcPts val="0"/>
                </a:spcAft>
                <a:buNone/>
              </a:pPr>
              <a:r>
                <a:rPr b="0" lang="en-US" sz="1800">
                  <a:solidFill>
                    <a:srgbClr val="334155"/>
                  </a:solidFill>
                  <a:latin typeface="Arial"/>
                  <a:ea typeface="Arial"/>
                  <a:cs typeface="Arial"/>
                  <a:sym typeface="Arial"/>
                </a:rPr>
                <a:t>How can negative ethical consequences in systems be identified?</a:t>
              </a:r>
              <a:endParaRPr b="0" sz="1800">
                <a:solidFill>
                  <a:srgbClr val="334155"/>
                </a:solidFill>
                <a:latin typeface="Arial"/>
                <a:ea typeface="Arial"/>
                <a:cs typeface="Arial"/>
                <a:sym typeface="Arial"/>
              </a:endParaRPr>
            </a:p>
          </p:txBody>
        </p:sp>
      </p:grpSp>
      <p:grpSp>
        <p:nvGrpSpPr>
          <p:cNvPr id="924" name="Google Shape;924;g3e33499f370_0_414"/>
          <p:cNvGrpSpPr/>
          <p:nvPr/>
        </p:nvGrpSpPr>
        <p:grpSpPr>
          <a:xfrm>
            <a:off x="5095875" y="1333500"/>
            <a:ext cx="4333800" cy="2857500"/>
            <a:chOff x="5095875" y="1333500"/>
            <a:chExt cx="4333800" cy="2857500"/>
          </a:xfrm>
        </p:grpSpPr>
        <p:sp>
          <p:nvSpPr>
            <p:cNvPr id="925" name="Google Shape;925;g3e33499f370_0_414"/>
            <p:cNvSpPr/>
            <p:nvPr/>
          </p:nvSpPr>
          <p:spPr>
            <a:xfrm>
              <a:off x="5095875" y="1333500"/>
              <a:ext cx="4333800" cy="2857500"/>
            </a:xfrm>
            <a:prstGeom prst="roundRect">
              <a:avLst>
                <a:gd fmla="val 5000" name="adj"/>
              </a:avLst>
            </a:prstGeom>
            <a:solidFill>
              <a:srgbClr val="F8FAFC"/>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26" name="Google Shape;926;g3e33499f370_0_414"/>
            <p:cNvSpPr txBox="1"/>
            <p:nvPr/>
          </p:nvSpPr>
          <p:spPr>
            <a:xfrm>
              <a:off x="5381625" y="1671828"/>
              <a:ext cx="571500" cy="571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3600">
                  <a:solidFill>
                    <a:srgbClr val="1E4E79"/>
                  </a:solidFill>
                  <a:latin typeface="Material Icons"/>
                  <a:ea typeface="Material Icons"/>
                  <a:cs typeface="Material Icons"/>
                  <a:sym typeface="Material Icons"/>
                </a:rPr>
                <a:t>handyman</a:t>
              </a:r>
              <a:endParaRPr sz="3600">
                <a:solidFill>
                  <a:srgbClr val="1E4E79"/>
                </a:solidFill>
                <a:latin typeface="Material Icons"/>
                <a:ea typeface="Material Icons"/>
                <a:cs typeface="Material Icons"/>
                <a:sym typeface="Material Icons"/>
              </a:endParaRPr>
            </a:p>
          </p:txBody>
        </p:sp>
        <p:sp>
          <p:nvSpPr>
            <p:cNvPr id="927" name="Google Shape;927;g3e33499f370_0_414"/>
            <p:cNvSpPr txBox="1"/>
            <p:nvPr/>
          </p:nvSpPr>
          <p:spPr>
            <a:xfrm>
              <a:off x="5381625" y="2286000"/>
              <a:ext cx="3762300" cy="1619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2200">
                  <a:solidFill>
                    <a:srgbClr val="1E4E79"/>
                  </a:solidFill>
                  <a:latin typeface="Arial"/>
                  <a:ea typeface="Arial"/>
                  <a:cs typeface="Arial"/>
                  <a:sym typeface="Arial"/>
                </a:rPr>
                <a:t>Resolution</a:t>
              </a:r>
              <a:endParaRPr b="1" sz="2200">
                <a:solidFill>
                  <a:srgbClr val="1E4E79"/>
                </a:solidFill>
                <a:latin typeface="Arial"/>
                <a:ea typeface="Arial"/>
                <a:cs typeface="Arial"/>
                <a:sym typeface="Arial"/>
              </a:endParaRPr>
            </a:p>
            <a:p>
              <a:pPr indent="0" lvl="0" marL="0" rtl="0" algn="l">
                <a:spcBef>
                  <a:spcPts val="750"/>
                </a:spcBef>
                <a:spcAft>
                  <a:spcPts val="0"/>
                </a:spcAft>
                <a:buNone/>
              </a:pPr>
              <a:r>
                <a:rPr b="0" lang="en-US" sz="1800">
                  <a:solidFill>
                    <a:srgbClr val="334155"/>
                  </a:solidFill>
                  <a:latin typeface="Arial"/>
                  <a:ea typeface="Arial"/>
                  <a:cs typeface="Arial"/>
                  <a:sym typeface="Arial"/>
                </a:rPr>
                <a:t>How can such ethical consequences be addressed?</a:t>
              </a:r>
              <a:endParaRPr b="0" sz="1800">
                <a:solidFill>
                  <a:srgbClr val="334155"/>
                </a:solidFill>
                <a:latin typeface="Arial"/>
                <a:ea typeface="Arial"/>
                <a:cs typeface="Arial"/>
                <a:sym typeface="Arial"/>
              </a:endParaRPr>
            </a:p>
          </p:txBody>
        </p:sp>
      </p:grpSp>
    </p:spTree>
  </p:cSld>
  <p:clrMapOvr>
    <a:masterClrMapping/>
  </p:clrMapOvr>
  <mc:AlternateContent>
    <mc:Choice Requires="p14">
      <p:transition spd="slow" p14:dur="700">
        <p:fade/>
      </p:transition>
    </mc:Choice>
    <mc:Fallback>
      <p:transition spd="slow">
        <p:fade/>
      </p:transition>
    </mc:Fallback>
  </mc:AlternateContent>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1" name="Shape 931"/>
        <p:cNvGrpSpPr/>
        <p:nvPr/>
      </p:nvGrpSpPr>
      <p:grpSpPr>
        <a:xfrm>
          <a:off x="0" y="0"/>
          <a:ext cx="0" cy="0"/>
          <a:chOff x="0" y="0"/>
          <a:chExt cx="0" cy="0"/>
        </a:xfrm>
      </p:grpSpPr>
      <p:sp>
        <p:nvSpPr>
          <p:cNvPr id="932" name="Google Shape;932;g3e387427cbb_120_588"/>
          <p:cNvSpPr txBox="1"/>
          <p:nvPr>
            <p:ph type="title"/>
          </p:nvPr>
        </p:nvSpPr>
        <p:spPr>
          <a:xfrm>
            <a:off x="101475" y="108450"/>
            <a:ext cx="9604200" cy="6246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1E4E79"/>
              </a:buClr>
              <a:buSzPts val="4000"/>
              <a:buFont typeface="Arial"/>
              <a:buNone/>
            </a:pPr>
            <a:r>
              <a:rPr lang="en-US" sz="2400"/>
              <a:t>4. </a:t>
            </a:r>
            <a:r>
              <a:rPr lang="en-US" sz="2400"/>
              <a:t>Problems</a:t>
            </a:r>
            <a:endParaRPr sz="2400"/>
          </a:p>
        </p:txBody>
      </p:sp>
      <p:grpSp>
        <p:nvGrpSpPr>
          <p:cNvPr id="933" name="Google Shape;933;g3e387427cbb_120_588"/>
          <p:cNvGrpSpPr/>
          <p:nvPr/>
        </p:nvGrpSpPr>
        <p:grpSpPr>
          <a:xfrm>
            <a:off x="-18000" y="5842891"/>
            <a:ext cx="9942000" cy="1014788"/>
            <a:chOff x="-21650" y="5927750"/>
            <a:chExt cx="9942000" cy="930230"/>
          </a:xfrm>
        </p:grpSpPr>
        <p:sp>
          <p:nvSpPr>
            <p:cNvPr id="934" name="Google Shape;934;g3e387427cbb_120_588"/>
            <p:cNvSpPr/>
            <p:nvPr/>
          </p:nvSpPr>
          <p:spPr>
            <a:xfrm>
              <a:off x="5239747" y="5949280"/>
              <a:ext cx="4680600" cy="9087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Arial"/>
                  <a:ea typeface="Arial"/>
                  <a:cs typeface="Arial"/>
                  <a:sym typeface="Arial"/>
                </a:rPr>
                <a:t>25th Annual International Conference on Digital Government Research (dg.o 2024)</a:t>
              </a:r>
              <a:endParaRPr b="0" i="0" sz="1800" u="none" cap="none" strike="noStrike">
                <a:solidFill>
                  <a:schemeClr val="lt1"/>
                </a:solidFill>
                <a:latin typeface="Arial"/>
                <a:ea typeface="Arial"/>
                <a:cs typeface="Arial"/>
                <a:sym typeface="Arial"/>
              </a:endParaRPr>
            </a:p>
          </p:txBody>
        </p:sp>
        <p:pic>
          <p:nvPicPr>
            <p:cNvPr id="935" name="Google Shape;935;g3e387427cbb_120_588"/>
            <p:cNvPicPr preferRelativeResize="0"/>
            <p:nvPr/>
          </p:nvPicPr>
          <p:blipFill rotWithShape="1">
            <a:blip r:embed="rId3">
              <a:alphaModFix/>
            </a:blip>
            <a:srcRect b="-112517" l="-23390" r="23390" t="137700"/>
            <a:stretch/>
          </p:blipFill>
          <p:spPr>
            <a:xfrm>
              <a:off x="0" y="6007596"/>
              <a:ext cx="9920265" cy="792088"/>
            </a:xfrm>
            <a:prstGeom prst="rect">
              <a:avLst/>
            </a:prstGeom>
            <a:noFill/>
            <a:ln>
              <a:noFill/>
            </a:ln>
          </p:spPr>
        </p:pic>
        <p:sp>
          <p:nvSpPr>
            <p:cNvPr id="936" name="Google Shape;936;g3e387427cbb_120_588"/>
            <p:cNvSpPr/>
            <p:nvPr/>
          </p:nvSpPr>
          <p:spPr>
            <a:xfrm>
              <a:off x="-21650" y="5927750"/>
              <a:ext cx="9942000" cy="9087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sp>
        <p:nvSpPr>
          <p:cNvPr id="937" name="Google Shape;937;g3e387427cbb_120_588"/>
          <p:cNvSpPr txBox="1"/>
          <p:nvPr>
            <p:ph idx="12" type="sldNum"/>
          </p:nvPr>
        </p:nvSpPr>
        <p:spPr>
          <a:xfrm>
            <a:off x="6996113" y="6356350"/>
            <a:ext cx="22290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pic>
        <p:nvPicPr>
          <p:cNvPr id="938" name="Google Shape;938;g3e387427cbb_120_588"/>
          <p:cNvPicPr preferRelativeResize="0"/>
          <p:nvPr/>
        </p:nvPicPr>
        <p:blipFill rotWithShape="1">
          <a:blip r:embed="rId4">
            <a:alphaModFix/>
          </a:blip>
          <a:srcRect b="0" l="0" r="0" t="0"/>
          <a:stretch/>
        </p:blipFill>
        <p:spPr>
          <a:xfrm>
            <a:off x="218750" y="6052376"/>
            <a:ext cx="1823009" cy="470325"/>
          </a:xfrm>
          <a:prstGeom prst="rect">
            <a:avLst/>
          </a:prstGeom>
          <a:noFill/>
          <a:ln>
            <a:noFill/>
          </a:ln>
        </p:spPr>
      </p:pic>
      <p:pic>
        <p:nvPicPr>
          <p:cNvPr id="939" name="Google Shape;939;g3e387427cbb_120_588"/>
          <p:cNvPicPr preferRelativeResize="0"/>
          <p:nvPr/>
        </p:nvPicPr>
        <p:blipFill rotWithShape="1">
          <a:blip r:embed="rId5">
            <a:alphaModFix/>
          </a:blip>
          <a:srcRect b="0" l="0" r="0" t="0"/>
          <a:stretch/>
        </p:blipFill>
        <p:spPr>
          <a:xfrm>
            <a:off x="6996125" y="5975242"/>
            <a:ext cx="1811830" cy="624575"/>
          </a:xfrm>
          <a:prstGeom prst="rect">
            <a:avLst/>
          </a:prstGeom>
          <a:noFill/>
          <a:ln>
            <a:noFill/>
          </a:ln>
        </p:spPr>
      </p:pic>
      <p:sp>
        <p:nvSpPr>
          <p:cNvPr id="940" name="Google Shape;940;g3e387427cbb_120_588"/>
          <p:cNvSpPr txBox="1"/>
          <p:nvPr/>
        </p:nvSpPr>
        <p:spPr>
          <a:xfrm>
            <a:off x="128825" y="637400"/>
            <a:ext cx="94347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solidFill>
                  <a:schemeClr val="dk1"/>
                </a:solidFill>
              </a:rPr>
              <a:t>In a literature review, we observed that there are both theoretical and practical activities aimed at developing ethical thinking. </a:t>
            </a:r>
            <a:endParaRPr>
              <a:solidFill>
                <a:schemeClr val="dk1"/>
              </a:solidFill>
            </a:endParaRPr>
          </a:p>
        </p:txBody>
      </p:sp>
      <p:pic>
        <p:nvPicPr>
          <p:cNvPr id="941" name="Google Shape;941;g3e387427cbb_120_588"/>
          <p:cNvPicPr preferRelativeResize="0"/>
          <p:nvPr/>
        </p:nvPicPr>
        <p:blipFill>
          <a:blip r:embed="rId6">
            <a:alphaModFix/>
          </a:blip>
          <a:stretch>
            <a:fillRect/>
          </a:stretch>
        </p:blipFill>
        <p:spPr>
          <a:xfrm>
            <a:off x="2411525" y="1187713"/>
            <a:ext cx="4048125" cy="420052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5" name="Shape 945"/>
        <p:cNvGrpSpPr/>
        <p:nvPr/>
      </p:nvGrpSpPr>
      <p:grpSpPr>
        <a:xfrm>
          <a:off x="0" y="0"/>
          <a:ext cx="0" cy="0"/>
          <a:chOff x="0" y="0"/>
          <a:chExt cx="0" cy="0"/>
        </a:xfrm>
      </p:grpSpPr>
      <p:sp>
        <p:nvSpPr>
          <p:cNvPr id="946" name="Google Shape;946;g3e3a61befe4_0_3900"/>
          <p:cNvSpPr txBox="1"/>
          <p:nvPr>
            <p:ph type="title"/>
          </p:nvPr>
        </p:nvSpPr>
        <p:spPr>
          <a:xfrm>
            <a:off x="101475" y="108450"/>
            <a:ext cx="9604200" cy="6246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1E4E79"/>
              </a:buClr>
              <a:buSzPts val="4000"/>
              <a:buFont typeface="Arial"/>
              <a:buNone/>
            </a:pPr>
            <a:r>
              <a:rPr lang="en-US" sz="2400"/>
              <a:t>4. Problems</a:t>
            </a:r>
            <a:endParaRPr sz="2400"/>
          </a:p>
        </p:txBody>
      </p:sp>
      <p:grpSp>
        <p:nvGrpSpPr>
          <p:cNvPr id="947" name="Google Shape;947;g3e3a61befe4_0_3900"/>
          <p:cNvGrpSpPr/>
          <p:nvPr/>
        </p:nvGrpSpPr>
        <p:grpSpPr>
          <a:xfrm>
            <a:off x="-18000" y="5842891"/>
            <a:ext cx="9942000" cy="1014788"/>
            <a:chOff x="-21650" y="5927750"/>
            <a:chExt cx="9942000" cy="930230"/>
          </a:xfrm>
        </p:grpSpPr>
        <p:sp>
          <p:nvSpPr>
            <p:cNvPr id="948" name="Google Shape;948;g3e3a61befe4_0_3900"/>
            <p:cNvSpPr/>
            <p:nvPr/>
          </p:nvSpPr>
          <p:spPr>
            <a:xfrm>
              <a:off x="5239747" y="5949280"/>
              <a:ext cx="4680600" cy="9087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Arial"/>
                  <a:ea typeface="Arial"/>
                  <a:cs typeface="Arial"/>
                  <a:sym typeface="Arial"/>
                </a:rPr>
                <a:t>25th Annual International Conference on Digital Government Research (dg.o 2024)</a:t>
              </a:r>
              <a:endParaRPr b="0" i="0" sz="1800" u="none" cap="none" strike="noStrike">
                <a:solidFill>
                  <a:schemeClr val="lt1"/>
                </a:solidFill>
                <a:latin typeface="Arial"/>
                <a:ea typeface="Arial"/>
                <a:cs typeface="Arial"/>
                <a:sym typeface="Arial"/>
              </a:endParaRPr>
            </a:p>
          </p:txBody>
        </p:sp>
        <p:pic>
          <p:nvPicPr>
            <p:cNvPr id="949" name="Google Shape;949;g3e3a61befe4_0_3900"/>
            <p:cNvPicPr preferRelativeResize="0"/>
            <p:nvPr/>
          </p:nvPicPr>
          <p:blipFill rotWithShape="1">
            <a:blip r:embed="rId3">
              <a:alphaModFix/>
            </a:blip>
            <a:srcRect b="-112517" l="-23390" r="23390" t="137700"/>
            <a:stretch/>
          </p:blipFill>
          <p:spPr>
            <a:xfrm>
              <a:off x="0" y="6007596"/>
              <a:ext cx="9920265" cy="792088"/>
            </a:xfrm>
            <a:prstGeom prst="rect">
              <a:avLst/>
            </a:prstGeom>
            <a:noFill/>
            <a:ln>
              <a:noFill/>
            </a:ln>
          </p:spPr>
        </p:pic>
        <p:sp>
          <p:nvSpPr>
            <p:cNvPr id="950" name="Google Shape;950;g3e3a61befe4_0_3900"/>
            <p:cNvSpPr/>
            <p:nvPr/>
          </p:nvSpPr>
          <p:spPr>
            <a:xfrm>
              <a:off x="-21650" y="5927750"/>
              <a:ext cx="9942000" cy="9087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sp>
        <p:nvSpPr>
          <p:cNvPr id="951" name="Google Shape;951;g3e3a61befe4_0_3900"/>
          <p:cNvSpPr txBox="1"/>
          <p:nvPr>
            <p:ph idx="12" type="sldNum"/>
          </p:nvPr>
        </p:nvSpPr>
        <p:spPr>
          <a:xfrm>
            <a:off x="6996113" y="6356350"/>
            <a:ext cx="22290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pic>
        <p:nvPicPr>
          <p:cNvPr id="952" name="Google Shape;952;g3e3a61befe4_0_3900"/>
          <p:cNvPicPr preferRelativeResize="0"/>
          <p:nvPr/>
        </p:nvPicPr>
        <p:blipFill rotWithShape="1">
          <a:blip r:embed="rId4">
            <a:alphaModFix/>
          </a:blip>
          <a:srcRect b="0" l="0" r="0" t="0"/>
          <a:stretch/>
        </p:blipFill>
        <p:spPr>
          <a:xfrm>
            <a:off x="218750" y="6052376"/>
            <a:ext cx="1823009" cy="470325"/>
          </a:xfrm>
          <a:prstGeom prst="rect">
            <a:avLst/>
          </a:prstGeom>
          <a:noFill/>
          <a:ln>
            <a:noFill/>
          </a:ln>
        </p:spPr>
      </p:pic>
      <p:pic>
        <p:nvPicPr>
          <p:cNvPr id="953" name="Google Shape;953;g3e3a61befe4_0_3900"/>
          <p:cNvPicPr preferRelativeResize="0"/>
          <p:nvPr/>
        </p:nvPicPr>
        <p:blipFill rotWithShape="1">
          <a:blip r:embed="rId5">
            <a:alphaModFix/>
          </a:blip>
          <a:srcRect b="0" l="0" r="0" t="0"/>
          <a:stretch/>
        </p:blipFill>
        <p:spPr>
          <a:xfrm>
            <a:off x="6996125" y="5975242"/>
            <a:ext cx="1811830" cy="624575"/>
          </a:xfrm>
          <a:prstGeom prst="rect">
            <a:avLst/>
          </a:prstGeom>
          <a:noFill/>
          <a:ln>
            <a:noFill/>
          </a:ln>
        </p:spPr>
      </p:pic>
      <p:sp>
        <p:nvSpPr>
          <p:cNvPr id="954" name="Google Shape;954;g3e3a61befe4_0_3900"/>
          <p:cNvSpPr txBox="1"/>
          <p:nvPr/>
        </p:nvSpPr>
        <p:spPr>
          <a:xfrm>
            <a:off x="119775" y="778400"/>
            <a:ext cx="95676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solidFill>
                  <a:schemeClr val="dk1"/>
                </a:solidFill>
              </a:rPr>
              <a:t>However, none of them seeks to provide a structured approach capable of building a bridge between ethical principles, supporting the process from the identification of negative ethical consequences to their handling within the use cases of the system being analyzed.</a:t>
            </a:r>
            <a:endParaRPr sz="2800">
              <a:solidFill>
                <a:schemeClr val="dk1"/>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8" name="Shape 958"/>
        <p:cNvGrpSpPr/>
        <p:nvPr/>
      </p:nvGrpSpPr>
      <p:grpSpPr>
        <a:xfrm>
          <a:off x="0" y="0"/>
          <a:ext cx="0" cy="0"/>
          <a:chOff x="0" y="0"/>
          <a:chExt cx="0" cy="0"/>
        </a:xfrm>
      </p:grpSpPr>
      <p:sp>
        <p:nvSpPr>
          <p:cNvPr id="959" name="Google Shape;959;g3e387427cbb_128_595"/>
          <p:cNvSpPr txBox="1"/>
          <p:nvPr>
            <p:ph type="title"/>
          </p:nvPr>
        </p:nvSpPr>
        <p:spPr>
          <a:xfrm>
            <a:off x="101475" y="108450"/>
            <a:ext cx="9604200" cy="6246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1E4E79"/>
              </a:buClr>
              <a:buSzPts val="4000"/>
              <a:buFont typeface="Arial"/>
              <a:buNone/>
            </a:pPr>
            <a:r>
              <a:rPr lang="en-US" sz="2400"/>
              <a:t>4. </a:t>
            </a:r>
            <a:r>
              <a:rPr lang="en-US" sz="2400"/>
              <a:t>Problems</a:t>
            </a:r>
            <a:endParaRPr sz="2400"/>
          </a:p>
        </p:txBody>
      </p:sp>
      <p:grpSp>
        <p:nvGrpSpPr>
          <p:cNvPr id="960" name="Google Shape;960;g3e387427cbb_128_595"/>
          <p:cNvGrpSpPr/>
          <p:nvPr/>
        </p:nvGrpSpPr>
        <p:grpSpPr>
          <a:xfrm>
            <a:off x="-18000" y="5842891"/>
            <a:ext cx="9942000" cy="1014788"/>
            <a:chOff x="-21650" y="5927750"/>
            <a:chExt cx="9942000" cy="930230"/>
          </a:xfrm>
        </p:grpSpPr>
        <p:sp>
          <p:nvSpPr>
            <p:cNvPr id="961" name="Google Shape;961;g3e387427cbb_128_595"/>
            <p:cNvSpPr/>
            <p:nvPr/>
          </p:nvSpPr>
          <p:spPr>
            <a:xfrm>
              <a:off x="5239747" y="5949280"/>
              <a:ext cx="4680600" cy="9087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Arial"/>
                  <a:ea typeface="Arial"/>
                  <a:cs typeface="Arial"/>
                  <a:sym typeface="Arial"/>
                </a:rPr>
                <a:t>25th Annual International Conference on Digital Government Research (dg.o 2024)</a:t>
              </a:r>
              <a:endParaRPr b="0" i="0" sz="1800" u="none" cap="none" strike="noStrike">
                <a:solidFill>
                  <a:schemeClr val="lt1"/>
                </a:solidFill>
                <a:latin typeface="Arial"/>
                <a:ea typeface="Arial"/>
                <a:cs typeface="Arial"/>
                <a:sym typeface="Arial"/>
              </a:endParaRPr>
            </a:p>
          </p:txBody>
        </p:sp>
        <p:pic>
          <p:nvPicPr>
            <p:cNvPr id="962" name="Google Shape;962;g3e387427cbb_128_595"/>
            <p:cNvPicPr preferRelativeResize="0"/>
            <p:nvPr/>
          </p:nvPicPr>
          <p:blipFill rotWithShape="1">
            <a:blip r:embed="rId3">
              <a:alphaModFix/>
            </a:blip>
            <a:srcRect b="-112517" l="-23390" r="23390" t="137700"/>
            <a:stretch/>
          </p:blipFill>
          <p:spPr>
            <a:xfrm>
              <a:off x="0" y="6007596"/>
              <a:ext cx="9920265" cy="792088"/>
            </a:xfrm>
            <a:prstGeom prst="rect">
              <a:avLst/>
            </a:prstGeom>
            <a:noFill/>
            <a:ln>
              <a:noFill/>
            </a:ln>
          </p:spPr>
        </p:pic>
        <p:sp>
          <p:nvSpPr>
            <p:cNvPr id="963" name="Google Shape;963;g3e387427cbb_128_595"/>
            <p:cNvSpPr/>
            <p:nvPr/>
          </p:nvSpPr>
          <p:spPr>
            <a:xfrm>
              <a:off x="-21650" y="5927750"/>
              <a:ext cx="9942000" cy="9087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sp>
        <p:nvSpPr>
          <p:cNvPr id="964" name="Google Shape;964;g3e387427cbb_128_595"/>
          <p:cNvSpPr txBox="1"/>
          <p:nvPr>
            <p:ph idx="12" type="sldNum"/>
          </p:nvPr>
        </p:nvSpPr>
        <p:spPr>
          <a:xfrm>
            <a:off x="6996113" y="6356350"/>
            <a:ext cx="22290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pic>
        <p:nvPicPr>
          <p:cNvPr id="965" name="Google Shape;965;g3e387427cbb_128_595"/>
          <p:cNvPicPr preferRelativeResize="0"/>
          <p:nvPr/>
        </p:nvPicPr>
        <p:blipFill rotWithShape="1">
          <a:blip r:embed="rId4">
            <a:alphaModFix/>
          </a:blip>
          <a:srcRect b="0" l="0" r="0" t="0"/>
          <a:stretch/>
        </p:blipFill>
        <p:spPr>
          <a:xfrm>
            <a:off x="218750" y="6052376"/>
            <a:ext cx="1823009" cy="470325"/>
          </a:xfrm>
          <a:prstGeom prst="rect">
            <a:avLst/>
          </a:prstGeom>
          <a:noFill/>
          <a:ln>
            <a:noFill/>
          </a:ln>
        </p:spPr>
      </p:pic>
      <p:pic>
        <p:nvPicPr>
          <p:cNvPr id="966" name="Google Shape;966;g3e387427cbb_128_595"/>
          <p:cNvPicPr preferRelativeResize="0"/>
          <p:nvPr/>
        </p:nvPicPr>
        <p:blipFill rotWithShape="1">
          <a:blip r:embed="rId5">
            <a:alphaModFix/>
          </a:blip>
          <a:srcRect b="0" l="0" r="0" t="0"/>
          <a:stretch/>
        </p:blipFill>
        <p:spPr>
          <a:xfrm>
            <a:off x="6996125" y="5975242"/>
            <a:ext cx="1811830" cy="624575"/>
          </a:xfrm>
          <a:prstGeom prst="rect">
            <a:avLst/>
          </a:prstGeom>
          <a:noFill/>
          <a:ln>
            <a:noFill/>
          </a:ln>
        </p:spPr>
      </p:pic>
      <p:graphicFrame>
        <p:nvGraphicFramePr>
          <p:cNvPr id="967" name="Google Shape;967;g3e387427cbb_128_595"/>
          <p:cNvGraphicFramePr/>
          <p:nvPr/>
        </p:nvGraphicFramePr>
        <p:xfrm>
          <a:off x="160113" y="1588396"/>
          <a:ext cx="3000000" cy="3000000"/>
        </p:xfrm>
        <a:graphic>
          <a:graphicData uri="http://schemas.openxmlformats.org/drawingml/2006/table">
            <a:tbl>
              <a:tblPr>
                <a:noFill/>
                <a:tableStyleId>{50916073-6137-4BFC-AC2B-91BFF95D4831}</a:tableStyleId>
              </a:tblPr>
              <a:tblGrid>
                <a:gridCol w="2618025"/>
                <a:gridCol w="912200"/>
                <a:gridCol w="1149375"/>
                <a:gridCol w="1185875"/>
                <a:gridCol w="1514250"/>
                <a:gridCol w="1122025"/>
                <a:gridCol w="985175"/>
              </a:tblGrid>
              <a:tr h="841775">
                <a:tc>
                  <a:txBody>
                    <a:bodyPr/>
                    <a:lstStyle/>
                    <a:p>
                      <a:pPr indent="0" lvl="0" marL="0" rtl="0" algn="l">
                        <a:lnSpc>
                          <a:spcPct val="115000"/>
                        </a:lnSpc>
                        <a:spcBef>
                          <a:spcPts val="0"/>
                        </a:spcBef>
                        <a:spcAft>
                          <a:spcPts val="0"/>
                        </a:spcAft>
                        <a:buNone/>
                      </a:pPr>
                      <a:r>
                        <a:rPr b="1" lang="en-US" sz="1000"/>
                        <a:t> Activities</a:t>
                      </a:r>
                      <a:endParaRPr b="1" sz="1000"/>
                    </a:p>
                  </a:txBody>
                  <a:tcPr marT="91425" marB="91425"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000"/>
                        <a:t>Identification of Impacted Stakeholders</a:t>
                      </a:r>
                      <a:endParaRPr sz="1000"/>
                    </a:p>
                  </a:txBody>
                  <a:tcPr marT="91425" marB="91425" marR="28575" marL="28575" anchor="ctr">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000"/>
                        <a:t>Identification of Negative Ethical Consequences</a:t>
                      </a:r>
                      <a:endParaRPr sz="1000"/>
                    </a:p>
                  </a:txBody>
                  <a:tcPr marT="91425" marB="91425" marR="28575" marL="28575" anchor="ctr">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000"/>
                        <a:t>Identification of Causes Associated with Ethical Consequences</a:t>
                      </a:r>
                      <a:endParaRPr sz="1000"/>
                    </a:p>
                  </a:txBody>
                  <a:tcPr marT="91425" marB="91425" marR="28575" marL="28575" anchor="ctr">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000"/>
                        <a:t>Classification of consequences into actionable, influenceable, or monitorable.</a:t>
                      </a:r>
                      <a:endParaRPr sz="1000"/>
                    </a:p>
                  </a:txBody>
                  <a:tcPr marT="91425" marB="91425" marR="28575" marL="28575" anchor="ctr">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000"/>
                        <a:t>Proposal of Solutions for Actionable Consequences</a:t>
                      </a:r>
                      <a:endParaRPr sz="1000"/>
                    </a:p>
                  </a:txBody>
                  <a:tcPr marT="91425" marB="91425" marR="28575" marL="28575" anchor="ctr">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000"/>
                        <a:t>Creation or Modification of Use Cases</a:t>
                      </a:r>
                      <a:endParaRPr sz="1000"/>
                    </a:p>
                  </a:txBody>
                  <a:tcPr marT="91425" marB="91425" marR="28575" marL="28575" anchor="ctr">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349500">
                <a:tc>
                  <a:txBody>
                    <a:bodyPr/>
                    <a:lstStyle/>
                    <a:p>
                      <a:pPr indent="0" lvl="0" marL="0" rtl="0" algn="l">
                        <a:lnSpc>
                          <a:spcPct val="115000"/>
                        </a:lnSpc>
                        <a:spcBef>
                          <a:spcPts val="0"/>
                        </a:spcBef>
                        <a:spcAft>
                          <a:spcPts val="0"/>
                        </a:spcAft>
                        <a:buNone/>
                      </a:pPr>
                      <a:r>
                        <a:rPr lang="en-US" sz="1000"/>
                        <a:t>Consequence Scanning</a:t>
                      </a:r>
                      <a:endParaRPr sz="1000"/>
                    </a:p>
                  </a:txBody>
                  <a:tcPr marT="91425" marB="91425"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000"/>
                        <a:t>X</a:t>
                      </a:r>
                      <a:endParaRPr sz="1000"/>
                    </a:p>
                  </a:txBody>
                  <a:tcPr marT="91425" marB="91425"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000"/>
                        <a:t>X</a:t>
                      </a:r>
                      <a:endParaRPr sz="1000"/>
                    </a:p>
                  </a:txBody>
                  <a:tcPr marT="91425" marB="91425"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000"/>
                        <a:t>X</a:t>
                      </a:r>
                      <a:endParaRPr sz="1000"/>
                    </a:p>
                  </a:txBody>
                  <a:tcPr marT="91425" marB="91425"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349500">
                <a:tc>
                  <a:txBody>
                    <a:bodyPr/>
                    <a:lstStyle/>
                    <a:p>
                      <a:pPr indent="0" lvl="0" marL="0" rtl="0" algn="l">
                        <a:lnSpc>
                          <a:spcPct val="115000"/>
                        </a:lnSpc>
                        <a:spcBef>
                          <a:spcPts val="0"/>
                        </a:spcBef>
                        <a:spcAft>
                          <a:spcPts val="0"/>
                        </a:spcAft>
                        <a:buNone/>
                      </a:pPr>
                      <a:r>
                        <a:rPr lang="en-US" sz="1000"/>
                        <a:t>Diagram Construction</a:t>
                      </a:r>
                      <a:endParaRPr sz="1000"/>
                    </a:p>
                  </a:txBody>
                  <a:tcPr marT="91425" marB="91425"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000"/>
                        <a:t>X</a:t>
                      </a:r>
                      <a:endParaRPr sz="1000"/>
                    </a:p>
                  </a:txBody>
                  <a:tcPr marT="91425" marB="91425"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349500">
                <a:tc>
                  <a:txBody>
                    <a:bodyPr/>
                    <a:lstStyle/>
                    <a:p>
                      <a:pPr indent="0" lvl="0" marL="0" rtl="0" algn="l">
                        <a:lnSpc>
                          <a:spcPct val="115000"/>
                        </a:lnSpc>
                        <a:spcBef>
                          <a:spcPts val="0"/>
                        </a:spcBef>
                        <a:spcAft>
                          <a:spcPts val="0"/>
                        </a:spcAft>
                        <a:buNone/>
                      </a:pPr>
                      <a:r>
                        <a:rPr lang="en-US" sz="1000"/>
                        <a:t>Discussions</a:t>
                      </a:r>
                      <a:endParaRPr sz="1000"/>
                    </a:p>
                  </a:txBody>
                  <a:tcPr marT="91425" marB="91425"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000"/>
                        <a:t>X</a:t>
                      </a:r>
                      <a:endParaRPr sz="1000"/>
                    </a:p>
                  </a:txBody>
                  <a:tcPr marT="91425" marB="91425"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000"/>
                        <a:t>X</a:t>
                      </a:r>
                      <a:endParaRPr sz="1000"/>
                    </a:p>
                  </a:txBody>
                  <a:tcPr marT="91425" marB="91425"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509475">
                <a:tc>
                  <a:txBody>
                    <a:bodyPr/>
                    <a:lstStyle/>
                    <a:p>
                      <a:pPr indent="0" lvl="0" marL="0" rtl="0" algn="l">
                        <a:lnSpc>
                          <a:spcPct val="115000"/>
                        </a:lnSpc>
                        <a:spcBef>
                          <a:spcPts val="0"/>
                        </a:spcBef>
                        <a:spcAft>
                          <a:spcPts val="0"/>
                        </a:spcAft>
                        <a:buNone/>
                      </a:pPr>
                      <a:r>
                        <a:rPr lang="en-US" sz="1000"/>
                        <a:t>Ethical Analysis through Classical Ethical Theories</a:t>
                      </a:r>
                      <a:endParaRPr sz="1000"/>
                    </a:p>
                  </a:txBody>
                  <a:tcPr marT="91425" marB="91425"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000"/>
                        <a:t>X</a:t>
                      </a:r>
                      <a:endParaRPr sz="1000"/>
                    </a:p>
                  </a:txBody>
                  <a:tcPr marT="91425" marB="91425"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000"/>
                        <a:t>X</a:t>
                      </a:r>
                      <a:endParaRPr sz="1000"/>
                    </a:p>
                  </a:txBody>
                  <a:tcPr marT="91425" marB="91425"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349500">
                <a:tc>
                  <a:txBody>
                    <a:bodyPr/>
                    <a:lstStyle/>
                    <a:p>
                      <a:pPr indent="0" lvl="0" marL="0" rtl="0" algn="l">
                        <a:lnSpc>
                          <a:spcPct val="115000"/>
                        </a:lnSpc>
                        <a:spcBef>
                          <a:spcPts val="0"/>
                        </a:spcBef>
                        <a:spcAft>
                          <a:spcPts val="0"/>
                        </a:spcAft>
                        <a:buNone/>
                      </a:pPr>
                      <a:r>
                        <a:rPr lang="en-US" sz="1000"/>
                        <a:t>Hands-on Development Activities</a:t>
                      </a:r>
                      <a:endParaRPr sz="1000"/>
                    </a:p>
                  </a:txBody>
                  <a:tcPr marT="91425" marB="91425"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000"/>
                        <a:t>X</a:t>
                      </a:r>
                      <a:endParaRPr sz="1000"/>
                    </a:p>
                  </a:txBody>
                  <a:tcPr marT="91425" marB="91425"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000"/>
                        <a:t>X</a:t>
                      </a:r>
                      <a:endParaRPr sz="1000"/>
                    </a:p>
                  </a:txBody>
                  <a:tcPr marT="91425" marB="91425"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349500">
                <a:tc>
                  <a:txBody>
                    <a:bodyPr/>
                    <a:lstStyle/>
                    <a:p>
                      <a:pPr indent="0" lvl="0" marL="0" rtl="0" algn="l">
                        <a:lnSpc>
                          <a:spcPct val="115000"/>
                        </a:lnSpc>
                        <a:spcBef>
                          <a:spcPts val="0"/>
                        </a:spcBef>
                        <a:spcAft>
                          <a:spcPts val="0"/>
                        </a:spcAft>
                        <a:buNone/>
                      </a:pPr>
                      <a:r>
                        <a:rPr lang="en-US" sz="1000"/>
                        <a:t>Literature-Based Activities</a:t>
                      </a:r>
                      <a:endParaRPr sz="1000"/>
                    </a:p>
                  </a:txBody>
                  <a:tcPr marT="91425" marB="91425"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000"/>
                        <a:t>X</a:t>
                      </a:r>
                      <a:endParaRPr sz="1000"/>
                    </a:p>
                  </a:txBody>
                  <a:tcPr marT="91425" marB="91425"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000"/>
                        <a:t>X</a:t>
                      </a:r>
                      <a:endParaRPr sz="1000"/>
                    </a:p>
                  </a:txBody>
                  <a:tcPr marT="91425" marB="91425"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349500">
                <a:tc>
                  <a:txBody>
                    <a:bodyPr/>
                    <a:lstStyle/>
                    <a:p>
                      <a:pPr indent="0" lvl="0" marL="0" rtl="0" algn="l">
                        <a:lnSpc>
                          <a:spcPct val="115000"/>
                        </a:lnSpc>
                        <a:spcBef>
                          <a:spcPts val="0"/>
                        </a:spcBef>
                        <a:spcAft>
                          <a:spcPts val="0"/>
                        </a:spcAft>
                        <a:buNone/>
                      </a:pPr>
                      <a:r>
                        <a:rPr lang="en-US" sz="1000"/>
                        <a:t>Metacognition</a:t>
                      </a:r>
                      <a:endParaRPr sz="1000"/>
                    </a:p>
                  </a:txBody>
                  <a:tcPr marT="91425" marB="91425"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000"/>
                        <a:t>X</a:t>
                      </a:r>
                      <a:endParaRPr sz="1000"/>
                    </a:p>
                  </a:txBody>
                  <a:tcPr marT="91425" marB="91425"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000"/>
                        <a:t>X</a:t>
                      </a:r>
                      <a:endParaRPr sz="1000"/>
                    </a:p>
                  </a:txBody>
                  <a:tcPr marT="91425" marB="91425"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343350">
                <a:tc>
                  <a:txBody>
                    <a:bodyPr/>
                    <a:lstStyle/>
                    <a:p>
                      <a:pPr indent="0" lvl="0" marL="0" rtl="0" algn="l">
                        <a:lnSpc>
                          <a:spcPct val="115000"/>
                        </a:lnSpc>
                        <a:spcBef>
                          <a:spcPts val="0"/>
                        </a:spcBef>
                        <a:spcAft>
                          <a:spcPts val="0"/>
                        </a:spcAft>
                        <a:buNone/>
                      </a:pPr>
                      <a:r>
                        <a:rPr b="1" lang="en-US" sz="1000"/>
                        <a:t>Proposed </a:t>
                      </a:r>
                      <a:r>
                        <a:rPr b="1" lang="en-US" sz="1000"/>
                        <a:t>Method</a:t>
                      </a:r>
                      <a:endParaRPr b="1" sz="1000"/>
                    </a:p>
                  </a:txBody>
                  <a:tcPr marT="91425" marB="91425"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000"/>
                        <a:t>X</a:t>
                      </a:r>
                      <a:endParaRPr sz="1000"/>
                    </a:p>
                  </a:txBody>
                  <a:tcPr marT="91425" marB="91425"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000"/>
                        <a:t>X</a:t>
                      </a:r>
                      <a:endParaRPr sz="1000"/>
                    </a:p>
                  </a:txBody>
                  <a:tcPr marT="91425" marB="91425"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000"/>
                        <a:t>X</a:t>
                      </a:r>
                      <a:endParaRPr sz="1000"/>
                    </a:p>
                  </a:txBody>
                  <a:tcPr marT="91425" marB="91425"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000"/>
                        <a:t>X</a:t>
                      </a:r>
                      <a:endParaRPr sz="1000"/>
                    </a:p>
                  </a:txBody>
                  <a:tcPr marT="91425" marB="91425"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000"/>
                        <a:t>X</a:t>
                      </a:r>
                      <a:endParaRPr sz="1000"/>
                    </a:p>
                  </a:txBody>
                  <a:tcPr marT="91425" marB="91425"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000"/>
                        <a:t>X</a:t>
                      </a:r>
                      <a:endParaRPr sz="1000"/>
                    </a:p>
                  </a:txBody>
                  <a:tcPr marT="91425" marB="91425"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bl>
          </a:graphicData>
        </a:graphic>
      </p:graphicFrame>
      <p:sp>
        <p:nvSpPr>
          <p:cNvPr id="968" name="Google Shape;968;g3e387427cbb_128_595"/>
          <p:cNvSpPr txBox="1"/>
          <p:nvPr/>
        </p:nvSpPr>
        <p:spPr>
          <a:xfrm>
            <a:off x="119775" y="778400"/>
            <a:ext cx="95676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solidFill>
                  <a:schemeClr val="dk1"/>
                </a:solidFill>
              </a:rPr>
              <a:t>However, none of them seeks to provide a structured approach capable of building a bridge between ethical principles, supporting the process from the identification of negative ethical consequences to their handling within the use cases of the system being analyzed.</a:t>
            </a:r>
            <a:endParaRPr sz="2800">
              <a:solidFill>
                <a:schemeClr val="dk1"/>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2" name="Shape 972"/>
        <p:cNvGrpSpPr/>
        <p:nvPr/>
      </p:nvGrpSpPr>
      <p:grpSpPr>
        <a:xfrm>
          <a:off x="0" y="0"/>
          <a:ext cx="0" cy="0"/>
          <a:chOff x="0" y="0"/>
          <a:chExt cx="0" cy="0"/>
        </a:xfrm>
      </p:grpSpPr>
      <p:grpSp>
        <p:nvGrpSpPr>
          <p:cNvPr id="973" name="Google Shape;973;g3e27de7754e_0_90"/>
          <p:cNvGrpSpPr/>
          <p:nvPr/>
        </p:nvGrpSpPr>
        <p:grpSpPr>
          <a:xfrm>
            <a:off x="-18000" y="5842891"/>
            <a:ext cx="9942000" cy="1014788"/>
            <a:chOff x="-21650" y="5927750"/>
            <a:chExt cx="9942000" cy="930230"/>
          </a:xfrm>
        </p:grpSpPr>
        <p:sp>
          <p:nvSpPr>
            <p:cNvPr id="974" name="Google Shape;974;g3e27de7754e_0_90"/>
            <p:cNvSpPr/>
            <p:nvPr/>
          </p:nvSpPr>
          <p:spPr>
            <a:xfrm>
              <a:off x="5239747" y="5949280"/>
              <a:ext cx="4680600" cy="9087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Arial"/>
                  <a:ea typeface="Arial"/>
                  <a:cs typeface="Arial"/>
                  <a:sym typeface="Arial"/>
                </a:rPr>
                <a:t>25th Annual International Conference on Digital Government Research (dg.o 2024)</a:t>
              </a:r>
              <a:endParaRPr b="0" i="0" sz="1800" u="none" cap="none" strike="noStrike">
                <a:solidFill>
                  <a:schemeClr val="lt1"/>
                </a:solidFill>
                <a:latin typeface="Arial"/>
                <a:ea typeface="Arial"/>
                <a:cs typeface="Arial"/>
                <a:sym typeface="Arial"/>
              </a:endParaRPr>
            </a:p>
          </p:txBody>
        </p:sp>
        <p:pic>
          <p:nvPicPr>
            <p:cNvPr id="975" name="Google Shape;975;g3e27de7754e_0_90"/>
            <p:cNvPicPr preferRelativeResize="0"/>
            <p:nvPr/>
          </p:nvPicPr>
          <p:blipFill rotWithShape="1">
            <a:blip r:embed="rId3">
              <a:alphaModFix/>
            </a:blip>
            <a:srcRect b="-112517" l="-23390" r="23390" t="137700"/>
            <a:stretch/>
          </p:blipFill>
          <p:spPr>
            <a:xfrm>
              <a:off x="0" y="6007596"/>
              <a:ext cx="9920265" cy="792088"/>
            </a:xfrm>
            <a:prstGeom prst="rect">
              <a:avLst/>
            </a:prstGeom>
            <a:noFill/>
            <a:ln>
              <a:noFill/>
            </a:ln>
          </p:spPr>
        </p:pic>
        <p:sp>
          <p:nvSpPr>
            <p:cNvPr id="976" name="Google Shape;976;g3e27de7754e_0_90"/>
            <p:cNvSpPr/>
            <p:nvPr/>
          </p:nvSpPr>
          <p:spPr>
            <a:xfrm>
              <a:off x="-21650" y="5927750"/>
              <a:ext cx="9942000" cy="9087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sp>
        <p:nvSpPr>
          <p:cNvPr id="977" name="Google Shape;977;g3e27de7754e_0_90"/>
          <p:cNvSpPr txBox="1"/>
          <p:nvPr>
            <p:ph type="title"/>
          </p:nvPr>
        </p:nvSpPr>
        <p:spPr>
          <a:xfrm>
            <a:off x="149597" y="72306"/>
            <a:ext cx="9000900" cy="6246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1E4E79"/>
              </a:buClr>
              <a:buSzPts val="4000"/>
              <a:buFont typeface="Arial"/>
              <a:buNone/>
            </a:pPr>
            <a:r>
              <a:rPr lang="en-US" sz="2300"/>
              <a:t>5. Proposed Method</a:t>
            </a:r>
            <a:endParaRPr sz="2300"/>
          </a:p>
        </p:txBody>
      </p:sp>
      <p:sp>
        <p:nvSpPr>
          <p:cNvPr id="978" name="Google Shape;978;g3e27de7754e_0_90"/>
          <p:cNvSpPr txBox="1"/>
          <p:nvPr>
            <p:ph idx="12" type="sldNum"/>
          </p:nvPr>
        </p:nvSpPr>
        <p:spPr>
          <a:xfrm>
            <a:off x="6996113" y="6356350"/>
            <a:ext cx="22290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pic>
        <p:nvPicPr>
          <p:cNvPr id="979" name="Google Shape;979;g3e27de7754e_0_90"/>
          <p:cNvPicPr preferRelativeResize="0"/>
          <p:nvPr/>
        </p:nvPicPr>
        <p:blipFill rotWithShape="1">
          <a:blip r:embed="rId4">
            <a:alphaModFix/>
          </a:blip>
          <a:srcRect b="0" l="0" r="0" t="0"/>
          <a:stretch/>
        </p:blipFill>
        <p:spPr>
          <a:xfrm>
            <a:off x="218750" y="6052376"/>
            <a:ext cx="1823009" cy="470325"/>
          </a:xfrm>
          <a:prstGeom prst="rect">
            <a:avLst/>
          </a:prstGeom>
          <a:noFill/>
          <a:ln>
            <a:noFill/>
          </a:ln>
        </p:spPr>
      </p:pic>
      <p:pic>
        <p:nvPicPr>
          <p:cNvPr id="980" name="Google Shape;980;g3e27de7754e_0_90"/>
          <p:cNvPicPr preferRelativeResize="0"/>
          <p:nvPr/>
        </p:nvPicPr>
        <p:blipFill rotWithShape="1">
          <a:blip r:embed="rId5">
            <a:alphaModFix/>
          </a:blip>
          <a:srcRect b="0" l="0" r="0" t="0"/>
          <a:stretch/>
        </p:blipFill>
        <p:spPr>
          <a:xfrm>
            <a:off x="6996125" y="5975242"/>
            <a:ext cx="1811830" cy="624575"/>
          </a:xfrm>
          <a:prstGeom prst="rect">
            <a:avLst/>
          </a:prstGeom>
          <a:noFill/>
          <a:ln>
            <a:noFill/>
          </a:ln>
        </p:spPr>
      </p:pic>
      <p:pic>
        <p:nvPicPr>
          <p:cNvPr id="981" name="Google Shape;981;g3e27de7754e_0_90" title="ChatGPT Image 20 de mai. de 2026, 16_31_25.png"/>
          <p:cNvPicPr preferRelativeResize="0"/>
          <p:nvPr/>
        </p:nvPicPr>
        <p:blipFill>
          <a:blip r:embed="rId6">
            <a:alphaModFix/>
          </a:blip>
          <a:stretch>
            <a:fillRect/>
          </a:stretch>
        </p:blipFill>
        <p:spPr>
          <a:xfrm>
            <a:off x="2976275" y="696900"/>
            <a:ext cx="3305774" cy="4958676"/>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5" name="Shape 985"/>
        <p:cNvGrpSpPr/>
        <p:nvPr/>
      </p:nvGrpSpPr>
      <p:grpSpPr>
        <a:xfrm>
          <a:off x="0" y="0"/>
          <a:ext cx="0" cy="0"/>
          <a:chOff x="0" y="0"/>
          <a:chExt cx="0" cy="0"/>
        </a:xfrm>
      </p:grpSpPr>
      <p:grpSp>
        <p:nvGrpSpPr>
          <p:cNvPr id="986" name="Google Shape;986;g3e09165f504_0_58"/>
          <p:cNvGrpSpPr/>
          <p:nvPr/>
        </p:nvGrpSpPr>
        <p:grpSpPr>
          <a:xfrm>
            <a:off x="-18000" y="5842891"/>
            <a:ext cx="9942000" cy="1014788"/>
            <a:chOff x="-21650" y="5927750"/>
            <a:chExt cx="9942000" cy="930230"/>
          </a:xfrm>
        </p:grpSpPr>
        <p:sp>
          <p:nvSpPr>
            <p:cNvPr id="987" name="Google Shape;987;g3e09165f504_0_58"/>
            <p:cNvSpPr/>
            <p:nvPr/>
          </p:nvSpPr>
          <p:spPr>
            <a:xfrm>
              <a:off x="5239747" y="5949280"/>
              <a:ext cx="4680600" cy="9087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Arial"/>
                  <a:ea typeface="Arial"/>
                  <a:cs typeface="Arial"/>
                  <a:sym typeface="Arial"/>
                </a:rPr>
                <a:t>25th Annual International Conference on Digital Government Research (dg.o 2024)</a:t>
              </a:r>
              <a:endParaRPr b="0" i="0" sz="1800" u="none" cap="none" strike="noStrike">
                <a:solidFill>
                  <a:schemeClr val="lt1"/>
                </a:solidFill>
                <a:latin typeface="Arial"/>
                <a:ea typeface="Arial"/>
                <a:cs typeface="Arial"/>
                <a:sym typeface="Arial"/>
              </a:endParaRPr>
            </a:p>
          </p:txBody>
        </p:sp>
        <p:pic>
          <p:nvPicPr>
            <p:cNvPr id="988" name="Google Shape;988;g3e09165f504_0_58"/>
            <p:cNvPicPr preferRelativeResize="0"/>
            <p:nvPr/>
          </p:nvPicPr>
          <p:blipFill rotWithShape="1">
            <a:blip r:embed="rId3">
              <a:alphaModFix/>
            </a:blip>
            <a:srcRect b="-112517" l="-23390" r="23390" t="137700"/>
            <a:stretch/>
          </p:blipFill>
          <p:spPr>
            <a:xfrm>
              <a:off x="0" y="6007596"/>
              <a:ext cx="9920265" cy="792088"/>
            </a:xfrm>
            <a:prstGeom prst="rect">
              <a:avLst/>
            </a:prstGeom>
            <a:noFill/>
            <a:ln>
              <a:noFill/>
            </a:ln>
          </p:spPr>
        </p:pic>
        <p:sp>
          <p:nvSpPr>
            <p:cNvPr id="989" name="Google Shape;989;g3e09165f504_0_58"/>
            <p:cNvSpPr/>
            <p:nvPr/>
          </p:nvSpPr>
          <p:spPr>
            <a:xfrm>
              <a:off x="-21650" y="5927750"/>
              <a:ext cx="9942000" cy="9087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pic>
        <p:nvPicPr>
          <p:cNvPr id="990" name="Google Shape;990;g3e09165f504_0_58" title="visão_geral_sistema de patinetes.png"/>
          <p:cNvPicPr preferRelativeResize="0"/>
          <p:nvPr/>
        </p:nvPicPr>
        <p:blipFill rotWithShape="1">
          <a:blip r:embed="rId4">
            <a:alphaModFix/>
          </a:blip>
          <a:srcRect b="4068" l="0" r="0" t="0"/>
          <a:stretch/>
        </p:blipFill>
        <p:spPr>
          <a:xfrm>
            <a:off x="1508375" y="1306950"/>
            <a:ext cx="6818504" cy="4360576"/>
          </a:xfrm>
          <a:prstGeom prst="rect">
            <a:avLst/>
          </a:prstGeom>
          <a:noFill/>
          <a:ln>
            <a:noFill/>
          </a:ln>
        </p:spPr>
      </p:pic>
      <p:sp>
        <p:nvSpPr>
          <p:cNvPr id="991" name="Google Shape;991;g3e09165f504_0_58"/>
          <p:cNvSpPr txBox="1"/>
          <p:nvPr>
            <p:ph type="title"/>
          </p:nvPr>
        </p:nvSpPr>
        <p:spPr>
          <a:xfrm>
            <a:off x="84247" y="-29411"/>
            <a:ext cx="9000900" cy="6246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2300">
                <a:latin typeface="Arial"/>
                <a:ea typeface="Arial"/>
                <a:cs typeface="Arial"/>
                <a:sym typeface="Arial"/>
              </a:rPr>
              <a:t>6. </a:t>
            </a:r>
            <a:r>
              <a:rPr lang="en-US" sz="2300">
                <a:latin typeface="Arial"/>
                <a:ea typeface="Arial"/>
                <a:cs typeface="Arial"/>
                <a:sym typeface="Arial"/>
              </a:rPr>
              <a:t>Application of the Method in a Case Study</a:t>
            </a:r>
            <a:endParaRPr sz="2300"/>
          </a:p>
        </p:txBody>
      </p:sp>
      <p:sp>
        <p:nvSpPr>
          <p:cNvPr id="992" name="Google Shape;992;g3e09165f504_0_58"/>
          <p:cNvSpPr txBox="1"/>
          <p:nvPr>
            <p:ph idx="12" type="sldNum"/>
          </p:nvPr>
        </p:nvSpPr>
        <p:spPr>
          <a:xfrm>
            <a:off x="6996113" y="6356350"/>
            <a:ext cx="22290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993" name="Google Shape;993;g3e09165f504_0_58"/>
          <p:cNvPicPr preferRelativeResize="0"/>
          <p:nvPr/>
        </p:nvPicPr>
        <p:blipFill rotWithShape="1">
          <a:blip r:embed="rId5">
            <a:alphaModFix/>
          </a:blip>
          <a:srcRect b="0" l="0" r="0" t="0"/>
          <a:stretch/>
        </p:blipFill>
        <p:spPr>
          <a:xfrm>
            <a:off x="218750" y="6052376"/>
            <a:ext cx="1823009" cy="470325"/>
          </a:xfrm>
          <a:prstGeom prst="rect">
            <a:avLst/>
          </a:prstGeom>
          <a:noFill/>
          <a:ln>
            <a:noFill/>
          </a:ln>
        </p:spPr>
      </p:pic>
      <p:pic>
        <p:nvPicPr>
          <p:cNvPr id="994" name="Google Shape;994;g3e09165f504_0_58"/>
          <p:cNvPicPr preferRelativeResize="0"/>
          <p:nvPr/>
        </p:nvPicPr>
        <p:blipFill rotWithShape="1">
          <a:blip r:embed="rId6">
            <a:alphaModFix/>
          </a:blip>
          <a:srcRect b="0" l="0" r="0" t="0"/>
          <a:stretch/>
        </p:blipFill>
        <p:spPr>
          <a:xfrm>
            <a:off x="6996125" y="5975242"/>
            <a:ext cx="1811830" cy="624575"/>
          </a:xfrm>
          <a:prstGeom prst="rect">
            <a:avLst/>
          </a:prstGeom>
          <a:noFill/>
          <a:ln>
            <a:noFill/>
          </a:ln>
        </p:spPr>
      </p:pic>
      <p:sp>
        <p:nvSpPr>
          <p:cNvPr id="995" name="Google Shape;995;g3e09165f504_0_58"/>
          <p:cNvSpPr txBox="1"/>
          <p:nvPr/>
        </p:nvSpPr>
        <p:spPr>
          <a:xfrm>
            <a:off x="137637" y="541412"/>
            <a:ext cx="9452400" cy="877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1200"/>
              </a:spcBef>
              <a:spcAft>
                <a:spcPts val="1200"/>
              </a:spcAft>
              <a:buNone/>
            </a:pPr>
            <a:r>
              <a:rPr lang="en-US" sz="1500"/>
              <a:t>A BDI-based Multi-Agent System (MAS) for Scooter Management was used as a case study to demonstrate the application of the proposed method. The study was conducted by a group composed of one researcher and two graduate students.</a:t>
            </a:r>
            <a:endParaRPr sz="1100"/>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9" name="Shape 999"/>
        <p:cNvGrpSpPr/>
        <p:nvPr/>
      </p:nvGrpSpPr>
      <p:grpSpPr>
        <a:xfrm>
          <a:off x="0" y="0"/>
          <a:ext cx="0" cy="0"/>
          <a:chOff x="0" y="0"/>
          <a:chExt cx="0" cy="0"/>
        </a:xfrm>
      </p:grpSpPr>
      <p:grpSp>
        <p:nvGrpSpPr>
          <p:cNvPr id="1000" name="Google Shape;1000;g3e33499f370_0_295"/>
          <p:cNvGrpSpPr/>
          <p:nvPr/>
        </p:nvGrpSpPr>
        <p:grpSpPr>
          <a:xfrm>
            <a:off x="-18000" y="5842891"/>
            <a:ext cx="9942000" cy="1014788"/>
            <a:chOff x="-21650" y="5927750"/>
            <a:chExt cx="9942000" cy="930230"/>
          </a:xfrm>
        </p:grpSpPr>
        <p:sp>
          <p:nvSpPr>
            <p:cNvPr id="1001" name="Google Shape;1001;g3e33499f370_0_295"/>
            <p:cNvSpPr/>
            <p:nvPr/>
          </p:nvSpPr>
          <p:spPr>
            <a:xfrm>
              <a:off x="5239747" y="5949280"/>
              <a:ext cx="4680600" cy="9087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Arial"/>
                  <a:ea typeface="Arial"/>
                  <a:cs typeface="Arial"/>
                  <a:sym typeface="Arial"/>
                </a:rPr>
                <a:t>25th Annual International Conference on Digital Government Research (dg.o 2024)</a:t>
              </a:r>
              <a:endParaRPr b="0" i="0" sz="1800" u="none" cap="none" strike="noStrike">
                <a:solidFill>
                  <a:schemeClr val="lt1"/>
                </a:solidFill>
                <a:latin typeface="Arial"/>
                <a:ea typeface="Arial"/>
                <a:cs typeface="Arial"/>
                <a:sym typeface="Arial"/>
              </a:endParaRPr>
            </a:p>
          </p:txBody>
        </p:sp>
        <p:pic>
          <p:nvPicPr>
            <p:cNvPr id="1002" name="Google Shape;1002;g3e33499f370_0_295"/>
            <p:cNvPicPr preferRelativeResize="0"/>
            <p:nvPr/>
          </p:nvPicPr>
          <p:blipFill rotWithShape="1">
            <a:blip r:embed="rId3">
              <a:alphaModFix/>
            </a:blip>
            <a:srcRect b="-112517" l="-23390" r="23390" t="137700"/>
            <a:stretch/>
          </p:blipFill>
          <p:spPr>
            <a:xfrm>
              <a:off x="0" y="6007596"/>
              <a:ext cx="9920265" cy="792088"/>
            </a:xfrm>
            <a:prstGeom prst="rect">
              <a:avLst/>
            </a:prstGeom>
            <a:noFill/>
            <a:ln>
              <a:noFill/>
            </a:ln>
          </p:spPr>
        </p:pic>
        <p:sp>
          <p:nvSpPr>
            <p:cNvPr id="1003" name="Google Shape;1003;g3e33499f370_0_295"/>
            <p:cNvSpPr/>
            <p:nvPr/>
          </p:nvSpPr>
          <p:spPr>
            <a:xfrm>
              <a:off x="-21650" y="5927750"/>
              <a:ext cx="9942000" cy="9087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sp>
        <p:nvSpPr>
          <p:cNvPr id="1004" name="Google Shape;1004;g3e33499f370_0_295"/>
          <p:cNvSpPr txBox="1"/>
          <p:nvPr>
            <p:ph type="title"/>
          </p:nvPr>
        </p:nvSpPr>
        <p:spPr>
          <a:xfrm>
            <a:off x="84247" y="-29411"/>
            <a:ext cx="9000900" cy="6246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1E4E79"/>
              </a:buClr>
              <a:buSzPts val="4000"/>
              <a:buFont typeface="Arial"/>
              <a:buNone/>
            </a:pPr>
            <a:r>
              <a:rPr lang="en-US" sz="2300"/>
              <a:t>Step 1: Use Case Description</a:t>
            </a:r>
            <a:endParaRPr sz="2300"/>
          </a:p>
        </p:txBody>
      </p:sp>
      <p:sp>
        <p:nvSpPr>
          <p:cNvPr id="1005" name="Google Shape;1005;g3e33499f370_0_295"/>
          <p:cNvSpPr txBox="1"/>
          <p:nvPr>
            <p:ph idx="12" type="sldNum"/>
          </p:nvPr>
        </p:nvSpPr>
        <p:spPr>
          <a:xfrm>
            <a:off x="6996113" y="6356350"/>
            <a:ext cx="22290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pic>
        <p:nvPicPr>
          <p:cNvPr id="1006" name="Google Shape;1006;g3e33499f370_0_295"/>
          <p:cNvPicPr preferRelativeResize="0"/>
          <p:nvPr/>
        </p:nvPicPr>
        <p:blipFill rotWithShape="1">
          <a:blip r:embed="rId4">
            <a:alphaModFix/>
          </a:blip>
          <a:srcRect b="0" l="0" r="0" t="0"/>
          <a:stretch/>
        </p:blipFill>
        <p:spPr>
          <a:xfrm>
            <a:off x="218750" y="6052376"/>
            <a:ext cx="1823009" cy="470325"/>
          </a:xfrm>
          <a:prstGeom prst="rect">
            <a:avLst/>
          </a:prstGeom>
          <a:noFill/>
          <a:ln>
            <a:noFill/>
          </a:ln>
        </p:spPr>
      </p:pic>
      <p:pic>
        <p:nvPicPr>
          <p:cNvPr id="1007" name="Google Shape;1007;g3e33499f370_0_295"/>
          <p:cNvPicPr preferRelativeResize="0"/>
          <p:nvPr/>
        </p:nvPicPr>
        <p:blipFill rotWithShape="1">
          <a:blip r:embed="rId5">
            <a:alphaModFix/>
          </a:blip>
          <a:srcRect b="0" l="0" r="0" t="0"/>
          <a:stretch/>
        </p:blipFill>
        <p:spPr>
          <a:xfrm>
            <a:off x="6996125" y="5975242"/>
            <a:ext cx="1811830" cy="624575"/>
          </a:xfrm>
          <a:prstGeom prst="rect">
            <a:avLst/>
          </a:prstGeom>
          <a:noFill/>
          <a:ln>
            <a:noFill/>
          </a:ln>
        </p:spPr>
      </p:pic>
      <p:graphicFrame>
        <p:nvGraphicFramePr>
          <p:cNvPr id="1008" name="Google Shape;1008;g3e33499f370_0_295"/>
          <p:cNvGraphicFramePr/>
          <p:nvPr/>
        </p:nvGraphicFramePr>
        <p:xfrm>
          <a:off x="969925" y="1055200"/>
          <a:ext cx="3000000" cy="3000000"/>
        </p:xfrm>
        <a:graphic>
          <a:graphicData uri="http://schemas.openxmlformats.org/drawingml/2006/table">
            <a:tbl>
              <a:tblPr>
                <a:noFill/>
                <a:tableStyleId>{3CD9C4C2-9404-43FE-B6C3-7E77CC52F599}</a:tableStyleId>
              </a:tblPr>
              <a:tblGrid>
                <a:gridCol w="6196250"/>
              </a:tblGrid>
              <a:tr h="292550">
                <a:tc>
                  <a:txBody>
                    <a:bodyPr/>
                    <a:lstStyle/>
                    <a:p>
                      <a:pPr indent="0" lvl="0" marL="0" rtl="0" algn="l">
                        <a:spcBef>
                          <a:spcPts val="0"/>
                        </a:spcBef>
                        <a:spcAft>
                          <a:spcPts val="0"/>
                        </a:spcAft>
                        <a:buNone/>
                      </a:pPr>
                      <a:r>
                        <a:rPr b="1" lang="en-US" sz="1100"/>
                        <a:t>Use Case 1 - Redistribute Scooters Between City Zones</a:t>
                      </a:r>
                      <a:endParaRPr sz="1100"/>
                    </a:p>
                  </a:txBody>
                  <a:tcPr marT="63500" marB="63500" marR="63500" marL="63500">
                    <a:solidFill>
                      <a:srgbClr val="F1F3F4"/>
                    </a:solidFill>
                  </a:tcPr>
                </a:tc>
              </a:tr>
              <a:tr h="927475">
                <a:tc>
                  <a:txBody>
                    <a:bodyPr/>
                    <a:lstStyle/>
                    <a:p>
                      <a:pPr indent="0" lvl="0" marL="0" rtl="0" algn="just">
                        <a:spcBef>
                          <a:spcPts val="1200"/>
                        </a:spcBef>
                        <a:spcAft>
                          <a:spcPts val="1200"/>
                        </a:spcAft>
                        <a:buNone/>
                      </a:pPr>
                      <a:r>
                        <a:rPr b="1" lang="en-US" sz="1100"/>
                        <a:t>Objective:</a:t>
                      </a:r>
                      <a:r>
                        <a:rPr lang="en-US" sz="1100"/>
                        <a:t> Ensure that different areas of the city maintain an adequate number of available electric scooters through a Multi-Agent System (MAS) composed of autonomous agents responsible for monitoring and redistributing scooters.</a:t>
                      </a:r>
                      <a:endParaRPr sz="1100"/>
                    </a:p>
                  </a:txBody>
                  <a:tcPr marT="63500" marB="63500" marR="63500" marL="63500"/>
                </a:tc>
              </a:tr>
              <a:tr h="927475">
                <a:tc>
                  <a:txBody>
                    <a:bodyPr/>
                    <a:lstStyle/>
                    <a:p>
                      <a:pPr indent="0" lvl="0" marL="0" rtl="0" algn="l">
                        <a:spcBef>
                          <a:spcPts val="0"/>
                        </a:spcBef>
                        <a:spcAft>
                          <a:spcPts val="0"/>
                        </a:spcAft>
                        <a:buClr>
                          <a:schemeClr val="dk1"/>
                        </a:buClr>
                        <a:buSzPts val="1100"/>
                        <a:buFont typeface="Arial"/>
                        <a:buNone/>
                      </a:pPr>
                      <a:r>
                        <a:rPr lang="en-US" sz="1100">
                          <a:solidFill>
                            <a:schemeClr val="dk1"/>
                          </a:solidFill>
                        </a:rPr>
                        <a:t>Agents involved:</a:t>
                      </a:r>
                      <a:endParaRPr sz="1100">
                        <a:solidFill>
                          <a:schemeClr val="dk1"/>
                        </a:solidFill>
                      </a:endParaRPr>
                    </a:p>
                    <a:p>
                      <a:pPr indent="-298450" lvl="0" marL="457200" rtl="0" algn="l">
                        <a:spcBef>
                          <a:spcPts val="0"/>
                        </a:spcBef>
                        <a:spcAft>
                          <a:spcPts val="0"/>
                        </a:spcAft>
                        <a:buClr>
                          <a:schemeClr val="dk1"/>
                        </a:buClr>
                        <a:buSzPts val="1100"/>
                        <a:buChar char="●"/>
                      </a:pPr>
                      <a:r>
                        <a:rPr lang="en-US" sz="1100">
                          <a:solidFill>
                            <a:schemeClr val="dk1"/>
                          </a:solidFill>
                        </a:rPr>
                        <a:t>Distributor</a:t>
                      </a:r>
                      <a:endParaRPr sz="1100">
                        <a:solidFill>
                          <a:schemeClr val="dk1"/>
                        </a:solidFill>
                      </a:endParaRPr>
                    </a:p>
                    <a:p>
                      <a:pPr indent="-298450" lvl="0" marL="457200" rtl="0" algn="l">
                        <a:spcBef>
                          <a:spcPts val="0"/>
                        </a:spcBef>
                        <a:spcAft>
                          <a:spcPts val="0"/>
                        </a:spcAft>
                        <a:buClr>
                          <a:schemeClr val="dk1"/>
                        </a:buClr>
                        <a:buSzPts val="1100"/>
                        <a:buChar char="●"/>
                      </a:pPr>
                      <a:r>
                        <a:rPr lang="en-US" sz="1100">
                          <a:solidFill>
                            <a:schemeClr val="dk1"/>
                          </a:solidFill>
                        </a:rPr>
                        <a:t>Zones</a:t>
                      </a:r>
                      <a:endParaRPr b="1" sz="1100"/>
                    </a:p>
                  </a:txBody>
                  <a:tcPr marT="63500" marB="63500" marR="63500" marL="63500"/>
                </a:tc>
              </a:tr>
            </a:tbl>
          </a:graphicData>
        </a:graphic>
      </p:graphicFrame>
    </p:spTree>
  </p:cSld>
  <p:clrMapOvr>
    <a:masterClrMapping/>
  </p:clrMapOvr>
  <mc:AlternateContent>
    <mc:Choice Requires="p14">
      <p:transition spd="slow" p14:dur="700">
        <p:fade/>
      </p:transition>
    </mc:Choice>
    <mc:Fallback>
      <p:transition spd="slow">
        <p:fade/>
      </p:transition>
    </mc:Fallback>
  </mc:AlternateContent>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2" name="Shape 1012"/>
        <p:cNvGrpSpPr/>
        <p:nvPr/>
      </p:nvGrpSpPr>
      <p:grpSpPr>
        <a:xfrm>
          <a:off x="0" y="0"/>
          <a:ext cx="0" cy="0"/>
          <a:chOff x="0" y="0"/>
          <a:chExt cx="0" cy="0"/>
        </a:xfrm>
      </p:grpSpPr>
      <p:grpSp>
        <p:nvGrpSpPr>
          <p:cNvPr id="1013" name="Google Shape;1013;g3e3096c156c_0_19"/>
          <p:cNvGrpSpPr/>
          <p:nvPr/>
        </p:nvGrpSpPr>
        <p:grpSpPr>
          <a:xfrm>
            <a:off x="-18000" y="5842891"/>
            <a:ext cx="9942000" cy="1014788"/>
            <a:chOff x="-21650" y="5927750"/>
            <a:chExt cx="9942000" cy="930230"/>
          </a:xfrm>
        </p:grpSpPr>
        <p:sp>
          <p:nvSpPr>
            <p:cNvPr id="1014" name="Google Shape;1014;g3e3096c156c_0_19"/>
            <p:cNvSpPr/>
            <p:nvPr/>
          </p:nvSpPr>
          <p:spPr>
            <a:xfrm>
              <a:off x="5239747" y="5949280"/>
              <a:ext cx="4680600" cy="9087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Arial"/>
                  <a:ea typeface="Arial"/>
                  <a:cs typeface="Arial"/>
                  <a:sym typeface="Arial"/>
                </a:rPr>
                <a:t>25th Annual International Conference on Digital Government Research (dg.o 2024)</a:t>
              </a:r>
              <a:endParaRPr b="0" i="0" sz="1800" u="none" cap="none" strike="noStrike">
                <a:solidFill>
                  <a:schemeClr val="lt1"/>
                </a:solidFill>
                <a:latin typeface="Arial"/>
                <a:ea typeface="Arial"/>
                <a:cs typeface="Arial"/>
                <a:sym typeface="Arial"/>
              </a:endParaRPr>
            </a:p>
          </p:txBody>
        </p:sp>
        <p:pic>
          <p:nvPicPr>
            <p:cNvPr id="1015" name="Google Shape;1015;g3e3096c156c_0_19"/>
            <p:cNvPicPr preferRelativeResize="0"/>
            <p:nvPr/>
          </p:nvPicPr>
          <p:blipFill rotWithShape="1">
            <a:blip r:embed="rId3">
              <a:alphaModFix/>
            </a:blip>
            <a:srcRect b="-112517" l="-23390" r="23390" t="137700"/>
            <a:stretch/>
          </p:blipFill>
          <p:spPr>
            <a:xfrm>
              <a:off x="0" y="6007596"/>
              <a:ext cx="9920265" cy="792088"/>
            </a:xfrm>
            <a:prstGeom prst="rect">
              <a:avLst/>
            </a:prstGeom>
            <a:noFill/>
            <a:ln>
              <a:noFill/>
            </a:ln>
          </p:spPr>
        </p:pic>
        <p:sp>
          <p:nvSpPr>
            <p:cNvPr id="1016" name="Google Shape;1016;g3e3096c156c_0_19"/>
            <p:cNvSpPr/>
            <p:nvPr/>
          </p:nvSpPr>
          <p:spPr>
            <a:xfrm>
              <a:off x="-21650" y="5927750"/>
              <a:ext cx="9942000" cy="9087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sp>
        <p:nvSpPr>
          <p:cNvPr id="1017" name="Google Shape;1017;g3e3096c156c_0_19"/>
          <p:cNvSpPr txBox="1"/>
          <p:nvPr>
            <p:ph type="title"/>
          </p:nvPr>
        </p:nvSpPr>
        <p:spPr>
          <a:xfrm>
            <a:off x="84247" y="-29411"/>
            <a:ext cx="9000900" cy="6246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1E4E79"/>
              </a:buClr>
              <a:buSzPts val="4000"/>
              <a:buFont typeface="Arial"/>
              <a:buNone/>
            </a:pPr>
            <a:r>
              <a:rPr lang="en-US" sz="2300"/>
              <a:t>Step 1: Use Case Description</a:t>
            </a:r>
            <a:endParaRPr sz="2300"/>
          </a:p>
        </p:txBody>
      </p:sp>
      <p:sp>
        <p:nvSpPr>
          <p:cNvPr id="1018" name="Google Shape;1018;g3e3096c156c_0_19"/>
          <p:cNvSpPr txBox="1"/>
          <p:nvPr>
            <p:ph idx="12" type="sldNum"/>
          </p:nvPr>
        </p:nvSpPr>
        <p:spPr>
          <a:xfrm>
            <a:off x="6996113" y="6356350"/>
            <a:ext cx="22290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pic>
        <p:nvPicPr>
          <p:cNvPr id="1019" name="Google Shape;1019;g3e3096c156c_0_19"/>
          <p:cNvPicPr preferRelativeResize="0"/>
          <p:nvPr/>
        </p:nvPicPr>
        <p:blipFill rotWithShape="1">
          <a:blip r:embed="rId4">
            <a:alphaModFix/>
          </a:blip>
          <a:srcRect b="0" l="0" r="0" t="0"/>
          <a:stretch/>
        </p:blipFill>
        <p:spPr>
          <a:xfrm>
            <a:off x="218750" y="6052376"/>
            <a:ext cx="1823009" cy="470325"/>
          </a:xfrm>
          <a:prstGeom prst="rect">
            <a:avLst/>
          </a:prstGeom>
          <a:noFill/>
          <a:ln>
            <a:noFill/>
          </a:ln>
        </p:spPr>
      </p:pic>
      <p:pic>
        <p:nvPicPr>
          <p:cNvPr id="1020" name="Google Shape;1020;g3e3096c156c_0_19"/>
          <p:cNvPicPr preferRelativeResize="0"/>
          <p:nvPr/>
        </p:nvPicPr>
        <p:blipFill rotWithShape="1">
          <a:blip r:embed="rId5">
            <a:alphaModFix/>
          </a:blip>
          <a:srcRect b="0" l="0" r="0" t="0"/>
          <a:stretch/>
        </p:blipFill>
        <p:spPr>
          <a:xfrm>
            <a:off x="6996125" y="5975242"/>
            <a:ext cx="1811830" cy="624575"/>
          </a:xfrm>
          <a:prstGeom prst="rect">
            <a:avLst/>
          </a:prstGeom>
          <a:noFill/>
          <a:ln>
            <a:noFill/>
          </a:ln>
        </p:spPr>
      </p:pic>
      <p:graphicFrame>
        <p:nvGraphicFramePr>
          <p:cNvPr id="1021" name="Google Shape;1021;g3e3096c156c_0_19"/>
          <p:cNvGraphicFramePr/>
          <p:nvPr/>
        </p:nvGraphicFramePr>
        <p:xfrm>
          <a:off x="889225" y="514525"/>
          <a:ext cx="3000000" cy="3000000"/>
        </p:xfrm>
        <a:graphic>
          <a:graphicData uri="http://schemas.openxmlformats.org/drawingml/2006/table">
            <a:tbl>
              <a:tblPr>
                <a:noFill/>
                <a:tableStyleId>{3CD9C4C2-9404-43FE-B6C3-7E77CC52F599}</a:tableStyleId>
              </a:tblPr>
              <a:tblGrid>
                <a:gridCol w="6196250"/>
              </a:tblGrid>
              <a:tr h="292550">
                <a:tc>
                  <a:txBody>
                    <a:bodyPr/>
                    <a:lstStyle/>
                    <a:p>
                      <a:pPr indent="0" lvl="0" marL="0" rtl="0" algn="l">
                        <a:spcBef>
                          <a:spcPts val="0"/>
                        </a:spcBef>
                        <a:spcAft>
                          <a:spcPts val="0"/>
                        </a:spcAft>
                        <a:buNone/>
                      </a:pPr>
                      <a:r>
                        <a:rPr b="1" lang="en-US" sz="1100"/>
                        <a:t>Use Case 1 - Redistribute Scooters Between City Zones</a:t>
                      </a:r>
                      <a:endParaRPr sz="1100"/>
                    </a:p>
                  </a:txBody>
                  <a:tcPr marT="63500" marB="63500" marR="63500" marL="63500">
                    <a:solidFill>
                      <a:srgbClr val="F1F3F4"/>
                    </a:solidFill>
                  </a:tcPr>
                </a:tc>
              </a:tr>
              <a:tr h="3261725">
                <a:tc>
                  <a:txBody>
                    <a:bodyPr/>
                    <a:lstStyle/>
                    <a:p>
                      <a:pPr indent="0" lvl="0" marL="0" rtl="0" algn="l">
                        <a:spcBef>
                          <a:spcPts val="1200"/>
                        </a:spcBef>
                        <a:spcAft>
                          <a:spcPts val="0"/>
                        </a:spcAft>
                        <a:buNone/>
                      </a:pPr>
                      <a:r>
                        <a:rPr b="1" lang="en-US" sz="1100"/>
                        <a:t>Main Flow</a:t>
                      </a:r>
                      <a:endParaRPr sz="1100"/>
                    </a:p>
                    <a:p>
                      <a:pPr indent="-298450" lvl="0" marL="457200" rtl="0" algn="l">
                        <a:spcBef>
                          <a:spcPts val="1200"/>
                        </a:spcBef>
                        <a:spcAft>
                          <a:spcPts val="0"/>
                        </a:spcAft>
                        <a:buSzPts val="1100"/>
                        <a:buAutoNum type="arabicPeriod"/>
                      </a:pPr>
                      <a:r>
                        <a:rPr lang="en-US" sz="1100"/>
                        <a:t>Each zone sends its current status containing the following information:</a:t>
                      </a:r>
                      <a:endParaRPr sz="1100"/>
                    </a:p>
                    <a:p>
                      <a:pPr indent="-298450" lvl="0" marL="914400" rtl="0" algn="l">
                        <a:spcBef>
                          <a:spcPts val="0"/>
                        </a:spcBef>
                        <a:spcAft>
                          <a:spcPts val="0"/>
                        </a:spcAft>
                        <a:buSzPts val="1100"/>
                        <a:buChar char="●"/>
                      </a:pPr>
                      <a:r>
                        <a:rPr lang="en-US" sz="1100"/>
                        <a:t>zone type;</a:t>
                      </a:r>
                      <a:endParaRPr sz="1100"/>
                    </a:p>
                    <a:p>
                      <a:pPr indent="-298450" lvl="0" marL="914400" rtl="0" algn="l">
                        <a:spcBef>
                          <a:spcPts val="0"/>
                        </a:spcBef>
                        <a:spcAft>
                          <a:spcPts val="0"/>
                        </a:spcAft>
                        <a:buSzPts val="1100"/>
                        <a:buChar char="●"/>
                      </a:pPr>
                      <a:r>
                        <a:rPr lang="en-US" sz="1100"/>
                        <a:t>available scooters;</a:t>
                      </a:r>
                      <a:endParaRPr sz="1100"/>
                    </a:p>
                    <a:p>
                      <a:pPr indent="-298450" lvl="0" marL="914400" rtl="0" algn="l">
                        <a:spcBef>
                          <a:spcPts val="0"/>
                        </a:spcBef>
                        <a:spcAft>
                          <a:spcPts val="0"/>
                        </a:spcAft>
                        <a:buSzPts val="1100"/>
                        <a:buChar char="●"/>
                      </a:pPr>
                      <a:r>
                        <a:rPr lang="en-US" sz="1100"/>
                        <a:t>demand level;</a:t>
                      </a:r>
                      <a:endParaRPr sz="1100"/>
                    </a:p>
                    <a:p>
                      <a:pPr indent="-298450" lvl="0" marL="914400" rtl="0" algn="l">
                        <a:spcBef>
                          <a:spcPts val="0"/>
                        </a:spcBef>
                        <a:spcAft>
                          <a:spcPts val="0"/>
                        </a:spcAft>
                        <a:buSzPts val="1100"/>
                        <a:buChar char="●"/>
                      </a:pPr>
                      <a:r>
                        <a:rPr lang="en-US" sz="1100"/>
                        <a:t>unmet demand;</a:t>
                      </a:r>
                      <a:endParaRPr sz="1100"/>
                    </a:p>
                    <a:p>
                      <a:pPr indent="-298450" lvl="0" marL="914400" rtl="0" algn="l">
                        <a:spcBef>
                          <a:spcPts val="0"/>
                        </a:spcBef>
                        <a:spcAft>
                          <a:spcPts val="0"/>
                        </a:spcAft>
                        <a:buSzPts val="1100"/>
                        <a:buChar char="●"/>
                      </a:pPr>
                      <a:r>
                        <a:rPr lang="en-US" sz="1100"/>
                        <a:t>inactive scooters;</a:t>
                      </a:r>
                      <a:endParaRPr sz="1100"/>
                    </a:p>
                    <a:p>
                      <a:pPr indent="-298450" lvl="0" marL="914400" rtl="0" algn="l">
                        <a:spcBef>
                          <a:spcPts val="0"/>
                        </a:spcBef>
                        <a:spcAft>
                          <a:spcPts val="0"/>
                        </a:spcAft>
                        <a:buSzPts val="1100"/>
                        <a:buChar char="●"/>
                      </a:pPr>
                      <a:r>
                        <a:rPr lang="en-US" sz="1100"/>
                        <a:t>local events;</a:t>
                      </a:r>
                      <a:endParaRPr sz="1100"/>
                    </a:p>
                    <a:p>
                      <a:pPr indent="-298450" lvl="0" marL="914400" rtl="0" algn="l">
                        <a:spcBef>
                          <a:spcPts val="0"/>
                        </a:spcBef>
                        <a:spcAft>
                          <a:spcPts val="0"/>
                        </a:spcAft>
                        <a:buSzPts val="1100"/>
                        <a:buChar char="●"/>
                      </a:pPr>
                      <a:r>
                        <a:rPr lang="en-US" sz="1100"/>
                        <a:t>user satisfaction in the zone.</a:t>
                      </a:r>
                      <a:endParaRPr sz="1100"/>
                    </a:p>
                    <a:p>
                      <a:pPr indent="-298450" lvl="0" marL="457200" rtl="0" algn="l">
                        <a:spcBef>
                          <a:spcPts val="0"/>
                        </a:spcBef>
                        <a:spcAft>
                          <a:spcPts val="0"/>
                        </a:spcAft>
                        <a:buSzPts val="1100"/>
                        <a:buAutoNum type="arabicPeriod"/>
                      </a:pPr>
                      <a:r>
                        <a:rPr lang="en-US" sz="1100"/>
                        <a:t>The Distribution Agent receives updated status information from all zones.</a:t>
                      </a:r>
                      <a:endParaRPr sz="1100"/>
                    </a:p>
                    <a:p>
                      <a:pPr indent="-298450" lvl="0" marL="457200" rtl="0" algn="l">
                        <a:spcBef>
                          <a:spcPts val="0"/>
                        </a:spcBef>
                        <a:spcAft>
                          <a:spcPts val="0"/>
                        </a:spcAft>
                        <a:buSzPts val="1100"/>
                        <a:buAutoNum type="arabicPeriod"/>
                      </a:pPr>
                      <a:r>
                        <a:rPr lang="en-US" sz="1100"/>
                        <a:t>The Distribution Agent analyzes the status of all zones and decides whether scooters should be transferred to one or more priority zones.</a:t>
                      </a:r>
                      <a:endParaRPr sz="1100"/>
                    </a:p>
                    <a:p>
                      <a:pPr indent="-298450" lvl="0" marL="457200" rtl="0" algn="l">
                        <a:spcBef>
                          <a:spcPts val="0"/>
                        </a:spcBef>
                        <a:spcAft>
                          <a:spcPts val="0"/>
                        </a:spcAft>
                        <a:buSzPts val="1100"/>
                        <a:buAutoNum type="arabicPeriod"/>
                      </a:pPr>
                      <a:r>
                        <a:rPr lang="en-US" sz="1100"/>
                        <a:t>The Distribution Agent calculates the number of scooters to be transferred to a zone based on the annual usage history of each zone.</a:t>
                      </a:r>
                      <a:endParaRPr sz="1100"/>
                    </a:p>
                    <a:p>
                      <a:pPr indent="-298450" lvl="0" marL="457200" rtl="0" algn="l">
                        <a:spcBef>
                          <a:spcPts val="0"/>
                        </a:spcBef>
                        <a:spcAft>
                          <a:spcPts val="0"/>
                        </a:spcAft>
                        <a:buSzPts val="1100"/>
                        <a:buAutoNum type="arabicPeriod"/>
                      </a:pPr>
                      <a:r>
                        <a:rPr lang="en-US" sz="1100"/>
                        <a:t>Each Zone Agent receives a calculated quantity of scooters from the Distribution Agent’s central stock.</a:t>
                      </a:r>
                      <a:endParaRPr sz="1100"/>
                    </a:p>
                  </a:txBody>
                  <a:tcPr marT="63500" marB="63500" marR="63500" marL="63500"/>
                </a:tc>
              </a:tr>
            </a:tbl>
          </a:graphicData>
        </a:graphic>
      </p:graphicFrame>
      <p:graphicFrame>
        <p:nvGraphicFramePr>
          <p:cNvPr id="1022" name="Google Shape;1022;g3e3096c156c_0_19"/>
          <p:cNvGraphicFramePr/>
          <p:nvPr/>
        </p:nvGraphicFramePr>
        <p:xfrm>
          <a:off x="889213" y="4165861"/>
          <a:ext cx="3000000" cy="3000000"/>
        </p:xfrm>
        <a:graphic>
          <a:graphicData uri="http://schemas.openxmlformats.org/drawingml/2006/table">
            <a:tbl>
              <a:tblPr>
                <a:noFill/>
                <a:tableStyleId>{2736B423-FCC7-43BB-9A58-3EA48F6894B7}</a:tableStyleId>
              </a:tblPr>
              <a:tblGrid>
                <a:gridCol w="6196250"/>
              </a:tblGrid>
              <a:tr h="1600575">
                <a:tc>
                  <a:txBody>
                    <a:bodyPr/>
                    <a:lstStyle/>
                    <a:p>
                      <a:pPr indent="0" lvl="0" marL="0" rtl="0" algn="l">
                        <a:spcBef>
                          <a:spcPts val="1200"/>
                        </a:spcBef>
                        <a:spcAft>
                          <a:spcPts val="0"/>
                        </a:spcAft>
                        <a:buClr>
                          <a:schemeClr val="dk1"/>
                        </a:buClr>
                        <a:buSzPts val="1100"/>
                        <a:buFont typeface="Arial"/>
                        <a:buNone/>
                      </a:pPr>
                      <a:r>
                        <a:rPr b="1" lang="en-US" sz="1100">
                          <a:solidFill>
                            <a:schemeClr val="dk1"/>
                          </a:solidFill>
                        </a:rPr>
                        <a:t>AF1 - Lack of Available Scooters in the Distribution Agent's Central Stock</a:t>
                      </a:r>
                      <a:endParaRPr b="1" sz="1100">
                        <a:solidFill>
                          <a:schemeClr val="dk1"/>
                        </a:solidFill>
                      </a:endParaRPr>
                    </a:p>
                    <a:p>
                      <a:pPr indent="0" lvl="0" marL="0" rtl="0" algn="l">
                        <a:spcBef>
                          <a:spcPts val="1200"/>
                        </a:spcBef>
                        <a:spcAft>
                          <a:spcPts val="0"/>
                        </a:spcAft>
                        <a:buClr>
                          <a:schemeClr val="dk1"/>
                        </a:buClr>
                        <a:buSzPts val="1100"/>
                        <a:buFont typeface="Arial"/>
                        <a:buNone/>
                      </a:pPr>
                      <a:r>
                        <a:rPr lang="en-US" sz="1100">
                          <a:solidFill>
                            <a:schemeClr val="dk1"/>
                          </a:solidFill>
                        </a:rPr>
                        <a:t>Alternative Flow for Step 10 of the Main Flow</a:t>
                      </a:r>
                      <a:endParaRPr sz="1100">
                        <a:solidFill>
                          <a:schemeClr val="dk1"/>
                        </a:solidFill>
                      </a:endParaRPr>
                    </a:p>
                    <a:p>
                      <a:pPr indent="0" lvl="0" marL="0" rtl="0" algn="l">
                        <a:spcBef>
                          <a:spcPts val="1200"/>
                        </a:spcBef>
                        <a:spcAft>
                          <a:spcPts val="0"/>
                        </a:spcAft>
                        <a:buClr>
                          <a:schemeClr val="dk1"/>
                        </a:buClr>
                        <a:buSzPts val="1100"/>
                        <a:buFont typeface="Arial"/>
                        <a:buNone/>
                      </a:pPr>
                      <a:r>
                        <a:rPr lang="en-US" sz="1100">
                          <a:solidFill>
                            <a:schemeClr val="dk1"/>
                          </a:solidFill>
                        </a:rPr>
                        <a:t>If there are not enough scooters available in the Distribution Agent's Central Stock:</a:t>
                      </a:r>
                      <a:endParaRPr sz="1100">
                        <a:solidFill>
                          <a:schemeClr val="dk1"/>
                        </a:solidFill>
                      </a:endParaRPr>
                    </a:p>
                    <a:p>
                      <a:pPr indent="-298450" lvl="0" marL="457200" rtl="0" algn="l">
                        <a:spcBef>
                          <a:spcPts val="1200"/>
                        </a:spcBef>
                        <a:spcAft>
                          <a:spcPts val="0"/>
                        </a:spcAft>
                        <a:buClr>
                          <a:schemeClr val="dk1"/>
                        </a:buClr>
                        <a:buSzPts val="1100"/>
                        <a:buAutoNum type="arabicPeriod"/>
                      </a:pPr>
                      <a:r>
                        <a:rPr lang="en-US" sz="1100">
                          <a:solidFill>
                            <a:schemeClr val="dk1"/>
                          </a:solidFill>
                        </a:rPr>
                        <a:t>The Distribution Agent checks whether there are zones with available scooters and low current demand.</a:t>
                      </a:r>
                      <a:endParaRPr sz="1100">
                        <a:solidFill>
                          <a:schemeClr val="dk1"/>
                        </a:solidFill>
                      </a:endParaRPr>
                    </a:p>
                    <a:p>
                      <a:pPr indent="-298450" lvl="0" marL="457200" rtl="0" algn="l">
                        <a:spcBef>
                          <a:spcPts val="0"/>
                        </a:spcBef>
                        <a:spcAft>
                          <a:spcPts val="0"/>
                        </a:spcAft>
                        <a:buClr>
                          <a:schemeClr val="dk1"/>
                        </a:buClr>
                        <a:buSzPts val="1100"/>
                        <a:buAutoNum type="arabicPeriod"/>
                      </a:pPr>
                      <a:r>
                        <a:rPr lang="en-US" sz="1100">
                          <a:solidFill>
                            <a:schemeClr val="dk1"/>
                          </a:solidFill>
                        </a:rPr>
                        <a:t>If so, it transfers available scooters from the identified zone to a priority zone</a:t>
                      </a:r>
                      <a:endParaRPr/>
                    </a:p>
                  </a:txBody>
                  <a:tcPr marT="91425" marB="91425" marR="91425" marL="91425"/>
                </a:tc>
              </a:tr>
            </a:tbl>
          </a:graphicData>
        </a:graphic>
      </p:graphicFrame>
    </p:spTree>
  </p:cSld>
  <p:clrMapOvr>
    <a:masterClrMapping/>
  </p:clrMapOvr>
  <mc:AlternateContent>
    <mc:Choice Requires="p14">
      <p:transition spd="slow" p14:dur="700">
        <p:fade/>
      </p:transition>
    </mc:Choice>
    <mc:Fallback>
      <p:transition spd="slow">
        <p:fade/>
      </p:transition>
    </mc:Fallback>
  </mc:AlternateContent>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6" name="Shape 1026"/>
        <p:cNvGrpSpPr/>
        <p:nvPr/>
      </p:nvGrpSpPr>
      <p:grpSpPr>
        <a:xfrm>
          <a:off x="0" y="0"/>
          <a:ext cx="0" cy="0"/>
          <a:chOff x="0" y="0"/>
          <a:chExt cx="0" cy="0"/>
        </a:xfrm>
      </p:grpSpPr>
      <p:sp>
        <p:nvSpPr>
          <p:cNvPr id="1027" name="Google Shape;1027;g3e292f661c6_30_1206"/>
          <p:cNvSpPr txBox="1"/>
          <p:nvPr>
            <p:ph type="title"/>
          </p:nvPr>
        </p:nvSpPr>
        <p:spPr>
          <a:xfrm>
            <a:off x="101478" y="108438"/>
            <a:ext cx="9000900" cy="6246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1E4E79"/>
              </a:buClr>
              <a:buSzPts val="4000"/>
              <a:buFont typeface="Arial"/>
              <a:buNone/>
            </a:pPr>
            <a:r>
              <a:rPr lang="en-US" sz="2300"/>
              <a:t>Step 2: Identification of Impacted Stakeholders</a:t>
            </a:r>
            <a:endParaRPr sz="2300"/>
          </a:p>
        </p:txBody>
      </p:sp>
      <p:grpSp>
        <p:nvGrpSpPr>
          <p:cNvPr id="1028" name="Google Shape;1028;g3e292f661c6_30_1206"/>
          <p:cNvGrpSpPr/>
          <p:nvPr/>
        </p:nvGrpSpPr>
        <p:grpSpPr>
          <a:xfrm>
            <a:off x="-18000" y="5842891"/>
            <a:ext cx="9942000" cy="1014788"/>
            <a:chOff x="-21650" y="5927750"/>
            <a:chExt cx="9942000" cy="930230"/>
          </a:xfrm>
        </p:grpSpPr>
        <p:sp>
          <p:nvSpPr>
            <p:cNvPr id="1029" name="Google Shape;1029;g3e292f661c6_30_1206"/>
            <p:cNvSpPr/>
            <p:nvPr/>
          </p:nvSpPr>
          <p:spPr>
            <a:xfrm>
              <a:off x="5239747" y="5949280"/>
              <a:ext cx="4680600" cy="9087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Arial"/>
                  <a:ea typeface="Arial"/>
                  <a:cs typeface="Arial"/>
                  <a:sym typeface="Arial"/>
                </a:rPr>
                <a:t>25th Annual International Conference on Digital Government Research (dg.o 2024)</a:t>
              </a:r>
              <a:endParaRPr b="0" i="0" sz="1800" u="none" cap="none" strike="noStrike">
                <a:solidFill>
                  <a:schemeClr val="lt1"/>
                </a:solidFill>
                <a:latin typeface="Arial"/>
                <a:ea typeface="Arial"/>
                <a:cs typeface="Arial"/>
                <a:sym typeface="Arial"/>
              </a:endParaRPr>
            </a:p>
          </p:txBody>
        </p:sp>
        <p:pic>
          <p:nvPicPr>
            <p:cNvPr id="1030" name="Google Shape;1030;g3e292f661c6_30_1206"/>
            <p:cNvPicPr preferRelativeResize="0"/>
            <p:nvPr/>
          </p:nvPicPr>
          <p:blipFill rotWithShape="1">
            <a:blip r:embed="rId3">
              <a:alphaModFix/>
            </a:blip>
            <a:srcRect b="-112517" l="-23390" r="23390" t="137700"/>
            <a:stretch/>
          </p:blipFill>
          <p:spPr>
            <a:xfrm>
              <a:off x="0" y="6007596"/>
              <a:ext cx="9920265" cy="792088"/>
            </a:xfrm>
            <a:prstGeom prst="rect">
              <a:avLst/>
            </a:prstGeom>
            <a:noFill/>
            <a:ln>
              <a:noFill/>
            </a:ln>
          </p:spPr>
        </p:pic>
        <p:sp>
          <p:nvSpPr>
            <p:cNvPr id="1031" name="Google Shape;1031;g3e292f661c6_30_1206"/>
            <p:cNvSpPr/>
            <p:nvPr/>
          </p:nvSpPr>
          <p:spPr>
            <a:xfrm>
              <a:off x="-21650" y="5927750"/>
              <a:ext cx="9942000" cy="9087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pic>
        <p:nvPicPr>
          <p:cNvPr id="1032" name="Google Shape;1032;g3e292f661c6_30_1206" title="ChatGPT Image 16 de mai. de 2026, 15_14_49.png"/>
          <p:cNvPicPr preferRelativeResize="0"/>
          <p:nvPr/>
        </p:nvPicPr>
        <p:blipFill rotWithShape="1">
          <a:blip r:embed="rId4">
            <a:alphaModFix/>
          </a:blip>
          <a:srcRect b="57339" l="0" r="0" t="15616"/>
          <a:stretch/>
        </p:blipFill>
        <p:spPr>
          <a:xfrm>
            <a:off x="1632350" y="1267050"/>
            <a:ext cx="5939151" cy="1070774"/>
          </a:xfrm>
          <a:prstGeom prst="rect">
            <a:avLst/>
          </a:prstGeom>
          <a:noFill/>
          <a:ln>
            <a:noFill/>
          </a:ln>
        </p:spPr>
      </p:pic>
      <p:sp>
        <p:nvSpPr>
          <p:cNvPr id="1033" name="Google Shape;1033;g3e292f661c6_30_1206"/>
          <p:cNvSpPr txBox="1"/>
          <p:nvPr>
            <p:ph idx="12" type="sldNum"/>
          </p:nvPr>
        </p:nvSpPr>
        <p:spPr>
          <a:xfrm>
            <a:off x="6996113" y="6356350"/>
            <a:ext cx="22290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pic>
        <p:nvPicPr>
          <p:cNvPr id="1034" name="Google Shape;1034;g3e292f661c6_30_1206"/>
          <p:cNvPicPr preferRelativeResize="0"/>
          <p:nvPr/>
        </p:nvPicPr>
        <p:blipFill rotWithShape="1">
          <a:blip r:embed="rId5">
            <a:alphaModFix/>
          </a:blip>
          <a:srcRect b="0" l="0" r="0" t="0"/>
          <a:stretch/>
        </p:blipFill>
        <p:spPr>
          <a:xfrm>
            <a:off x="218750" y="6052376"/>
            <a:ext cx="1823009" cy="470325"/>
          </a:xfrm>
          <a:prstGeom prst="rect">
            <a:avLst/>
          </a:prstGeom>
          <a:noFill/>
          <a:ln>
            <a:noFill/>
          </a:ln>
        </p:spPr>
      </p:pic>
      <p:pic>
        <p:nvPicPr>
          <p:cNvPr id="1035" name="Google Shape;1035;g3e292f661c6_30_1206"/>
          <p:cNvPicPr preferRelativeResize="0"/>
          <p:nvPr/>
        </p:nvPicPr>
        <p:blipFill rotWithShape="1">
          <a:blip r:embed="rId6">
            <a:alphaModFix/>
          </a:blip>
          <a:srcRect b="0" l="0" r="0" t="0"/>
          <a:stretch/>
        </p:blipFill>
        <p:spPr>
          <a:xfrm>
            <a:off x="6996125" y="5975242"/>
            <a:ext cx="1811830" cy="62457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9" name="Shape 1039"/>
        <p:cNvGrpSpPr/>
        <p:nvPr/>
      </p:nvGrpSpPr>
      <p:grpSpPr>
        <a:xfrm>
          <a:off x="0" y="0"/>
          <a:ext cx="0" cy="0"/>
          <a:chOff x="0" y="0"/>
          <a:chExt cx="0" cy="0"/>
        </a:xfrm>
      </p:grpSpPr>
      <p:sp>
        <p:nvSpPr>
          <p:cNvPr id="1040" name="Google Shape;1040;g3e27de7754e_0_34"/>
          <p:cNvSpPr txBox="1"/>
          <p:nvPr>
            <p:ph type="title"/>
          </p:nvPr>
        </p:nvSpPr>
        <p:spPr>
          <a:xfrm>
            <a:off x="101478" y="108438"/>
            <a:ext cx="9000900" cy="6246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1E4E79"/>
              </a:buClr>
              <a:buSzPts val="4000"/>
              <a:buFont typeface="Arial"/>
              <a:buNone/>
            </a:pPr>
            <a:r>
              <a:rPr lang="en-US" sz="2300"/>
              <a:t>Step 2: Identification of Impacted Stakeholders</a:t>
            </a:r>
            <a:endParaRPr sz="2300"/>
          </a:p>
        </p:txBody>
      </p:sp>
      <p:grpSp>
        <p:nvGrpSpPr>
          <p:cNvPr id="1041" name="Google Shape;1041;g3e27de7754e_0_34"/>
          <p:cNvGrpSpPr/>
          <p:nvPr/>
        </p:nvGrpSpPr>
        <p:grpSpPr>
          <a:xfrm>
            <a:off x="-18000" y="5842891"/>
            <a:ext cx="9942000" cy="1014788"/>
            <a:chOff x="-21650" y="5927750"/>
            <a:chExt cx="9942000" cy="930230"/>
          </a:xfrm>
        </p:grpSpPr>
        <p:sp>
          <p:nvSpPr>
            <p:cNvPr id="1042" name="Google Shape;1042;g3e27de7754e_0_34"/>
            <p:cNvSpPr/>
            <p:nvPr/>
          </p:nvSpPr>
          <p:spPr>
            <a:xfrm>
              <a:off x="5239747" y="5949280"/>
              <a:ext cx="4680600" cy="9087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Arial"/>
                  <a:ea typeface="Arial"/>
                  <a:cs typeface="Arial"/>
                  <a:sym typeface="Arial"/>
                </a:rPr>
                <a:t>25th Annual International Conference on Digital Government Research (dg.o 2024)</a:t>
              </a:r>
              <a:endParaRPr b="0" i="0" sz="1800" u="none" cap="none" strike="noStrike">
                <a:solidFill>
                  <a:schemeClr val="lt1"/>
                </a:solidFill>
                <a:latin typeface="Arial"/>
                <a:ea typeface="Arial"/>
                <a:cs typeface="Arial"/>
                <a:sym typeface="Arial"/>
              </a:endParaRPr>
            </a:p>
          </p:txBody>
        </p:sp>
        <p:pic>
          <p:nvPicPr>
            <p:cNvPr id="1043" name="Google Shape;1043;g3e27de7754e_0_34"/>
            <p:cNvPicPr preferRelativeResize="0"/>
            <p:nvPr/>
          </p:nvPicPr>
          <p:blipFill rotWithShape="1">
            <a:blip r:embed="rId3">
              <a:alphaModFix/>
            </a:blip>
            <a:srcRect b="-112517" l="-23390" r="23390" t="137700"/>
            <a:stretch/>
          </p:blipFill>
          <p:spPr>
            <a:xfrm>
              <a:off x="0" y="6007596"/>
              <a:ext cx="9920265" cy="792088"/>
            </a:xfrm>
            <a:prstGeom prst="rect">
              <a:avLst/>
            </a:prstGeom>
            <a:noFill/>
            <a:ln>
              <a:noFill/>
            </a:ln>
          </p:spPr>
        </p:pic>
        <p:sp>
          <p:nvSpPr>
            <p:cNvPr id="1044" name="Google Shape;1044;g3e27de7754e_0_34"/>
            <p:cNvSpPr/>
            <p:nvPr/>
          </p:nvSpPr>
          <p:spPr>
            <a:xfrm>
              <a:off x="-21650" y="5927750"/>
              <a:ext cx="9942000" cy="9087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pic>
        <p:nvPicPr>
          <p:cNvPr id="1045" name="Google Shape;1045;g3e27de7754e_0_34" title="ChatGPT Image 16 de mai. de 2026, 15_14_49.png"/>
          <p:cNvPicPr preferRelativeResize="0"/>
          <p:nvPr/>
        </p:nvPicPr>
        <p:blipFill rotWithShape="1">
          <a:blip r:embed="rId4">
            <a:alphaModFix/>
          </a:blip>
          <a:srcRect b="31744" l="0" r="0" t="15614"/>
          <a:stretch/>
        </p:blipFill>
        <p:spPr>
          <a:xfrm>
            <a:off x="1632350" y="1267050"/>
            <a:ext cx="5939151" cy="2084201"/>
          </a:xfrm>
          <a:prstGeom prst="rect">
            <a:avLst/>
          </a:prstGeom>
          <a:noFill/>
          <a:ln>
            <a:noFill/>
          </a:ln>
        </p:spPr>
      </p:pic>
      <p:sp>
        <p:nvSpPr>
          <p:cNvPr id="1046" name="Google Shape;1046;g3e27de7754e_0_34"/>
          <p:cNvSpPr txBox="1"/>
          <p:nvPr>
            <p:ph idx="12" type="sldNum"/>
          </p:nvPr>
        </p:nvSpPr>
        <p:spPr>
          <a:xfrm>
            <a:off x="6996113" y="6356350"/>
            <a:ext cx="22290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pic>
        <p:nvPicPr>
          <p:cNvPr id="1047" name="Google Shape;1047;g3e27de7754e_0_34"/>
          <p:cNvPicPr preferRelativeResize="0"/>
          <p:nvPr/>
        </p:nvPicPr>
        <p:blipFill rotWithShape="1">
          <a:blip r:embed="rId5">
            <a:alphaModFix/>
          </a:blip>
          <a:srcRect b="0" l="0" r="0" t="0"/>
          <a:stretch/>
        </p:blipFill>
        <p:spPr>
          <a:xfrm>
            <a:off x="218750" y="6052376"/>
            <a:ext cx="1823009" cy="470325"/>
          </a:xfrm>
          <a:prstGeom prst="rect">
            <a:avLst/>
          </a:prstGeom>
          <a:noFill/>
          <a:ln>
            <a:noFill/>
          </a:ln>
        </p:spPr>
      </p:pic>
      <p:pic>
        <p:nvPicPr>
          <p:cNvPr id="1048" name="Google Shape;1048;g3e27de7754e_0_34"/>
          <p:cNvPicPr preferRelativeResize="0"/>
          <p:nvPr/>
        </p:nvPicPr>
        <p:blipFill rotWithShape="1">
          <a:blip r:embed="rId6">
            <a:alphaModFix/>
          </a:blip>
          <a:srcRect b="0" l="0" r="0" t="0"/>
          <a:stretch/>
        </p:blipFill>
        <p:spPr>
          <a:xfrm>
            <a:off x="6996125" y="5975242"/>
            <a:ext cx="1811830" cy="62457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2" name="Shape 1052"/>
        <p:cNvGrpSpPr/>
        <p:nvPr/>
      </p:nvGrpSpPr>
      <p:grpSpPr>
        <a:xfrm>
          <a:off x="0" y="0"/>
          <a:ext cx="0" cy="0"/>
          <a:chOff x="0" y="0"/>
          <a:chExt cx="0" cy="0"/>
        </a:xfrm>
      </p:grpSpPr>
      <p:sp>
        <p:nvSpPr>
          <p:cNvPr id="1053" name="Google Shape;1053;g3e292f661c6_30_1218"/>
          <p:cNvSpPr txBox="1"/>
          <p:nvPr>
            <p:ph type="title"/>
          </p:nvPr>
        </p:nvSpPr>
        <p:spPr>
          <a:xfrm>
            <a:off x="101478" y="108438"/>
            <a:ext cx="9000900" cy="6246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1E4E79"/>
              </a:buClr>
              <a:buSzPts val="4000"/>
              <a:buFont typeface="Arial"/>
              <a:buNone/>
            </a:pPr>
            <a:r>
              <a:rPr lang="en-US" sz="2300"/>
              <a:t>Step 2: Identification of Impacted Stakeholders</a:t>
            </a:r>
            <a:endParaRPr sz="2300"/>
          </a:p>
        </p:txBody>
      </p:sp>
      <p:grpSp>
        <p:nvGrpSpPr>
          <p:cNvPr id="1054" name="Google Shape;1054;g3e292f661c6_30_1218"/>
          <p:cNvGrpSpPr/>
          <p:nvPr/>
        </p:nvGrpSpPr>
        <p:grpSpPr>
          <a:xfrm>
            <a:off x="-18000" y="5842891"/>
            <a:ext cx="9942000" cy="1014788"/>
            <a:chOff x="-21650" y="5927750"/>
            <a:chExt cx="9942000" cy="930230"/>
          </a:xfrm>
        </p:grpSpPr>
        <p:sp>
          <p:nvSpPr>
            <p:cNvPr id="1055" name="Google Shape;1055;g3e292f661c6_30_1218"/>
            <p:cNvSpPr/>
            <p:nvPr/>
          </p:nvSpPr>
          <p:spPr>
            <a:xfrm>
              <a:off x="5239747" y="5949280"/>
              <a:ext cx="4680600" cy="9087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Arial"/>
                  <a:ea typeface="Arial"/>
                  <a:cs typeface="Arial"/>
                  <a:sym typeface="Arial"/>
                </a:rPr>
                <a:t>25th Annual International Conference on Digital Government Research (dg.o 2024)</a:t>
              </a:r>
              <a:endParaRPr b="0" i="0" sz="1800" u="none" cap="none" strike="noStrike">
                <a:solidFill>
                  <a:schemeClr val="lt1"/>
                </a:solidFill>
                <a:latin typeface="Arial"/>
                <a:ea typeface="Arial"/>
                <a:cs typeface="Arial"/>
                <a:sym typeface="Arial"/>
              </a:endParaRPr>
            </a:p>
          </p:txBody>
        </p:sp>
        <p:pic>
          <p:nvPicPr>
            <p:cNvPr id="1056" name="Google Shape;1056;g3e292f661c6_30_1218"/>
            <p:cNvPicPr preferRelativeResize="0"/>
            <p:nvPr/>
          </p:nvPicPr>
          <p:blipFill rotWithShape="1">
            <a:blip r:embed="rId3">
              <a:alphaModFix/>
            </a:blip>
            <a:srcRect b="-112517" l="-23390" r="23390" t="137700"/>
            <a:stretch/>
          </p:blipFill>
          <p:spPr>
            <a:xfrm>
              <a:off x="0" y="6007596"/>
              <a:ext cx="9920265" cy="792088"/>
            </a:xfrm>
            <a:prstGeom prst="rect">
              <a:avLst/>
            </a:prstGeom>
            <a:noFill/>
            <a:ln>
              <a:noFill/>
            </a:ln>
          </p:spPr>
        </p:pic>
        <p:sp>
          <p:nvSpPr>
            <p:cNvPr id="1057" name="Google Shape;1057;g3e292f661c6_30_1218"/>
            <p:cNvSpPr/>
            <p:nvPr/>
          </p:nvSpPr>
          <p:spPr>
            <a:xfrm>
              <a:off x="-21650" y="5927750"/>
              <a:ext cx="9942000" cy="9087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pic>
        <p:nvPicPr>
          <p:cNvPr id="1058" name="Google Shape;1058;g3e292f661c6_30_1218" title="ChatGPT Image 16 de mai. de 2026, 15_14_49.png"/>
          <p:cNvPicPr preferRelativeResize="0"/>
          <p:nvPr/>
        </p:nvPicPr>
        <p:blipFill rotWithShape="1">
          <a:blip r:embed="rId4">
            <a:alphaModFix/>
          </a:blip>
          <a:srcRect b="3688" l="0" r="0" t="15615"/>
          <a:stretch/>
        </p:blipFill>
        <p:spPr>
          <a:xfrm>
            <a:off x="1632350" y="1267050"/>
            <a:ext cx="5939151" cy="3194975"/>
          </a:xfrm>
          <a:prstGeom prst="rect">
            <a:avLst/>
          </a:prstGeom>
          <a:noFill/>
          <a:ln>
            <a:noFill/>
          </a:ln>
        </p:spPr>
      </p:pic>
      <p:sp>
        <p:nvSpPr>
          <p:cNvPr id="1059" name="Google Shape;1059;g3e292f661c6_30_1218"/>
          <p:cNvSpPr txBox="1"/>
          <p:nvPr>
            <p:ph idx="12" type="sldNum"/>
          </p:nvPr>
        </p:nvSpPr>
        <p:spPr>
          <a:xfrm>
            <a:off x="6996113" y="6356350"/>
            <a:ext cx="22290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pic>
        <p:nvPicPr>
          <p:cNvPr id="1060" name="Google Shape;1060;g3e292f661c6_30_1218"/>
          <p:cNvPicPr preferRelativeResize="0"/>
          <p:nvPr/>
        </p:nvPicPr>
        <p:blipFill rotWithShape="1">
          <a:blip r:embed="rId5">
            <a:alphaModFix/>
          </a:blip>
          <a:srcRect b="0" l="0" r="0" t="0"/>
          <a:stretch/>
        </p:blipFill>
        <p:spPr>
          <a:xfrm>
            <a:off x="218750" y="6052376"/>
            <a:ext cx="1823009" cy="470325"/>
          </a:xfrm>
          <a:prstGeom prst="rect">
            <a:avLst/>
          </a:prstGeom>
          <a:noFill/>
          <a:ln>
            <a:noFill/>
          </a:ln>
        </p:spPr>
      </p:pic>
      <p:pic>
        <p:nvPicPr>
          <p:cNvPr id="1061" name="Google Shape;1061;g3e292f661c6_30_1218"/>
          <p:cNvPicPr preferRelativeResize="0"/>
          <p:nvPr/>
        </p:nvPicPr>
        <p:blipFill rotWithShape="1">
          <a:blip r:embed="rId6">
            <a:alphaModFix/>
          </a:blip>
          <a:srcRect b="0" l="0" r="0" t="0"/>
          <a:stretch/>
        </p:blipFill>
        <p:spPr>
          <a:xfrm>
            <a:off x="6996125" y="5975242"/>
            <a:ext cx="1811830" cy="62457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5" name="Shape 1065"/>
        <p:cNvGrpSpPr/>
        <p:nvPr/>
      </p:nvGrpSpPr>
      <p:grpSpPr>
        <a:xfrm>
          <a:off x="0" y="0"/>
          <a:ext cx="0" cy="0"/>
          <a:chOff x="0" y="0"/>
          <a:chExt cx="0" cy="0"/>
        </a:xfrm>
      </p:grpSpPr>
      <p:sp>
        <p:nvSpPr>
          <p:cNvPr id="1066" name="Google Shape;1066;g3e292f661c6_30_1230"/>
          <p:cNvSpPr txBox="1"/>
          <p:nvPr>
            <p:ph type="title"/>
          </p:nvPr>
        </p:nvSpPr>
        <p:spPr>
          <a:xfrm>
            <a:off x="101475" y="108450"/>
            <a:ext cx="9604200" cy="624600"/>
          </a:xfrm>
          <a:prstGeom prst="rect">
            <a:avLst/>
          </a:prstGeom>
          <a:solidFill>
            <a:srgbClr val="000000">
              <a:alpha val="0"/>
            </a:srgbClr>
          </a:solidFill>
          <a:ln>
            <a:noFill/>
          </a:ln>
        </p:spPr>
        <p:txBody>
          <a:bodyPr anchorCtr="0" anchor="ctr" bIns="45700" lIns="91400" spcFirstLastPara="1" rIns="91400" wrap="square" tIns="45700">
            <a:noAutofit/>
          </a:bodyPr>
          <a:lstStyle/>
          <a:p>
            <a:pPr indent="0" lvl="0" marL="0" rtl="0" algn="l">
              <a:spcBef>
                <a:spcPts val="0"/>
              </a:spcBef>
              <a:spcAft>
                <a:spcPts val="0"/>
              </a:spcAft>
              <a:buNone/>
            </a:pPr>
            <a:r>
              <a:rPr b="1" lang="en-US" sz="2300">
                <a:solidFill>
                  <a:srgbClr val="1E4E79"/>
                </a:solidFill>
                <a:latin typeface="Arial"/>
                <a:ea typeface="Arial"/>
                <a:cs typeface="Arial"/>
                <a:sym typeface="Arial"/>
              </a:rPr>
              <a:t>Step </a:t>
            </a:r>
            <a:r>
              <a:rPr lang="en-US" sz="2300">
                <a:latin typeface="Arial"/>
                <a:ea typeface="Arial"/>
                <a:cs typeface="Arial"/>
                <a:sym typeface="Arial"/>
              </a:rPr>
              <a:t>3</a:t>
            </a:r>
            <a:r>
              <a:rPr b="1" lang="en-US" sz="2300">
                <a:solidFill>
                  <a:srgbClr val="1E4E79"/>
                </a:solidFill>
                <a:latin typeface="Arial"/>
                <a:ea typeface="Arial"/>
                <a:cs typeface="Arial"/>
                <a:sym typeface="Arial"/>
              </a:rPr>
              <a:t>: Mapping of Ethical Causes and Consequences by Ethical Principle </a:t>
            </a:r>
            <a:endParaRPr b="1" sz="2300">
              <a:solidFill>
                <a:srgbClr val="1E4E79"/>
              </a:solidFill>
              <a:latin typeface="Arial"/>
              <a:ea typeface="Arial"/>
              <a:cs typeface="Arial"/>
              <a:sym typeface="Arial"/>
            </a:endParaRPr>
          </a:p>
        </p:txBody>
      </p:sp>
      <p:grpSp>
        <p:nvGrpSpPr>
          <p:cNvPr id="1067" name="Google Shape;1067;g3e292f661c6_30_1230"/>
          <p:cNvGrpSpPr/>
          <p:nvPr/>
        </p:nvGrpSpPr>
        <p:grpSpPr>
          <a:xfrm>
            <a:off x="-18000" y="5842891"/>
            <a:ext cx="9942000" cy="1014788"/>
            <a:chOff x="-21650" y="5927750"/>
            <a:chExt cx="9942000" cy="930230"/>
          </a:xfrm>
        </p:grpSpPr>
        <p:sp>
          <p:nvSpPr>
            <p:cNvPr id="1068" name="Google Shape;1068;g3e292f661c6_30_1230"/>
            <p:cNvSpPr/>
            <p:nvPr/>
          </p:nvSpPr>
          <p:spPr>
            <a:xfrm>
              <a:off x="5239747" y="5949280"/>
              <a:ext cx="4680600" cy="9087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Arial"/>
                  <a:ea typeface="Arial"/>
                  <a:cs typeface="Arial"/>
                  <a:sym typeface="Arial"/>
                </a:rPr>
                <a:t>25th Annual International Conference on Digital Government Research (dg.o 2024)</a:t>
              </a:r>
              <a:endParaRPr b="0" i="0" sz="1800" u="none" cap="none" strike="noStrike">
                <a:solidFill>
                  <a:schemeClr val="lt1"/>
                </a:solidFill>
                <a:latin typeface="Arial"/>
                <a:ea typeface="Arial"/>
                <a:cs typeface="Arial"/>
                <a:sym typeface="Arial"/>
              </a:endParaRPr>
            </a:p>
          </p:txBody>
        </p:sp>
        <p:pic>
          <p:nvPicPr>
            <p:cNvPr id="1069" name="Google Shape;1069;g3e292f661c6_30_1230"/>
            <p:cNvPicPr preferRelativeResize="0"/>
            <p:nvPr/>
          </p:nvPicPr>
          <p:blipFill rotWithShape="1">
            <a:blip r:embed="rId3">
              <a:alphaModFix/>
            </a:blip>
            <a:srcRect b="-112517" l="-23390" r="23390" t="137700"/>
            <a:stretch/>
          </p:blipFill>
          <p:spPr>
            <a:xfrm>
              <a:off x="0" y="6007596"/>
              <a:ext cx="9920265" cy="792088"/>
            </a:xfrm>
            <a:prstGeom prst="rect">
              <a:avLst/>
            </a:prstGeom>
            <a:noFill/>
            <a:ln>
              <a:noFill/>
            </a:ln>
          </p:spPr>
        </p:pic>
        <p:sp>
          <p:nvSpPr>
            <p:cNvPr id="1070" name="Google Shape;1070;g3e292f661c6_30_1230"/>
            <p:cNvSpPr/>
            <p:nvPr/>
          </p:nvSpPr>
          <p:spPr>
            <a:xfrm>
              <a:off x="-21650" y="5927750"/>
              <a:ext cx="9942000" cy="9087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sp>
        <p:nvSpPr>
          <p:cNvPr id="1071" name="Google Shape;1071;g3e292f661c6_30_1230"/>
          <p:cNvSpPr txBox="1"/>
          <p:nvPr>
            <p:ph idx="12" type="sldNum"/>
          </p:nvPr>
        </p:nvSpPr>
        <p:spPr>
          <a:xfrm>
            <a:off x="6996113" y="6356350"/>
            <a:ext cx="22290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pic>
        <p:nvPicPr>
          <p:cNvPr id="1072" name="Google Shape;1072;g3e292f661c6_30_1230"/>
          <p:cNvPicPr preferRelativeResize="0"/>
          <p:nvPr/>
        </p:nvPicPr>
        <p:blipFill rotWithShape="1">
          <a:blip r:embed="rId4">
            <a:alphaModFix/>
          </a:blip>
          <a:srcRect b="0" l="0" r="0" t="0"/>
          <a:stretch/>
        </p:blipFill>
        <p:spPr>
          <a:xfrm>
            <a:off x="218750" y="6052376"/>
            <a:ext cx="1823009" cy="470325"/>
          </a:xfrm>
          <a:prstGeom prst="rect">
            <a:avLst/>
          </a:prstGeom>
          <a:noFill/>
          <a:ln>
            <a:noFill/>
          </a:ln>
        </p:spPr>
      </p:pic>
      <p:pic>
        <p:nvPicPr>
          <p:cNvPr id="1073" name="Google Shape;1073;g3e292f661c6_30_1230"/>
          <p:cNvPicPr preferRelativeResize="0"/>
          <p:nvPr/>
        </p:nvPicPr>
        <p:blipFill rotWithShape="1">
          <a:blip r:embed="rId5">
            <a:alphaModFix/>
          </a:blip>
          <a:srcRect b="0" l="0" r="0" t="0"/>
          <a:stretch/>
        </p:blipFill>
        <p:spPr>
          <a:xfrm>
            <a:off x="6996125" y="5975242"/>
            <a:ext cx="1811830" cy="624575"/>
          </a:xfrm>
          <a:prstGeom prst="rect">
            <a:avLst/>
          </a:prstGeom>
          <a:noFill/>
          <a:ln>
            <a:noFill/>
          </a:ln>
        </p:spPr>
      </p:pic>
      <p:grpSp>
        <p:nvGrpSpPr>
          <p:cNvPr id="1074" name="Google Shape;1074;g3e292f661c6_30_1230"/>
          <p:cNvGrpSpPr/>
          <p:nvPr/>
        </p:nvGrpSpPr>
        <p:grpSpPr>
          <a:xfrm>
            <a:off x="1298658" y="712836"/>
            <a:ext cx="7509300" cy="1198418"/>
            <a:chOff x="476250" y="1333500"/>
            <a:chExt cx="8953500" cy="1428900"/>
          </a:xfrm>
        </p:grpSpPr>
        <p:sp>
          <p:nvSpPr>
            <p:cNvPr id="1075" name="Google Shape;1075;g3e292f661c6_30_1230"/>
            <p:cNvSpPr/>
            <p:nvPr/>
          </p:nvSpPr>
          <p:spPr>
            <a:xfrm>
              <a:off x="476250" y="1333500"/>
              <a:ext cx="8953500" cy="1428900"/>
            </a:xfrm>
            <a:prstGeom prst="roundRect">
              <a:avLst>
                <a:gd fmla="val 6666" name="adj"/>
              </a:avLst>
            </a:prstGeom>
            <a:solidFill>
              <a:srgbClr val="F8FAFC"/>
            </a:solidFill>
            <a:ln cap="flat" cmpd="sng" w="797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sz="1167"/>
            </a:p>
          </p:txBody>
        </p:sp>
        <p:grpSp>
          <p:nvGrpSpPr>
            <p:cNvPr id="1076" name="Google Shape;1076;g3e292f661c6_30_1230"/>
            <p:cNvGrpSpPr/>
            <p:nvPr/>
          </p:nvGrpSpPr>
          <p:grpSpPr>
            <a:xfrm>
              <a:off x="666750" y="1428750"/>
              <a:ext cx="8572500" cy="1238400"/>
              <a:chOff x="666750" y="1428750"/>
              <a:chExt cx="8572500" cy="1238400"/>
            </a:xfrm>
          </p:grpSpPr>
          <p:sp>
            <p:nvSpPr>
              <p:cNvPr id="1077" name="Google Shape;1077;g3e292f661c6_30_1230"/>
              <p:cNvSpPr/>
              <p:nvPr/>
            </p:nvSpPr>
            <p:spPr>
              <a:xfrm>
                <a:off x="666750" y="1571625"/>
                <a:ext cx="571500" cy="571500"/>
              </a:xfrm>
              <a:prstGeom prst="roundRect">
                <a:avLst>
                  <a:gd fmla="val 50000" name="adj"/>
                </a:avLst>
              </a:prstGeom>
              <a:solidFill>
                <a:srgbClr val="1E4E7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78" name="Google Shape;1078;g3e292f661c6_30_1230"/>
              <p:cNvSpPr txBox="1"/>
              <p:nvPr/>
            </p:nvSpPr>
            <p:spPr>
              <a:xfrm>
                <a:off x="666750" y="1612519"/>
                <a:ext cx="571500" cy="571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2348">
                    <a:solidFill>
                      <a:srgbClr val="FFFFFF"/>
                    </a:solidFill>
                    <a:latin typeface="Material Icons"/>
                    <a:ea typeface="Material Icons"/>
                    <a:cs typeface="Material Icons"/>
                    <a:sym typeface="Material Icons"/>
                  </a:rPr>
                  <a:t>groups</a:t>
                </a:r>
                <a:endParaRPr sz="2348">
                  <a:solidFill>
                    <a:srgbClr val="FFFFFF"/>
                  </a:solidFill>
                  <a:latin typeface="Material Icons"/>
                  <a:ea typeface="Material Icons"/>
                  <a:cs typeface="Material Icons"/>
                  <a:sym typeface="Material Icons"/>
                </a:endParaRPr>
              </a:p>
            </p:txBody>
          </p:sp>
          <p:sp>
            <p:nvSpPr>
              <p:cNvPr id="1079" name="Google Shape;1079;g3e292f661c6_30_1230"/>
              <p:cNvSpPr txBox="1"/>
              <p:nvPr/>
            </p:nvSpPr>
            <p:spPr>
              <a:xfrm>
                <a:off x="1428750" y="1428750"/>
                <a:ext cx="7810500" cy="12384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US" sz="1845">
                    <a:solidFill>
                      <a:srgbClr val="1E4E79"/>
                    </a:solidFill>
                    <a:latin typeface="Arial"/>
                    <a:ea typeface="Arial"/>
                    <a:cs typeface="Arial"/>
                    <a:sym typeface="Arial"/>
                  </a:rPr>
                  <a:t>Step 1:</a:t>
                </a:r>
                <a:r>
                  <a:rPr lang="en-US" sz="1174">
                    <a:solidFill>
                      <a:srgbClr val="475569"/>
                    </a:solidFill>
                  </a:rPr>
                  <a:t> </a:t>
                </a:r>
                <a:r>
                  <a:rPr b="1" lang="en-US" sz="1845">
                    <a:solidFill>
                      <a:srgbClr val="1E4E79"/>
                    </a:solidFill>
                    <a:latin typeface="Arial"/>
                    <a:ea typeface="Arial"/>
                    <a:cs typeface="Arial"/>
                    <a:sym typeface="Arial"/>
                  </a:rPr>
                  <a:t>Group Activity</a:t>
                </a:r>
                <a:endParaRPr b="1" sz="1845">
                  <a:solidFill>
                    <a:srgbClr val="1E4E79"/>
                  </a:solidFill>
                  <a:latin typeface="Arial"/>
                  <a:ea typeface="Arial"/>
                  <a:cs typeface="Arial"/>
                  <a:sym typeface="Arial"/>
                </a:endParaRPr>
              </a:p>
              <a:p>
                <a:pPr indent="0" lvl="0" marL="0" rtl="0" algn="l">
                  <a:spcBef>
                    <a:spcPts val="503"/>
                  </a:spcBef>
                  <a:spcAft>
                    <a:spcPts val="0"/>
                  </a:spcAft>
                  <a:buNone/>
                </a:pPr>
                <a:r>
                  <a:rPr lang="en-US" sz="1174">
                    <a:solidFill>
                      <a:srgbClr val="475569"/>
                    </a:solidFill>
                  </a:rPr>
                  <a:t>Group discussions were conducted to identify negative consequences and their causes associated with the use case and the ethical principles defined in the unified guideline.</a:t>
                </a:r>
                <a:endParaRPr sz="1174">
                  <a:solidFill>
                    <a:srgbClr val="475569"/>
                  </a:solidFill>
                </a:endParaRPr>
              </a:p>
            </p:txBody>
          </p:sp>
        </p:grpSp>
      </p:grpSp>
      <p:pic>
        <p:nvPicPr>
          <p:cNvPr id="1080" name="Google Shape;1080;g3e292f661c6_30_1230"/>
          <p:cNvPicPr preferRelativeResize="0"/>
          <p:nvPr/>
        </p:nvPicPr>
        <p:blipFill rotWithShape="1">
          <a:blip r:embed="rId6">
            <a:alphaModFix/>
          </a:blip>
          <a:srcRect b="2828" l="0" r="0" t="0"/>
          <a:stretch/>
        </p:blipFill>
        <p:spPr>
          <a:xfrm>
            <a:off x="769200" y="2691600"/>
            <a:ext cx="3089251" cy="3001875"/>
          </a:xfrm>
          <a:prstGeom prst="rect">
            <a:avLst/>
          </a:prstGeom>
          <a:noFill/>
          <a:ln>
            <a:noFill/>
          </a:ln>
        </p:spPr>
      </p:pic>
      <p:sp>
        <p:nvSpPr>
          <p:cNvPr id="1081" name="Google Shape;1081;g3e292f661c6_30_1230"/>
          <p:cNvSpPr txBox="1"/>
          <p:nvPr/>
        </p:nvSpPr>
        <p:spPr>
          <a:xfrm>
            <a:off x="459925" y="2084625"/>
            <a:ext cx="41028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US">
                <a:solidFill>
                  <a:schemeClr val="dk1"/>
                </a:solidFill>
              </a:rPr>
              <a:t>The Unified Ethical Guide was used as the basis for identifying negative ethical consequences.</a:t>
            </a:r>
            <a:endParaRPr>
              <a:solidFill>
                <a:schemeClr val="dk1"/>
              </a:solidFill>
            </a:endParaRPr>
          </a:p>
        </p:txBody>
      </p:sp>
      <p:sp>
        <p:nvSpPr>
          <p:cNvPr id="1082" name="Google Shape;1082;g3e292f661c6_30_1230"/>
          <p:cNvSpPr txBox="1"/>
          <p:nvPr/>
        </p:nvSpPr>
        <p:spPr>
          <a:xfrm>
            <a:off x="5162750" y="2084625"/>
            <a:ext cx="4374000" cy="831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US">
                <a:solidFill>
                  <a:schemeClr val="dk1"/>
                </a:solidFill>
              </a:rPr>
              <a:t>Trigger Ethics Questions were also used to stimulate reflection on potential negative ethical consequences in the system.</a:t>
            </a:r>
            <a:endParaRPr sz="1600">
              <a:solidFill>
                <a:schemeClr val="dk1"/>
              </a:solidFill>
              <a:latin typeface="Calibri"/>
              <a:ea typeface="Calibri"/>
              <a:cs typeface="Calibri"/>
              <a:sym typeface="Calibri"/>
            </a:endParaRPr>
          </a:p>
        </p:txBody>
      </p:sp>
      <p:pic>
        <p:nvPicPr>
          <p:cNvPr id="1083" name="Google Shape;1083;g3e292f661c6_30_1230"/>
          <p:cNvPicPr preferRelativeResize="0"/>
          <p:nvPr/>
        </p:nvPicPr>
        <p:blipFill>
          <a:blip r:embed="rId7">
            <a:alphaModFix/>
          </a:blip>
          <a:stretch>
            <a:fillRect/>
          </a:stretch>
        </p:blipFill>
        <p:spPr>
          <a:xfrm>
            <a:off x="5624925" y="2971950"/>
            <a:ext cx="3653898" cy="2435899"/>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7" name="Shape 1087"/>
        <p:cNvGrpSpPr/>
        <p:nvPr/>
      </p:nvGrpSpPr>
      <p:grpSpPr>
        <a:xfrm>
          <a:off x="0" y="0"/>
          <a:ext cx="0" cy="0"/>
          <a:chOff x="0" y="0"/>
          <a:chExt cx="0" cy="0"/>
        </a:xfrm>
      </p:grpSpPr>
      <p:grpSp>
        <p:nvGrpSpPr>
          <p:cNvPr id="1088" name="Google Shape;1088;g3e33499f370_0_308"/>
          <p:cNvGrpSpPr/>
          <p:nvPr/>
        </p:nvGrpSpPr>
        <p:grpSpPr>
          <a:xfrm>
            <a:off x="-18000" y="5842891"/>
            <a:ext cx="9942000" cy="1014788"/>
            <a:chOff x="-21650" y="5927750"/>
            <a:chExt cx="9942000" cy="930230"/>
          </a:xfrm>
        </p:grpSpPr>
        <p:sp>
          <p:nvSpPr>
            <p:cNvPr id="1089" name="Google Shape;1089;g3e33499f370_0_308"/>
            <p:cNvSpPr/>
            <p:nvPr/>
          </p:nvSpPr>
          <p:spPr>
            <a:xfrm>
              <a:off x="5239747" y="5949280"/>
              <a:ext cx="4680600" cy="9087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Arial"/>
                  <a:ea typeface="Arial"/>
                  <a:cs typeface="Arial"/>
                  <a:sym typeface="Arial"/>
                </a:rPr>
                <a:t>25th Annual International Conference on Digital Government Research (dg.o 2024)</a:t>
              </a:r>
              <a:endParaRPr b="0" i="0" sz="1800" u="none" cap="none" strike="noStrike">
                <a:solidFill>
                  <a:schemeClr val="lt1"/>
                </a:solidFill>
                <a:latin typeface="Arial"/>
                <a:ea typeface="Arial"/>
                <a:cs typeface="Arial"/>
                <a:sym typeface="Arial"/>
              </a:endParaRPr>
            </a:p>
          </p:txBody>
        </p:sp>
        <p:pic>
          <p:nvPicPr>
            <p:cNvPr id="1090" name="Google Shape;1090;g3e33499f370_0_308"/>
            <p:cNvPicPr preferRelativeResize="0"/>
            <p:nvPr/>
          </p:nvPicPr>
          <p:blipFill rotWithShape="1">
            <a:blip r:embed="rId3">
              <a:alphaModFix/>
            </a:blip>
            <a:srcRect b="-112517" l="-23390" r="23390" t="137700"/>
            <a:stretch/>
          </p:blipFill>
          <p:spPr>
            <a:xfrm>
              <a:off x="0" y="6007596"/>
              <a:ext cx="9920265" cy="792088"/>
            </a:xfrm>
            <a:prstGeom prst="rect">
              <a:avLst/>
            </a:prstGeom>
            <a:noFill/>
            <a:ln>
              <a:noFill/>
            </a:ln>
          </p:spPr>
        </p:pic>
        <p:sp>
          <p:nvSpPr>
            <p:cNvPr id="1091" name="Google Shape;1091;g3e33499f370_0_308"/>
            <p:cNvSpPr/>
            <p:nvPr/>
          </p:nvSpPr>
          <p:spPr>
            <a:xfrm>
              <a:off x="-21650" y="5927750"/>
              <a:ext cx="9942000" cy="9087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sp>
        <p:nvSpPr>
          <p:cNvPr id="1092" name="Google Shape;1092;g3e33499f370_0_308"/>
          <p:cNvSpPr txBox="1"/>
          <p:nvPr>
            <p:ph type="title"/>
          </p:nvPr>
        </p:nvSpPr>
        <p:spPr>
          <a:xfrm>
            <a:off x="84250" y="-29400"/>
            <a:ext cx="9906000" cy="6246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2300">
                <a:latin typeface="Arial"/>
                <a:ea typeface="Arial"/>
                <a:cs typeface="Arial"/>
                <a:sym typeface="Arial"/>
              </a:rPr>
              <a:t>Step 3: Mapping of Ethical Causes and Consequences </a:t>
            </a:r>
            <a:endParaRPr sz="2300"/>
          </a:p>
        </p:txBody>
      </p:sp>
      <p:sp>
        <p:nvSpPr>
          <p:cNvPr id="1093" name="Google Shape;1093;g3e33499f370_0_308"/>
          <p:cNvSpPr txBox="1"/>
          <p:nvPr>
            <p:ph idx="12" type="sldNum"/>
          </p:nvPr>
        </p:nvSpPr>
        <p:spPr>
          <a:xfrm>
            <a:off x="6996113" y="6356350"/>
            <a:ext cx="22290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pic>
        <p:nvPicPr>
          <p:cNvPr id="1094" name="Google Shape;1094;g3e33499f370_0_308"/>
          <p:cNvPicPr preferRelativeResize="0"/>
          <p:nvPr/>
        </p:nvPicPr>
        <p:blipFill rotWithShape="1">
          <a:blip r:embed="rId4">
            <a:alphaModFix/>
          </a:blip>
          <a:srcRect b="0" l="0" r="0" t="0"/>
          <a:stretch/>
        </p:blipFill>
        <p:spPr>
          <a:xfrm>
            <a:off x="218750" y="6052376"/>
            <a:ext cx="1823009" cy="470325"/>
          </a:xfrm>
          <a:prstGeom prst="rect">
            <a:avLst/>
          </a:prstGeom>
          <a:noFill/>
          <a:ln>
            <a:noFill/>
          </a:ln>
        </p:spPr>
      </p:pic>
      <p:pic>
        <p:nvPicPr>
          <p:cNvPr id="1095" name="Google Shape;1095;g3e33499f370_0_308"/>
          <p:cNvPicPr preferRelativeResize="0"/>
          <p:nvPr/>
        </p:nvPicPr>
        <p:blipFill rotWithShape="1">
          <a:blip r:embed="rId5">
            <a:alphaModFix/>
          </a:blip>
          <a:srcRect b="0" l="0" r="0" t="0"/>
          <a:stretch/>
        </p:blipFill>
        <p:spPr>
          <a:xfrm>
            <a:off x="6996125" y="5975242"/>
            <a:ext cx="1811830" cy="624575"/>
          </a:xfrm>
          <a:prstGeom prst="rect">
            <a:avLst/>
          </a:prstGeom>
          <a:noFill/>
          <a:ln>
            <a:noFill/>
          </a:ln>
        </p:spPr>
      </p:pic>
      <p:graphicFrame>
        <p:nvGraphicFramePr>
          <p:cNvPr id="1096" name="Google Shape;1096;g3e33499f370_0_308"/>
          <p:cNvGraphicFramePr/>
          <p:nvPr/>
        </p:nvGraphicFramePr>
        <p:xfrm>
          <a:off x="889225" y="514525"/>
          <a:ext cx="3000000" cy="3000000"/>
        </p:xfrm>
        <a:graphic>
          <a:graphicData uri="http://schemas.openxmlformats.org/drawingml/2006/table">
            <a:tbl>
              <a:tblPr>
                <a:noFill/>
                <a:tableStyleId>{3CD9C4C2-9404-43FE-B6C3-7E77CC52F599}</a:tableStyleId>
              </a:tblPr>
              <a:tblGrid>
                <a:gridCol w="6196250"/>
              </a:tblGrid>
              <a:tr h="292550">
                <a:tc>
                  <a:txBody>
                    <a:bodyPr/>
                    <a:lstStyle/>
                    <a:p>
                      <a:pPr indent="0" lvl="0" marL="0" rtl="0" algn="l">
                        <a:spcBef>
                          <a:spcPts val="0"/>
                        </a:spcBef>
                        <a:spcAft>
                          <a:spcPts val="0"/>
                        </a:spcAft>
                        <a:buNone/>
                      </a:pPr>
                      <a:r>
                        <a:rPr b="1" lang="en-US" sz="1100"/>
                        <a:t>Use Case 1 - Redistribute Scooters Between City Zones</a:t>
                      </a:r>
                      <a:endParaRPr sz="1100"/>
                    </a:p>
                  </a:txBody>
                  <a:tcPr marT="63500" marB="63500" marR="63500" marL="63500">
                    <a:solidFill>
                      <a:srgbClr val="F1F3F4"/>
                    </a:solidFill>
                  </a:tcPr>
                </a:tc>
              </a:tr>
              <a:tr h="3261725">
                <a:tc>
                  <a:txBody>
                    <a:bodyPr/>
                    <a:lstStyle/>
                    <a:p>
                      <a:pPr indent="0" lvl="0" marL="0" rtl="0" algn="l">
                        <a:spcBef>
                          <a:spcPts val="1200"/>
                        </a:spcBef>
                        <a:spcAft>
                          <a:spcPts val="0"/>
                        </a:spcAft>
                        <a:buNone/>
                      </a:pPr>
                      <a:r>
                        <a:rPr b="1" lang="en-US" sz="1100"/>
                        <a:t>Main Flow</a:t>
                      </a:r>
                      <a:endParaRPr sz="1100"/>
                    </a:p>
                    <a:p>
                      <a:pPr indent="-298450" lvl="0" marL="457200" rtl="0" algn="l">
                        <a:spcBef>
                          <a:spcPts val="1200"/>
                        </a:spcBef>
                        <a:spcAft>
                          <a:spcPts val="0"/>
                        </a:spcAft>
                        <a:buSzPts val="1100"/>
                        <a:buAutoNum type="arabicPeriod"/>
                      </a:pPr>
                      <a:r>
                        <a:rPr lang="en-US" sz="1100"/>
                        <a:t>Each zone sends its current status containing the following information:</a:t>
                      </a:r>
                      <a:endParaRPr sz="1100"/>
                    </a:p>
                    <a:p>
                      <a:pPr indent="-298450" lvl="0" marL="914400" rtl="0" algn="l">
                        <a:spcBef>
                          <a:spcPts val="0"/>
                        </a:spcBef>
                        <a:spcAft>
                          <a:spcPts val="0"/>
                        </a:spcAft>
                        <a:buSzPts val="1100"/>
                        <a:buChar char="●"/>
                      </a:pPr>
                      <a:r>
                        <a:rPr lang="en-US" sz="1100"/>
                        <a:t>zone type;</a:t>
                      </a:r>
                      <a:endParaRPr sz="1100"/>
                    </a:p>
                    <a:p>
                      <a:pPr indent="-298450" lvl="0" marL="914400" rtl="0" algn="l">
                        <a:spcBef>
                          <a:spcPts val="0"/>
                        </a:spcBef>
                        <a:spcAft>
                          <a:spcPts val="0"/>
                        </a:spcAft>
                        <a:buSzPts val="1100"/>
                        <a:buChar char="●"/>
                      </a:pPr>
                      <a:r>
                        <a:rPr lang="en-US" sz="1100"/>
                        <a:t>available scooters;</a:t>
                      </a:r>
                      <a:endParaRPr sz="1100"/>
                    </a:p>
                    <a:p>
                      <a:pPr indent="-298450" lvl="0" marL="914400" rtl="0" algn="l">
                        <a:spcBef>
                          <a:spcPts val="0"/>
                        </a:spcBef>
                        <a:spcAft>
                          <a:spcPts val="0"/>
                        </a:spcAft>
                        <a:buSzPts val="1100"/>
                        <a:buChar char="●"/>
                      </a:pPr>
                      <a:r>
                        <a:rPr lang="en-US" sz="1100"/>
                        <a:t>demand level;</a:t>
                      </a:r>
                      <a:endParaRPr sz="1100"/>
                    </a:p>
                    <a:p>
                      <a:pPr indent="-298450" lvl="0" marL="914400" rtl="0" algn="l">
                        <a:spcBef>
                          <a:spcPts val="0"/>
                        </a:spcBef>
                        <a:spcAft>
                          <a:spcPts val="0"/>
                        </a:spcAft>
                        <a:buSzPts val="1100"/>
                        <a:buChar char="●"/>
                      </a:pPr>
                      <a:r>
                        <a:rPr lang="en-US" sz="1100"/>
                        <a:t>unmet demand;</a:t>
                      </a:r>
                      <a:endParaRPr sz="1100"/>
                    </a:p>
                    <a:p>
                      <a:pPr indent="-298450" lvl="0" marL="914400" rtl="0" algn="l">
                        <a:spcBef>
                          <a:spcPts val="0"/>
                        </a:spcBef>
                        <a:spcAft>
                          <a:spcPts val="0"/>
                        </a:spcAft>
                        <a:buSzPts val="1100"/>
                        <a:buChar char="●"/>
                      </a:pPr>
                      <a:r>
                        <a:rPr lang="en-US" sz="1100"/>
                        <a:t>inactive scooters;</a:t>
                      </a:r>
                      <a:endParaRPr sz="1100"/>
                    </a:p>
                    <a:p>
                      <a:pPr indent="-298450" lvl="0" marL="914400" rtl="0" algn="l">
                        <a:spcBef>
                          <a:spcPts val="0"/>
                        </a:spcBef>
                        <a:spcAft>
                          <a:spcPts val="0"/>
                        </a:spcAft>
                        <a:buSzPts val="1100"/>
                        <a:buChar char="●"/>
                      </a:pPr>
                      <a:r>
                        <a:rPr lang="en-US" sz="1100"/>
                        <a:t>local events;</a:t>
                      </a:r>
                      <a:endParaRPr sz="1100"/>
                    </a:p>
                    <a:p>
                      <a:pPr indent="-298450" lvl="0" marL="914400" rtl="0" algn="l">
                        <a:spcBef>
                          <a:spcPts val="0"/>
                        </a:spcBef>
                        <a:spcAft>
                          <a:spcPts val="0"/>
                        </a:spcAft>
                        <a:buSzPts val="1100"/>
                        <a:buChar char="●"/>
                      </a:pPr>
                      <a:r>
                        <a:rPr lang="en-US" sz="1100"/>
                        <a:t>user satisfaction in the zone.</a:t>
                      </a:r>
                      <a:endParaRPr sz="1100"/>
                    </a:p>
                    <a:p>
                      <a:pPr indent="-298450" lvl="0" marL="457200" rtl="0" algn="l">
                        <a:spcBef>
                          <a:spcPts val="0"/>
                        </a:spcBef>
                        <a:spcAft>
                          <a:spcPts val="0"/>
                        </a:spcAft>
                        <a:buSzPts val="1100"/>
                        <a:buAutoNum type="arabicPeriod"/>
                      </a:pPr>
                      <a:r>
                        <a:rPr lang="en-US" sz="1100"/>
                        <a:t>The Distribution Agent receives updated status information from all zones.</a:t>
                      </a:r>
                      <a:endParaRPr sz="1100"/>
                    </a:p>
                    <a:p>
                      <a:pPr indent="-298450" lvl="0" marL="457200" rtl="0" algn="l">
                        <a:spcBef>
                          <a:spcPts val="0"/>
                        </a:spcBef>
                        <a:spcAft>
                          <a:spcPts val="0"/>
                        </a:spcAft>
                        <a:buSzPts val="1100"/>
                        <a:buAutoNum type="arabicPeriod"/>
                      </a:pPr>
                      <a:r>
                        <a:rPr lang="en-US" sz="1100"/>
                        <a:t>The Distribution Agent analyzes the status of all zones and decides whether scooters should be transferred to one or more priority zones.</a:t>
                      </a:r>
                      <a:endParaRPr sz="1100"/>
                    </a:p>
                    <a:p>
                      <a:pPr indent="-298450" lvl="0" marL="457200" rtl="0" algn="l">
                        <a:spcBef>
                          <a:spcPts val="0"/>
                        </a:spcBef>
                        <a:spcAft>
                          <a:spcPts val="0"/>
                        </a:spcAft>
                        <a:buSzPts val="1100"/>
                        <a:buAutoNum type="arabicPeriod"/>
                      </a:pPr>
                      <a:r>
                        <a:rPr lang="en-US" sz="1100"/>
                        <a:t>The Distribution Agent calculates the number of scooters to be transferred to a zone based on the annual usage history of each zone.</a:t>
                      </a:r>
                      <a:endParaRPr sz="1100"/>
                    </a:p>
                    <a:p>
                      <a:pPr indent="-298450" lvl="0" marL="457200" rtl="0" algn="l">
                        <a:spcBef>
                          <a:spcPts val="0"/>
                        </a:spcBef>
                        <a:spcAft>
                          <a:spcPts val="0"/>
                        </a:spcAft>
                        <a:buSzPts val="1100"/>
                        <a:buAutoNum type="arabicPeriod"/>
                      </a:pPr>
                      <a:r>
                        <a:rPr lang="en-US" sz="1100"/>
                        <a:t>Each Zone Agent receives a calculated quantity of scooters from the Distribution Agent’s central stock.</a:t>
                      </a:r>
                      <a:endParaRPr sz="1100"/>
                    </a:p>
                  </a:txBody>
                  <a:tcPr marT="63500" marB="63500" marR="63500" marL="63500"/>
                </a:tc>
              </a:tr>
            </a:tbl>
          </a:graphicData>
        </a:graphic>
      </p:graphicFrame>
      <p:graphicFrame>
        <p:nvGraphicFramePr>
          <p:cNvPr id="1097" name="Google Shape;1097;g3e33499f370_0_308"/>
          <p:cNvGraphicFramePr/>
          <p:nvPr/>
        </p:nvGraphicFramePr>
        <p:xfrm>
          <a:off x="889213" y="4165861"/>
          <a:ext cx="3000000" cy="3000000"/>
        </p:xfrm>
        <a:graphic>
          <a:graphicData uri="http://schemas.openxmlformats.org/drawingml/2006/table">
            <a:tbl>
              <a:tblPr>
                <a:noFill/>
                <a:tableStyleId>{2736B423-FCC7-43BB-9A58-3EA48F6894B7}</a:tableStyleId>
              </a:tblPr>
              <a:tblGrid>
                <a:gridCol w="6196250"/>
              </a:tblGrid>
              <a:tr h="1600575">
                <a:tc>
                  <a:txBody>
                    <a:bodyPr/>
                    <a:lstStyle/>
                    <a:p>
                      <a:pPr indent="0" lvl="0" marL="0" rtl="0" algn="l">
                        <a:spcBef>
                          <a:spcPts val="1200"/>
                        </a:spcBef>
                        <a:spcAft>
                          <a:spcPts val="0"/>
                        </a:spcAft>
                        <a:buNone/>
                      </a:pPr>
                      <a:r>
                        <a:rPr b="1" lang="en-US" sz="1100">
                          <a:solidFill>
                            <a:schemeClr val="dk1"/>
                          </a:solidFill>
                        </a:rPr>
                        <a:t>AF1 - Lack of Available Scooters in the Distribution Agent's Central Stock</a:t>
                      </a:r>
                      <a:endParaRPr b="1" sz="1100">
                        <a:solidFill>
                          <a:schemeClr val="dk1"/>
                        </a:solidFill>
                      </a:endParaRPr>
                    </a:p>
                    <a:p>
                      <a:pPr indent="0" lvl="0" marL="0" rtl="0" algn="l">
                        <a:spcBef>
                          <a:spcPts val="1200"/>
                        </a:spcBef>
                        <a:spcAft>
                          <a:spcPts val="0"/>
                        </a:spcAft>
                        <a:buNone/>
                      </a:pPr>
                      <a:r>
                        <a:rPr lang="en-US" sz="1100">
                          <a:solidFill>
                            <a:schemeClr val="dk1"/>
                          </a:solidFill>
                        </a:rPr>
                        <a:t>Alternative Flow for Step 10 of the Main Flow</a:t>
                      </a:r>
                      <a:endParaRPr sz="1100">
                        <a:solidFill>
                          <a:schemeClr val="dk1"/>
                        </a:solidFill>
                      </a:endParaRPr>
                    </a:p>
                    <a:p>
                      <a:pPr indent="0" lvl="0" marL="0" rtl="0" algn="l">
                        <a:spcBef>
                          <a:spcPts val="1200"/>
                        </a:spcBef>
                        <a:spcAft>
                          <a:spcPts val="0"/>
                        </a:spcAft>
                        <a:buNone/>
                      </a:pPr>
                      <a:r>
                        <a:rPr lang="en-US" sz="1100">
                          <a:solidFill>
                            <a:schemeClr val="dk1"/>
                          </a:solidFill>
                        </a:rPr>
                        <a:t>If there are not enough scooters available in the Distribution Agent's Central Stock:</a:t>
                      </a:r>
                      <a:endParaRPr sz="1100">
                        <a:solidFill>
                          <a:schemeClr val="dk1"/>
                        </a:solidFill>
                      </a:endParaRPr>
                    </a:p>
                    <a:p>
                      <a:pPr indent="-298450" lvl="0" marL="457200" rtl="0" algn="l">
                        <a:spcBef>
                          <a:spcPts val="1200"/>
                        </a:spcBef>
                        <a:spcAft>
                          <a:spcPts val="0"/>
                        </a:spcAft>
                        <a:buClr>
                          <a:schemeClr val="dk1"/>
                        </a:buClr>
                        <a:buSzPts val="1100"/>
                        <a:buAutoNum type="arabicPeriod"/>
                      </a:pPr>
                      <a:r>
                        <a:rPr lang="en-US" sz="1100">
                          <a:solidFill>
                            <a:schemeClr val="dk1"/>
                          </a:solidFill>
                        </a:rPr>
                        <a:t>The Distribution Agent checks whether there are zones with available scooters and low current demand.</a:t>
                      </a:r>
                      <a:endParaRPr sz="1100">
                        <a:solidFill>
                          <a:schemeClr val="dk1"/>
                        </a:solidFill>
                      </a:endParaRPr>
                    </a:p>
                    <a:p>
                      <a:pPr indent="-298450" lvl="0" marL="457200" rtl="0" algn="l">
                        <a:spcBef>
                          <a:spcPts val="0"/>
                        </a:spcBef>
                        <a:spcAft>
                          <a:spcPts val="0"/>
                        </a:spcAft>
                        <a:buClr>
                          <a:schemeClr val="dk1"/>
                        </a:buClr>
                        <a:buSzPts val="1100"/>
                        <a:buAutoNum type="arabicPeriod"/>
                      </a:pPr>
                      <a:r>
                        <a:rPr lang="en-US" sz="1100">
                          <a:solidFill>
                            <a:schemeClr val="dk1"/>
                          </a:solidFill>
                        </a:rPr>
                        <a:t>If so, it transfers available scooters from the identified zone to a priority zone</a:t>
                      </a:r>
                      <a:endParaRPr/>
                    </a:p>
                  </a:txBody>
                  <a:tcPr marT="91425" marB="91425" marR="91425" marL="91425"/>
                </a:tc>
              </a:tr>
            </a:tbl>
          </a:graphicData>
        </a:graphic>
      </p:graphicFrame>
      <p:sp>
        <p:nvSpPr>
          <p:cNvPr id="1098" name="Google Shape;1098;g3e33499f370_0_308"/>
          <p:cNvSpPr/>
          <p:nvPr/>
        </p:nvSpPr>
        <p:spPr>
          <a:xfrm>
            <a:off x="889225" y="3256200"/>
            <a:ext cx="6196200" cy="3651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099" name="Google Shape;1099;g3e33499f370_0_308"/>
          <p:cNvSpPr txBox="1"/>
          <p:nvPr/>
        </p:nvSpPr>
        <p:spPr>
          <a:xfrm>
            <a:off x="7160700" y="2994663"/>
            <a:ext cx="2417700" cy="1459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rPr lang="en-US" sz="1100">
                <a:solidFill>
                  <a:schemeClr val="dk1"/>
                </a:solidFill>
              </a:rPr>
              <a:t>Zones with historically low scooter availability may continue receiving fewer scooters, even if the demand in those areas changes over time.</a:t>
            </a:r>
            <a:endParaRPr sz="2800">
              <a:solidFill>
                <a:schemeClr val="dk1"/>
              </a:solidFill>
              <a:latin typeface="Calibri"/>
              <a:ea typeface="Calibri"/>
              <a:cs typeface="Calibri"/>
              <a:sym typeface="Calibri"/>
            </a:endParaRPr>
          </a:p>
        </p:txBody>
      </p:sp>
      <p:sp>
        <p:nvSpPr>
          <p:cNvPr id="1100" name="Google Shape;1100;g3e33499f370_0_308"/>
          <p:cNvSpPr txBox="1"/>
          <p:nvPr/>
        </p:nvSpPr>
        <p:spPr>
          <a:xfrm>
            <a:off x="7160700" y="2739138"/>
            <a:ext cx="2763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a:solidFill>
                  <a:schemeClr val="dk1"/>
                </a:solidFill>
                <a:latin typeface="Calibri"/>
                <a:ea typeface="Calibri"/>
                <a:cs typeface="Calibri"/>
                <a:sym typeface="Calibri"/>
              </a:rPr>
              <a:t>Justice and Non-Discrimination</a:t>
            </a:r>
            <a:endParaRPr b="1">
              <a:solidFill>
                <a:schemeClr val="dk1"/>
              </a:solidFill>
              <a:latin typeface="Calibri"/>
              <a:ea typeface="Calibri"/>
              <a:cs typeface="Calibri"/>
              <a:sym typeface="Calibri"/>
            </a:endParaRPr>
          </a:p>
        </p:txBody>
      </p:sp>
      <p:sp>
        <p:nvSpPr>
          <p:cNvPr id="1101" name="Google Shape;1101;g3e33499f370_0_308"/>
          <p:cNvSpPr/>
          <p:nvPr/>
        </p:nvSpPr>
        <p:spPr>
          <a:xfrm>
            <a:off x="7160700" y="2665675"/>
            <a:ext cx="2595300" cy="13488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5" name="Shape 1105"/>
        <p:cNvGrpSpPr/>
        <p:nvPr/>
      </p:nvGrpSpPr>
      <p:grpSpPr>
        <a:xfrm>
          <a:off x="0" y="0"/>
          <a:ext cx="0" cy="0"/>
          <a:chOff x="0" y="0"/>
          <a:chExt cx="0" cy="0"/>
        </a:xfrm>
      </p:grpSpPr>
      <p:grpSp>
        <p:nvGrpSpPr>
          <p:cNvPr id="1106" name="Google Shape;1106;g3e33499f370_0_326"/>
          <p:cNvGrpSpPr/>
          <p:nvPr/>
        </p:nvGrpSpPr>
        <p:grpSpPr>
          <a:xfrm>
            <a:off x="-18000" y="5842891"/>
            <a:ext cx="9942000" cy="1014788"/>
            <a:chOff x="-21650" y="5927750"/>
            <a:chExt cx="9942000" cy="930230"/>
          </a:xfrm>
        </p:grpSpPr>
        <p:sp>
          <p:nvSpPr>
            <p:cNvPr id="1107" name="Google Shape;1107;g3e33499f370_0_326"/>
            <p:cNvSpPr/>
            <p:nvPr/>
          </p:nvSpPr>
          <p:spPr>
            <a:xfrm>
              <a:off x="5239747" y="5949280"/>
              <a:ext cx="4680600" cy="9087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Arial"/>
                  <a:ea typeface="Arial"/>
                  <a:cs typeface="Arial"/>
                  <a:sym typeface="Arial"/>
                </a:rPr>
                <a:t>25th Annual International Conference on Digital Government Research (dg.o 2024)</a:t>
              </a:r>
              <a:endParaRPr b="0" i="0" sz="1800" u="none" cap="none" strike="noStrike">
                <a:solidFill>
                  <a:schemeClr val="lt1"/>
                </a:solidFill>
                <a:latin typeface="Arial"/>
                <a:ea typeface="Arial"/>
                <a:cs typeface="Arial"/>
                <a:sym typeface="Arial"/>
              </a:endParaRPr>
            </a:p>
          </p:txBody>
        </p:sp>
        <p:pic>
          <p:nvPicPr>
            <p:cNvPr id="1108" name="Google Shape;1108;g3e33499f370_0_326"/>
            <p:cNvPicPr preferRelativeResize="0"/>
            <p:nvPr/>
          </p:nvPicPr>
          <p:blipFill rotWithShape="1">
            <a:blip r:embed="rId3">
              <a:alphaModFix/>
            </a:blip>
            <a:srcRect b="-112517" l="-23390" r="23390" t="137700"/>
            <a:stretch/>
          </p:blipFill>
          <p:spPr>
            <a:xfrm>
              <a:off x="0" y="6007596"/>
              <a:ext cx="9920265" cy="792088"/>
            </a:xfrm>
            <a:prstGeom prst="rect">
              <a:avLst/>
            </a:prstGeom>
            <a:noFill/>
            <a:ln>
              <a:noFill/>
            </a:ln>
          </p:spPr>
        </p:pic>
        <p:sp>
          <p:nvSpPr>
            <p:cNvPr id="1109" name="Google Shape;1109;g3e33499f370_0_326"/>
            <p:cNvSpPr/>
            <p:nvPr/>
          </p:nvSpPr>
          <p:spPr>
            <a:xfrm>
              <a:off x="-21650" y="5927750"/>
              <a:ext cx="9942000" cy="9087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sp>
        <p:nvSpPr>
          <p:cNvPr id="1110" name="Google Shape;1110;g3e33499f370_0_326"/>
          <p:cNvSpPr txBox="1"/>
          <p:nvPr>
            <p:ph type="title"/>
          </p:nvPr>
        </p:nvSpPr>
        <p:spPr>
          <a:xfrm>
            <a:off x="84247" y="-29411"/>
            <a:ext cx="9000900" cy="6246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2300">
                <a:latin typeface="Arial"/>
                <a:ea typeface="Arial"/>
                <a:cs typeface="Arial"/>
                <a:sym typeface="Arial"/>
              </a:rPr>
              <a:t>Step 3: Mapping of Ethical Causes and Consequences </a:t>
            </a:r>
            <a:endParaRPr sz="2300"/>
          </a:p>
        </p:txBody>
      </p:sp>
      <p:sp>
        <p:nvSpPr>
          <p:cNvPr id="1111" name="Google Shape;1111;g3e33499f370_0_326"/>
          <p:cNvSpPr txBox="1"/>
          <p:nvPr>
            <p:ph idx="12" type="sldNum"/>
          </p:nvPr>
        </p:nvSpPr>
        <p:spPr>
          <a:xfrm>
            <a:off x="6996113" y="6356350"/>
            <a:ext cx="22290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pic>
        <p:nvPicPr>
          <p:cNvPr id="1112" name="Google Shape;1112;g3e33499f370_0_326"/>
          <p:cNvPicPr preferRelativeResize="0"/>
          <p:nvPr/>
        </p:nvPicPr>
        <p:blipFill rotWithShape="1">
          <a:blip r:embed="rId4">
            <a:alphaModFix/>
          </a:blip>
          <a:srcRect b="0" l="0" r="0" t="0"/>
          <a:stretch/>
        </p:blipFill>
        <p:spPr>
          <a:xfrm>
            <a:off x="218750" y="6052376"/>
            <a:ext cx="1823009" cy="470325"/>
          </a:xfrm>
          <a:prstGeom prst="rect">
            <a:avLst/>
          </a:prstGeom>
          <a:noFill/>
          <a:ln>
            <a:noFill/>
          </a:ln>
        </p:spPr>
      </p:pic>
      <p:pic>
        <p:nvPicPr>
          <p:cNvPr id="1113" name="Google Shape;1113;g3e33499f370_0_326"/>
          <p:cNvPicPr preferRelativeResize="0"/>
          <p:nvPr/>
        </p:nvPicPr>
        <p:blipFill rotWithShape="1">
          <a:blip r:embed="rId5">
            <a:alphaModFix/>
          </a:blip>
          <a:srcRect b="0" l="0" r="0" t="0"/>
          <a:stretch/>
        </p:blipFill>
        <p:spPr>
          <a:xfrm>
            <a:off x="6996125" y="5975242"/>
            <a:ext cx="1811830" cy="624575"/>
          </a:xfrm>
          <a:prstGeom prst="rect">
            <a:avLst/>
          </a:prstGeom>
          <a:noFill/>
          <a:ln>
            <a:noFill/>
          </a:ln>
        </p:spPr>
      </p:pic>
      <p:graphicFrame>
        <p:nvGraphicFramePr>
          <p:cNvPr id="1114" name="Google Shape;1114;g3e33499f370_0_326"/>
          <p:cNvGraphicFramePr/>
          <p:nvPr/>
        </p:nvGraphicFramePr>
        <p:xfrm>
          <a:off x="889225" y="514525"/>
          <a:ext cx="3000000" cy="3000000"/>
        </p:xfrm>
        <a:graphic>
          <a:graphicData uri="http://schemas.openxmlformats.org/drawingml/2006/table">
            <a:tbl>
              <a:tblPr>
                <a:noFill/>
                <a:tableStyleId>{3CD9C4C2-9404-43FE-B6C3-7E77CC52F599}</a:tableStyleId>
              </a:tblPr>
              <a:tblGrid>
                <a:gridCol w="6196250"/>
              </a:tblGrid>
              <a:tr h="292550">
                <a:tc>
                  <a:txBody>
                    <a:bodyPr/>
                    <a:lstStyle/>
                    <a:p>
                      <a:pPr indent="0" lvl="0" marL="0" rtl="0" algn="l">
                        <a:spcBef>
                          <a:spcPts val="0"/>
                        </a:spcBef>
                        <a:spcAft>
                          <a:spcPts val="0"/>
                        </a:spcAft>
                        <a:buNone/>
                      </a:pPr>
                      <a:r>
                        <a:rPr b="1" lang="en-US" sz="1100"/>
                        <a:t>Use Case 1 - Redistribute Scooters Between City Zones</a:t>
                      </a:r>
                      <a:endParaRPr sz="1100"/>
                    </a:p>
                  </a:txBody>
                  <a:tcPr marT="63500" marB="63500" marR="63500" marL="63500">
                    <a:solidFill>
                      <a:srgbClr val="F1F3F4"/>
                    </a:solidFill>
                  </a:tcPr>
                </a:tc>
              </a:tr>
              <a:tr h="3261725">
                <a:tc>
                  <a:txBody>
                    <a:bodyPr/>
                    <a:lstStyle/>
                    <a:p>
                      <a:pPr indent="0" lvl="0" marL="0" rtl="0" algn="l">
                        <a:spcBef>
                          <a:spcPts val="1200"/>
                        </a:spcBef>
                        <a:spcAft>
                          <a:spcPts val="0"/>
                        </a:spcAft>
                        <a:buNone/>
                      </a:pPr>
                      <a:r>
                        <a:rPr b="1" lang="en-US" sz="1100"/>
                        <a:t>Main Flow</a:t>
                      </a:r>
                      <a:endParaRPr sz="1100"/>
                    </a:p>
                    <a:p>
                      <a:pPr indent="-298450" lvl="0" marL="457200" rtl="0" algn="l">
                        <a:spcBef>
                          <a:spcPts val="1200"/>
                        </a:spcBef>
                        <a:spcAft>
                          <a:spcPts val="0"/>
                        </a:spcAft>
                        <a:buSzPts val="1100"/>
                        <a:buAutoNum type="arabicPeriod"/>
                      </a:pPr>
                      <a:r>
                        <a:rPr lang="en-US" sz="1100"/>
                        <a:t>Each zone sends its current status containing the following information:</a:t>
                      </a:r>
                      <a:endParaRPr sz="1100"/>
                    </a:p>
                    <a:p>
                      <a:pPr indent="-298450" lvl="0" marL="914400" rtl="0" algn="l">
                        <a:spcBef>
                          <a:spcPts val="0"/>
                        </a:spcBef>
                        <a:spcAft>
                          <a:spcPts val="0"/>
                        </a:spcAft>
                        <a:buSzPts val="1100"/>
                        <a:buChar char="●"/>
                      </a:pPr>
                      <a:r>
                        <a:rPr lang="en-US" sz="1100"/>
                        <a:t>zone type;</a:t>
                      </a:r>
                      <a:endParaRPr sz="1100"/>
                    </a:p>
                    <a:p>
                      <a:pPr indent="-298450" lvl="0" marL="914400" rtl="0" algn="l">
                        <a:spcBef>
                          <a:spcPts val="0"/>
                        </a:spcBef>
                        <a:spcAft>
                          <a:spcPts val="0"/>
                        </a:spcAft>
                        <a:buSzPts val="1100"/>
                        <a:buChar char="●"/>
                      </a:pPr>
                      <a:r>
                        <a:rPr lang="en-US" sz="1100"/>
                        <a:t>available scooters;</a:t>
                      </a:r>
                      <a:endParaRPr sz="1100"/>
                    </a:p>
                    <a:p>
                      <a:pPr indent="-298450" lvl="0" marL="914400" rtl="0" algn="l">
                        <a:spcBef>
                          <a:spcPts val="0"/>
                        </a:spcBef>
                        <a:spcAft>
                          <a:spcPts val="0"/>
                        </a:spcAft>
                        <a:buSzPts val="1100"/>
                        <a:buChar char="●"/>
                      </a:pPr>
                      <a:r>
                        <a:rPr lang="en-US" sz="1100"/>
                        <a:t>demand level;</a:t>
                      </a:r>
                      <a:endParaRPr sz="1100"/>
                    </a:p>
                    <a:p>
                      <a:pPr indent="-298450" lvl="0" marL="914400" rtl="0" algn="l">
                        <a:spcBef>
                          <a:spcPts val="0"/>
                        </a:spcBef>
                        <a:spcAft>
                          <a:spcPts val="0"/>
                        </a:spcAft>
                        <a:buSzPts val="1100"/>
                        <a:buChar char="●"/>
                      </a:pPr>
                      <a:r>
                        <a:rPr lang="en-US" sz="1100"/>
                        <a:t>unmet demand;</a:t>
                      </a:r>
                      <a:endParaRPr sz="1100"/>
                    </a:p>
                    <a:p>
                      <a:pPr indent="-298450" lvl="0" marL="914400" rtl="0" algn="l">
                        <a:spcBef>
                          <a:spcPts val="0"/>
                        </a:spcBef>
                        <a:spcAft>
                          <a:spcPts val="0"/>
                        </a:spcAft>
                        <a:buSzPts val="1100"/>
                        <a:buChar char="●"/>
                      </a:pPr>
                      <a:r>
                        <a:rPr lang="en-US" sz="1100"/>
                        <a:t>inactive scooters;</a:t>
                      </a:r>
                      <a:endParaRPr sz="1100"/>
                    </a:p>
                    <a:p>
                      <a:pPr indent="-298450" lvl="0" marL="914400" rtl="0" algn="l">
                        <a:spcBef>
                          <a:spcPts val="0"/>
                        </a:spcBef>
                        <a:spcAft>
                          <a:spcPts val="0"/>
                        </a:spcAft>
                        <a:buSzPts val="1100"/>
                        <a:buChar char="●"/>
                      </a:pPr>
                      <a:r>
                        <a:rPr lang="en-US" sz="1100"/>
                        <a:t>local events;</a:t>
                      </a:r>
                      <a:endParaRPr sz="1100"/>
                    </a:p>
                    <a:p>
                      <a:pPr indent="-298450" lvl="0" marL="914400" rtl="0" algn="l">
                        <a:spcBef>
                          <a:spcPts val="0"/>
                        </a:spcBef>
                        <a:spcAft>
                          <a:spcPts val="0"/>
                        </a:spcAft>
                        <a:buSzPts val="1100"/>
                        <a:buChar char="●"/>
                      </a:pPr>
                      <a:r>
                        <a:rPr lang="en-US" sz="1100"/>
                        <a:t>user satisfaction in the zone.</a:t>
                      </a:r>
                      <a:endParaRPr sz="1100"/>
                    </a:p>
                    <a:p>
                      <a:pPr indent="-298450" lvl="0" marL="457200" rtl="0" algn="l">
                        <a:spcBef>
                          <a:spcPts val="0"/>
                        </a:spcBef>
                        <a:spcAft>
                          <a:spcPts val="0"/>
                        </a:spcAft>
                        <a:buSzPts val="1100"/>
                        <a:buAutoNum type="arabicPeriod"/>
                      </a:pPr>
                      <a:r>
                        <a:rPr lang="en-US" sz="1100"/>
                        <a:t>The Distribution Agent receives updated status information from all zones.</a:t>
                      </a:r>
                      <a:endParaRPr sz="1100"/>
                    </a:p>
                    <a:p>
                      <a:pPr indent="-298450" lvl="0" marL="457200" rtl="0" algn="l">
                        <a:spcBef>
                          <a:spcPts val="0"/>
                        </a:spcBef>
                        <a:spcAft>
                          <a:spcPts val="0"/>
                        </a:spcAft>
                        <a:buSzPts val="1100"/>
                        <a:buAutoNum type="arabicPeriod"/>
                      </a:pPr>
                      <a:r>
                        <a:rPr lang="en-US" sz="1100"/>
                        <a:t>The Distribution Agent analyzes the status of all zones and decides whether scooters should be transferred to one or more priority zones.</a:t>
                      </a:r>
                      <a:endParaRPr sz="1100"/>
                    </a:p>
                    <a:p>
                      <a:pPr indent="-298450" lvl="0" marL="457200" rtl="0" algn="l">
                        <a:spcBef>
                          <a:spcPts val="0"/>
                        </a:spcBef>
                        <a:spcAft>
                          <a:spcPts val="0"/>
                        </a:spcAft>
                        <a:buSzPts val="1100"/>
                        <a:buAutoNum type="arabicPeriod"/>
                      </a:pPr>
                      <a:r>
                        <a:rPr lang="en-US" sz="1100"/>
                        <a:t>The Distribution Agent calculates the number of scooters to be transferred to a zone based on the annual usage history of each zone.</a:t>
                      </a:r>
                      <a:endParaRPr sz="1100"/>
                    </a:p>
                    <a:p>
                      <a:pPr indent="-298450" lvl="0" marL="457200" rtl="0" algn="l">
                        <a:spcBef>
                          <a:spcPts val="0"/>
                        </a:spcBef>
                        <a:spcAft>
                          <a:spcPts val="0"/>
                        </a:spcAft>
                        <a:buSzPts val="1100"/>
                        <a:buAutoNum type="arabicPeriod"/>
                      </a:pPr>
                      <a:r>
                        <a:rPr lang="en-US" sz="1100"/>
                        <a:t>Each Zone Agent receives a calculated quantity of scooters from the Distribution Agent’s central stock.</a:t>
                      </a:r>
                      <a:endParaRPr sz="1100"/>
                    </a:p>
                  </a:txBody>
                  <a:tcPr marT="63500" marB="63500" marR="63500" marL="63500"/>
                </a:tc>
              </a:tr>
            </a:tbl>
          </a:graphicData>
        </a:graphic>
      </p:graphicFrame>
      <p:graphicFrame>
        <p:nvGraphicFramePr>
          <p:cNvPr id="1115" name="Google Shape;1115;g3e33499f370_0_326"/>
          <p:cNvGraphicFramePr/>
          <p:nvPr/>
        </p:nvGraphicFramePr>
        <p:xfrm>
          <a:off x="889213" y="4165861"/>
          <a:ext cx="3000000" cy="3000000"/>
        </p:xfrm>
        <a:graphic>
          <a:graphicData uri="http://schemas.openxmlformats.org/drawingml/2006/table">
            <a:tbl>
              <a:tblPr>
                <a:noFill/>
                <a:tableStyleId>{2736B423-FCC7-43BB-9A58-3EA48F6894B7}</a:tableStyleId>
              </a:tblPr>
              <a:tblGrid>
                <a:gridCol w="6196250"/>
              </a:tblGrid>
              <a:tr h="1600575">
                <a:tc>
                  <a:txBody>
                    <a:bodyPr/>
                    <a:lstStyle/>
                    <a:p>
                      <a:pPr indent="0" lvl="0" marL="0" rtl="0" algn="l">
                        <a:spcBef>
                          <a:spcPts val="1200"/>
                        </a:spcBef>
                        <a:spcAft>
                          <a:spcPts val="0"/>
                        </a:spcAft>
                        <a:buNone/>
                      </a:pPr>
                      <a:r>
                        <a:rPr b="1" lang="en-US" sz="1100">
                          <a:solidFill>
                            <a:schemeClr val="dk1"/>
                          </a:solidFill>
                        </a:rPr>
                        <a:t>AF1 - Lack of Available Scooters in the Distribution Agent's Central Stock</a:t>
                      </a:r>
                      <a:endParaRPr b="1" sz="1100">
                        <a:solidFill>
                          <a:schemeClr val="dk1"/>
                        </a:solidFill>
                      </a:endParaRPr>
                    </a:p>
                    <a:p>
                      <a:pPr indent="0" lvl="0" marL="0" rtl="0" algn="l">
                        <a:spcBef>
                          <a:spcPts val="1200"/>
                        </a:spcBef>
                        <a:spcAft>
                          <a:spcPts val="0"/>
                        </a:spcAft>
                        <a:buNone/>
                      </a:pPr>
                      <a:r>
                        <a:rPr lang="en-US" sz="1100">
                          <a:solidFill>
                            <a:schemeClr val="dk1"/>
                          </a:solidFill>
                        </a:rPr>
                        <a:t>Alternative Flow for Step 10 of the Main Flow</a:t>
                      </a:r>
                      <a:endParaRPr sz="1100">
                        <a:solidFill>
                          <a:schemeClr val="dk1"/>
                        </a:solidFill>
                      </a:endParaRPr>
                    </a:p>
                    <a:p>
                      <a:pPr indent="0" lvl="0" marL="0" rtl="0" algn="l">
                        <a:spcBef>
                          <a:spcPts val="1200"/>
                        </a:spcBef>
                        <a:spcAft>
                          <a:spcPts val="0"/>
                        </a:spcAft>
                        <a:buNone/>
                      </a:pPr>
                      <a:r>
                        <a:rPr lang="en-US" sz="1100">
                          <a:solidFill>
                            <a:schemeClr val="dk1"/>
                          </a:solidFill>
                        </a:rPr>
                        <a:t>If there are not enough scooters available in the Distribution Agent's Central Stock:</a:t>
                      </a:r>
                      <a:endParaRPr sz="1100">
                        <a:solidFill>
                          <a:schemeClr val="dk1"/>
                        </a:solidFill>
                      </a:endParaRPr>
                    </a:p>
                    <a:p>
                      <a:pPr indent="-298450" lvl="0" marL="457200" rtl="0" algn="l">
                        <a:spcBef>
                          <a:spcPts val="1200"/>
                        </a:spcBef>
                        <a:spcAft>
                          <a:spcPts val="0"/>
                        </a:spcAft>
                        <a:buClr>
                          <a:schemeClr val="dk1"/>
                        </a:buClr>
                        <a:buSzPts val="1100"/>
                        <a:buAutoNum type="arabicPeriod"/>
                      </a:pPr>
                      <a:r>
                        <a:rPr lang="en-US" sz="1100">
                          <a:solidFill>
                            <a:schemeClr val="dk1"/>
                          </a:solidFill>
                        </a:rPr>
                        <a:t>The Distribution Agent checks whether there are zones with available scooters and low current demand.</a:t>
                      </a:r>
                      <a:endParaRPr sz="1100">
                        <a:solidFill>
                          <a:schemeClr val="dk1"/>
                        </a:solidFill>
                      </a:endParaRPr>
                    </a:p>
                    <a:p>
                      <a:pPr indent="-298450" lvl="0" marL="457200" rtl="0" algn="l">
                        <a:spcBef>
                          <a:spcPts val="0"/>
                        </a:spcBef>
                        <a:spcAft>
                          <a:spcPts val="0"/>
                        </a:spcAft>
                        <a:buClr>
                          <a:schemeClr val="dk1"/>
                        </a:buClr>
                        <a:buSzPts val="1100"/>
                        <a:buAutoNum type="arabicPeriod"/>
                      </a:pPr>
                      <a:r>
                        <a:rPr lang="en-US" sz="1100">
                          <a:solidFill>
                            <a:schemeClr val="dk1"/>
                          </a:solidFill>
                        </a:rPr>
                        <a:t>If so, it transfers available scooters from the identified zone to a priority zone</a:t>
                      </a:r>
                      <a:endParaRPr/>
                    </a:p>
                  </a:txBody>
                  <a:tcPr marT="91425" marB="91425" marR="91425" marL="91425"/>
                </a:tc>
              </a:tr>
            </a:tbl>
          </a:graphicData>
        </a:graphic>
      </p:graphicFrame>
      <p:sp>
        <p:nvSpPr>
          <p:cNvPr id="1116" name="Google Shape;1116;g3e33499f370_0_326"/>
          <p:cNvSpPr/>
          <p:nvPr/>
        </p:nvSpPr>
        <p:spPr>
          <a:xfrm>
            <a:off x="889250" y="5446625"/>
            <a:ext cx="6196200" cy="3651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117" name="Google Shape;1117;g3e33499f370_0_326"/>
          <p:cNvSpPr/>
          <p:nvPr/>
        </p:nvSpPr>
        <p:spPr>
          <a:xfrm>
            <a:off x="7295175" y="4503275"/>
            <a:ext cx="2443200" cy="12171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300">
                <a:latin typeface="Calibri"/>
                <a:ea typeface="Calibri"/>
                <a:cs typeface="Calibri"/>
                <a:sym typeface="Calibri"/>
              </a:rPr>
              <a:t>Sustainable Development and Social Welfare</a:t>
            </a:r>
            <a:endParaRPr b="1" sz="1300">
              <a:latin typeface="Calibri"/>
              <a:ea typeface="Calibri"/>
              <a:cs typeface="Calibri"/>
              <a:sym typeface="Calibri"/>
            </a:endParaRPr>
          </a:p>
          <a:p>
            <a:pPr indent="0" lvl="0" marL="0" rtl="0" algn="ctr">
              <a:spcBef>
                <a:spcPts val="0"/>
              </a:spcBef>
              <a:spcAft>
                <a:spcPts val="0"/>
              </a:spcAft>
              <a:buNone/>
            </a:pPr>
            <a:r>
              <a:rPr lang="en-US" sz="1300">
                <a:latin typeface="Calibri"/>
                <a:ea typeface="Calibri"/>
                <a:cs typeface="Calibri"/>
                <a:sym typeface="Calibri"/>
              </a:rPr>
              <a:t>An area may be left without available scooters if another zone is prioritized.</a:t>
            </a:r>
            <a:endParaRPr sz="1300">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1" name="Shape 1121"/>
        <p:cNvGrpSpPr/>
        <p:nvPr/>
      </p:nvGrpSpPr>
      <p:grpSpPr>
        <a:xfrm>
          <a:off x="0" y="0"/>
          <a:ext cx="0" cy="0"/>
          <a:chOff x="0" y="0"/>
          <a:chExt cx="0" cy="0"/>
        </a:xfrm>
      </p:grpSpPr>
      <p:grpSp>
        <p:nvGrpSpPr>
          <p:cNvPr id="1122" name="Google Shape;1122;g3e33499f370_0_344"/>
          <p:cNvGrpSpPr/>
          <p:nvPr/>
        </p:nvGrpSpPr>
        <p:grpSpPr>
          <a:xfrm>
            <a:off x="-18000" y="5842891"/>
            <a:ext cx="9942000" cy="1014788"/>
            <a:chOff x="-21650" y="5927750"/>
            <a:chExt cx="9942000" cy="930230"/>
          </a:xfrm>
        </p:grpSpPr>
        <p:sp>
          <p:nvSpPr>
            <p:cNvPr id="1123" name="Google Shape;1123;g3e33499f370_0_344"/>
            <p:cNvSpPr/>
            <p:nvPr/>
          </p:nvSpPr>
          <p:spPr>
            <a:xfrm>
              <a:off x="5239747" y="5949280"/>
              <a:ext cx="4680600" cy="9087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Arial"/>
                  <a:ea typeface="Arial"/>
                  <a:cs typeface="Arial"/>
                  <a:sym typeface="Arial"/>
                </a:rPr>
                <a:t>25th Annual International Conference on Digital Government Research (dg.o 2024)</a:t>
              </a:r>
              <a:endParaRPr b="0" i="0" sz="1800" u="none" cap="none" strike="noStrike">
                <a:solidFill>
                  <a:schemeClr val="lt1"/>
                </a:solidFill>
                <a:latin typeface="Arial"/>
                <a:ea typeface="Arial"/>
                <a:cs typeface="Arial"/>
                <a:sym typeface="Arial"/>
              </a:endParaRPr>
            </a:p>
          </p:txBody>
        </p:sp>
        <p:pic>
          <p:nvPicPr>
            <p:cNvPr id="1124" name="Google Shape;1124;g3e33499f370_0_344"/>
            <p:cNvPicPr preferRelativeResize="0"/>
            <p:nvPr/>
          </p:nvPicPr>
          <p:blipFill rotWithShape="1">
            <a:blip r:embed="rId3">
              <a:alphaModFix/>
            </a:blip>
            <a:srcRect b="-112517" l="-23390" r="23390" t="137700"/>
            <a:stretch/>
          </p:blipFill>
          <p:spPr>
            <a:xfrm>
              <a:off x="0" y="6007596"/>
              <a:ext cx="9920265" cy="792088"/>
            </a:xfrm>
            <a:prstGeom prst="rect">
              <a:avLst/>
            </a:prstGeom>
            <a:noFill/>
            <a:ln>
              <a:noFill/>
            </a:ln>
          </p:spPr>
        </p:pic>
        <p:sp>
          <p:nvSpPr>
            <p:cNvPr id="1125" name="Google Shape;1125;g3e33499f370_0_344"/>
            <p:cNvSpPr/>
            <p:nvPr/>
          </p:nvSpPr>
          <p:spPr>
            <a:xfrm>
              <a:off x="-21650" y="5927750"/>
              <a:ext cx="9942000" cy="9087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sp>
        <p:nvSpPr>
          <p:cNvPr id="1126" name="Google Shape;1126;g3e33499f370_0_344"/>
          <p:cNvSpPr txBox="1"/>
          <p:nvPr>
            <p:ph type="title"/>
          </p:nvPr>
        </p:nvSpPr>
        <p:spPr>
          <a:xfrm>
            <a:off x="84247" y="-29411"/>
            <a:ext cx="9000900" cy="6246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2300">
                <a:latin typeface="Arial"/>
                <a:ea typeface="Arial"/>
                <a:cs typeface="Arial"/>
                <a:sym typeface="Arial"/>
              </a:rPr>
              <a:t>Step 3: Mapping of Ethical Causes and Consequences </a:t>
            </a:r>
            <a:endParaRPr sz="2300"/>
          </a:p>
        </p:txBody>
      </p:sp>
      <p:sp>
        <p:nvSpPr>
          <p:cNvPr id="1127" name="Google Shape;1127;g3e33499f370_0_344"/>
          <p:cNvSpPr txBox="1"/>
          <p:nvPr>
            <p:ph idx="12" type="sldNum"/>
          </p:nvPr>
        </p:nvSpPr>
        <p:spPr>
          <a:xfrm>
            <a:off x="6996113" y="6356350"/>
            <a:ext cx="22290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pic>
        <p:nvPicPr>
          <p:cNvPr id="1128" name="Google Shape;1128;g3e33499f370_0_344"/>
          <p:cNvPicPr preferRelativeResize="0"/>
          <p:nvPr/>
        </p:nvPicPr>
        <p:blipFill rotWithShape="1">
          <a:blip r:embed="rId4">
            <a:alphaModFix/>
          </a:blip>
          <a:srcRect b="0" l="0" r="0" t="0"/>
          <a:stretch/>
        </p:blipFill>
        <p:spPr>
          <a:xfrm>
            <a:off x="218750" y="6052376"/>
            <a:ext cx="1823009" cy="470325"/>
          </a:xfrm>
          <a:prstGeom prst="rect">
            <a:avLst/>
          </a:prstGeom>
          <a:noFill/>
          <a:ln>
            <a:noFill/>
          </a:ln>
        </p:spPr>
      </p:pic>
      <p:pic>
        <p:nvPicPr>
          <p:cNvPr id="1129" name="Google Shape;1129;g3e33499f370_0_344"/>
          <p:cNvPicPr preferRelativeResize="0"/>
          <p:nvPr/>
        </p:nvPicPr>
        <p:blipFill rotWithShape="1">
          <a:blip r:embed="rId5">
            <a:alphaModFix/>
          </a:blip>
          <a:srcRect b="0" l="0" r="0" t="0"/>
          <a:stretch/>
        </p:blipFill>
        <p:spPr>
          <a:xfrm>
            <a:off x="6996125" y="5975242"/>
            <a:ext cx="1811830" cy="624575"/>
          </a:xfrm>
          <a:prstGeom prst="rect">
            <a:avLst/>
          </a:prstGeom>
          <a:noFill/>
          <a:ln>
            <a:noFill/>
          </a:ln>
        </p:spPr>
      </p:pic>
      <p:graphicFrame>
        <p:nvGraphicFramePr>
          <p:cNvPr id="1130" name="Google Shape;1130;g3e33499f370_0_344"/>
          <p:cNvGraphicFramePr/>
          <p:nvPr/>
        </p:nvGraphicFramePr>
        <p:xfrm>
          <a:off x="889225" y="514525"/>
          <a:ext cx="3000000" cy="3000000"/>
        </p:xfrm>
        <a:graphic>
          <a:graphicData uri="http://schemas.openxmlformats.org/drawingml/2006/table">
            <a:tbl>
              <a:tblPr>
                <a:noFill/>
                <a:tableStyleId>{3CD9C4C2-9404-43FE-B6C3-7E77CC52F599}</a:tableStyleId>
              </a:tblPr>
              <a:tblGrid>
                <a:gridCol w="6196250"/>
              </a:tblGrid>
              <a:tr h="292550">
                <a:tc>
                  <a:txBody>
                    <a:bodyPr/>
                    <a:lstStyle/>
                    <a:p>
                      <a:pPr indent="0" lvl="0" marL="0" rtl="0" algn="l">
                        <a:spcBef>
                          <a:spcPts val="0"/>
                        </a:spcBef>
                        <a:spcAft>
                          <a:spcPts val="0"/>
                        </a:spcAft>
                        <a:buNone/>
                      </a:pPr>
                      <a:r>
                        <a:rPr b="1" lang="en-US" sz="1100"/>
                        <a:t>Use Case 1 - Redistribute Scooters Between City Zones</a:t>
                      </a:r>
                      <a:endParaRPr sz="1100"/>
                    </a:p>
                  </a:txBody>
                  <a:tcPr marT="63500" marB="63500" marR="63500" marL="63500">
                    <a:solidFill>
                      <a:srgbClr val="F1F3F4"/>
                    </a:solidFill>
                  </a:tcPr>
                </a:tc>
              </a:tr>
              <a:tr h="3261725">
                <a:tc>
                  <a:txBody>
                    <a:bodyPr/>
                    <a:lstStyle/>
                    <a:p>
                      <a:pPr indent="0" lvl="0" marL="0" rtl="0" algn="l">
                        <a:spcBef>
                          <a:spcPts val="1200"/>
                        </a:spcBef>
                        <a:spcAft>
                          <a:spcPts val="0"/>
                        </a:spcAft>
                        <a:buNone/>
                      </a:pPr>
                      <a:r>
                        <a:rPr b="1" lang="en-US" sz="1100"/>
                        <a:t>Main Flow</a:t>
                      </a:r>
                      <a:endParaRPr sz="1100"/>
                    </a:p>
                    <a:p>
                      <a:pPr indent="-298450" lvl="0" marL="457200" rtl="0" algn="l">
                        <a:spcBef>
                          <a:spcPts val="1200"/>
                        </a:spcBef>
                        <a:spcAft>
                          <a:spcPts val="0"/>
                        </a:spcAft>
                        <a:buSzPts val="1100"/>
                        <a:buAutoNum type="arabicPeriod"/>
                      </a:pPr>
                      <a:r>
                        <a:rPr lang="en-US" sz="1100"/>
                        <a:t>Each zone sends its current status containing the following information:</a:t>
                      </a:r>
                      <a:endParaRPr sz="1100"/>
                    </a:p>
                    <a:p>
                      <a:pPr indent="-298450" lvl="0" marL="914400" rtl="0" algn="l">
                        <a:spcBef>
                          <a:spcPts val="0"/>
                        </a:spcBef>
                        <a:spcAft>
                          <a:spcPts val="0"/>
                        </a:spcAft>
                        <a:buSzPts val="1100"/>
                        <a:buChar char="●"/>
                      </a:pPr>
                      <a:r>
                        <a:rPr lang="en-US" sz="1100"/>
                        <a:t>zone type;</a:t>
                      </a:r>
                      <a:endParaRPr sz="1100"/>
                    </a:p>
                    <a:p>
                      <a:pPr indent="-298450" lvl="0" marL="914400" rtl="0" algn="l">
                        <a:spcBef>
                          <a:spcPts val="0"/>
                        </a:spcBef>
                        <a:spcAft>
                          <a:spcPts val="0"/>
                        </a:spcAft>
                        <a:buSzPts val="1100"/>
                        <a:buChar char="●"/>
                      </a:pPr>
                      <a:r>
                        <a:rPr lang="en-US" sz="1100"/>
                        <a:t>available scooters;</a:t>
                      </a:r>
                      <a:endParaRPr sz="1100"/>
                    </a:p>
                    <a:p>
                      <a:pPr indent="-298450" lvl="0" marL="914400" rtl="0" algn="l">
                        <a:spcBef>
                          <a:spcPts val="0"/>
                        </a:spcBef>
                        <a:spcAft>
                          <a:spcPts val="0"/>
                        </a:spcAft>
                        <a:buSzPts val="1100"/>
                        <a:buChar char="●"/>
                      </a:pPr>
                      <a:r>
                        <a:rPr lang="en-US" sz="1100"/>
                        <a:t>demand level;</a:t>
                      </a:r>
                      <a:endParaRPr sz="1100"/>
                    </a:p>
                    <a:p>
                      <a:pPr indent="-298450" lvl="0" marL="914400" rtl="0" algn="l">
                        <a:spcBef>
                          <a:spcPts val="0"/>
                        </a:spcBef>
                        <a:spcAft>
                          <a:spcPts val="0"/>
                        </a:spcAft>
                        <a:buSzPts val="1100"/>
                        <a:buChar char="●"/>
                      </a:pPr>
                      <a:r>
                        <a:rPr lang="en-US" sz="1100"/>
                        <a:t>unmet demand;</a:t>
                      </a:r>
                      <a:endParaRPr sz="1100"/>
                    </a:p>
                    <a:p>
                      <a:pPr indent="-298450" lvl="0" marL="914400" rtl="0" algn="l">
                        <a:spcBef>
                          <a:spcPts val="0"/>
                        </a:spcBef>
                        <a:spcAft>
                          <a:spcPts val="0"/>
                        </a:spcAft>
                        <a:buSzPts val="1100"/>
                        <a:buChar char="●"/>
                      </a:pPr>
                      <a:r>
                        <a:rPr lang="en-US" sz="1100"/>
                        <a:t>inactive scooters;</a:t>
                      </a:r>
                      <a:endParaRPr sz="1100"/>
                    </a:p>
                    <a:p>
                      <a:pPr indent="-298450" lvl="0" marL="914400" rtl="0" algn="l">
                        <a:spcBef>
                          <a:spcPts val="0"/>
                        </a:spcBef>
                        <a:spcAft>
                          <a:spcPts val="0"/>
                        </a:spcAft>
                        <a:buSzPts val="1100"/>
                        <a:buChar char="●"/>
                      </a:pPr>
                      <a:r>
                        <a:rPr lang="en-US" sz="1100"/>
                        <a:t>local events;</a:t>
                      </a:r>
                      <a:endParaRPr sz="1100"/>
                    </a:p>
                    <a:p>
                      <a:pPr indent="-298450" lvl="0" marL="914400" rtl="0" algn="l">
                        <a:spcBef>
                          <a:spcPts val="0"/>
                        </a:spcBef>
                        <a:spcAft>
                          <a:spcPts val="0"/>
                        </a:spcAft>
                        <a:buSzPts val="1100"/>
                        <a:buChar char="●"/>
                      </a:pPr>
                      <a:r>
                        <a:rPr lang="en-US" sz="1100"/>
                        <a:t>user satisfaction in the zone.</a:t>
                      </a:r>
                      <a:endParaRPr sz="1100"/>
                    </a:p>
                    <a:p>
                      <a:pPr indent="-298450" lvl="0" marL="457200" rtl="0" algn="l">
                        <a:spcBef>
                          <a:spcPts val="0"/>
                        </a:spcBef>
                        <a:spcAft>
                          <a:spcPts val="0"/>
                        </a:spcAft>
                        <a:buSzPts val="1100"/>
                        <a:buAutoNum type="arabicPeriod"/>
                      </a:pPr>
                      <a:r>
                        <a:rPr lang="en-US" sz="1100"/>
                        <a:t>The Distribution Agent receives updated status information from all zones.</a:t>
                      </a:r>
                      <a:endParaRPr sz="1100"/>
                    </a:p>
                    <a:p>
                      <a:pPr indent="-298450" lvl="0" marL="457200" rtl="0" algn="l">
                        <a:spcBef>
                          <a:spcPts val="0"/>
                        </a:spcBef>
                        <a:spcAft>
                          <a:spcPts val="0"/>
                        </a:spcAft>
                        <a:buSzPts val="1100"/>
                        <a:buAutoNum type="arabicPeriod"/>
                      </a:pPr>
                      <a:r>
                        <a:rPr lang="en-US" sz="1100"/>
                        <a:t>The Distribution Agent analyzes the status of all zones and decides whether scooters should be transferred to one or more priority zones.</a:t>
                      </a:r>
                      <a:endParaRPr sz="1100"/>
                    </a:p>
                    <a:p>
                      <a:pPr indent="-298450" lvl="0" marL="457200" rtl="0" algn="l">
                        <a:spcBef>
                          <a:spcPts val="0"/>
                        </a:spcBef>
                        <a:spcAft>
                          <a:spcPts val="0"/>
                        </a:spcAft>
                        <a:buSzPts val="1100"/>
                        <a:buAutoNum type="arabicPeriod"/>
                      </a:pPr>
                      <a:r>
                        <a:rPr lang="en-US" sz="1100"/>
                        <a:t>The Distribution Agent calculates the number of scooters to be transferred to a zone based on the annual usage history of each zone.</a:t>
                      </a:r>
                      <a:endParaRPr sz="1100"/>
                    </a:p>
                    <a:p>
                      <a:pPr indent="-298450" lvl="0" marL="457200" rtl="0" algn="l">
                        <a:spcBef>
                          <a:spcPts val="0"/>
                        </a:spcBef>
                        <a:spcAft>
                          <a:spcPts val="0"/>
                        </a:spcAft>
                        <a:buSzPts val="1100"/>
                        <a:buAutoNum type="arabicPeriod"/>
                      </a:pPr>
                      <a:r>
                        <a:rPr lang="en-US" sz="1100"/>
                        <a:t>Each Zone Agent receives a calculated quantity of scooters from the Distribution Agent’s central stock.</a:t>
                      </a:r>
                      <a:endParaRPr sz="1100"/>
                    </a:p>
                  </a:txBody>
                  <a:tcPr marT="63500" marB="63500" marR="63500" marL="63500"/>
                </a:tc>
              </a:tr>
            </a:tbl>
          </a:graphicData>
        </a:graphic>
      </p:graphicFrame>
      <p:graphicFrame>
        <p:nvGraphicFramePr>
          <p:cNvPr id="1131" name="Google Shape;1131;g3e33499f370_0_344"/>
          <p:cNvGraphicFramePr/>
          <p:nvPr/>
        </p:nvGraphicFramePr>
        <p:xfrm>
          <a:off x="889213" y="4165861"/>
          <a:ext cx="3000000" cy="3000000"/>
        </p:xfrm>
        <a:graphic>
          <a:graphicData uri="http://schemas.openxmlformats.org/drawingml/2006/table">
            <a:tbl>
              <a:tblPr>
                <a:noFill/>
                <a:tableStyleId>{2736B423-FCC7-43BB-9A58-3EA48F6894B7}</a:tableStyleId>
              </a:tblPr>
              <a:tblGrid>
                <a:gridCol w="6196250"/>
              </a:tblGrid>
              <a:tr h="1600575">
                <a:tc>
                  <a:txBody>
                    <a:bodyPr/>
                    <a:lstStyle/>
                    <a:p>
                      <a:pPr indent="0" lvl="0" marL="0" rtl="0" algn="l">
                        <a:spcBef>
                          <a:spcPts val="1200"/>
                        </a:spcBef>
                        <a:spcAft>
                          <a:spcPts val="0"/>
                        </a:spcAft>
                        <a:buNone/>
                      </a:pPr>
                      <a:r>
                        <a:rPr b="1" lang="en-US" sz="1100">
                          <a:solidFill>
                            <a:schemeClr val="dk1"/>
                          </a:solidFill>
                        </a:rPr>
                        <a:t>AF1 - Lack of Available Scooters in the Distribution Agent's Central Stock</a:t>
                      </a:r>
                      <a:endParaRPr b="1" sz="1100">
                        <a:solidFill>
                          <a:schemeClr val="dk1"/>
                        </a:solidFill>
                      </a:endParaRPr>
                    </a:p>
                    <a:p>
                      <a:pPr indent="0" lvl="0" marL="0" rtl="0" algn="l">
                        <a:spcBef>
                          <a:spcPts val="1200"/>
                        </a:spcBef>
                        <a:spcAft>
                          <a:spcPts val="0"/>
                        </a:spcAft>
                        <a:buNone/>
                      </a:pPr>
                      <a:r>
                        <a:rPr lang="en-US" sz="1100">
                          <a:solidFill>
                            <a:schemeClr val="dk1"/>
                          </a:solidFill>
                        </a:rPr>
                        <a:t>Alternative Flow for Step 10 of the Main Flow</a:t>
                      </a:r>
                      <a:endParaRPr sz="1100">
                        <a:solidFill>
                          <a:schemeClr val="dk1"/>
                        </a:solidFill>
                      </a:endParaRPr>
                    </a:p>
                    <a:p>
                      <a:pPr indent="0" lvl="0" marL="0" rtl="0" algn="l">
                        <a:spcBef>
                          <a:spcPts val="1200"/>
                        </a:spcBef>
                        <a:spcAft>
                          <a:spcPts val="0"/>
                        </a:spcAft>
                        <a:buNone/>
                      </a:pPr>
                      <a:r>
                        <a:rPr lang="en-US" sz="1100">
                          <a:solidFill>
                            <a:schemeClr val="dk1"/>
                          </a:solidFill>
                        </a:rPr>
                        <a:t>If there are not enough scooters available in the Distribution Agent's Central Stock:</a:t>
                      </a:r>
                      <a:endParaRPr sz="1100">
                        <a:solidFill>
                          <a:schemeClr val="dk1"/>
                        </a:solidFill>
                      </a:endParaRPr>
                    </a:p>
                    <a:p>
                      <a:pPr indent="-298450" lvl="0" marL="457200" rtl="0" algn="l">
                        <a:spcBef>
                          <a:spcPts val="1200"/>
                        </a:spcBef>
                        <a:spcAft>
                          <a:spcPts val="0"/>
                        </a:spcAft>
                        <a:buClr>
                          <a:schemeClr val="dk1"/>
                        </a:buClr>
                        <a:buSzPts val="1100"/>
                        <a:buAutoNum type="arabicPeriod"/>
                      </a:pPr>
                      <a:r>
                        <a:rPr lang="en-US" sz="1100">
                          <a:solidFill>
                            <a:schemeClr val="dk1"/>
                          </a:solidFill>
                        </a:rPr>
                        <a:t>The Distribution Agent checks whether there are zones with available scooters and low current demand.</a:t>
                      </a:r>
                      <a:endParaRPr sz="1100">
                        <a:solidFill>
                          <a:schemeClr val="dk1"/>
                        </a:solidFill>
                      </a:endParaRPr>
                    </a:p>
                    <a:p>
                      <a:pPr indent="-298450" lvl="0" marL="457200" rtl="0" algn="l">
                        <a:spcBef>
                          <a:spcPts val="0"/>
                        </a:spcBef>
                        <a:spcAft>
                          <a:spcPts val="0"/>
                        </a:spcAft>
                        <a:buClr>
                          <a:schemeClr val="dk1"/>
                        </a:buClr>
                        <a:buSzPts val="1100"/>
                        <a:buAutoNum type="arabicPeriod"/>
                      </a:pPr>
                      <a:r>
                        <a:rPr lang="en-US" sz="1100">
                          <a:solidFill>
                            <a:schemeClr val="dk1"/>
                          </a:solidFill>
                        </a:rPr>
                        <a:t>If so, it transfers available scooters from the identified zone to a priority zone</a:t>
                      </a:r>
                      <a:endParaRPr/>
                    </a:p>
                  </a:txBody>
                  <a:tcPr marT="91425" marB="91425" marR="91425" marL="91425"/>
                </a:tc>
              </a:tr>
            </a:tbl>
          </a:graphicData>
        </a:graphic>
      </p:graphicFrame>
      <p:sp>
        <p:nvSpPr>
          <p:cNvPr id="1132" name="Google Shape;1132;g3e33499f370_0_344"/>
          <p:cNvSpPr/>
          <p:nvPr/>
        </p:nvSpPr>
        <p:spPr>
          <a:xfrm>
            <a:off x="1736425" y="1828800"/>
            <a:ext cx="1090200" cy="2742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133" name="Google Shape;1133;g3e33499f370_0_344"/>
          <p:cNvSpPr/>
          <p:nvPr/>
        </p:nvSpPr>
        <p:spPr>
          <a:xfrm>
            <a:off x="7295175" y="1115250"/>
            <a:ext cx="2295300" cy="13374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en-US">
                <a:solidFill>
                  <a:schemeClr val="dk1"/>
                </a:solidFill>
                <a:latin typeface="Calibri"/>
                <a:ea typeface="Calibri"/>
                <a:cs typeface="Calibri"/>
                <a:sym typeface="Calibri"/>
              </a:rPr>
              <a:t>Privacy and Data Protection</a:t>
            </a:r>
            <a:endParaRPr b="1">
              <a:solidFill>
                <a:schemeClr val="dk1"/>
              </a:solidFill>
              <a:latin typeface="Calibri"/>
              <a:ea typeface="Calibri"/>
              <a:cs typeface="Calibri"/>
              <a:sym typeface="Calibri"/>
            </a:endParaRPr>
          </a:p>
          <a:p>
            <a:pPr indent="0" lvl="0" marL="0" rtl="0" algn="ctr">
              <a:spcBef>
                <a:spcPts val="0"/>
              </a:spcBef>
              <a:spcAft>
                <a:spcPts val="0"/>
              </a:spcAft>
              <a:buNone/>
            </a:pPr>
            <a:r>
              <a:rPr lang="en-US" sz="1300">
                <a:latin typeface="Calibri"/>
                <a:ea typeface="Calibri"/>
                <a:cs typeface="Calibri"/>
                <a:sym typeface="Calibri"/>
              </a:rPr>
              <a:t>To calculate the demand of each zone at a given time, it is necessary to collect user data such as location and usage times</a:t>
            </a:r>
            <a:endParaRPr sz="1300">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7" name="Shape 1137"/>
        <p:cNvGrpSpPr/>
        <p:nvPr/>
      </p:nvGrpSpPr>
      <p:grpSpPr>
        <a:xfrm>
          <a:off x="0" y="0"/>
          <a:ext cx="0" cy="0"/>
          <a:chOff x="0" y="0"/>
          <a:chExt cx="0" cy="0"/>
        </a:xfrm>
      </p:grpSpPr>
      <p:sp>
        <p:nvSpPr>
          <p:cNvPr id="1138" name="Google Shape;1138;g3e33499f370_0_14"/>
          <p:cNvSpPr txBox="1"/>
          <p:nvPr>
            <p:ph type="title"/>
          </p:nvPr>
        </p:nvSpPr>
        <p:spPr>
          <a:xfrm>
            <a:off x="101475" y="108450"/>
            <a:ext cx="9604200" cy="624600"/>
          </a:xfrm>
          <a:prstGeom prst="rect">
            <a:avLst/>
          </a:prstGeom>
          <a:solidFill>
            <a:srgbClr val="000000">
              <a:alpha val="0"/>
            </a:srgbClr>
          </a:solidFill>
          <a:ln>
            <a:noFill/>
          </a:ln>
        </p:spPr>
        <p:txBody>
          <a:bodyPr anchorCtr="0" anchor="ctr" bIns="45700" lIns="91400" spcFirstLastPara="1" rIns="91400" wrap="square" tIns="45700">
            <a:noAutofit/>
          </a:bodyPr>
          <a:lstStyle/>
          <a:p>
            <a:pPr indent="0" lvl="0" marL="0" rtl="0" algn="l">
              <a:spcBef>
                <a:spcPts val="0"/>
              </a:spcBef>
              <a:spcAft>
                <a:spcPts val="0"/>
              </a:spcAft>
              <a:buNone/>
            </a:pPr>
            <a:r>
              <a:rPr b="1" lang="en-US" sz="2300">
                <a:solidFill>
                  <a:srgbClr val="1E4E79"/>
                </a:solidFill>
                <a:latin typeface="Arial"/>
                <a:ea typeface="Arial"/>
                <a:cs typeface="Arial"/>
                <a:sym typeface="Arial"/>
              </a:rPr>
              <a:t>Step </a:t>
            </a:r>
            <a:r>
              <a:rPr lang="en-US" sz="2300">
                <a:latin typeface="Arial"/>
                <a:ea typeface="Arial"/>
                <a:cs typeface="Arial"/>
                <a:sym typeface="Arial"/>
              </a:rPr>
              <a:t>3</a:t>
            </a:r>
            <a:r>
              <a:rPr b="1" lang="en-US" sz="2300">
                <a:solidFill>
                  <a:srgbClr val="1E4E79"/>
                </a:solidFill>
                <a:latin typeface="Arial"/>
                <a:ea typeface="Arial"/>
                <a:cs typeface="Arial"/>
                <a:sym typeface="Arial"/>
              </a:rPr>
              <a:t>: Mapping of Ethical Causes and Consequences by Ethical Principle </a:t>
            </a:r>
            <a:endParaRPr b="1" sz="2300">
              <a:solidFill>
                <a:srgbClr val="1E4E79"/>
              </a:solidFill>
              <a:latin typeface="Arial"/>
              <a:ea typeface="Arial"/>
              <a:cs typeface="Arial"/>
              <a:sym typeface="Arial"/>
            </a:endParaRPr>
          </a:p>
        </p:txBody>
      </p:sp>
      <p:grpSp>
        <p:nvGrpSpPr>
          <p:cNvPr id="1139" name="Google Shape;1139;g3e33499f370_0_14"/>
          <p:cNvGrpSpPr/>
          <p:nvPr/>
        </p:nvGrpSpPr>
        <p:grpSpPr>
          <a:xfrm>
            <a:off x="-18000" y="5842891"/>
            <a:ext cx="9942000" cy="1014788"/>
            <a:chOff x="-21650" y="5927750"/>
            <a:chExt cx="9942000" cy="930230"/>
          </a:xfrm>
        </p:grpSpPr>
        <p:sp>
          <p:nvSpPr>
            <p:cNvPr id="1140" name="Google Shape;1140;g3e33499f370_0_14"/>
            <p:cNvSpPr/>
            <p:nvPr/>
          </p:nvSpPr>
          <p:spPr>
            <a:xfrm>
              <a:off x="5239747" y="5949280"/>
              <a:ext cx="4680600" cy="9087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Arial"/>
                  <a:ea typeface="Arial"/>
                  <a:cs typeface="Arial"/>
                  <a:sym typeface="Arial"/>
                </a:rPr>
                <a:t>25th Annual International Conference on Digital Government Research (dg.o 2024)</a:t>
              </a:r>
              <a:endParaRPr b="0" i="0" sz="1800" u="none" cap="none" strike="noStrike">
                <a:solidFill>
                  <a:schemeClr val="lt1"/>
                </a:solidFill>
                <a:latin typeface="Arial"/>
                <a:ea typeface="Arial"/>
                <a:cs typeface="Arial"/>
                <a:sym typeface="Arial"/>
              </a:endParaRPr>
            </a:p>
          </p:txBody>
        </p:sp>
        <p:pic>
          <p:nvPicPr>
            <p:cNvPr id="1141" name="Google Shape;1141;g3e33499f370_0_14"/>
            <p:cNvPicPr preferRelativeResize="0"/>
            <p:nvPr/>
          </p:nvPicPr>
          <p:blipFill rotWithShape="1">
            <a:blip r:embed="rId3">
              <a:alphaModFix/>
            </a:blip>
            <a:srcRect b="-112517" l="-23390" r="23390" t="137700"/>
            <a:stretch/>
          </p:blipFill>
          <p:spPr>
            <a:xfrm>
              <a:off x="0" y="6007596"/>
              <a:ext cx="9920265" cy="792088"/>
            </a:xfrm>
            <a:prstGeom prst="rect">
              <a:avLst/>
            </a:prstGeom>
            <a:noFill/>
            <a:ln>
              <a:noFill/>
            </a:ln>
          </p:spPr>
        </p:pic>
        <p:sp>
          <p:nvSpPr>
            <p:cNvPr id="1142" name="Google Shape;1142;g3e33499f370_0_14"/>
            <p:cNvSpPr/>
            <p:nvPr/>
          </p:nvSpPr>
          <p:spPr>
            <a:xfrm>
              <a:off x="-21650" y="5927750"/>
              <a:ext cx="9942000" cy="9087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sp>
        <p:nvSpPr>
          <p:cNvPr id="1143" name="Google Shape;1143;g3e33499f370_0_14"/>
          <p:cNvSpPr txBox="1"/>
          <p:nvPr>
            <p:ph idx="12" type="sldNum"/>
          </p:nvPr>
        </p:nvSpPr>
        <p:spPr>
          <a:xfrm>
            <a:off x="6996113" y="6356350"/>
            <a:ext cx="22290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pic>
        <p:nvPicPr>
          <p:cNvPr id="1144" name="Google Shape;1144;g3e33499f370_0_14"/>
          <p:cNvPicPr preferRelativeResize="0"/>
          <p:nvPr/>
        </p:nvPicPr>
        <p:blipFill rotWithShape="1">
          <a:blip r:embed="rId4">
            <a:alphaModFix/>
          </a:blip>
          <a:srcRect b="0" l="0" r="0" t="0"/>
          <a:stretch/>
        </p:blipFill>
        <p:spPr>
          <a:xfrm>
            <a:off x="218750" y="6052376"/>
            <a:ext cx="1823009" cy="470325"/>
          </a:xfrm>
          <a:prstGeom prst="rect">
            <a:avLst/>
          </a:prstGeom>
          <a:noFill/>
          <a:ln>
            <a:noFill/>
          </a:ln>
        </p:spPr>
      </p:pic>
      <p:pic>
        <p:nvPicPr>
          <p:cNvPr id="1145" name="Google Shape;1145;g3e33499f370_0_14"/>
          <p:cNvPicPr preferRelativeResize="0"/>
          <p:nvPr/>
        </p:nvPicPr>
        <p:blipFill rotWithShape="1">
          <a:blip r:embed="rId5">
            <a:alphaModFix/>
          </a:blip>
          <a:srcRect b="0" l="0" r="0" t="0"/>
          <a:stretch/>
        </p:blipFill>
        <p:spPr>
          <a:xfrm>
            <a:off x="6996125" y="5975242"/>
            <a:ext cx="1811830" cy="624575"/>
          </a:xfrm>
          <a:prstGeom prst="rect">
            <a:avLst/>
          </a:prstGeom>
          <a:noFill/>
          <a:ln>
            <a:noFill/>
          </a:ln>
        </p:spPr>
      </p:pic>
      <p:sp>
        <p:nvSpPr>
          <p:cNvPr id="1146" name="Google Shape;1146;g3e33499f370_0_14"/>
          <p:cNvSpPr/>
          <p:nvPr/>
        </p:nvSpPr>
        <p:spPr>
          <a:xfrm>
            <a:off x="1812973" y="5001892"/>
            <a:ext cx="2480700" cy="470400"/>
          </a:xfrm>
          <a:prstGeom prst="roundRect">
            <a:avLst>
              <a:gd fmla="val 16667" name="adj"/>
            </a:avLst>
          </a:prstGeom>
          <a:solidFill>
            <a:srgbClr val="EA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latin typeface="Calibri"/>
                <a:ea typeface="Calibri"/>
                <a:cs typeface="Calibri"/>
                <a:sym typeface="Calibri"/>
              </a:rPr>
              <a:t>U</a:t>
            </a:r>
            <a:r>
              <a:rPr lang="en-US">
                <a:latin typeface="Calibri"/>
                <a:ea typeface="Calibri"/>
                <a:cs typeface="Calibri"/>
                <a:sym typeface="Calibri"/>
              </a:rPr>
              <a:t>nequal access</a:t>
            </a:r>
            <a:endParaRPr>
              <a:latin typeface="Calibri"/>
              <a:ea typeface="Calibri"/>
              <a:cs typeface="Calibri"/>
              <a:sym typeface="Calibri"/>
            </a:endParaRPr>
          </a:p>
        </p:txBody>
      </p:sp>
      <p:cxnSp>
        <p:nvCxnSpPr>
          <p:cNvPr id="1147" name="Google Shape;1147;g3e33499f370_0_14"/>
          <p:cNvCxnSpPr/>
          <p:nvPr/>
        </p:nvCxnSpPr>
        <p:spPr>
          <a:xfrm>
            <a:off x="231300" y="4604275"/>
            <a:ext cx="9439800" cy="27000"/>
          </a:xfrm>
          <a:prstGeom prst="straightConnector1">
            <a:avLst/>
          </a:prstGeom>
          <a:noFill/>
          <a:ln cap="flat" cmpd="sng" w="28575">
            <a:solidFill>
              <a:srgbClr val="FF0000"/>
            </a:solidFill>
            <a:prstDash val="dot"/>
            <a:round/>
            <a:headEnd len="med" w="med" type="none"/>
            <a:tailEnd len="med" w="med" type="none"/>
          </a:ln>
        </p:spPr>
      </p:cxnSp>
      <p:sp>
        <p:nvSpPr>
          <p:cNvPr id="1148" name="Google Shape;1148;g3e33499f370_0_14"/>
          <p:cNvSpPr txBox="1"/>
          <p:nvPr/>
        </p:nvSpPr>
        <p:spPr>
          <a:xfrm>
            <a:off x="131149" y="4944584"/>
            <a:ext cx="1449600" cy="585000"/>
          </a:xfrm>
          <a:prstGeom prst="rect">
            <a:avLst/>
          </a:prstGeom>
          <a:solidFill>
            <a:srgbClr val="EA9999"/>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US" sz="1300">
                <a:solidFill>
                  <a:schemeClr val="dk1"/>
                </a:solidFill>
              </a:rPr>
              <a:t>Ethical Consequences</a:t>
            </a:r>
            <a:endParaRPr b="1" sz="1300">
              <a:solidFill>
                <a:schemeClr val="dk1"/>
              </a:solidFill>
            </a:endParaRPr>
          </a:p>
        </p:txBody>
      </p:sp>
      <p:cxnSp>
        <p:nvCxnSpPr>
          <p:cNvPr id="1149" name="Google Shape;1149;g3e33499f370_0_14"/>
          <p:cNvCxnSpPr/>
          <p:nvPr/>
        </p:nvCxnSpPr>
        <p:spPr>
          <a:xfrm rot="10800000">
            <a:off x="1664753" y="772000"/>
            <a:ext cx="0" cy="5069400"/>
          </a:xfrm>
          <a:prstGeom prst="straightConnector1">
            <a:avLst/>
          </a:prstGeom>
          <a:noFill/>
          <a:ln cap="flat" cmpd="sng" w="19050">
            <a:solidFill>
              <a:schemeClr val="dk2"/>
            </a:solidFill>
            <a:prstDash val="solid"/>
            <a:round/>
            <a:headEnd len="med" w="med" type="diamond"/>
            <a:tailEnd len="med" w="med" type="diamond"/>
          </a:ln>
        </p:spPr>
      </p:cxnSp>
      <p:cxnSp>
        <p:nvCxnSpPr>
          <p:cNvPr id="1150" name="Google Shape;1150;g3e33499f370_0_14"/>
          <p:cNvCxnSpPr/>
          <p:nvPr/>
        </p:nvCxnSpPr>
        <p:spPr>
          <a:xfrm>
            <a:off x="323850" y="3048663"/>
            <a:ext cx="9439800" cy="27000"/>
          </a:xfrm>
          <a:prstGeom prst="straightConnector1">
            <a:avLst/>
          </a:prstGeom>
          <a:noFill/>
          <a:ln cap="flat" cmpd="sng" w="28575">
            <a:solidFill>
              <a:schemeClr val="dk1"/>
            </a:solidFill>
            <a:prstDash val="dot"/>
            <a:round/>
            <a:headEnd len="med" w="med" type="none"/>
            <a:tailEnd len="med" w="med" type="none"/>
          </a:ln>
        </p:spPr>
      </p:cxnSp>
      <p:graphicFrame>
        <p:nvGraphicFramePr>
          <p:cNvPr id="1151" name="Google Shape;1151;g3e33499f370_0_14"/>
          <p:cNvGraphicFramePr/>
          <p:nvPr/>
        </p:nvGraphicFramePr>
        <p:xfrm>
          <a:off x="152400" y="152400"/>
          <a:ext cx="3000000" cy="3000000"/>
        </p:xfrm>
        <a:graphic>
          <a:graphicData uri="http://schemas.openxmlformats.org/drawingml/2006/table">
            <a:tbl>
              <a:tblPr>
                <a:noFill/>
                <a:tableStyleId>{50916073-6137-4BFC-AC2B-91BFF95D4831}</a:tableStyleId>
              </a:tblPr>
              <a:tblGrid>
                <a:gridCol w="19050"/>
              </a:tblGrid>
              <a:tr h="19050">
                <a:tc>
                  <a:txBody>
                    <a:bodyPr/>
                    <a:lstStyle/>
                    <a:p>
                      <a:pPr indent="0" lvl="0" marL="0" rtl="0" algn="l">
                        <a:spcBef>
                          <a:spcPts val="0"/>
                        </a:spcBef>
                        <a:spcAft>
                          <a:spcPts val="0"/>
                        </a:spcAft>
                        <a:buNone/>
                      </a:pPr>
                      <a:r>
                        <a:t/>
                      </a:r>
                      <a:endParaRPr/>
                    </a:p>
                  </a:txBody>
                  <a:tcPr marT="91425" marB="91425" marR="91425" marL="91425"/>
                </a:tc>
              </a:tr>
            </a:tbl>
          </a:graphicData>
        </a:graphic>
      </p:graphicFrame>
      <p:graphicFrame>
        <p:nvGraphicFramePr>
          <p:cNvPr id="1152" name="Google Shape;1152;g3e33499f370_0_14"/>
          <p:cNvGraphicFramePr/>
          <p:nvPr/>
        </p:nvGraphicFramePr>
        <p:xfrm>
          <a:off x="304800" y="304800"/>
          <a:ext cx="3000000" cy="3000000"/>
        </p:xfrm>
        <a:graphic>
          <a:graphicData uri="http://schemas.openxmlformats.org/drawingml/2006/table">
            <a:tbl>
              <a:tblPr>
                <a:noFill/>
                <a:tableStyleId>{50916073-6137-4BFC-AC2B-91BFF95D4831}</a:tableStyleId>
              </a:tblPr>
              <a:tblGrid>
                <a:gridCol w="19050"/>
              </a:tblGrid>
              <a:tr h="19050">
                <a:tc>
                  <a:txBody>
                    <a:bodyPr/>
                    <a:lstStyle/>
                    <a:p>
                      <a:pPr indent="0" lvl="0" marL="0" rtl="0" algn="l">
                        <a:spcBef>
                          <a:spcPts val="0"/>
                        </a:spcBef>
                        <a:spcAft>
                          <a:spcPts val="0"/>
                        </a:spcAft>
                        <a:buNone/>
                      </a:pPr>
                      <a:r>
                        <a:t/>
                      </a:r>
                      <a:endParaRPr/>
                    </a:p>
                  </a:txBody>
                  <a:tcPr marT="91425" marB="91425" marR="91425" marL="91425"/>
                </a:tc>
              </a:tr>
            </a:tbl>
          </a:graphicData>
        </a:graphic>
      </p:graphicFrame>
      <p:graphicFrame>
        <p:nvGraphicFramePr>
          <p:cNvPr id="1153" name="Google Shape;1153;g3e33499f370_0_14"/>
          <p:cNvGraphicFramePr/>
          <p:nvPr/>
        </p:nvGraphicFramePr>
        <p:xfrm>
          <a:off x="-409575" y="2066500"/>
          <a:ext cx="3000000" cy="3000000"/>
        </p:xfrm>
        <a:graphic>
          <a:graphicData uri="http://schemas.openxmlformats.org/drawingml/2006/table">
            <a:tbl>
              <a:tblPr>
                <a:noFill/>
                <a:tableStyleId>{50916073-6137-4BFC-AC2B-91BFF95D4831}</a:tableStyleId>
              </a:tblPr>
              <a:tblGrid>
                <a:gridCol w="19050"/>
              </a:tblGrid>
              <a:tr h="19050">
                <a:tc>
                  <a:txBody>
                    <a:bodyPr/>
                    <a:lstStyle/>
                    <a:p>
                      <a:pPr indent="0" lvl="0" marL="0" rtl="0" algn="l">
                        <a:spcBef>
                          <a:spcPts val="0"/>
                        </a:spcBef>
                        <a:spcAft>
                          <a:spcPts val="0"/>
                        </a:spcAft>
                        <a:buNone/>
                      </a:pPr>
                      <a:r>
                        <a:t/>
                      </a:r>
                      <a:endParaRPr/>
                    </a:p>
                  </a:txBody>
                  <a:tcPr marT="91425" marB="91425" marR="91425" marL="91425"/>
                </a:tc>
              </a:tr>
            </a:tbl>
          </a:graphicData>
        </a:graphic>
      </p:graphicFrame>
      <p:sp>
        <p:nvSpPr>
          <p:cNvPr id="1154" name="Google Shape;1154;g3e33499f370_0_14"/>
          <p:cNvSpPr txBox="1"/>
          <p:nvPr/>
        </p:nvSpPr>
        <p:spPr>
          <a:xfrm>
            <a:off x="152398" y="3652747"/>
            <a:ext cx="1383000" cy="585000"/>
          </a:xfrm>
          <a:prstGeom prst="rect">
            <a:avLst/>
          </a:prstGeom>
          <a:solidFill>
            <a:schemeClr val="lt1"/>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US" sz="1300">
                <a:solidFill>
                  <a:schemeClr val="dk1"/>
                </a:solidFill>
              </a:rPr>
              <a:t>In</a:t>
            </a:r>
            <a:r>
              <a:rPr b="1" lang="en-US" sz="1300">
                <a:solidFill>
                  <a:schemeClr val="dk1"/>
                </a:solidFill>
              </a:rPr>
              <a:t>termediate Effect</a:t>
            </a:r>
            <a:endParaRPr b="1" sz="1300">
              <a:solidFill>
                <a:srgbClr val="FF0000"/>
              </a:solidFill>
              <a:latin typeface="Calibri"/>
              <a:ea typeface="Calibri"/>
              <a:cs typeface="Calibri"/>
              <a:sym typeface="Calibri"/>
            </a:endParaRPr>
          </a:p>
        </p:txBody>
      </p:sp>
      <p:sp>
        <p:nvSpPr>
          <p:cNvPr id="1155" name="Google Shape;1155;g3e33499f370_0_14"/>
          <p:cNvSpPr txBox="1"/>
          <p:nvPr/>
        </p:nvSpPr>
        <p:spPr>
          <a:xfrm>
            <a:off x="164447" y="1984427"/>
            <a:ext cx="1383000" cy="384900"/>
          </a:xfrm>
          <a:prstGeom prst="rect">
            <a:avLst/>
          </a:prstGeom>
          <a:solidFill>
            <a:schemeClr val="lt1"/>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US" sz="1300">
                <a:solidFill>
                  <a:schemeClr val="dk1"/>
                </a:solidFill>
              </a:rPr>
              <a:t>Cause</a:t>
            </a:r>
            <a:endParaRPr b="1" sz="1300">
              <a:solidFill>
                <a:srgbClr val="FF0000"/>
              </a:solidFill>
              <a:latin typeface="Calibri"/>
              <a:ea typeface="Calibri"/>
              <a:cs typeface="Calibri"/>
              <a:sym typeface="Calibri"/>
            </a:endParaRPr>
          </a:p>
        </p:txBody>
      </p:sp>
      <p:sp>
        <p:nvSpPr>
          <p:cNvPr id="1156" name="Google Shape;1156;g3e33499f370_0_14"/>
          <p:cNvSpPr txBox="1"/>
          <p:nvPr/>
        </p:nvSpPr>
        <p:spPr>
          <a:xfrm>
            <a:off x="282900" y="931775"/>
            <a:ext cx="1240500" cy="585000"/>
          </a:xfrm>
          <a:prstGeom prst="rect">
            <a:avLst/>
          </a:prstGeom>
          <a:solidFill>
            <a:schemeClr val="lt1"/>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US" sz="1300">
                <a:solidFill>
                  <a:schemeClr val="dk1"/>
                </a:solidFill>
              </a:rPr>
              <a:t>Ethics Principles</a:t>
            </a:r>
            <a:endParaRPr b="1" sz="1300">
              <a:solidFill>
                <a:srgbClr val="FF0000"/>
              </a:solidFill>
              <a:latin typeface="Calibri"/>
              <a:ea typeface="Calibri"/>
              <a:cs typeface="Calibri"/>
              <a:sym typeface="Calibri"/>
            </a:endParaRPr>
          </a:p>
        </p:txBody>
      </p:sp>
      <p:sp>
        <p:nvSpPr>
          <p:cNvPr id="1157" name="Google Shape;1157;g3e33499f370_0_14"/>
          <p:cNvSpPr/>
          <p:nvPr/>
        </p:nvSpPr>
        <p:spPr>
          <a:xfrm>
            <a:off x="1784538" y="811925"/>
            <a:ext cx="2454000" cy="6246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en-US">
                <a:solidFill>
                  <a:schemeClr val="dk1"/>
                </a:solidFill>
                <a:latin typeface="Calibri"/>
                <a:ea typeface="Calibri"/>
                <a:cs typeface="Calibri"/>
                <a:sym typeface="Calibri"/>
              </a:rPr>
              <a:t>1 - Sustainable Development and Social Welfare</a:t>
            </a:r>
            <a:endParaRPr>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1" name="Shape 1161"/>
        <p:cNvGrpSpPr/>
        <p:nvPr/>
      </p:nvGrpSpPr>
      <p:grpSpPr>
        <a:xfrm>
          <a:off x="0" y="0"/>
          <a:ext cx="0" cy="0"/>
          <a:chOff x="0" y="0"/>
          <a:chExt cx="0" cy="0"/>
        </a:xfrm>
      </p:grpSpPr>
      <p:sp>
        <p:nvSpPr>
          <p:cNvPr id="1162" name="Google Shape;1162;g3e3a61befe4_0_3952"/>
          <p:cNvSpPr txBox="1"/>
          <p:nvPr>
            <p:ph type="title"/>
          </p:nvPr>
        </p:nvSpPr>
        <p:spPr>
          <a:xfrm>
            <a:off x="101475" y="108450"/>
            <a:ext cx="9604200" cy="624600"/>
          </a:xfrm>
          <a:prstGeom prst="rect">
            <a:avLst/>
          </a:prstGeom>
          <a:solidFill>
            <a:srgbClr val="000000">
              <a:alpha val="0"/>
            </a:srgbClr>
          </a:solidFill>
          <a:ln>
            <a:noFill/>
          </a:ln>
        </p:spPr>
        <p:txBody>
          <a:bodyPr anchorCtr="0" anchor="ctr" bIns="45700" lIns="91400" spcFirstLastPara="1" rIns="91400" wrap="square" tIns="45700">
            <a:noAutofit/>
          </a:bodyPr>
          <a:lstStyle/>
          <a:p>
            <a:pPr indent="0" lvl="0" marL="0" rtl="0" algn="l">
              <a:spcBef>
                <a:spcPts val="0"/>
              </a:spcBef>
              <a:spcAft>
                <a:spcPts val="0"/>
              </a:spcAft>
              <a:buNone/>
            </a:pPr>
            <a:r>
              <a:rPr b="1" lang="en-US" sz="2300">
                <a:solidFill>
                  <a:srgbClr val="1E4E79"/>
                </a:solidFill>
                <a:latin typeface="Arial"/>
                <a:ea typeface="Arial"/>
                <a:cs typeface="Arial"/>
                <a:sym typeface="Arial"/>
              </a:rPr>
              <a:t>Step </a:t>
            </a:r>
            <a:r>
              <a:rPr lang="en-US" sz="2300">
                <a:latin typeface="Arial"/>
                <a:ea typeface="Arial"/>
                <a:cs typeface="Arial"/>
                <a:sym typeface="Arial"/>
              </a:rPr>
              <a:t>3</a:t>
            </a:r>
            <a:r>
              <a:rPr b="1" lang="en-US" sz="2300">
                <a:solidFill>
                  <a:srgbClr val="1E4E79"/>
                </a:solidFill>
                <a:latin typeface="Arial"/>
                <a:ea typeface="Arial"/>
                <a:cs typeface="Arial"/>
                <a:sym typeface="Arial"/>
              </a:rPr>
              <a:t>: Mapping of Ethical Causes and Consequences by Ethical Principle </a:t>
            </a:r>
            <a:endParaRPr b="1" sz="2300">
              <a:solidFill>
                <a:srgbClr val="1E4E79"/>
              </a:solidFill>
              <a:latin typeface="Arial"/>
              <a:ea typeface="Arial"/>
              <a:cs typeface="Arial"/>
              <a:sym typeface="Arial"/>
            </a:endParaRPr>
          </a:p>
        </p:txBody>
      </p:sp>
      <p:grpSp>
        <p:nvGrpSpPr>
          <p:cNvPr id="1163" name="Google Shape;1163;g3e3a61befe4_0_3952"/>
          <p:cNvGrpSpPr/>
          <p:nvPr/>
        </p:nvGrpSpPr>
        <p:grpSpPr>
          <a:xfrm>
            <a:off x="-18000" y="5842891"/>
            <a:ext cx="9942000" cy="1014788"/>
            <a:chOff x="-21650" y="5927750"/>
            <a:chExt cx="9942000" cy="930230"/>
          </a:xfrm>
        </p:grpSpPr>
        <p:sp>
          <p:nvSpPr>
            <p:cNvPr id="1164" name="Google Shape;1164;g3e3a61befe4_0_3952"/>
            <p:cNvSpPr/>
            <p:nvPr/>
          </p:nvSpPr>
          <p:spPr>
            <a:xfrm>
              <a:off x="5239747" y="5949280"/>
              <a:ext cx="4680600" cy="9087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Arial"/>
                  <a:ea typeface="Arial"/>
                  <a:cs typeface="Arial"/>
                  <a:sym typeface="Arial"/>
                </a:rPr>
                <a:t>25th Annual International Conference on Digital Government Research (dg.o 2024)</a:t>
              </a:r>
              <a:endParaRPr b="0" i="0" sz="1800" u="none" cap="none" strike="noStrike">
                <a:solidFill>
                  <a:schemeClr val="lt1"/>
                </a:solidFill>
                <a:latin typeface="Arial"/>
                <a:ea typeface="Arial"/>
                <a:cs typeface="Arial"/>
                <a:sym typeface="Arial"/>
              </a:endParaRPr>
            </a:p>
          </p:txBody>
        </p:sp>
        <p:pic>
          <p:nvPicPr>
            <p:cNvPr id="1165" name="Google Shape;1165;g3e3a61befe4_0_3952"/>
            <p:cNvPicPr preferRelativeResize="0"/>
            <p:nvPr/>
          </p:nvPicPr>
          <p:blipFill rotWithShape="1">
            <a:blip r:embed="rId3">
              <a:alphaModFix/>
            </a:blip>
            <a:srcRect b="-112517" l="-23390" r="23390" t="137700"/>
            <a:stretch/>
          </p:blipFill>
          <p:spPr>
            <a:xfrm>
              <a:off x="0" y="6007596"/>
              <a:ext cx="9920265" cy="792088"/>
            </a:xfrm>
            <a:prstGeom prst="rect">
              <a:avLst/>
            </a:prstGeom>
            <a:noFill/>
            <a:ln>
              <a:noFill/>
            </a:ln>
          </p:spPr>
        </p:pic>
        <p:sp>
          <p:nvSpPr>
            <p:cNvPr id="1166" name="Google Shape;1166;g3e3a61befe4_0_3952"/>
            <p:cNvSpPr/>
            <p:nvPr/>
          </p:nvSpPr>
          <p:spPr>
            <a:xfrm>
              <a:off x="-21650" y="5927750"/>
              <a:ext cx="9942000" cy="9087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sp>
        <p:nvSpPr>
          <p:cNvPr id="1167" name="Google Shape;1167;g3e3a61befe4_0_3952"/>
          <p:cNvSpPr txBox="1"/>
          <p:nvPr>
            <p:ph idx="12" type="sldNum"/>
          </p:nvPr>
        </p:nvSpPr>
        <p:spPr>
          <a:xfrm>
            <a:off x="6996113" y="6356350"/>
            <a:ext cx="22290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pic>
        <p:nvPicPr>
          <p:cNvPr id="1168" name="Google Shape;1168;g3e3a61befe4_0_3952"/>
          <p:cNvPicPr preferRelativeResize="0"/>
          <p:nvPr/>
        </p:nvPicPr>
        <p:blipFill rotWithShape="1">
          <a:blip r:embed="rId4">
            <a:alphaModFix/>
          </a:blip>
          <a:srcRect b="0" l="0" r="0" t="0"/>
          <a:stretch/>
        </p:blipFill>
        <p:spPr>
          <a:xfrm>
            <a:off x="218750" y="6052376"/>
            <a:ext cx="1823009" cy="470325"/>
          </a:xfrm>
          <a:prstGeom prst="rect">
            <a:avLst/>
          </a:prstGeom>
          <a:noFill/>
          <a:ln>
            <a:noFill/>
          </a:ln>
        </p:spPr>
      </p:pic>
      <p:pic>
        <p:nvPicPr>
          <p:cNvPr id="1169" name="Google Shape;1169;g3e3a61befe4_0_3952"/>
          <p:cNvPicPr preferRelativeResize="0"/>
          <p:nvPr/>
        </p:nvPicPr>
        <p:blipFill rotWithShape="1">
          <a:blip r:embed="rId5">
            <a:alphaModFix/>
          </a:blip>
          <a:srcRect b="0" l="0" r="0" t="0"/>
          <a:stretch/>
        </p:blipFill>
        <p:spPr>
          <a:xfrm>
            <a:off x="6996125" y="5975242"/>
            <a:ext cx="1811830" cy="624575"/>
          </a:xfrm>
          <a:prstGeom prst="rect">
            <a:avLst/>
          </a:prstGeom>
          <a:noFill/>
          <a:ln>
            <a:noFill/>
          </a:ln>
        </p:spPr>
      </p:pic>
      <p:sp>
        <p:nvSpPr>
          <p:cNvPr id="1170" name="Google Shape;1170;g3e3a61befe4_0_3952"/>
          <p:cNvSpPr/>
          <p:nvPr/>
        </p:nvSpPr>
        <p:spPr>
          <a:xfrm>
            <a:off x="1812973" y="5001892"/>
            <a:ext cx="2480700" cy="470400"/>
          </a:xfrm>
          <a:prstGeom prst="roundRect">
            <a:avLst>
              <a:gd fmla="val 16667" name="adj"/>
            </a:avLst>
          </a:prstGeom>
          <a:solidFill>
            <a:srgbClr val="EA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latin typeface="Calibri"/>
                <a:ea typeface="Calibri"/>
                <a:cs typeface="Calibri"/>
                <a:sym typeface="Calibri"/>
              </a:rPr>
              <a:t>Unequal access</a:t>
            </a:r>
            <a:endParaRPr>
              <a:latin typeface="Calibri"/>
              <a:ea typeface="Calibri"/>
              <a:cs typeface="Calibri"/>
              <a:sym typeface="Calibri"/>
            </a:endParaRPr>
          </a:p>
        </p:txBody>
      </p:sp>
      <p:cxnSp>
        <p:nvCxnSpPr>
          <p:cNvPr id="1171" name="Google Shape;1171;g3e3a61befe4_0_3952"/>
          <p:cNvCxnSpPr/>
          <p:nvPr/>
        </p:nvCxnSpPr>
        <p:spPr>
          <a:xfrm>
            <a:off x="231300" y="4604275"/>
            <a:ext cx="9439800" cy="27000"/>
          </a:xfrm>
          <a:prstGeom prst="straightConnector1">
            <a:avLst/>
          </a:prstGeom>
          <a:noFill/>
          <a:ln cap="flat" cmpd="sng" w="28575">
            <a:solidFill>
              <a:srgbClr val="FF0000"/>
            </a:solidFill>
            <a:prstDash val="dot"/>
            <a:round/>
            <a:headEnd len="med" w="med" type="none"/>
            <a:tailEnd len="med" w="med" type="none"/>
          </a:ln>
        </p:spPr>
      </p:cxnSp>
      <p:sp>
        <p:nvSpPr>
          <p:cNvPr id="1172" name="Google Shape;1172;g3e3a61befe4_0_3952"/>
          <p:cNvSpPr txBox="1"/>
          <p:nvPr/>
        </p:nvSpPr>
        <p:spPr>
          <a:xfrm>
            <a:off x="131149" y="4944584"/>
            <a:ext cx="1449600" cy="585000"/>
          </a:xfrm>
          <a:prstGeom prst="rect">
            <a:avLst/>
          </a:prstGeom>
          <a:solidFill>
            <a:srgbClr val="EA9999"/>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US" sz="1300">
                <a:solidFill>
                  <a:schemeClr val="dk1"/>
                </a:solidFill>
              </a:rPr>
              <a:t>Ethical Consequences</a:t>
            </a:r>
            <a:endParaRPr b="1" sz="1300">
              <a:solidFill>
                <a:schemeClr val="dk1"/>
              </a:solidFill>
            </a:endParaRPr>
          </a:p>
        </p:txBody>
      </p:sp>
      <p:cxnSp>
        <p:nvCxnSpPr>
          <p:cNvPr id="1173" name="Google Shape;1173;g3e3a61befe4_0_3952"/>
          <p:cNvCxnSpPr/>
          <p:nvPr/>
        </p:nvCxnSpPr>
        <p:spPr>
          <a:xfrm rot="10800000">
            <a:off x="1664753" y="772000"/>
            <a:ext cx="0" cy="5069400"/>
          </a:xfrm>
          <a:prstGeom prst="straightConnector1">
            <a:avLst/>
          </a:prstGeom>
          <a:noFill/>
          <a:ln cap="flat" cmpd="sng" w="19050">
            <a:solidFill>
              <a:schemeClr val="dk2"/>
            </a:solidFill>
            <a:prstDash val="solid"/>
            <a:round/>
            <a:headEnd len="med" w="med" type="diamond"/>
            <a:tailEnd len="med" w="med" type="diamond"/>
          </a:ln>
        </p:spPr>
      </p:cxnSp>
      <p:cxnSp>
        <p:nvCxnSpPr>
          <p:cNvPr id="1174" name="Google Shape;1174;g3e3a61befe4_0_3952"/>
          <p:cNvCxnSpPr/>
          <p:nvPr/>
        </p:nvCxnSpPr>
        <p:spPr>
          <a:xfrm>
            <a:off x="323850" y="3048663"/>
            <a:ext cx="9439800" cy="27000"/>
          </a:xfrm>
          <a:prstGeom prst="straightConnector1">
            <a:avLst/>
          </a:prstGeom>
          <a:noFill/>
          <a:ln cap="flat" cmpd="sng" w="28575">
            <a:solidFill>
              <a:schemeClr val="dk1"/>
            </a:solidFill>
            <a:prstDash val="dot"/>
            <a:round/>
            <a:headEnd len="med" w="med" type="none"/>
            <a:tailEnd len="med" w="med" type="none"/>
          </a:ln>
        </p:spPr>
      </p:cxnSp>
      <p:sp>
        <p:nvSpPr>
          <p:cNvPr id="1175" name="Google Shape;1175;g3e3a61befe4_0_3952"/>
          <p:cNvSpPr/>
          <p:nvPr/>
        </p:nvSpPr>
        <p:spPr>
          <a:xfrm>
            <a:off x="1815975" y="3263676"/>
            <a:ext cx="2480700" cy="11526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US">
                <a:solidFill>
                  <a:schemeClr val="dk1"/>
                </a:solidFill>
                <a:latin typeface="Calibri"/>
                <a:ea typeface="Calibri"/>
                <a:cs typeface="Calibri"/>
                <a:sym typeface="Calibri"/>
              </a:rPr>
              <a:t>If the Distribution Agent’s central stock is empty, scooters may be transferred from other zones, leaving some areas without scooters</a:t>
            </a:r>
            <a:endParaRPr>
              <a:latin typeface="Calibri"/>
              <a:ea typeface="Calibri"/>
              <a:cs typeface="Calibri"/>
              <a:sym typeface="Calibri"/>
            </a:endParaRPr>
          </a:p>
        </p:txBody>
      </p:sp>
      <p:cxnSp>
        <p:nvCxnSpPr>
          <p:cNvPr id="1176" name="Google Shape;1176;g3e3a61befe4_0_3952"/>
          <p:cNvCxnSpPr>
            <a:stCxn id="1170" idx="0"/>
            <a:endCxn id="1175" idx="2"/>
          </p:cNvCxnSpPr>
          <p:nvPr/>
        </p:nvCxnSpPr>
        <p:spPr>
          <a:xfrm flipH="1" rot="10800000">
            <a:off x="3053323" y="4416292"/>
            <a:ext cx="3000" cy="585600"/>
          </a:xfrm>
          <a:prstGeom prst="straightConnector1">
            <a:avLst/>
          </a:prstGeom>
          <a:noFill/>
          <a:ln cap="flat" cmpd="sng" w="9525">
            <a:solidFill>
              <a:schemeClr val="dk2"/>
            </a:solidFill>
            <a:prstDash val="solid"/>
            <a:round/>
            <a:headEnd len="med" w="med" type="triangle"/>
            <a:tailEnd len="med" w="med" type="none"/>
          </a:ln>
        </p:spPr>
      </p:cxnSp>
      <p:graphicFrame>
        <p:nvGraphicFramePr>
          <p:cNvPr id="1177" name="Google Shape;1177;g3e3a61befe4_0_3952"/>
          <p:cNvGraphicFramePr/>
          <p:nvPr/>
        </p:nvGraphicFramePr>
        <p:xfrm>
          <a:off x="152400" y="152400"/>
          <a:ext cx="3000000" cy="3000000"/>
        </p:xfrm>
        <a:graphic>
          <a:graphicData uri="http://schemas.openxmlformats.org/drawingml/2006/table">
            <a:tbl>
              <a:tblPr>
                <a:noFill/>
                <a:tableStyleId>{50916073-6137-4BFC-AC2B-91BFF95D4831}</a:tableStyleId>
              </a:tblPr>
              <a:tblGrid>
                <a:gridCol w="19050"/>
              </a:tblGrid>
              <a:tr h="19050">
                <a:tc>
                  <a:txBody>
                    <a:bodyPr/>
                    <a:lstStyle/>
                    <a:p>
                      <a:pPr indent="0" lvl="0" marL="0" rtl="0" algn="l">
                        <a:spcBef>
                          <a:spcPts val="0"/>
                        </a:spcBef>
                        <a:spcAft>
                          <a:spcPts val="0"/>
                        </a:spcAft>
                        <a:buNone/>
                      </a:pPr>
                      <a:r>
                        <a:t/>
                      </a:r>
                      <a:endParaRPr/>
                    </a:p>
                  </a:txBody>
                  <a:tcPr marT="91425" marB="91425" marR="91425" marL="91425"/>
                </a:tc>
              </a:tr>
            </a:tbl>
          </a:graphicData>
        </a:graphic>
      </p:graphicFrame>
      <p:graphicFrame>
        <p:nvGraphicFramePr>
          <p:cNvPr id="1178" name="Google Shape;1178;g3e3a61befe4_0_3952"/>
          <p:cNvGraphicFramePr/>
          <p:nvPr/>
        </p:nvGraphicFramePr>
        <p:xfrm>
          <a:off x="304800" y="304800"/>
          <a:ext cx="3000000" cy="3000000"/>
        </p:xfrm>
        <a:graphic>
          <a:graphicData uri="http://schemas.openxmlformats.org/drawingml/2006/table">
            <a:tbl>
              <a:tblPr>
                <a:noFill/>
                <a:tableStyleId>{50916073-6137-4BFC-AC2B-91BFF95D4831}</a:tableStyleId>
              </a:tblPr>
              <a:tblGrid>
                <a:gridCol w="19050"/>
              </a:tblGrid>
              <a:tr h="19050">
                <a:tc>
                  <a:txBody>
                    <a:bodyPr/>
                    <a:lstStyle/>
                    <a:p>
                      <a:pPr indent="0" lvl="0" marL="0" rtl="0" algn="l">
                        <a:spcBef>
                          <a:spcPts val="0"/>
                        </a:spcBef>
                        <a:spcAft>
                          <a:spcPts val="0"/>
                        </a:spcAft>
                        <a:buNone/>
                      </a:pPr>
                      <a:r>
                        <a:t/>
                      </a:r>
                      <a:endParaRPr/>
                    </a:p>
                  </a:txBody>
                  <a:tcPr marT="91425" marB="91425" marR="91425" marL="91425"/>
                </a:tc>
              </a:tr>
            </a:tbl>
          </a:graphicData>
        </a:graphic>
      </p:graphicFrame>
      <p:graphicFrame>
        <p:nvGraphicFramePr>
          <p:cNvPr id="1179" name="Google Shape;1179;g3e3a61befe4_0_3952"/>
          <p:cNvGraphicFramePr/>
          <p:nvPr/>
        </p:nvGraphicFramePr>
        <p:xfrm>
          <a:off x="-409575" y="2066500"/>
          <a:ext cx="3000000" cy="3000000"/>
        </p:xfrm>
        <a:graphic>
          <a:graphicData uri="http://schemas.openxmlformats.org/drawingml/2006/table">
            <a:tbl>
              <a:tblPr>
                <a:noFill/>
                <a:tableStyleId>{50916073-6137-4BFC-AC2B-91BFF95D4831}</a:tableStyleId>
              </a:tblPr>
              <a:tblGrid>
                <a:gridCol w="19050"/>
              </a:tblGrid>
              <a:tr h="19050">
                <a:tc>
                  <a:txBody>
                    <a:bodyPr/>
                    <a:lstStyle/>
                    <a:p>
                      <a:pPr indent="0" lvl="0" marL="0" rtl="0" algn="l">
                        <a:spcBef>
                          <a:spcPts val="0"/>
                        </a:spcBef>
                        <a:spcAft>
                          <a:spcPts val="0"/>
                        </a:spcAft>
                        <a:buNone/>
                      </a:pPr>
                      <a:r>
                        <a:t/>
                      </a:r>
                      <a:endParaRPr/>
                    </a:p>
                  </a:txBody>
                  <a:tcPr marT="91425" marB="91425" marR="91425" marL="91425"/>
                </a:tc>
              </a:tr>
            </a:tbl>
          </a:graphicData>
        </a:graphic>
      </p:graphicFrame>
      <p:sp>
        <p:nvSpPr>
          <p:cNvPr id="1180" name="Google Shape;1180;g3e3a61befe4_0_3952"/>
          <p:cNvSpPr txBox="1"/>
          <p:nvPr/>
        </p:nvSpPr>
        <p:spPr>
          <a:xfrm>
            <a:off x="152398" y="3652747"/>
            <a:ext cx="1383000" cy="585000"/>
          </a:xfrm>
          <a:prstGeom prst="rect">
            <a:avLst/>
          </a:prstGeom>
          <a:solidFill>
            <a:schemeClr val="lt1"/>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US" sz="1300">
                <a:solidFill>
                  <a:schemeClr val="dk1"/>
                </a:solidFill>
              </a:rPr>
              <a:t>Intermediate Effect</a:t>
            </a:r>
            <a:endParaRPr b="1" sz="1300">
              <a:solidFill>
                <a:srgbClr val="FF0000"/>
              </a:solidFill>
              <a:latin typeface="Calibri"/>
              <a:ea typeface="Calibri"/>
              <a:cs typeface="Calibri"/>
              <a:sym typeface="Calibri"/>
            </a:endParaRPr>
          </a:p>
        </p:txBody>
      </p:sp>
      <p:sp>
        <p:nvSpPr>
          <p:cNvPr id="1181" name="Google Shape;1181;g3e3a61befe4_0_3952"/>
          <p:cNvSpPr txBox="1"/>
          <p:nvPr/>
        </p:nvSpPr>
        <p:spPr>
          <a:xfrm>
            <a:off x="164447" y="1984427"/>
            <a:ext cx="1383000" cy="384900"/>
          </a:xfrm>
          <a:prstGeom prst="rect">
            <a:avLst/>
          </a:prstGeom>
          <a:solidFill>
            <a:schemeClr val="lt1"/>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US" sz="1300">
                <a:solidFill>
                  <a:schemeClr val="dk1"/>
                </a:solidFill>
              </a:rPr>
              <a:t>Cause</a:t>
            </a:r>
            <a:endParaRPr b="1" sz="1300">
              <a:solidFill>
                <a:srgbClr val="FF0000"/>
              </a:solidFill>
              <a:latin typeface="Calibri"/>
              <a:ea typeface="Calibri"/>
              <a:cs typeface="Calibri"/>
              <a:sym typeface="Calibri"/>
            </a:endParaRPr>
          </a:p>
        </p:txBody>
      </p:sp>
      <p:sp>
        <p:nvSpPr>
          <p:cNvPr id="1182" name="Google Shape;1182;g3e3a61befe4_0_3952"/>
          <p:cNvSpPr/>
          <p:nvPr/>
        </p:nvSpPr>
        <p:spPr>
          <a:xfrm>
            <a:off x="1784538" y="811925"/>
            <a:ext cx="2454000" cy="6246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en-US">
                <a:solidFill>
                  <a:schemeClr val="dk1"/>
                </a:solidFill>
                <a:latin typeface="Calibri"/>
                <a:ea typeface="Calibri"/>
                <a:cs typeface="Calibri"/>
                <a:sym typeface="Calibri"/>
              </a:rPr>
              <a:t>1 - Sustainable Development and Social Welfare</a:t>
            </a:r>
            <a:endParaRPr>
              <a:latin typeface="Calibri"/>
              <a:ea typeface="Calibri"/>
              <a:cs typeface="Calibri"/>
              <a:sym typeface="Calibri"/>
            </a:endParaRPr>
          </a:p>
        </p:txBody>
      </p:sp>
      <p:sp>
        <p:nvSpPr>
          <p:cNvPr id="1183" name="Google Shape;1183;g3e3a61befe4_0_3952"/>
          <p:cNvSpPr txBox="1"/>
          <p:nvPr/>
        </p:nvSpPr>
        <p:spPr>
          <a:xfrm>
            <a:off x="282900" y="931775"/>
            <a:ext cx="1240500" cy="585000"/>
          </a:xfrm>
          <a:prstGeom prst="rect">
            <a:avLst/>
          </a:prstGeom>
          <a:solidFill>
            <a:schemeClr val="lt1"/>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US" sz="1300">
                <a:solidFill>
                  <a:schemeClr val="dk1"/>
                </a:solidFill>
              </a:rPr>
              <a:t>Ethics Principles</a:t>
            </a:r>
            <a:endParaRPr b="1" sz="1300">
              <a:solidFill>
                <a:srgbClr val="FF0000"/>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7" name="Shape 1187"/>
        <p:cNvGrpSpPr/>
        <p:nvPr/>
      </p:nvGrpSpPr>
      <p:grpSpPr>
        <a:xfrm>
          <a:off x="0" y="0"/>
          <a:ext cx="0" cy="0"/>
          <a:chOff x="0" y="0"/>
          <a:chExt cx="0" cy="0"/>
        </a:xfrm>
      </p:grpSpPr>
      <p:sp>
        <p:nvSpPr>
          <p:cNvPr id="1188" name="Google Shape;1188;g3e3a61befe4_0_3979"/>
          <p:cNvSpPr txBox="1"/>
          <p:nvPr>
            <p:ph type="title"/>
          </p:nvPr>
        </p:nvSpPr>
        <p:spPr>
          <a:xfrm>
            <a:off x="101475" y="108450"/>
            <a:ext cx="9604200" cy="624600"/>
          </a:xfrm>
          <a:prstGeom prst="rect">
            <a:avLst/>
          </a:prstGeom>
          <a:solidFill>
            <a:srgbClr val="000000">
              <a:alpha val="0"/>
            </a:srgbClr>
          </a:solidFill>
          <a:ln>
            <a:noFill/>
          </a:ln>
        </p:spPr>
        <p:txBody>
          <a:bodyPr anchorCtr="0" anchor="ctr" bIns="45700" lIns="91400" spcFirstLastPara="1" rIns="91400" wrap="square" tIns="45700">
            <a:noAutofit/>
          </a:bodyPr>
          <a:lstStyle/>
          <a:p>
            <a:pPr indent="0" lvl="0" marL="0" rtl="0" algn="l">
              <a:spcBef>
                <a:spcPts val="0"/>
              </a:spcBef>
              <a:spcAft>
                <a:spcPts val="0"/>
              </a:spcAft>
              <a:buNone/>
            </a:pPr>
            <a:r>
              <a:rPr b="1" lang="en-US" sz="2300">
                <a:solidFill>
                  <a:srgbClr val="1E4E79"/>
                </a:solidFill>
                <a:latin typeface="Arial"/>
                <a:ea typeface="Arial"/>
                <a:cs typeface="Arial"/>
                <a:sym typeface="Arial"/>
              </a:rPr>
              <a:t>Step </a:t>
            </a:r>
            <a:r>
              <a:rPr lang="en-US" sz="2300">
                <a:latin typeface="Arial"/>
                <a:ea typeface="Arial"/>
                <a:cs typeface="Arial"/>
                <a:sym typeface="Arial"/>
              </a:rPr>
              <a:t>3</a:t>
            </a:r>
            <a:r>
              <a:rPr b="1" lang="en-US" sz="2300">
                <a:solidFill>
                  <a:srgbClr val="1E4E79"/>
                </a:solidFill>
                <a:latin typeface="Arial"/>
                <a:ea typeface="Arial"/>
                <a:cs typeface="Arial"/>
                <a:sym typeface="Arial"/>
              </a:rPr>
              <a:t>: Mapping of Ethical Causes and Consequences by Ethical Principle </a:t>
            </a:r>
            <a:endParaRPr b="1" sz="2300">
              <a:solidFill>
                <a:srgbClr val="1E4E79"/>
              </a:solidFill>
              <a:latin typeface="Arial"/>
              <a:ea typeface="Arial"/>
              <a:cs typeface="Arial"/>
              <a:sym typeface="Arial"/>
            </a:endParaRPr>
          </a:p>
        </p:txBody>
      </p:sp>
      <p:grpSp>
        <p:nvGrpSpPr>
          <p:cNvPr id="1189" name="Google Shape;1189;g3e3a61befe4_0_3979"/>
          <p:cNvGrpSpPr/>
          <p:nvPr/>
        </p:nvGrpSpPr>
        <p:grpSpPr>
          <a:xfrm>
            <a:off x="-18000" y="5842891"/>
            <a:ext cx="9942000" cy="1014788"/>
            <a:chOff x="-21650" y="5927750"/>
            <a:chExt cx="9942000" cy="930230"/>
          </a:xfrm>
        </p:grpSpPr>
        <p:sp>
          <p:nvSpPr>
            <p:cNvPr id="1190" name="Google Shape;1190;g3e3a61befe4_0_3979"/>
            <p:cNvSpPr/>
            <p:nvPr/>
          </p:nvSpPr>
          <p:spPr>
            <a:xfrm>
              <a:off x="5239747" y="5949280"/>
              <a:ext cx="4680600" cy="9087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Arial"/>
                  <a:ea typeface="Arial"/>
                  <a:cs typeface="Arial"/>
                  <a:sym typeface="Arial"/>
                </a:rPr>
                <a:t>25th Annual International Conference on Digital Government Research (dg.o 2024)</a:t>
              </a:r>
              <a:endParaRPr b="0" i="0" sz="1800" u="none" cap="none" strike="noStrike">
                <a:solidFill>
                  <a:schemeClr val="lt1"/>
                </a:solidFill>
                <a:latin typeface="Arial"/>
                <a:ea typeface="Arial"/>
                <a:cs typeface="Arial"/>
                <a:sym typeface="Arial"/>
              </a:endParaRPr>
            </a:p>
          </p:txBody>
        </p:sp>
        <p:pic>
          <p:nvPicPr>
            <p:cNvPr id="1191" name="Google Shape;1191;g3e3a61befe4_0_3979"/>
            <p:cNvPicPr preferRelativeResize="0"/>
            <p:nvPr/>
          </p:nvPicPr>
          <p:blipFill rotWithShape="1">
            <a:blip r:embed="rId3">
              <a:alphaModFix/>
            </a:blip>
            <a:srcRect b="-112517" l="-23390" r="23390" t="137700"/>
            <a:stretch/>
          </p:blipFill>
          <p:spPr>
            <a:xfrm>
              <a:off x="0" y="6007596"/>
              <a:ext cx="9920265" cy="792088"/>
            </a:xfrm>
            <a:prstGeom prst="rect">
              <a:avLst/>
            </a:prstGeom>
            <a:noFill/>
            <a:ln>
              <a:noFill/>
            </a:ln>
          </p:spPr>
        </p:pic>
        <p:sp>
          <p:nvSpPr>
            <p:cNvPr id="1192" name="Google Shape;1192;g3e3a61befe4_0_3979"/>
            <p:cNvSpPr/>
            <p:nvPr/>
          </p:nvSpPr>
          <p:spPr>
            <a:xfrm>
              <a:off x="-21650" y="5927750"/>
              <a:ext cx="9942000" cy="9087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sp>
        <p:nvSpPr>
          <p:cNvPr id="1193" name="Google Shape;1193;g3e3a61befe4_0_3979"/>
          <p:cNvSpPr txBox="1"/>
          <p:nvPr>
            <p:ph idx="12" type="sldNum"/>
          </p:nvPr>
        </p:nvSpPr>
        <p:spPr>
          <a:xfrm>
            <a:off x="6996113" y="6356350"/>
            <a:ext cx="22290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pic>
        <p:nvPicPr>
          <p:cNvPr id="1194" name="Google Shape;1194;g3e3a61befe4_0_3979"/>
          <p:cNvPicPr preferRelativeResize="0"/>
          <p:nvPr/>
        </p:nvPicPr>
        <p:blipFill rotWithShape="1">
          <a:blip r:embed="rId4">
            <a:alphaModFix/>
          </a:blip>
          <a:srcRect b="0" l="0" r="0" t="0"/>
          <a:stretch/>
        </p:blipFill>
        <p:spPr>
          <a:xfrm>
            <a:off x="218750" y="6052376"/>
            <a:ext cx="1823009" cy="470325"/>
          </a:xfrm>
          <a:prstGeom prst="rect">
            <a:avLst/>
          </a:prstGeom>
          <a:noFill/>
          <a:ln>
            <a:noFill/>
          </a:ln>
        </p:spPr>
      </p:pic>
      <p:pic>
        <p:nvPicPr>
          <p:cNvPr id="1195" name="Google Shape;1195;g3e3a61befe4_0_3979"/>
          <p:cNvPicPr preferRelativeResize="0"/>
          <p:nvPr/>
        </p:nvPicPr>
        <p:blipFill rotWithShape="1">
          <a:blip r:embed="rId5">
            <a:alphaModFix/>
          </a:blip>
          <a:srcRect b="0" l="0" r="0" t="0"/>
          <a:stretch/>
        </p:blipFill>
        <p:spPr>
          <a:xfrm>
            <a:off x="6996125" y="5975242"/>
            <a:ext cx="1811830" cy="624575"/>
          </a:xfrm>
          <a:prstGeom prst="rect">
            <a:avLst/>
          </a:prstGeom>
          <a:noFill/>
          <a:ln>
            <a:noFill/>
          </a:ln>
        </p:spPr>
      </p:pic>
      <p:sp>
        <p:nvSpPr>
          <p:cNvPr id="1196" name="Google Shape;1196;g3e3a61befe4_0_3979"/>
          <p:cNvSpPr/>
          <p:nvPr/>
        </p:nvSpPr>
        <p:spPr>
          <a:xfrm>
            <a:off x="1812973" y="5001892"/>
            <a:ext cx="2480700" cy="470400"/>
          </a:xfrm>
          <a:prstGeom prst="roundRect">
            <a:avLst>
              <a:gd fmla="val 16667" name="adj"/>
            </a:avLst>
          </a:prstGeom>
          <a:solidFill>
            <a:srgbClr val="EA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latin typeface="Calibri"/>
                <a:ea typeface="Calibri"/>
                <a:cs typeface="Calibri"/>
                <a:sym typeface="Calibri"/>
              </a:rPr>
              <a:t>Unequal access</a:t>
            </a:r>
            <a:endParaRPr>
              <a:latin typeface="Calibri"/>
              <a:ea typeface="Calibri"/>
              <a:cs typeface="Calibri"/>
              <a:sym typeface="Calibri"/>
            </a:endParaRPr>
          </a:p>
        </p:txBody>
      </p:sp>
      <p:cxnSp>
        <p:nvCxnSpPr>
          <p:cNvPr id="1197" name="Google Shape;1197;g3e3a61befe4_0_3979"/>
          <p:cNvCxnSpPr/>
          <p:nvPr/>
        </p:nvCxnSpPr>
        <p:spPr>
          <a:xfrm>
            <a:off x="231300" y="4604275"/>
            <a:ext cx="9439800" cy="27000"/>
          </a:xfrm>
          <a:prstGeom prst="straightConnector1">
            <a:avLst/>
          </a:prstGeom>
          <a:noFill/>
          <a:ln cap="flat" cmpd="sng" w="28575">
            <a:solidFill>
              <a:srgbClr val="FF0000"/>
            </a:solidFill>
            <a:prstDash val="dot"/>
            <a:round/>
            <a:headEnd len="med" w="med" type="none"/>
            <a:tailEnd len="med" w="med" type="none"/>
          </a:ln>
        </p:spPr>
      </p:cxnSp>
      <p:sp>
        <p:nvSpPr>
          <p:cNvPr id="1198" name="Google Shape;1198;g3e3a61befe4_0_3979"/>
          <p:cNvSpPr txBox="1"/>
          <p:nvPr/>
        </p:nvSpPr>
        <p:spPr>
          <a:xfrm>
            <a:off x="131149" y="4944584"/>
            <a:ext cx="1449600" cy="585000"/>
          </a:xfrm>
          <a:prstGeom prst="rect">
            <a:avLst/>
          </a:prstGeom>
          <a:solidFill>
            <a:srgbClr val="EA9999"/>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US" sz="1300">
                <a:solidFill>
                  <a:schemeClr val="dk1"/>
                </a:solidFill>
              </a:rPr>
              <a:t>Ethical Consequences</a:t>
            </a:r>
            <a:endParaRPr b="1" sz="1300">
              <a:solidFill>
                <a:schemeClr val="dk1"/>
              </a:solidFill>
            </a:endParaRPr>
          </a:p>
        </p:txBody>
      </p:sp>
      <p:cxnSp>
        <p:nvCxnSpPr>
          <p:cNvPr id="1199" name="Google Shape;1199;g3e3a61befe4_0_3979"/>
          <p:cNvCxnSpPr/>
          <p:nvPr/>
        </p:nvCxnSpPr>
        <p:spPr>
          <a:xfrm rot="10800000">
            <a:off x="1664753" y="772000"/>
            <a:ext cx="0" cy="5069400"/>
          </a:xfrm>
          <a:prstGeom prst="straightConnector1">
            <a:avLst/>
          </a:prstGeom>
          <a:noFill/>
          <a:ln cap="flat" cmpd="sng" w="19050">
            <a:solidFill>
              <a:schemeClr val="dk2"/>
            </a:solidFill>
            <a:prstDash val="solid"/>
            <a:round/>
            <a:headEnd len="med" w="med" type="diamond"/>
            <a:tailEnd len="med" w="med" type="diamond"/>
          </a:ln>
        </p:spPr>
      </p:cxnSp>
      <p:cxnSp>
        <p:nvCxnSpPr>
          <p:cNvPr id="1200" name="Google Shape;1200;g3e3a61befe4_0_3979"/>
          <p:cNvCxnSpPr/>
          <p:nvPr/>
        </p:nvCxnSpPr>
        <p:spPr>
          <a:xfrm>
            <a:off x="323850" y="3048663"/>
            <a:ext cx="9439800" cy="27000"/>
          </a:xfrm>
          <a:prstGeom prst="straightConnector1">
            <a:avLst/>
          </a:prstGeom>
          <a:noFill/>
          <a:ln cap="flat" cmpd="sng" w="28575">
            <a:solidFill>
              <a:schemeClr val="dk1"/>
            </a:solidFill>
            <a:prstDash val="dot"/>
            <a:round/>
            <a:headEnd len="med" w="med" type="none"/>
            <a:tailEnd len="med" w="med" type="none"/>
          </a:ln>
        </p:spPr>
      </p:cxnSp>
      <p:sp>
        <p:nvSpPr>
          <p:cNvPr id="1201" name="Google Shape;1201;g3e3a61befe4_0_3979"/>
          <p:cNvSpPr/>
          <p:nvPr/>
        </p:nvSpPr>
        <p:spPr>
          <a:xfrm>
            <a:off x="1815975" y="3263676"/>
            <a:ext cx="2480700" cy="11526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US">
                <a:solidFill>
                  <a:schemeClr val="dk1"/>
                </a:solidFill>
                <a:latin typeface="Calibri"/>
                <a:ea typeface="Calibri"/>
                <a:cs typeface="Calibri"/>
                <a:sym typeface="Calibri"/>
              </a:rPr>
              <a:t>If the Distribution Agent’s central stock is empty, scooters may be transferred from other zones, leaving some areas without scooters</a:t>
            </a:r>
            <a:endParaRPr>
              <a:latin typeface="Calibri"/>
              <a:ea typeface="Calibri"/>
              <a:cs typeface="Calibri"/>
              <a:sym typeface="Calibri"/>
            </a:endParaRPr>
          </a:p>
        </p:txBody>
      </p:sp>
      <p:cxnSp>
        <p:nvCxnSpPr>
          <p:cNvPr id="1202" name="Google Shape;1202;g3e3a61befe4_0_3979"/>
          <p:cNvCxnSpPr>
            <a:stCxn id="1196" idx="0"/>
            <a:endCxn id="1201" idx="2"/>
          </p:cNvCxnSpPr>
          <p:nvPr/>
        </p:nvCxnSpPr>
        <p:spPr>
          <a:xfrm flipH="1" rot="10800000">
            <a:off x="3053323" y="4416292"/>
            <a:ext cx="3000" cy="585600"/>
          </a:xfrm>
          <a:prstGeom prst="straightConnector1">
            <a:avLst/>
          </a:prstGeom>
          <a:noFill/>
          <a:ln cap="flat" cmpd="sng" w="9525">
            <a:solidFill>
              <a:schemeClr val="dk2"/>
            </a:solidFill>
            <a:prstDash val="solid"/>
            <a:round/>
            <a:headEnd len="med" w="med" type="triangle"/>
            <a:tailEnd len="med" w="med" type="none"/>
          </a:ln>
        </p:spPr>
      </p:cxnSp>
      <p:graphicFrame>
        <p:nvGraphicFramePr>
          <p:cNvPr id="1203" name="Google Shape;1203;g3e3a61befe4_0_3979"/>
          <p:cNvGraphicFramePr/>
          <p:nvPr/>
        </p:nvGraphicFramePr>
        <p:xfrm>
          <a:off x="152400" y="152400"/>
          <a:ext cx="3000000" cy="3000000"/>
        </p:xfrm>
        <a:graphic>
          <a:graphicData uri="http://schemas.openxmlformats.org/drawingml/2006/table">
            <a:tbl>
              <a:tblPr>
                <a:noFill/>
                <a:tableStyleId>{50916073-6137-4BFC-AC2B-91BFF95D4831}</a:tableStyleId>
              </a:tblPr>
              <a:tblGrid>
                <a:gridCol w="19050"/>
              </a:tblGrid>
              <a:tr h="19050">
                <a:tc>
                  <a:txBody>
                    <a:bodyPr/>
                    <a:lstStyle/>
                    <a:p>
                      <a:pPr indent="0" lvl="0" marL="0" rtl="0" algn="l">
                        <a:spcBef>
                          <a:spcPts val="0"/>
                        </a:spcBef>
                        <a:spcAft>
                          <a:spcPts val="0"/>
                        </a:spcAft>
                        <a:buNone/>
                      </a:pPr>
                      <a:r>
                        <a:t/>
                      </a:r>
                      <a:endParaRPr/>
                    </a:p>
                  </a:txBody>
                  <a:tcPr marT="91425" marB="91425" marR="91425" marL="91425"/>
                </a:tc>
              </a:tr>
            </a:tbl>
          </a:graphicData>
        </a:graphic>
      </p:graphicFrame>
      <p:graphicFrame>
        <p:nvGraphicFramePr>
          <p:cNvPr id="1204" name="Google Shape;1204;g3e3a61befe4_0_3979"/>
          <p:cNvGraphicFramePr/>
          <p:nvPr/>
        </p:nvGraphicFramePr>
        <p:xfrm>
          <a:off x="304800" y="304800"/>
          <a:ext cx="3000000" cy="3000000"/>
        </p:xfrm>
        <a:graphic>
          <a:graphicData uri="http://schemas.openxmlformats.org/drawingml/2006/table">
            <a:tbl>
              <a:tblPr>
                <a:noFill/>
                <a:tableStyleId>{50916073-6137-4BFC-AC2B-91BFF95D4831}</a:tableStyleId>
              </a:tblPr>
              <a:tblGrid>
                <a:gridCol w="19050"/>
              </a:tblGrid>
              <a:tr h="19050">
                <a:tc>
                  <a:txBody>
                    <a:bodyPr/>
                    <a:lstStyle/>
                    <a:p>
                      <a:pPr indent="0" lvl="0" marL="0" rtl="0" algn="l">
                        <a:spcBef>
                          <a:spcPts val="0"/>
                        </a:spcBef>
                        <a:spcAft>
                          <a:spcPts val="0"/>
                        </a:spcAft>
                        <a:buNone/>
                      </a:pPr>
                      <a:r>
                        <a:t/>
                      </a:r>
                      <a:endParaRPr/>
                    </a:p>
                  </a:txBody>
                  <a:tcPr marT="91425" marB="91425" marR="91425" marL="91425"/>
                </a:tc>
              </a:tr>
            </a:tbl>
          </a:graphicData>
        </a:graphic>
      </p:graphicFrame>
      <p:graphicFrame>
        <p:nvGraphicFramePr>
          <p:cNvPr id="1205" name="Google Shape;1205;g3e3a61befe4_0_3979"/>
          <p:cNvGraphicFramePr/>
          <p:nvPr/>
        </p:nvGraphicFramePr>
        <p:xfrm>
          <a:off x="-409575" y="2066500"/>
          <a:ext cx="3000000" cy="3000000"/>
        </p:xfrm>
        <a:graphic>
          <a:graphicData uri="http://schemas.openxmlformats.org/drawingml/2006/table">
            <a:tbl>
              <a:tblPr>
                <a:noFill/>
                <a:tableStyleId>{50916073-6137-4BFC-AC2B-91BFF95D4831}</a:tableStyleId>
              </a:tblPr>
              <a:tblGrid>
                <a:gridCol w="19050"/>
              </a:tblGrid>
              <a:tr h="19050">
                <a:tc>
                  <a:txBody>
                    <a:bodyPr/>
                    <a:lstStyle/>
                    <a:p>
                      <a:pPr indent="0" lvl="0" marL="0" rtl="0" algn="l">
                        <a:spcBef>
                          <a:spcPts val="0"/>
                        </a:spcBef>
                        <a:spcAft>
                          <a:spcPts val="0"/>
                        </a:spcAft>
                        <a:buNone/>
                      </a:pPr>
                      <a:r>
                        <a:t/>
                      </a:r>
                      <a:endParaRPr/>
                    </a:p>
                  </a:txBody>
                  <a:tcPr marT="91425" marB="91425" marR="91425" marL="91425"/>
                </a:tc>
              </a:tr>
            </a:tbl>
          </a:graphicData>
        </a:graphic>
      </p:graphicFrame>
      <p:sp>
        <p:nvSpPr>
          <p:cNvPr id="1206" name="Google Shape;1206;g3e3a61befe4_0_3979"/>
          <p:cNvSpPr txBox="1"/>
          <p:nvPr/>
        </p:nvSpPr>
        <p:spPr>
          <a:xfrm>
            <a:off x="152398" y="3652747"/>
            <a:ext cx="1383000" cy="585000"/>
          </a:xfrm>
          <a:prstGeom prst="rect">
            <a:avLst/>
          </a:prstGeom>
          <a:solidFill>
            <a:schemeClr val="lt1"/>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US" sz="1300">
                <a:solidFill>
                  <a:schemeClr val="dk1"/>
                </a:solidFill>
              </a:rPr>
              <a:t>Intermediate Effect</a:t>
            </a:r>
            <a:endParaRPr b="1" sz="1300">
              <a:solidFill>
                <a:srgbClr val="FF0000"/>
              </a:solidFill>
              <a:latin typeface="Calibri"/>
              <a:ea typeface="Calibri"/>
              <a:cs typeface="Calibri"/>
              <a:sym typeface="Calibri"/>
            </a:endParaRPr>
          </a:p>
        </p:txBody>
      </p:sp>
      <p:sp>
        <p:nvSpPr>
          <p:cNvPr id="1207" name="Google Shape;1207;g3e3a61befe4_0_3979"/>
          <p:cNvSpPr txBox="1"/>
          <p:nvPr/>
        </p:nvSpPr>
        <p:spPr>
          <a:xfrm>
            <a:off x="164447" y="1984427"/>
            <a:ext cx="1383000" cy="384900"/>
          </a:xfrm>
          <a:prstGeom prst="rect">
            <a:avLst/>
          </a:prstGeom>
          <a:solidFill>
            <a:schemeClr val="lt1"/>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US" sz="1300">
                <a:solidFill>
                  <a:schemeClr val="dk1"/>
                </a:solidFill>
              </a:rPr>
              <a:t>Cause</a:t>
            </a:r>
            <a:endParaRPr b="1" sz="1300">
              <a:solidFill>
                <a:srgbClr val="FF0000"/>
              </a:solidFill>
              <a:latin typeface="Calibri"/>
              <a:ea typeface="Calibri"/>
              <a:cs typeface="Calibri"/>
              <a:sym typeface="Calibri"/>
            </a:endParaRPr>
          </a:p>
        </p:txBody>
      </p:sp>
      <p:sp>
        <p:nvSpPr>
          <p:cNvPr id="1208" name="Google Shape;1208;g3e3a61befe4_0_3979"/>
          <p:cNvSpPr/>
          <p:nvPr/>
        </p:nvSpPr>
        <p:spPr>
          <a:xfrm>
            <a:off x="1784538" y="811925"/>
            <a:ext cx="2454000" cy="6246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en-US">
                <a:solidFill>
                  <a:schemeClr val="dk1"/>
                </a:solidFill>
                <a:latin typeface="Calibri"/>
                <a:ea typeface="Calibri"/>
                <a:cs typeface="Calibri"/>
                <a:sym typeface="Calibri"/>
              </a:rPr>
              <a:t>1 - Sustainable Development and Social Welfare</a:t>
            </a:r>
            <a:endParaRPr>
              <a:latin typeface="Calibri"/>
              <a:ea typeface="Calibri"/>
              <a:cs typeface="Calibri"/>
              <a:sym typeface="Calibri"/>
            </a:endParaRPr>
          </a:p>
        </p:txBody>
      </p:sp>
      <p:sp>
        <p:nvSpPr>
          <p:cNvPr id="1209" name="Google Shape;1209;g3e3a61befe4_0_3979"/>
          <p:cNvSpPr txBox="1"/>
          <p:nvPr/>
        </p:nvSpPr>
        <p:spPr>
          <a:xfrm>
            <a:off x="282900" y="931775"/>
            <a:ext cx="1240500" cy="585000"/>
          </a:xfrm>
          <a:prstGeom prst="rect">
            <a:avLst/>
          </a:prstGeom>
          <a:solidFill>
            <a:schemeClr val="lt1"/>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US" sz="1300">
                <a:solidFill>
                  <a:schemeClr val="dk1"/>
                </a:solidFill>
              </a:rPr>
              <a:t>Ethics Principles</a:t>
            </a:r>
            <a:endParaRPr b="1" sz="1300">
              <a:solidFill>
                <a:srgbClr val="FF0000"/>
              </a:solidFill>
              <a:latin typeface="Calibri"/>
              <a:ea typeface="Calibri"/>
              <a:cs typeface="Calibri"/>
              <a:sym typeface="Calibri"/>
            </a:endParaRPr>
          </a:p>
        </p:txBody>
      </p:sp>
      <p:sp>
        <p:nvSpPr>
          <p:cNvPr id="1210" name="Google Shape;1210;g3e3a61befe4_0_3979"/>
          <p:cNvSpPr/>
          <p:nvPr/>
        </p:nvSpPr>
        <p:spPr>
          <a:xfrm>
            <a:off x="1862175" y="1637526"/>
            <a:ext cx="2365200" cy="11526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solidFill>
                  <a:schemeClr val="dk1"/>
                </a:solidFill>
                <a:latin typeface="Calibri"/>
                <a:ea typeface="Calibri"/>
                <a:cs typeface="Calibri"/>
                <a:sym typeface="Calibri"/>
              </a:rPr>
              <a:t>There is no minimum scooter retention policy to prevent zones from becoming empty after transfers</a:t>
            </a:r>
            <a:endParaRPr>
              <a:latin typeface="Calibri"/>
              <a:ea typeface="Calibri"/>
              <a:cs typeface="Calibri"/>
              <a:sym typeface="Calibri"/>
            </a:endParaRPr>
          </a:p>
        </p:txBody>
      </p:sp>
      <p:cxnSp>
        <p:nvCxnSpPr>
          <p:cNvPr id="1211" name="Google Shape;1211;g3e3a61befe4_0_3979"/>
          <p:cNvCxnSpPr>
            <a:stCxn id="1210" idx="2"/>
            <a:endCxn id="1201" idx="0"/>
          </p:cNvCxnSpPr>
          <p:nvPr/>
        </p:nvCxnSpPr>
        <p:spPr>
          <a:xfrm>
            <a:off x="3044775" y="2790126"/>
            <a:ext cx="11700" cy="4737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mc:AlternateContent>
    <mc:Choice Requires="p14">
      <p:transition spd="slow" p14:dur="700">
        <p:fade/>
      </p:transition>
    </mc:Choice>
    <mc:Fallback>
      <p:transition spd="slow">
        <p:fade/>
      </p:transition>
    </mc:Fallback>
  </mc:AlternateContent>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5" name="Shape 1215"/>
        <p:cNvGrpSpPr/>
        <p:nvPr/>
      </p:nvGrpSpPr>
      <p:grpSpPr>
        <a:xfrm>
          <a:off x="0" y="0"/>
          <a:ext cx="0" cy="0"/>
          <a:chOff x="0" y="0"/>
          <a:chExt cx="0" cy="0"/>
        </a:xfrm>
      </p:grpSpPr>
      <p:sp>
        <p:nvSpPr>
          <p:cNvPr id="1216" name="Google Shape;1216;g3e3a61befe4_0_3913"/>
          <p:cNvSpPr txBox="1"/>
          <p:nvPr>
            <p:ph type="title"/>
          </p:nvPr>
        </p:nvSpPr>
        <p:spPr>
          <a:xfrm>
            <a:off x="101475" y="108450"/>
            <a:ext cx="9604200" cy="624600"/>
          </a:xfrm>
          <a:prstGeom prst="rect">
            <a:avLst/>
          </a:prstGeom>
          <a:solidFill>
            <a:srgbClr val="000000">
              <a:alpha val="0"/>
            </a:srgbClr>
          </a:solidFill>
          <a:ln>
            <a:noFill/>
          </a:ln>
        </p:spPr>
        <p:txBody>
          <a:bodyPr anchorCtr="0" anchor="ctr" bIns="45700" lIns="91400" spcFirstLastPara="1" rIns="91400" wrap="square" tIns="45700">
            <a:noAutofit/>
          </a:bodyPr>
          <a:lstStyle/>
          <a:p>
            <a:pPr indent="0" lvl="0" marL="0" rtl="0" algn="l">
              <a:spcBef>
                <a:spcPts val="0"/>
              </a:spcBef>
              <a:spcAft>
                <a:spcPts val="0"/>
              </a:spcAft>
              <a:buNone/>
            </a:pPr>
            <a:r>
              <a:rPr b="1" lang="en-US" sz="2300">
                <a:solidFill>
                  <a:srgbClr val="1E4E79"/>
                </a:solidFill>
                <a:latin typeface="Arial"/>
                <a:ea typeface="Arial"/>
                <a:cs typeface="Arial"/>
                <a:sym typeface="Arial"/>
              </a:rPr>
              <a:t>Step </a:t>
            </a:r>
            <a:r>
              <a:rPr lang="en-US" sz="2300">
                <a:latin typeface="Arial"/>
                <a:ea typeface="Arial"/>
                <a:cs typeface="Arial"/>
                <a:sym typeface="Arial"/>
              </a:rPr>
              <a:t>3</a:t>
            </a:r>
            <a:r>
              <a:rPr b="1" lang="en-US" sz="2300">
                <a:solidFill>
                  <a:srgbClr val="1E4E79"/>
                </a:solidFill>
                <a:latin typeface="Arial"/>
                <a:ea typeface="Arial"/>
                <a:cs typeface="Arial"/>
                <a:sym typeface="Arial"/>
              </a:rPr>
              <a:t>: Mapping of Ethical Causes and Consequences by Ethical Principle </a:t>
            </a:r>
            <a:endParaRPr b="1" sz="2300">
              <a:solidFill>
                <a:srgbClr val="1E4E79"/>
              </a:solidFill>
              <a:latin typeface="Arial"/>
              <a:ea typeface="Arial"/>
              <a:cs typeface="Arial"/>
              <a:sym typeface="Arial"/>
            </a:endParaRPr>
          </a:p>
        </p:txBody>
      </p:sp>
      <p:grpSp>
        <p:nvGrpSpPr>
          <p:cNvPr id="1217" name="Google Shape;1217;g3e3a61befe4_0_3913"/>
          <p:cNvGrpSpPr/>
          <p:nvPr/>
        </p:nvGrpSpPr>
        <p:grpSpPr>
          <a:xfrm>
            <a:off x="-18000" y="5842891"/>
            <a:ext cx="9942000" cy="1014788"/>
            <a:chOff x="-21650" y="5927750"/>
            <a:chExt cx="9942000" cy="930230"/>
          </a:xfrm>
        </p:grpSpPr>
        <p:sp>
          <p:nvSpPr>
            <p:cNvPr id="1218" name="Google Shape;1218;g3e3a61befe4_0_3913"/>
            <p:cNvSpPr/>
            <p:nvPr/>
          </p:nvSpPr>
          <p:spPr>
            <a:xfrm>
              <a:off x="5239747" y="5949280"/>
              <a:ext cx="4680600" cy="9087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Arial"/>
                  <a:ea typeface="Arial"/>
                  <a:cs typeface="Arial"/>
                  <a:sym typeface="Arial"/>
                </a:rPr>
                <a:t>25th Annual International Conference on Digital Government Research (dg.o 2024)</a:t>
              </a:r>
              <a:endParaRPr b="0" i="0" sz="1800" u="none" cap="none" strike="noStrike">
                <a:solidFill>
                  <a:schemeClr val="lt1"/>
                </a:solidFill>
                <a:latin typeface="Arial"/>
                <a:ea typeface="Arial"/>
                <a:cs typeface="Arial"/>
                <a:sym typeface="Arial"/>
              </a:endParaRPr>
            </a:p>
          </p:txBody>
        </p:sp>
        <p:pic>
          <p:nvPicPr>
            <p:cNvPr id="1219" name="Google Shape;1219;g3e3a61befe4_0_3913"/>
            <p:cNvPicPr preferRelativeResize="0"/>
            <p:nvPr/>
          </p:nvPicPr>
          <p:blipFill rotWithShape="1">
            <a:blip r:embed="rId3">
              <a:alphaModFix/>
            </a:blip>
            <a:srcRect b="-112517" l="-23390" r="23390" t="137700"/>
            <a:stretch/>
          </p:blipFill>
          <p:spPr>
            <a:xfrm>
              <a:off x="0" y="6007596"/>
              <a:ext cx="9920265" cy="792088"/>
            </a:xfrm>
            <a:prstGeom prst="rect">
              <a:avLst/>
            </a:prstGeom>
            <a:noFill/>
            <a:ln>
              <a:noFill/>
            </a:ln>
          </p:spPr>
        </p:pic>
        <p:sp>
          <p:nvSpPr>
            <p:cNvPr id="1220" name="Google Shape;1220;g3e3a61befe4_0_3913"/>
            <p:cNvSpPr/>
            <p:nvPr/>
          </p:nvSpPr>
          <p:spPr>
            <a:xfrm>
              <a:off x="-21650" y="5927750"/>
              <a:ext cx="9942000" cy="9087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sp>
        <p:nvSpPr>
          <p:cNvPr id="1221" name="Google Shape;1221;g3e3a61befe4_0_3913"/>
          <p:cNvSpPr txBox="1"/>
          <p:nvPr>
            <p:ph idx="12" type="sldNum"/>
          </p:nvPr>
        </p:nvSpPr>
        <p:spPr>
          <a:xfrm>
            <a:off x="6996113" y="6356350"/>
            <a:ext cx="22290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pic>
        <p:nvPicPr>
          <p:cNvPr id="1222" name="Google Shape;1222;g3e3a61befe4_0_3913"/>
          <p:cNvPicPr preferRelativeResize="0"/>
          <p:nvPr/>
        </p:nvPicPr>
        <p:blipFill rotWithShape="1">
          <a:blip r:embed="rId4">
            <a:alphaModFix/>
          </a:blip>
          <a:srcRect b="0" l="0" r="0" t="0"/>
          <a:stretch/>
        </p:blipFill>
        <p:spPr>
          <a:xfrm>
            <a:off x="218750" y="6052376"/>
            <a:ext cx="1823009" cy="470325"/>
          </a:xfrm>
          <a:prstGeom prst="rect">
            <a:avLst/>
          </a:prstGeom>
          <a:noFill/>
          <a:ln>
            <a:noFill/>
          </a:ln>
        </p:spPr>
      </p:pic>
      <p:pic>
        <p:nvPicPr>
          <p:cNvPr id="1223" name="Google Shape;1223;g3e3a61befe4_0_3913"/>
          <p:cNvPicPr preferRelativeResize="0"/>
          <p:nvPr/>
        </p:nvPicPr>
        <p:blipFill rotWithShape="1">
          <a:blip r:embed="rId5">
            <a:alphaModFix/>
          </a:blip>
          <a:srcRect b="0" l="0" r="0" t="0"/>
          <a:stretch/>
        </p:blipFill>
        <p:spPr>
          <a:xfrm>
            <a:off x="6996125" y="5975242"/>
            <a:ext cx="1811830" cy="624575"/>
          </a:xfrm>
          <a:prstGeom prst="rect">
            <a:avLst/>
          </a:prstGeom>
          <a:noFill/>
          <a:ln>
            <a:noFill/>
          </a:ln>
        </p:spPr>
      </p:pic>
      <p:sp>
        <p:nvSpPr>
          <p:cNvPr id="1224" name="Google Shape;1224;g3e3a61befe4_0_3913"/>
          <p:cNvSpPr/>
          <p:nvPr/>
        </p:nvSpPr>
        <p:spPr>
          <a:xfrm>
            <a:off x="1812973" y="5001892"/>
            <a:ext cx="2480700" cy="470400"/>
          </a:xfrm>
          <a:prstGeom prst="roundRect">
            <a:avLst>
              <a:gd fmla="val 16667" name="adj"/>
            </a:avLst>
          </a:prstGeom>
          <a:solidFill>
            <a:srgbClr val="EA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latin typeface="Calibri"/>
                <a:ea typeface="Calibri"/>
                <a:cs typeface="Calibri"/>
                <a:sym typeface="Calibri"/>
              </a:rPr>
              <a:t>Unequal access</a:t>
            </a:r>
            <a:endParaRPr>
              <a:latin typeface="Calibri"/>
              <a:ea typeface="Calibri"/>
              <a:cs typeface="Calibri"/>
              <a:sym typeface="Calibri"/>
            </a:endParaRPr>
          </a:p>
        </p:txBody>
      </p:sp>
      <p:cxnSp>
        <p:nvCxnSpPr>
          <p:cNvPr id="1225" name="Google Shape;1225;g3e3a61befe4_0_3913"/>
          <p:cNvCxnSpPr/>
          <p:nvPr/>
        </p:nvCxnSpPr>
        <p:spPr>
          <a:xfrm>
            <a:off x="231300" y="4604275"/>
            <a:ext cx="9439800" cy="27000"/>
          </a:xfrm>
          <a:prstGeom prst="straightConnector1">
            <a:avLst/>
          </a:prstGeom>
          <a:noFill/>
          <a:ln cap="flat" cmpd="sng" w="28575">
            <a:solidFill>
              <a:srgbClr val="FF0000"/>
            </a:solidFill>
            <a:prstDash val="dot"/>
            <a:round/>
            <a:headEnd len="med" w="med" type="none"/>
            <a:tailEnd len="med" w="med" type="none"/>
          </a:ln>
        </p:spPr>
      </p:cxnSp>
      <p:sp>
        <p:nvSpPr>
          <p:cNvPr id="1226" name="Google Shape;1226;g3e3a61befe4_0_3913"/>
          <p:cNvSpPr txBox="1"/>
          <p:nvPr/>
        </p:nvSpPr>
        <p:spPr>
          <a:xfrm>
            <a:off x="131149" y="4944584"/>
            <a:ext cx="1449600" cy="585000"/>
          </a:xfrm>
          <a:prstGeom prst="rect">
            <a:avLst/>
          </a:prstGeom>
          <a:solidFill>
            <a:srgbClr val="EA9999"/>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US" sz="1300">
                <a:solidFill>
                  <a:schemeClr val="dk1"/>
                </a:solidFill>
              </a:rPr>
              <a:t>Ethical Consequences</a:t>
            </a:r>
            <a:endParaRPr b="1" sz="1300">
              <a:solidFill>
                <a:schemeClr val="dk1"/>
              </a:solidFill>
            </a:endParaRPr>
          </a:p>
        </p:txBody>
      </p:sp>
      <p:cxnSp>
        <p:nvCxnSpPr>
          <p:cNvPr id="1227" name="Google Shape;1227;g3e3a61befe4_0_3913"/>
          <p:cNvCxnSpPr/>
          <p:nvPr/>
        </p:nvCxnSpPr>
        <p:spPr>
          <a:xfrm rot="10800000">
            <a:off x="1664753" y="772000"/>
            <a:ext cx="0" cy="5069400"/>
          </a:xfrm>
          <a:prstGeom prst="straightConnector1">
            <a:avLst/>
          </a:prstGeom>
          <a:noFill/>
          <a:ln cap="flat" cmpd="sng" w="19050">
            <a:solidFill>
              <a:schemeClr val="dk2"/>
            </a:solidFill>
            <a:prstDash val="solid"/>
            <a:round/>
            <a:headEnd len="med" w="med" type="diamond"/>
            <a:tailEnd len="med" w="med" type="diamond"/>
          </a:ln>
        </p:spPr>
      </p:cxnSp>
      <p:sp>
        <p:nvSpPr>
          <p:cNvPr id="1228" name="Google Shape;1228;g3e3a61befe4_0_3913"/>
          <p:cNvSpPr/>
          <p:nvPr/>
        </p:nvSpPr>
        <p:spPr>
          <a:xfrm>
            <a:off x="4441888" y="4889831"/>
            <a:ext cx="2480700" cy="694500"/>
          </a:xfrm>
          <a:prstGeom prst="roundRect">
            <a:avLst>
              <a:gd fmla="val 16667" name="adj"/>
            </a:avLst>
          </a:prstGeom>
          <a:solidFill>
            <a:srgbClr val="EA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latin typeface="Calibri"/>
                <a:ea typeface="Calibri"/>
                <a:cs typeface="Calibri"/>
                <a:sym typeface="Calibri"/>
              </a:rPr>
              <a:t>Perpetuation of biases and </a:t>
            </a:r>
            <a:r>
              <a:rPr lang="en-US">
                <a:solidFill>
                  <a:schemeClr val="dk1"/>
                </a:solidFill>
                <a:latin typeface="Calibri"/>
                <a:ea typeface="Calibri"/>
                <a:cs typeface="Calibri"/>
                <a:sym typeface="Calibri"/>
              </a:rPr>
              <a:t>favoring zones</a:t>
            </a:r>
            <a:endParaRPr>
              <a:latin typeface="Calibri"/>
              <a:ea typeface="Calibri"/>
              <a:cs typeface="Calibri"/>
              <a:sym typeface="Calibri"/>
            </a:endParaRPr>
          </a:p>
        </p:txBody>
      </p:sp>
      <p:cxnSp>
        <p:nvCxnSpPr>
          <p:cNvPr id="1229" name="Google Shape;1229;g3e3a61befe4_0_3913"/>
          <p:cNvCxnSpPr/>
          <p:nvPr/>
        </p:nvCxnSpPr>
        <p:spPr>
          <a:xfrm>
            <a:off x="323850" y="3048663"/>
            <a:ext cx="9439800" cy="27000"/>
          </a:xfrm>
          <a:prstGeom prst="straightConnector1">
            <a:avLst/>
          </a:prstGeom>
          <a:noFill/>
          <a:ln cap="flat" cmpd="sng" w="28575">
            <a:solidFill>
              <a:schemeClr val="dk1"/>
            </a:solidFill>
            <a:prstDash val="dot"/>
            <a:round/>
            <a:headEnd len="med" w="med" type="none"/>
            <a:tailEnd len="med" w="med" type="none"/>
          </a:ln>
        </p:spPr>
      </p:cxnSp>
      <p:sp>
        <p:nvSpPr>
          <p:cNvPr id="1230" name="Google Shape;1230;g3e3a61befe4_0_3913"/>
          <p:cNvSpPr/>
          <p:nvPr/>
        </p:nvSpPr>
        <p:spPr>
          <a:xfrm>
            <a:off x="1815975" y="3263676"/>
            <a:ext cx="2480700" cy="11526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US">
                <a:solidFill>
                  <a:schemeClr val="dk1"/>
                </a:solidFill>
                <a:latin typeface="Calibri"/>
                <a:ea typeface="Calibri"/>
                <a:cs typeface="Calibri"/>
                <a:sym typeface="Calibri"/>
              </a:rPr>
              <a:t>If the Distribution Agent’s central stock is empty, scooters may be transferred from other zones, leaving some areas without scooters</a:t>
            </a:r>
            <a:endParaRPr>
              <a:latin typeface="Calibri"/>
              <a:ea typeface="Calibri"/>
              <a:cs typeface="Calibri"/>
              <a:sym typeface="Calibri"/>
            </a:endParaRPr>
          </a:p>
        </p:txBody>
      </p:sp>
      <p:cxnSp>
        <p:nvCxnSpPr>
          <p:cNvPr id="1231" name="Google Shape;1231;g3e3a61befe4_0_3913"/>
          <p:cNvCxnSpPr>
            <a:stCxn id="1224" idx="0"/>
            <a:endCxn id="1230" idx="2"/>
          </p:cNvCxnSpPr>
          <p:nvPr/>
        </p:nvCxnSpPr>
        <p:spPr>
          <a:xfrm flipH="1" rot="10800000">
            <a:off x="3053323" y="4416292"/>
            <a:ext cx="3000" cy="585600"/>
          </a:xfrm>
          <a:prstGeom prst="straightConnector1">
            <a:avLst/>
          </a:prstGeom>
          <a:noFill/>
          <a:ln cap="flat" cmpd="sng" w="9525">
            <a:solidFill>
              <a:schemeClr val="dk2"/>
            </a:solidFill>
            <a:prstDash val="solid"/>
            <a:round/>
            <a:headEnd len="med" w="med" type="triangle"/>
            <a:tailEnd len="med" w="med" type="none"/>
          </a:ln>
        </p:spPr>
      </p:cxnSp>
      <p:graphicFrame>
        <p:nvGraphicFramePr>
          <p:cNvPr id="1232" name="Google Shape;1232;g3e3a61befe4_0_3913"/>
          <p:cNvGraphicFramePr/>
          <p:nvPr/>
        </p:nvGraphicFramePr>
        <p:xfrm>
          <a:off x="152400" y="152400"/>
          <a:ext cx="3000000" cy="3000000"/>
        </p:xfrm>
        <a:graphic>
          <a:graphicData uri="http://schemas.openxmlformats.org/drawingml/2006/table">
            <a:tbl>
              <a:tblPr>
                <a:noFill/>
                <a:tableStyleId>{50916073-6137-4BFC-AC2B-91BFF95D4831}</a:tableStyleId>
              </a:tblPr>
              <a:tblGrid>
                <a:gridCol w="19050"/>
              </a:tblGrid>
              <a:tr h="19050">
                <a:tc>
                  <a:txBody>
                    <a:bodyPr/>
                    <a:lstStyle/>
                    <a:p>
                      <a:pPr indent="0" lvl="0" marL="0" rtl="0" algn="l">
                        <a:spcBef>
                          <a:spcPts val="0"/>
                        </a:spcBef>
                        <a:spcAft>
                          <a:spcPts val="0"/>
                        </a:spcAft>
                        <a:buNone/>
                      </a:pPr>
                      <a:r>
                        <a:t/>
                      </a:r>
                      <a:endParaRPr/>
                    </a:p>
                  </a:txBody>
                  <a:tcPr marT="91425" marB="91425" marR="91425" marL="91425"/>
                </a:tc>
              </a:tr>
            </a:tbl>
          </a:graphicData>
        </a:graphic>
      </p:graphicFrame>
      <p:graphicFrame>
        <p:nvGraphicFramePr>
          <p:cNvPr id="1233" name="Google Shape;1233;g3e3a61befe4_0_3913"/>
          <p:cNvGraphicFramePr/>
          <p:nvPr/>
        </p:nvGraphicFramePr>
        <p:xfrm>
          <a:off x="304800" y="304800"/>
          <a:ext cx="3000000" cy="3000000"/>
        </p:xfrm>
        <a:graphic>
          <a:graphicData uri="http://schemas.openxmlformats.org/drawingml/2006/table">
            <a:tbl>
              <a:tblPr>
                <a:noFill/>
                <a:tableStyleId>{50916073-6137-4BFC-AC2B-91BFF95D4831}</a:tableStyleId>
              </a:tblPr>
              <a:tblGrid>
                <a:gridCol w="19050"/>
              </a:tblGrid>
              <a:tr h="19050">
                <a:tc>
                  <a:txBody>
                    <a:bodyPr/>
                    <a:lstStyle/>
                    <a:p>
                      <a:pPr indent="0" lvl="0" marL="0" rtl="0" algn="l">
                        <a:spcBef>
                          <a:spcPts val="0"/>
                        </a:spcBef>
                        <a:spcAft>
                          <a:spcPts val="0"/>
                        </a:spcAft>
                        <a:buNone/>
                      </a:pPr>
                      <a:r>
                        <a:t/>
                      </a:r>
                      <a:endParaRPr/>
                    </a:p>
                  </a:txBody>
                  <a:tcPr marT="91425" marB="91425" marR="91425" marL="91425"/>
                </a:tc>
              </a:tr>
            </a:tbl>
          </a:graphicData>
        </a:graphic>
      </p:graphicFrame>
      <p:graphicFrame>
        <p:nvGraphicFramePr>
          <p:cNvPr id="1234" name="Google Shape;1234;g3e3a61befe4_0_3913"/>
          <p:cNvGraphicFramePr/>
          <p:nvPr/>
        </p:nvGraphicFramePr>
        <p:xfrm>
          <a:off x="-409575" y="2066500"/>
          <a:ext cx="3000000" cy="3000000"/>
        </p:xfrm>
        <a:graphic>
          <a:graphicData uri="http://schemas.openxmlformats.org/drawingml/2006/table">
            <a:tbl>
              <a:tblPr>
                <a:noFill/>
                <a:tableStyleId>{50916073-6137-4BFC-AC2B-91BFF95D4831}</a:tableStyleId>
              </a:tblPr>
              <a:tblGrid>
                <a:gridCol w="19050"/>
              </a:tblGrid>
              <a:tr h="19050">
                <a:tc>
                  <a:txBody>
                    <a:bodyPr/>
                    <a:lstStyle/>
                    <a:p>
                      <a:pPr indent="0" lvl="0" marL="0" rtl="0" algn="l">
                        <a:spcBef>
                          <a:spcPts val="0"/>
                        </a:spcBef>
                        <a:spcAft>
                          <a:spcPts val="0"/>
                        </a:spcAft>
                        <a:buNone/>
                      </a:pPr>
                      <a:r>
                        <a:t/>
                      </a:r>
                      <a:endParaRPr/>
                    </a:p>
                  </a:txBody>
                  <a:tcPr marT="91425" marB="91425" marR="91425" marL="91425"/>
                </a:tc>
              </a:tr>
            </a:tbl>
          </a:graphicData>
        </a:graphic>
      </p:graphicFrame>
      <p:sp>
        <p:nvSpPr>
          <p:cNvPr id="1235" name="Google Shape;1235;g3e3a61befe4_0_3913"/>
          <p:cNvSpPr txBox="1"/>
          <p:nvPr/>
        </p:nvSpPr>
        <p:spPr>
          <a:xfrm>
            <a:off x="152398" y="3652747"/>
            <a:ext cx="1383000" cy="585000"/>
          </a:xfrm>
          <a:prstGeom prst="rect">
            <a:avLst/>
          </a:prstGeom>
          <a:solidFill>
            <a:schemeClr val="lt1"/>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US" sz="1300">
                <a:solidFill>
                  <a:schemeClr val="dk1"/>
                </a:solidFill>
              </a:rPr>
              <a:t>Intermediate Effect</a:t>
            </a:r>
            <a:endParaRPr b="1" sz="1300">
              <a:solidFill>
                <a:srgbClr val="FF0000"/>
              </a:solidFill>
              <a:latin typeface="Calibri"/>
              <a:ea typeface="Calibri"/>
              <a:cs typeface="Calibri"/>
              <a:sym typeface="Calibri"/>
            </a:endParaRPr>
          </a:p>
        </p:txBody>
      </p:sp>
      <p:sp>
        <p:nvSpPr>
          <p:cNvPr id="1236" name="Google Shape;1236;g3e3a61befe4_0_3913"/>
          <p:cNvSpPr txBox="1"/>
          <p:nvPr/>
        </p:nvSpPr>
        <p:spPr>
          <a:xfrm>
            <a:off x="164447" y="1984427"/>
            <a:ext cx="1383000" cy="384900"/>
          </a:xfrm>
          <a:prstGeom prst="rect">
            <a:avLst/>
          </a:prstGeom>
          <a:solidFill>
            <a:schemeClr val="lt1"/>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US" sz="1300">
                <a:solidFill>
                  <a:schemeClr val="dk1"/>
                </a:solidFill>
              </a:rPr>
              <a:t>Cause</a:t>
            </a:r>
            <a:endParaRPr b="1" sz="1300">
              <a:solidFill>
                <a:srgbClr val="FF0000"/>
              </a:solidFill>
              <a:latin typeface="Calibri"/>
              <a:ea typeface="Calibri"/>
              <a:cs typeface="Calibri"/>
              <a:sym typeface="Calibri"/>
            </a:endParaRPr>
          </a:p>
        </p:txBody>
      </p:sp>
      <p:sp>
        <p:nvSpPr>
          <p:cNvPr id="1237" name="Google Shape;1237;g3e3a61befe4_0_3913"/>
          <p:cNvSpPr/>
          <p:nvPr/>
        </p:nvSpPr>
        <p:spPr>
          <a:xfrm>
            <a:off x="1784538" y="811925"/>
            <a:ext cx="2454000" cy="6246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en-US">
                <a:solidFill>
                  <a:schemeClr val="dk1"/>
                </a:solidFill>
                <a:latin typeface="Calibri"/>
                <a:ea typeface="Calibri"/>
                <a:cs typeface="Calibri"/>
                <a:sym typeface="Calibri"/>
              </a:rPr>
              <a:t>1 - Sustainable Development and Social Welfare</a:t>
            </a:r>
            <a:endParaRPr>
              <a:latin typeface="Calibri"/>
              <a:ea typeface="Calibri"/>
              <a:cs typeface="Calibri"/>
              <a:sym typeface="Calibri"/>
            </a:endParaRPr>
          </a:p>
        </p:txBody>
      </p:sp>
      <p:sp>
        <p:nvSpPr>
          <p:cNvPr id="1238" name="Google Shape;1238;g3e3a61befe4_0_3913"/>
          <p:cNvSpPr/>
          <p:nvPr/>
        </p:nvSpPr>
        <p:spPr>
          <a:xfrm>
            <a:off x="4357200" y="811928"/>
            <a:ext cx="2569500" cy="6246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a:solidFill>
                  <a:schemeClr val="dk1"/>
                </a:solidFill>
                <a:latin typeface="Calibri"/>
                <a:ea typeface="Calibri"/>
                <a:cs typeface="Calibri"/>
                <a:sym typeface="Calibri"/>
              </a:rPr>
              <a:t>2. Justice and Non-Discrimination</a:t>
            </a:r>
            <a:endParaRPr>
              <a:latin typeface="Calibri"/>
              <a:ea typeface="Calibri"/>
              <a:cs typeface="Calibri"/>
              <a:sym typeface="Calibri"/>
            </a:endParaRPr>
          </a:p>
        </p:txBody>
      </p:sp>
      <p:sp>
        <p:nvSpPr>
          <p:cNvPr id="1239" name="Google Shape;1239;g3e3a61befe4_0_3913"/>
          <p:cNvSpPr txBox="1"/>
          <p:nvPr/>
        </p:nvSpPr>
        <p:spPr>
          <a:xfrm>
            <a:off x="282900" y="931775"/>
            <a:ext cx="1240500" cy="585000"/>
          </a:xfrm>
          <a:prstGeom prst="rect">
            <a:avLst/>
          </a:prstGeom>
          <a:solidFill>
            <a:schemeClr val="lt1"/>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US" sz="1300">
                <a:solidFill>
                  <a:schemeClr val="dk1"/>
                </a:solidFill>
              </a:rPr>
              <a:t>Ethics Principles</a:t>
            </a:r>
            <a:endParaRPr b="1" sz="1300">
              <a:solidFill>
                <a:srgbClr val="FF0000"/>
              </a:solidFill>
              <a:latin typeface="Calibri"/>
              <a:ea typeface="Calibri"/>
              <a:cs typeface="Calibri"/>
              <a:sym typeface="Calibri"/>
            </a:endParaRPr>
          </a:p>
        </p:txBody>
      </p:sp>
      <p:sp>
        <p:nvSpPr>
          <p:cNvPr id="1240" name="Google Shape;1240;g3e3a61befe4_0_3913"/>
          <p:cNvSpPr/>
          <p:nvPr/>
        </p:nvSpPr>
        <p:spPr>
          <a:xfrm>
            <a:off x="1862175" y="1637526"/>
            <a:ext cx="2365200" cy="11526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solidFill>
                  <a:schemeClr val="dk1"/>
                </a:solidFill>
                <a:latin typeface="Calibri"/>
                <a:ea typeface="Calibri"/>
                <a:cs typeface="Calibri"/>
                <a:sym typeface="Calibri"/>
              </a:rPr>
              <a:t>There is no minimum scooter retention policy to prevent zones from becoming empty after transfers</a:t>
            </a:r>
            <a:endParaRPr>
              <a:latin typeface="Calibri"/>
              <a:ea typeface="Calibri"/>
              <a:cs typeface="Calibri"/>
              <a:sym typeface="Calibri"/>
            </a:endParaRPr>
          </a:p>
        </p:txBody>
      </p:sp>
      <p:cxnSp>
        <p:nvCxnSpPr>
          <p:cNvPr id="1241" name="Google Shape;1241;g3e3a61befe4_0_3913"/>
          <p:cNvCxnSpPr>
            <a:stCxn id="1240" idx="2"/>
            <a:endCxn id="1230" idx="0"/>
          </p:cNvCxnSpPr>
          <p:nvPr/>
        </p:nvCxnSpPr>
        <p:spPr>
          <a:xfrm>
            <a:off x="3044775" y="2790126"/>
            <a:ext cx="11700" cy="4737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mc:AlternateContent>
    <mc:Choice Requires="p14">
      <p:transition spd="slow" p14:dur="700">
        <p:fade/>
      </p:transition>
    </mc:Choice>
    <mc:Fallback>
      <p:transition spd="slow">
        <p:fade/>
      </p:transition>
    </mc:Fallback>
  </mc:AlternateContent>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5" name="Shape 1245"/>
        <p:cNvGrpSpPr/>
        <p:nvPr/>
      </p:nvGrpSpPr>
      <p:grpSpPr>
        <a:xfrm>
          <a:off x="0" y="0"/>
          <a:ext cx="0" cy="0"/>
          <a:chOff x="0" y="0"/>
          <a:chExt cx="0" cy="0"/>
        </a:xfrm>
      </p:grpSpPr>
      <p:sp>
        <p:nvSpPr>
          <p:cNvPr id="1246" name="Google Shape;1246;g3e3a61befe4_0_4007"/>
          <p:cNvSpPr txBox="1"/>
          <p:nvPr>
            <p:ph type="title"/>
          </p:nvPr>
        </p:nvSpPr>
        <p:spPr>
          <a:xfrm>
            <a:off x="101475" y="108450"/>
            <a:ext cx="9604200" cy="624600"/>
          </a:xfrm>
          <a:prstGeom prst="rect">
            <a:avLst/>
          </a:prstGeom>
          <a:solidFill>
            <a:srgbClr val="000000">
              <a:alpha val="0"/>
            </a:srgbClr>
          </a:solidFill>
          <a:ln>
            <a:noFill/>
          </a:ln>
        </p:spPr>
        <p:txBody>
          <a:bodyPr anchorCtr="0" anchor="ctr" bIns="45700" lIns="91400" spcFirstLastPara="1" rIns="91400" wrap="square" tIns="45700">
            <a:noAutofit/>
          </a:bodyPr>
          <a:lstStyle/>
          <a:p>
            <a:pPr indent="0" lvl="0" marL="0" rtl="0" algn="l">
              <a:spcBef>
                <a:spcPts val="0"/>
              </a:spcBef>
              <a:spcAft>
                <a:spcPts val="0"/>
              </a:spcAft>
              <a:buNone/>
            </a:pPr>
            <a:r>
              <a:rPr b="1" lang="en-US" sz="2300">
                <a:solidFill>
                  <a:srgbClr val="1E4E79"/>
                </a:solidFill>
                <a:latin typeface="Arial"/>
                <a:ea typeface="Arial"/>
                <a:cs typeface="Arial"/>
                <a:sym typeface="Arial"/>
              </a:rPr>
              <a:t>Step </a:t>
            </a:r>
            <a:r>
              <a:rPr lang="en-US" sz="2300">
                <a:latin typeface="Arial"/>
                <a:ea typeface="Arial"/>
                <a:cs typeface="Arial"/>
                <a:sym typeface="Arial"/>
              </a:rPr>
              <a:t>3</a:t>
            </a:r>
            <a:r>
              <a:rPr b="1" lang="en-US" sz="2300">
                <a:solidFill>
                  <a:srgbClr val="1E4E79"/>
                </a:solidFill>
                <a:latin typeface="Arial"/>
                <a:ea typeface="Arial"/>
                <a:cs typeface="Arial"/>
                <a:sym typeface="Arial"/>
              </a:rPr>
              <a:t>: Mapping of Ethical Causes and Consequences by Ethical Principle </a:t>
            </a:r>
            <a:endParaRPr b="1" sz="2300">
              <a:solidFill>
                <a:srgbClr val="1E4E79"/>
              </a:solidFill>
              <a:latin typeface="Arial"/>
              <a:ea typeface="Arial"/>
              <a:cs typeface="Arial"/>
              <a:sym typeface="Arial"/>
            </a:endParaRPr>
          </a:p>
        </p:txBody>
      </p:sp>
      <p:grpSp>
        <p:nvGrpSpPr>
          <p:cNvPr id="1247" name="Google Shape;1247;g3e3a61befe4_0_4007"/>
          <p:cNvGrpSpPr/>
          <p:nvPr/>
        </p:nvGrpSpPr>
        <p:grpSpPr>
          <a:xfrm>
            <a:off x="-18000" y="5842891"/>
            <a:ext cx="9942000" cy="1014788"/>
            <a:chOff x="-21650" y="5927750"/>
            <a:chExt cx="9942000" cy="930230"/>
          </a:xfrm>
        </p:grpSpPr>
        <p:sp>
          <p:nvSpPr>
            <p:cNvPr id="1248" name="Google Shape;1248;g3e3a61befe4_0_4007"/>
            <p:cNvSpPr/>
            <p:nvPr/>
          </p:nvSpPr>
          <p:spPr>
            <a:xfrm>
              <a:off x="5239747" y="5949280"/>
              <a:ext cx="4680600" cy="9087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Arial"/>
                  <a:ea typeface="Arial"/>
                  <a:cs typeface="Arial"/>
                  <a:sym typeface="Arial"/>
                </a:rPr>
                <a:t>25th Annual International Conference on Digital Government Research (dg.o 2024)</a:t>
              </a:r>
              <a:endParaRPr b="0" i="0" sz="1800" u="none" cap="none" strike="noStrike">
                <a:solidFill>
                  <a:schemeClr val="lt1"/>
                </a:solidFill>
                <a:latin typeface="Arial"/>
                <a:ea typeface="Arial"/>
                <a:cs typeface="Arial"/>
                <a:sym typeface="Arial"/>
              </a:endParaRPr>
            </a:p>
          </p:txBody>
        </p:sp>
        <p:pic>
          <p:nvPicPr>
            <p:cNvPr id="1249" name="Google Shape;1249;g3e3a61befe4_0_4007"/>
            <p:cNvPicPr preferRelativeResize="0"/>
            <p:nvPr/>
          </p:nvPicPr>
          <p:blipFill rotWithShape="1">
            <a:blip r:embed="rId3">
              <a:alphaModFix/>
            </a:blip>
            <a:srcRect b="-112517" l="-23390" r="23390" t="137700"/>
            <a:stretch/>
          </p:blipFill>
          <p:spPr>
            <a:xfrm>
              <a:off x="0" y="6007596"/>
              <a:ext cx="9920265" cy="792088"/>
            </a:xfrm>
            <a:prstGeom prst="rect">
              <a:avLst/>
            </a:prstGeom>
            <a:noFill/>
            <a:ln>
              <a:noFill/>
            </a:ln>
          </p:spPr>
        </p:pic>
        <p:sp>
          <p:nvSpPr>
            <p:cNvPr id="1250" name="Google Shape;1250;g3e3a61befe4_0_4007"/>
            <p:cNvSpPr/>
            <p:nvPr/>
          </p:nvSpPr>
          <p:spPr>
            <a:xfrm>
              <a:off x="-21650" y="5927750"/>
              <a:ext cx="9942000" cy="9087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sp>
        <p:nvSpPr>
          <p:cNvPr id="1251" name="Google Shape;1251;g3e3a61befe4_0_4007"/>
          <p:cNvSpPr txBox="1"/>
          <p:nvPr>
            <p:ph idx="12" type="sldNum"/>
          </p:nvPr>
        </p:nvSpPr>
        <p:spPr>
          <a:xfrm>
            <a:off x="6996113" y="6356350"/>
            <a:ext cx="22290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pic>
        <p:nvPicPr>
          <p:cNvPr id="1252" name="Google Shape;1252;g3e3a61befe4_0_4007"/>
          <p:cNvPicPr preferRelativeResize="0"/>
          <p:nvPr/>
        </p:nvPicPr>
        <p:blipFill rotWithShape="1">
          <a:blip r:embed="rId4">
            <a:alphaModFix/>
          </a:blip>
          <a:srcRect b="0" l="0" r="0" t="0"/>
          <a:stretch/>
        </p:blipFill>
        <p:spPr>
          <a:xfrm>
            <a:off x="218750" y="6052376"/>
            <a:ext cx="1823009" cy="470325"/>
          </a:xfrm>
          <a:prstGeom prst="rect">
            <a:avLst/>
          </a:prstGeom>
          <a:noFill/>
          <a:ln>
            <a:noFill/>
          </a:ln>
        </p:spPr>
      </p:pic>
      <p:pic>
        <p:nvPicPr>
          <p:cNvPr id="1253" name="Google Shape;1253;g3e3a61befe4_0_4007"/>
          <p:cNvPicPr preferRelativeResize="0"/>
          <p:nvPr/>
        </p:nvPicPr>
        <p:blipFill rotWithShape="1">
          <a:blip r:embed="rId5">
            <a:alphaModFix/>
          </a:blip>
          <a:srcRect b="0" l="0" r="0" t="0"/>
          <a:stretch/>
        </p:blipFill>
        <p:spPr>
          <a:xfrm>
            <a:off x="6996125" y="5975242"/>
            <a:ext cx="1811830" cy="624575"/>
          </a:xfrm>
          <a:prstGeom prst="rect">
            <a:avLst/>
          </a:prstGeom>
          <a:noFill/>
          <a:ln>
            <a:noFill/>
          </a:ln>
        </p:spPr>
      </p:pic>
      <p:sp>
        <p:nvSpPr>
          <p:cNvPr id="1254" name="Google Shape;1254;g3e3a61befe4_0_4007"/>
          <p:cNvSpPr/>
          <p:nvPr/>
        </p:nvSpPr>
        <p:spPr>
          <a:xfrm>
            <a:off x="1812973" y="5001892"/>
            <a:ext cx="2480700" cy="470400"/>
          </a:xfrm>
          <a:prstGeom prst="roundRect">
            <a:avLst>
              <a:gd fmla="val 16667" name="adj"/>
            </a:avLst>
          </a:prstGeom>
          <a:solidFill>
            <a:srgbClr val="EA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latin typeface="Calibri"/>
                <a:ea typeface="Calibri"/>
                <a:cs typeface="Calibri"/>
                <a:sym typeface="Calibri"/>
              </a:rPr>
              <a:t>Unequal access</a:t>
            </a:r>
            <a:endParaRPr>
              <a:latin typeface="Calibri"/>
              <a:ea typeface="Calibri"/>
              <a:cs typeface="Calibri"/>
              <a:sym typeface="Calibri"/>
            </a:endParaRPr>
          </a:p>
        </p:txBody>
      </p:sp>
      <p:cxnSp>
        <p:nvCxnSpPr>
          <p:cNvPr id="1255" name="Google Shape;1255;g3e3a61befe4_0_4007"/>
          <p:cNvCxnSpPr/>
          <p:nvPr/>
        </p:nvCxnSpPr>
        <p:spPr>
          <a:xfrm>
            <a:off x="231300" y="4604275"/>
            <a:ext cx="9439800" cy="27000"/>
          </a:xfrm>
          <a:prstGeom prst="straightConnector1">
            <a:avLst/>
          </a:prstGeom>
          <a:noFill/>
          <a:ln cap="flat" cmpd="sng" w="28575">
            <a:solidFill>
              <a:srgbClr val="FF0000"/>
            </a:solidFill>
            <a:prstDash val="dot"/>
            <a:round/>
            <a:headEnd len="med" w="med" type="none"/>
            <a:tailEnd len="med" w="med" type="none"/>
          </a:ln>
        </p:spPr>
      </p:cxnSp>
      <p:sp>
        <p:nvSpPr>
          <p:cNvPr id="1256" name="Google Shape;1256;g3e3a61befe4_0_4007"/>
          <p:cNvSpPr txBox="1"/>
          <p:nvPr/>
        </p:nvSpPr>
        <p:spPr>
          <a:xfrm>
            <a:off x="131149" y="4944584"/>
            <a:ext cx="1449600" cy="585000"/>
          </a:xfrm>
          <a:prstGeom prst="rect">
            <a:avLst/>
          </a:prstGeom>
          <a:solidFill>
            <a:srgbClr val="EA9999"/>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US" sz="1300">
                <a:solidFill>
                  <a:schemeClr val="dk1"/>
                </a:solidFill>
              </a:rPr>
              <a:t>Ethical Consequences</a:t>
            </a:r>
            <a:endParaRPr b="1" sz="1300">
              <a:solidFill>
                <a:schemeClr val="dk1"/>
              </a:solidFill>
            </a:endParaRPr>
          </a:p>
        </p:txBody>
      </p:sp>
      <p:cxnSp>
        <p:nvCxnSpPr>
          <p:cNvPr id="1257" name="Google Shape;1257;g3e3a61befe4_0_4007"/>
          <p:cNvCxnSpPr/>
          <p:nvPr/>
        </p:nvCxnSpPr>
        <p:spPr>
          <a:xfrm rot="10800000">
            <a:off x="1664753" y="772000"/>
            <a:ext cx="0" cy="5069400"/>
          </a:xfrm>
          <a:prstGeom prst="straightConnector1">
            <a:avLst/>
          </a:prstGeom>
          <a:noFill/>
          <a:ln cap="flat" cmpd="sng" w="19050">
            <a:solidFill>
              <a:schemeClr val="dk2"/>
            </a:solidFill>
            <a:prstDash val="solid"/>
            <a:round/>
            <a:headEnd len="med" w="med" type="diamond"/>
            <a:tailEnd len="med" w="med" type="diamond"/>
          </a:ln>
        </p:spPr>
      </p:cxnSp>
      <p:sp>
        <p:nvSpPr>
          <p:cNvPr id="1258" name="Google Shape;1258;g3e3a61befe4_0_4007"/>
          <p:cNvSpPr/>
          <p:nvPr/>
        </p:nvSpPr>
        <p:spPr>
          <a:xfrm>
            <a:off x="4441888" y="4889831"/>
            <a:ext cx="2480700" cy="694500"/>
          </a:xfrm>
          <a:prstGeom prst="roundRect">
            <a:avLst>
              <a:gd fmla="val 16667" name="adj"/>
            </a:avLst>
          </a:prstGeom>
          <a:solidFill>
            <a:srgbClr val="EA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latin typeface="Calibri"/>
                <a:ea typeface="Calibri"/>
                <a:cs typeface="Calibri"/>
                <a:sym typeface="Calibri"/>
              </a:rPr>
              <a:t>Perpetuation of biases and </a:t>
            </a:r>
            <a:r>
              <a:rPr lang="en-US">
                <a:solidFill>
                  <a:schemeClr val="dk1"/>
                </a:solidFill>
                <a:latin typeface="Calibri"/>
                <a:ea typeface="Calibri"/>
                <a:cs typeface="Calibri"/>
                <a:sym typeface="Calibri"/>
              </a:rPr>
              <a:t>favoring zones</a:t>
            </a:r>
            <a:endParaRPr>
              <a:latin typeface="Calibri"/>
              <a:ea typeface="Calibri"/>
              <a:cs typeface="Calibri"/>
              <a:sym typeface="Calibri"/>
            </a:endParaRPr>
          </a:p>
        </p:txBody>
      </p:sp>
      <p:cxnSp>
        <p:nvCxnSpPr>
          <p:cNvPr id="1259" name="Google Shape;1259;g3e3a61befe4_0_4007"/>
          <p:cNvCxnSpPr/>
          <p:nvPr/>
        </p:nvCxnSpPr>
        <p:spPr>
          <a:xfrm>
            <a:off x="323850" y="3048663"/>
            <a:ext cx="9439800" cy="27000"/>
          </a:xfrm>
          <a:prstGeom prst="straightConnector1">
            <a:avLst/>
          </a:prstGeom>
          <a:noFill/>
          <a:ln cap="flat" cmpd="sng" w="28575">
            <a:solidFill>
              <a:schemeClr val="dk1"/>
            </a:solidFill>
            <a:prstDash val="dot"/>
            <a:round/>
            <a:headEnd len="med" w="med" type="none"/>
            <a:tailEnd len="med" w="med" type="none"/>
          </a:ln>
        </p:spPr>
      </p:cxnSp>
      <p:sp>
        <p:nvSpPr>
          <p:cNvPr id="1260" name="Google Shape;1260;g3e3a61befe4_0_4007"/>
          <p:cNvSpPr/>
          <p:nvPr/>
        </p:nvSpPr>
        <p:spPr>
          <a:xfrm>
            <a:off x="1815975" y="3263676"/>
            <a:ext cx="2480700" cy="11526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US">
                <a:solidFill>
                  <a:schemeClr val="dk1"/>
                </a:solidFill>
                <a:latin typeface="Calibri"/>
                <a:ea typeface="Calibri"/>
                <a:cs typeface="Calibri"/>
                <a:sym typeface="Calibri"/>
              </a:rPr>
              <a:t>If the Distribution Agent’s central stock is empty, scooters may be transferred from other zones, leaving some areas without scooters</a:t>
            </a:r>
            <a:endParaRPr>
              <a:latin typeface="Calibri"/>
              <a:ea typeface="Calibri"/>
              <a:cs typeface="Calibri"/>
              <a:sym typeface="Calibri"/>
            </a:endParaRPr>
          </a:p>
        </p:txBody>
      </p:sp>
      <p:cxnSp>
        <p:nvCxnSpPr>
          <p:cNvPr id="1261" name="Google Shape;1261;g3e3a61befe4_0_4007"/>
          <p:cNvCxnSpPr>
            <a:stCxn id="1254" idx="0"/>
            <a:endCxn id="1260" idx="2"/>
          </p:cNvCxnSpPr>
          <p:nvPr/>
        </p:nvCxnSpPr>
        <p:spPr>
          <a:xfrm flipH="1" rot="10800000">
            <a:off x="3053323" y="4416292"/>
            <a:ext cx="3000" cy="585600"/>
          </a:xfrm>
          <a:prstGeom prst="straightConnector1">
            <a:avLst/>
          </a:prstGeom>
          <a:noFill/>
          <a:ln cap="flat" cmpd="sng" w="9525">
            <a:solidFill>
              <a:schemeClr val="dk2"/>
            </a:solidFill>
            <a:prstDash val="solid"/>
            <a:round/>
            <a:headEnd len="med" w="med" type="triangle"/>
            <a:tailEnd len="med" w="med" type="none"/>
          </a:ln>
        </p:spPr>
      </p:cxnSp>
      <p:graphicFrame>
        <p:nvGraphicFramePr>
          <p:cNvPr id="1262" name="Google Shape;1262;g3e3a61befe4_0_4007"/>
          <p:cNvGraphicFramePr/>
          <p:nvPr/>
        </p:nvGraphicFramePr>
        <p:xfrm>
          <a:off x="152400" y="152400"/>
          <a:ext cx="3000000" cy="3000000"/>
        </p:xfrm>
        <a:graphic>
          <a:graphicData uri="http://schemas.openxmlformats.org/drawingml/2006/table">
            <a:tbl>
              <a:tblPr>
                <a:noFill/>
                <a:tableStyleId>{50916073-6137-4BFC-AC2B-91BFF95D4831}</a:tableStyleId>
              </a:tblPr>
              <a:tblGrid>
                <a:gridCol w="19050"/>
              </a:tblGrid>
              <a:tr h="19050">
                <a:tc>
                  <a:txBody>
                    <a:bodyPr/>
                    <a:lstStyle/>
                    <a:p>
                      <a:pPr indent="0" lvl="0" marL="0" rtl="0" algn="l">
                        <a:spcBef>
                          <a:spcPts val="0"/>
                        </a:spcBef>
                        <a:spcAft>
                          <a:spcPts val="0"/>
                        </a:spcAft>
                        <a:buNone/>
                      </a:pPr>
                      <a:r>
                        <a:t/>
                      </a:r>
                      <a:endParaRPr/>
                    </a:p>
                  </a:txBody>
                  <a:tcPr marT="91425" marB="91425" marR="91425" marL="91425"/>
                </a:tc>
              </a:tr>
            </a:tbl>
          </a:graphicData>
        </a:graphic>
      </p:graphicFrame>
      <p:graphicFrame>
        <p:nvGraphicFramePr>
          <p:cNvPr id="1263" name="Google Shape;1263;g3e3a61befe4_0_4007"/>
          <p:cNvGraphicFramePr/>
          <p:nvPr/>
        </p:nvGraphicFramePr>
        <p:xfrm>
          <a:off x="304800" y="304800"/>
          <a:ext cx="3000000" cy="3000000"/>
        </p:xfrm>
        <a:graphic>
          <a:graphicData uri="http://schemas.openxmlformats.org/drawingml/2006/table">
            <a:tbl>
              <a:tblPr>
                <a:noFill/>
                <a:tableStyleId>{50916073-6137-4BFC-AC2B-91BFF95D4831}</a:tableStyleId>
              </a:tblPr>
              <a:tblGrid>
                <a:gridCol w="19050"/>
              </a:tblGrid>
              <a:tr h="19050">
                <a:tc>
                  <a:txBody>
                    <a:bodyPr/>
                    <a:lstStyle/>
                    <a:p>
                      <a:pPr indent="0" lvl="0" marL="0" rtl="0" algn="l">
                        <a:spcBef>
                          <a:spcPts val="0"/>
                        </a:spcBef>
                        <a:spcAft>
                          <a:spcPts val="0"/>
                        </a:spcAft>
                        <a:buNone/>
                      </a:pPr>
                      <a:r>
                        <a:t/>
                      </a:r>
                      <a:endParaRPr/>
                    </a:p>
                  </a:txBody>
                  <a:tcPr marT="91425" marB="91425" marR="91425" marL="91425"/>
                </a:tc>
              </a:tr>
            </a:tbl>
          </a:graphicData>
        </a:graphic>
      </p:graphicFrame>
      <p:graphicFrame>
        <p:nvGraphicFramePr>
          <p:cNvPr id="1264" name="Google Shape;1264;g3e3a61befe4_0_4007"/>
          <p:cNvGraphicFramePr/>
          <p:nvPr/>
        </p:nvGraphicFramePr>
        <p:xfrm>
          <a:off x="-409575" y="2066500"/>
          <a:ext cx="3000000" cy="3000000"/>
        </p:xfrm>
        <a:graphic>
          <a:graphicData uri="http://schemas.openxmlformats.org/drawingml/2006/table">
            <a:tbl>
              <a:tblPr>
                <a:noFill/>
                <a:tableStyleId>{50916073-6137-4BFC-AC2B-91BFF95D4831}</a:tableStyleId>
              </a:tblPr>
              <a:tblGrid>
                <a:gridCol w="19050"/>
              </a:tblGrid>
              <a:tr h="19050">
                <a:tc>
                  <a:txBody>
                    <a:bodyPr/>
                    <a:lstStyle/>
                    <a:p>
                      <a:pPr indent="0" lvl="0" marL="0" rtl="0" algn="l">
                        <a:spcBef>
                          <a:spcPts val="0"/>
                        </a:spcBef>
                        <a:spcAft>
                          <a:spcPts val="0"/>
                        </a:spcAft>
                        <a:buNone/>
                      </a:pPr>
                      <a:r>
                        <a:t/>
                      </a:r>
                      <a:endParaRPr/>
                    </a:p>
                  </a:txBody>
                  <a:tcPr marT="91425" marB="91425" marR="91425" marL="91425"/>
                </a:tc>
              </a:tr>
            </a:tbl>
          </a:graphicData>
        </a:graphic>
      </p:graphicFrame>
      <p:sp>
        <p:nvSpPr>
          <p:cNvPr id="1265" name="Google Shape;1265;g3e3a61befe4_0_4007"/>
          <p:cNvSpPr txBox="1"/>
          <p:nvPr/>
        </p:nvSpPr>
        <p:spPr>
          <a:xfrm>
            <a:off x="152398" y="3652747"/>
            <a:ext cx="1383000" cy="585000"/>
          </a:xfrm>
          <a:prstGeom prst="rect">
            <a:avLst/>
          </a:prstGeom>
          <a:solidFill>
            <a:schemeClr val="lt1"/>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US" sz="1300">
                <a:solidFill>
                  <a:schemeClr val="dk1"/>
                </a:solidFill>
              </a:rPr>
              <a:t>Intermediate Effect</a:t>
            </a:r>
            <a:endParaRPr b="1" sz="1300">
              <a:solidFill>
                <a:srgbClr val="FF0000"/>
              </a:solidFill>
              <a:latin typeface="Calibri"/>
              <a:ea typeface="Calibri"/>
              <a:cs typeface="Calibri"/>
              <a:sym typeface="Calibri"/>
            </a:endParaRPr>
          </a:p>
        </p:txBody>
      </p:sp>
      <p:sp>
        <p:nvSpPr>
          <p:cNvPr id="1266" name="Google Shape;1266;g3e3a61befe4_0_4007"/>
          <p:cNvSpPr txBox="1"/>
          <p:nvPr/>
        </p:nvSpPr>
        <p:spPr>
          <a:xfrm>
            <a:off x="164447" y="1984427"/>
            <a:ext cx="1383000" cy="384900"/>
          </a:xfrm>
          <a:prstGeom prst="rect">
            <a:avLst/>
          </a:prstGeom>
          <a:solidFill>
            <a:schemeClr val="lt1"/>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US" sz="1300">
                <a:solidFill>
                  <a:schemeClr val="dk1"/>
                </a:solidFill>
              </a:rPr>
              <a:t>Cause</a:t>
            </a:r>
            <a:endParaRPr b="1" sz="1300">
              <a:solidFill>
                <a:srgbClr val="FF0000"/>
              </a:solidFill>
              <a:latin typeface="Calibri"/>
              <a:ea typeface="Calibri"/>
              <a:cs typeface="Calibri"/>
              <a:sym typeface="Calibri"/>
            </a:endParaRPr>
          </a:p>
        </p:txBody>
      </p:sp>
      <p:sp>
        <p:nvSpPr>
          <p:cNvPr id="1267" name="Google Shape;1267;g3e3a61befe4_0_4007"/>
          <p:cNvSpPr/>
          <p:nvPr/>
        </p:nvSpPr>
        <p:spPr>
          <a:xfrm>
            <a:off x="4447891" y="3468062"/>
            <a:ext cx="2480700" cy="7509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latin typeface="Calibri"/>
                <a:ea typeface="Calibri"/>
                <a:cs typeface="Calibri"/>
                <a:sym typeface="Calibri"/>
              </a:rPr>
              <a:t>Zones  historically favored by scooter use continue to receive more scooters</a:t>
            </a:r>
            <a:endParaRPr>
              <a:latin typeface="Calibri"/>
              <a:ea typeface="Calibri"/>
              <a:cs typeface="Calibri"/>
              <a:sym typeface="Calibri"/>
            </a:endParaRPr>
          </a:p>
        </p:txBody>
      </p:sp>
      <p:cxnSp>
        <p:nvCxnSpPr>
          <p:cNvPr id="1268" name="Google Shape;1268;g3e3a61befe4_0_4007"/>
          <p:cNvCxnSpPr>
            <a:stCxn id="1258" idx="0"/>
            <a:endCxn id="1267" idx="2"/>
          </p:cNvCxnSpPr>
          <p:nvPr/>
        </p:nvCxnSpPr>
        <p:spPr>
          <a:xfrm flipH="1" rot="10800000">
            <a:off x="5682238" y="4219031"/>
            <a:ext cx="6000" cy="670800"/>
          </a:xfrm>
          <a:prstGeom prst="straightConnector1">
            <a:avLst/>
          </a:prstGeom>
          <a:noFill/>
          <a:ln cap="flat" cmpd="sng" w="9525">
            <a:solidFill>
              <a:schemeClr val="dk2"/>
            </a:solidFill>
            <a:prstDash val="solid"/>
            <a:round/>
            <a:headEnd len="med" w="med" type="stealth"/>
            <a:tailEnd len="med" w="med" type="none"/>
          </a:ln>
        </p:spPr>
      </p:cxnSp>
      <p:sp>
        <p:nvSpPr>
          <p:cNvPr id="1269" name="Google Shape;1269;g3e3a61befe4_0_4007"/>
          <p:cNvSpPr/>
          <p:nvPr/>
        </p:nvSpPr>
        <p:spPr>
          <a:xfrm>
            <a:off x="1784538" y="811925"/>
            <a:ext cx="2454000" cy="6246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en-US">
                <a:solidFill>
                  <a:schemeClr val="dk1"/>
                </a:solidFill>
                <a:latin typeface="Calibri"/>
                <a:ea typeface="Calibri"/>
                <a:cs typeface="Calibri"/>
                <a:sym typeface="Calibri"/>
              </a:rPr>
              <a:t>1 - Sustainable Development and Social Welfare</a:t>
            </a:r>
            <a:endParaRPr>
              <a:latin typeface="Calibri"/>
              <a:ea typeface="Calibri"/>
              <a:cs typeface="Calibri"/>
              <a:sym typeface="Calibri"/>
            </a:endParaRPr>
          </a:p>
        </p:txBody>
      </p:sp>
      <p:sp>
        <p:nvSpPr>
          <p:cNvPr id="1270" name="Google Shape;1270;g3e3a61befe4_0_4007"/>
          <p:cNvSpPr/>
          <p:nvPr/>
        </p:nvSpPr>
        <p:spPr>
          <a:xfrm>
            <a:off x="4357200" y="811928"/>
            <a:ext cx="2569500" cy="6246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a:solidFill>
                  <a:schemeClr val="dk1"/>
                </a:solidFill>
                <a:latin typeface="Calibri"/>
                <a:ea typeface="Calibri"/>
                <a:cs typeface="Calibri"/>
                <a:sym typeface="Calibri"/>
              </a:rPr>
              <a:t>2. Justice and Non-Discrimination</a:t>
            </a:r>
            <a:endParaRPr>
              <a:latin typeface="Calibri"/>
              <a:ea typeface="Calibri"/>
              <a:cs typeface="Calibri"/>
              <a:sym typeface="Calibri"/>
            </a:endParaRPr>
          </a:p>
        </p:txBody>
      </p:sp>
      <p:sp>
        <p:nvSpPr>
          <p:cNvPr id="1271" name="Google Shape;1271;g3e3a61befe4_0_4007"/>
          <p:cNvSpPr txBox="1"/>
          <p:nvPr/>
        </p:nvSpPr>
        <p:spPr>
          <a:xfrm>
            <a:off x="282900" y="931775"/>
            <a:ext cx="1240500" cy="585000"/>
          </a:xfrm>
          <a:prstGeom prst="rect">
            <a:avLst/>
          </a:prstGeom>
          <a:solidFill>
            <a:schemeClr val="lt1"/>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US" sz="1300">
                <a:solidFill>
                  <a:schemeClr val="dk1"/>
                </a:solidFill>
              </a:rPr>
              <a:t>Ethics Principles</a:t>
            </a:r>
            <a:endParaRPr b="1" sz="1300">
              <a:solidFill>
                <a:srgbClr val="FF0000"/>
              </a:solidFill>
              <a:latin typeface="Calibri"/>
              <a:ea typeface="Calibri"/>
              <a:cs typeface="Calibri"/>
              <a:sym typeface="Calibri"/>
            </a:endParaRPr>
          </a:p>
        </p:txBody>
      </p:sp>
      <p:sp>
        <p:nvSpPr>
          <p:cNvPr id="1272" name="Google Shape;1272;g3e3a61befe4_0_4007"/>
          <p:cNvSpPr/>
          <p:nvPr/>
        </p:nvSpPr>
        <p:spPr>
          <a:xfrm>
            <a:off x="1862175" y="1637526"/>
            <a:ext cx="2365200" cy="11526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solidFill>
                  <a:schemeClr val="dk1"/>
                </a:solidFill>
                <a:latin typeface="Calibri"/>
                <a:ea typeface="Calibri"/>
                <a:cs typeface="Calibri"/>
                <a:sym typeface="Calibri"/>
              </a:rPr>
              <a:t>There is no minimum scooter retention policy to prevent zones from becoming empty after transfers</a:t>
            </a:r>
            <a:endParaRPr>
              <a:latin typeface="Calibri"/>
              <a:ea typeface="Calibri"/>
              <a:cs typeface="Calibri"/>
              <a:sym typeface="Calibri"/>
            </a:endParaRPr>
          </a:p>
        </p:txBody>
      </p:sp>
      <p:cxnSp>
        <p:nvCxnSpPr>
          <p:cNvPr id="1273" name="Google Shape;1273;g3e3a61befe4_0_4007"/>
          <p:cNvCxnSpPr>
            <a:stCxn id="1272" idx="2"/>
            <a:endCxn id="1260" idx="0"/>
          </p:cNvCxnSpPr>
          <p:nvPr/>
        </p:nvCxnSpPr>
        <p:spPr>
          <a:xfrm>
            <a:off x="3044775" y="2790126"/>
            <a:ext cx="11700" cy="4737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mc:AlternateContent>
    <mc:Choice Requires="p14">
      <p:transition spd="slow" p14:dur="700">
        <p:fade/>
      </p:transition>
    </mc:Choice>
    <mc:Fallback>
      <p:transition spd="slow">
        <p:fade/>
      </p:transition>
    </mc:Fallback>
  </mc:AlternateContent>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7" name="Shape 1277"/>
        <p:cNvGrpSpPr/>
        <p:nvPr/>
      </p:nvGrpSpPr>
      <p:grpSpPr>
        <a:xfrm>
          <a:off x="0" y="0"/>
          <a:ext cx="0" cy="0"/>
          <a:chOff x="0" y="0"/>
          <a:chExt cx="0" cy="0"/>
        </a:xfrm>
      </p:grpSpPr>
      <p:sp>
        <p:nvSpPr>
          <p:cNvPr id="1278" name="Google Shape;1278;g3e3a61befe4_0_4085"/>
          <p:cNvSpPr txBox="1"/>
          <p:nvPr>
            <p:ph type="title"/>
          </p:nvPr>
        </p:nvSpPr>
        <p:spPr>
          <a:xfrm>
            <a:off x="101475" y="108450"/>
            <a:ext cx="9604200" cy="624600"/>
          </a:xfrm>
          <a:prstGeom prst="rect">
            <a:avLst/>
          </a:prstGeom>
          <a:solidFill>
            <a:srgbClr val="000000">
              <a:alpha val="0"/>
            </a:srgbClr>
          </a:solidFill>
          <a:ln>
            <a:noFill/>
          </a:ln>
        </p:spPr>
        <p:txBody>
          <a:bodyPr anchorCtr="0" anchor="ctr" bIns="45700" lIns="91400" spcFirstLastPara="1" rIns="91400" wrap="square" tIns="45700">
            <a:noAutofit/>
          </a:bodyPr>
          <a:lstStyle/>
          <a:p>
            <a:pPr indent="0" lvl="0" marL="0" rtl="0" algn="l">
              <a:spcBef>
                <a:spcPts val="0"/>
              </a:spcBef>
              <a:spcAft>
                <a:spcPts val="0"/>
              </a:spcAft>
              <a:buNone/>
            </a:pPr>
            <a:r>
              <a:rPr b="1" lang="en-US" sz="2300">
                <a:solidFill>
                  <a:srgbClr val="1E4E79"/>
                </a:solidFill>
                <a:latin typeface="Arial"/>
                <a:ea typeface="Arial"/>
                <a:cs typeface="Arial"/>
                <a:sym typeface="Arial"/>
              </a:rPr>
              <a:t>Step </a:t>
            </a:r>
            <a:r>
              <a:rPr lang="en-US" sz="2300">
                <a:latin typeface="Arial"/>
                <a:ea typeface="Arial"/>
                <a:cs typeface="Arial"/>
                <a:sym typeface="Arial"/>
              </a:rPr>
              <a:t>3</a:t>
            </a:r>
            <a:r>
              <a:rPr b="1" lang="en-US" sz="2300">
                <a:solidFill>
                  <a:srgbClr val="1E4E79"/>
                </a:solidFill>
                <a:latin typeface="Arial"/>
                <a:ea typeface="Arial"/>
                <a:cs typeface="Arial"/>
                <a:sym typeface="Arial"/>
              </a:rPr>
              <a:t>: Mapping of Ethical Causes and Consequences by Ethical Principle </a:t>
            </a:r>
            <a:endParaRPr b="1" sz="2300">
              <a:solidFill>
                <a:srgbClr val="1E4E79"/>
              </a:solidFill>
              <a:latin typeface="Arial"/>
              <a:ea typeface="Arial"/>
              <a:cs typeface="Arial"/>
              <a:sym typeface="Arial"/>
            </a:endParaRPr>
          </a:p>
        </p:txBody>
      </p:sp>
      <p:grpSp>
        <p:nvGrpSpPr>
          <p:cNvPr id="1279" name="Google Shape;1279;g3e3a61befe4_0_4085"/>
          <p:cNvGrpSpPr/>
          <p:nvPr/>
        </p:nvGrpSpPr>
        <p:grpSpPr>
          <a:xfrm>
            <a:off x="-18000" y="5842891"/>
            <a:ext cx="9942000" cy="1014788"/>
            <a:chOff x="-21650" y="5927750"/>
            <a:chExt cx="9942000" cy="930230"/>
          </a:xfrm>
        </p:grpSpPr>
        <p:sp>
          <p:nvSpPr>
            <p:cNvPr id="1280" name="Google Shape;1280;g3e3a61befe4_0_4085"/>
            <p:cNvSpPr/>
            <p:nvPr/>
          </p:nvSpPr>
          <p:spPr>
            <a:xfrm>
              <a:off x="5239747" y="5949280"/>
              <a:ext cx="4680600" cy="9087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Arial"/>
                  <a:ea typeface="Arial"/>
                  <a:cs typeface="Arial"/>
                  <a:sym typeface="Arial"/>
                </a:rPr>
                <a:t>25th Annual International Conference on Digital Government Research (dg.o 2024)</a:t>
              </a:r>
              <a:endParaRPr b="0" i="0" sz="1800" u="none" cap="none" strike="noStrike">
                <a:solidFill>
                  <a:schemeClr val="lt1"/>
                </a:solidFill>
                <a:latin typeface="Arial"/>
                <a:ea typeface="Arial"/>
                <a:cs typeface="Arial"/>
                <a:sym typeface="Arial"/>
              </a:endParaRPr>
            </a:p>
          </p:txBody>
        </p:sp>
        <p:pic>
          <p:nvPicPr>
            <p:cNvPr id="1281" name="Google Shape;1281;g3e3a61befe4_0_4085"/>
            <p:cNvPicPr preferRelativeResize="0"/>
            <p:nvPr/>
          </p:nvPicPr>
          <p:blipFill rotWithShape="1">
            <a:blip r:embed="rId3">
              <a:alphaModFix/>
            </a:blip>
            <a:srcRect b="-112517" l="-23390" r="23390" t="137700"/>
            <a:stretch/>
          </p:blipFill>
          <p:spPr>
            <a:xfrm>
              <a:off x="0" y="6007596"/>
              <a:ext cx="9920265" cy="792088"/>
            </a:xfrm>
            <a:prstGeom prst="rect">
              <a:avLst/>
            </a:prstGeom>
            <a:noFill/>
            <a:ln>
              <a:noFill/>
            </a:ln>
          </p:spPr>
        </p:pic>
        <p:sp>
          <p:nvSpPr>
            <p:cNvPr id="1282" name="Google Shape;1282;g3e3a61befe4_0_4085"/>
            <p:cNvSpPr/>
            <p:nvPr/>
          </p:nvSpPr>
          <p:spPr>
            <a:xfrm>
              <a:off x="-21650" y="5927750"/>
              <a:ext cx="9942000" cy="9087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sp>
        <p:nvSpPr>
          <p:cNvPr id="1283" name="Google Shape;1283;g3e3a61befe4_0_4085"/>
          <p:cNvSpPr txBox="1"/>
          <p:nvPr>
            <p:ph idx="12" type="sldNum"/>
          </p:nvPr>
        </p:nvSpPr>
        <p:spPr>
          <a:xfrm>
            <a:off x="6996113" y="6356350"/>
            <a:ext cx="22290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pic>
        <p:nvPicPr>
          <p:cNvPr id="1284" name="Google Shape;1284;g3e3a61befe4_0_4085"/>
          <p:cNvPicPr preferRelativeResize="0"/>
          <p:nvPr/>
        </p:nvPicPr>
        <p:blipFill rotWithShape="1">
          <a:blip r:embed="rId4">
            <a:alphaModFix/>
          </a:blip>
          <a:srcRect b="0" l="0" r="0" t="0"/>
          <a:stretch/>
        </p:blipFill>
        <p:spPr>
          <a:xfrm>
            <a:off x="218750" y="6052376"/>
            <a:ext cx="1823009" cy="470325"/>
          </a:xfrm>
          <a:prstGeom prst="rect">
            <a:avLst/>
          </a:prstGeom>
          <a:noFill/>
          <a:ln>
            <a:noFill/>
          </a:ln>
        </p:spPr>
      </p:pic>
      <p:pic>
        <p:nvPicPr>
          <p:cNvPr id="1285" name="Google Shape;1285;g3e3a61befe4_0_4085"/>
          <p:cNvPicPr preferRelativeResize="0"/>
          <p:nvPr/>
        </p:nvPicPr>
        <p:blipFill rotWithShape="1">
          <a:blip r:embed="rId5">
            <a:alphaModFix/>
          </a:blip>
          <a:srcRect b="0" l="0" r="0" t="0"/>
          <a:stretch/>
        </p:blipFill>
        <p:spPr>
          <a:xfrm>
            <a:off x="6996125" y="5975242"/>
            <a:ext cx="1811830" cy="624575"/>
          </a:xfrm>
          <a:prstGeom prst="rect">
            <a:avLst/>
          </a:prstGeom>
          <a:noFill/>
          <a:ln>
            <a:noFill/>
          </a:ln>
        </p:spPr>
      </p:pic>
      <p:sp>
        <p:nvSpPr>
          <p:cNvPr id="1286" name="Google Shape;1286;g3e3a61befe4_0_4085"/>
          <p:cNvSpPr/>
          <p:nvPr/>
        </p:nvSpPr>
        <p:spPr>
          <a:xfrm>
            <a:off x="1812973" y="5001892"/>
            <a:ext cx="2480700" cy="470400"/>
          </a:xfrm>
          <a:prstGeom prst="roundRect">
            <a:avLst>
              <a:gd fmla="val 16667" name="adj"/>
            </a:avLst>
          </a:prstGeom>
          <a:solidFill>
            <a:srgbClr val="EA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latin typeface="Calibri"/>
                <a:ea typeface="Calibri"/>
                <a:cs typeface="Calibri"/>
                <a:sym typeface="Calibri"/>
              </a:rPr>
              <a:t>Unequal access</a:t>
            </a:r>
            <a:endParaRPr>
              <a:latin typeface="Calibri"/>
              <a:ea typeface="Calibri"/>
              <a:cs typeface="Calibri"/>
              <a:sym typeface="Calibri"/>
            </a:endParaRPr>
          </a:p>
        </p:txBody>
      </p:sp>
      <p:cxnSp>
        <p:nvCxnSpPr>
          <p:cNvPr id="1287" name="Google Shape;1287;g3e3a61befe4_0_4085"/>
          <p:cNvCxnSpPr/>
          <p:nvPr/>
        </p:nvCxnSpPr>
        <p:spPr>
          <a:xfrm>
            <a:off x="231300" y="4604275"/>
            <a:ext cx="9439800" cy="27000"/>
          </a:xfrm>
          <a:prstGeom prst="straightConnector1">
            <a:avLst/>
          </a:prstGeom>
          <a:noFill/>
          <a:ln cap="flat" cmpd="sng" w="28575">
            <a:solidFill>
              <a:srgbClr val="FF0000"/>
            </a:solidFill>
            <a:prstDash val="dot"/>
            <a:round/>
            <a:headEnd len="med" w="med" type="none"/>
            <a:tailEnd len="med" w="med" type="none"/>
          </a:ln>
        </p:spPr>
      </p:cxnSp>
      <p:sp>
        <p:nvSpPr>
          <p:cNvPr id="1288" name="Google Shape;1288;g3e3a61befe4_0_4085"/>
          <p:cNvSpPr txBox="1"/>
          <p:nvPr/>
        </p:nvSpPr>
        <p:spPr>
          <a:xfrm>
            <a:off x="131149" y="4944584"/>
            <a:ext cx="1449600" cy="585000"/>
          </a:xfrm>
          <a:prstGeom prst="rect">
            <a:avLst/>
          </a:prstGeom>
          <a:solidFill>
            <a:srgbClr val="EA9999"/>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US" sz="1300">
                <a:solidFill>
                  <a:schemeClr val="dk1"/>
                </a:solidFill>
              </a:rPr>
              <a:t>Ethical Consequences</a:t>
            </a:r>
            <a:endParaRPr b="1" sz="1300">
              <a:solidFill>
                <a:schemeClr val="dk1"/>
              </a:solidFill>
            </a:endParaRPr>
          </a:p>
        </p:txBody>
      </p:sp>
      <p:cxnSp>
        <p:nvCxnSpPr>
          <p:cNvPr id="1289" name="Google Shape;1289;g3e3a61befe4_0_4085"/>
          <p:cNvCxnSpPr/>
          <p:nvPr/>
        </p:nvCxnSpPr>
        <p:spPr>
          <a:xfrm rot="10800000">
            <a:off x="1664753" y="772000"/>
            <a:ext cx="0" cy="5069400"/>
          </a:xfrm>
          <a:prstGeom prst="straightConnector1">
            <a:avLst/>
          </a:prstGeom>
          <a:noFill/>
          <a:ln cap="flat" cmpd="sng" w="19050">
            <a:solidFill>
              <a:schemeClr val="dk2"/>
            </a:solidFill>
            <a:prstDash val="solid"/>
            <a:round/>
            <a:headEnd len="med" w="med" type="diamond"/>
            <a:tailEnd len="med" w="med" type="diamond"/>
          </a:ln>
        </p:spPr>
      </p:cxnSp>
      <p:sp>
        <p:nvSpPr>
          <p:cNvPr id="1290" name="Google Shape;1290;g3e3a61befe4_0_4085"/>
          <p:cNvSpPr/>
          <p:nvPr/>
        </p:nvSpPr>
        <p:spPr>
          <a:xfrm>
            <a:off x="4441888" y="4889831"/>
            <a:ext cx="2480700" cy="694500"/>
          </a:xfrm>
          <a:prstGeom prst="roundRect">
            <a:avLst>
              <a:gd fmla="val 16667" name="adj"/>
            </a:avLst>
          </a:prstGeom>
          <a:solidFill>
            <a:srgbClr val="EA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latin typeface="Calibri"/>
                <a:ea typeface="Calibri"/>
                <a:cs typeface="Calibri"/>
                <a:sym typeface="Calibri"/>
              </a:rPr>
              <a:t>Perpetuation of biases and </a:t>
            </a:r>
            <a:r>
              <a:rPr lang="en-US">
                <a:solidFill>
                  <a:schemeClr val="dk1"/>
                </a:solidFill>
                <a:latin typeface="Calibri"/>
                <a:ea typeface="Calibri"/>
                <a:cs typeface="Calibri"/>
                <a:sym typeface="Calibri"/>
              </a:rPr>
              <a:t>favoring zones</a:t>
            </a:r>
            <a:endParaRPr>
              <a:latin typeface="Calibri"/>
              <a:ea typeface="Calibri"/>
              <a:cs typeface="Calibri"/>
              <a:sym typeface="Calibri"/>
            </a:endParaRPr>
          </a:p>
        </p:txBody>
      </p:sp>
      <p:cxnSp>
        <p:nvCxnSpPr>
          <p:cNvPr id="1291" name="Google Shape;1291;g3e3a61befe4_0_4085"/>
          <p:cNvCxnSpPr/>
          <p:nvPr/>
        </p:nvCxnSpPr>
        <p:spPr>
          <a:xfrm>
            <a:off x="323850" y="3048663"/>
            <a:ext cx="9439800" cy="27000"/>
          </a:xfrm>
          <a:prstGeom prst="straightConnector1">
            <a:avLst/>
          </a:prstGeom>
          <a:noFill/>
          <a:ln cap="flat" cmpd="sng" w="28575">
            <a:solidFill>
              <a:schemeClr val="dk1"/>
            </a:solidFill>
            <a:prstDash val="dot"/>
            <a:round/>
            <a:headEnd len="med" w="med" type="none"/>
            <a:tailEnd len="med" w="med" type="none"/>
          </a:ln>
        </p:spPr>
      </p:cxnSp>
      <p:sp>
        <p:nvSpPr>
          <p:cNvPr id="1292" name="Google Shape;1292;g3e3a61befe4_0_4085"/>
          <p:cNvSpPr/>
          <p:nvPr/>
        </p:nvSpPr>
        <p:spPr>
          <a:xfrm>
            <a:off x="1815975" y="3263676"/>
            <a:ext cx="2480700" cy="11526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US">
                <a:solidFill>
                  <a:schemeClr val="dk1"/>
                </a:solidFill>
                <a:latin typeface="Calibri"/>
                <a:ea typeface="Calibri"/>
                <a:cs typeface="Calibri"/>
                <a:sym typeface="Calibri"/>
              </a:rPr>
              <a:t>If the Distribution Agent’s central stock is empty, scooters may be transferred from other zones, leaving some areas without scooters</a:t>
            </a:r>
            <a:endParaRPr>
              <a:latin typeface="Calibri"/>
              <a:ea typeface="Calibri"/>
              <a:cs typeface="Calibri"/>
              <a:sym typeface="Calibri"/>
            </a:endParaRPr>
          </a:p>
        </p:txBody>
      </p:sp>
      <p:cxnSp>
        <p:nvCxnSpPr>
          <p:cNvPr id="1293" name="Google Shape;1293;g3e3a61befe4_0_4085"/>
          <p:cNvCxnSpPr>
            <a:stCxn id="1286" idx="0"/>
            <a:endCxn id="1292" idx="2"/>
          </p:cNvCxnSpPr>
          <p:nvPr/>
        </p:nvCxnSpPr>
        <p:spPr>
          <a:xfrm flipH="1" rot="10800000">
            <a:off x="3053323" y="4416292"/>
            <a:ext cx="3000" cy="585600"/>
          </a:xfrm>
          <a:prstGeom prst="straightConnector1">
            <a:avLst/>
          </a:prstGeom>
          <a:noFill/>
          <a:ln cap="flat" cmpd="sng" w="9525">
            <a:solidFill>
              <a:schemeClr val="dk2"/>
            </a:solidFill>
            <a:prstDash val="solid"/>
            <a:round/>
            <a:headEnd len="med" w="med" type="triangle"/>
            <a:tailEnd len="med" w="med" type="none"/>
          </a:ln>
        </p:spPr>
      </p:cxnSp>
      <p:sp>
        <p:nvSpPr>
          <p:cNvPr id="1294" name="Google Shape;1294;g3e3a61befe4_0_4085"/>
          <p:cNvSpPr/>
          <p:nvPr/>
        </p:nvSpPr>
        <p:spPr>
          <a:xfrm>
            <a:off x="4424800" y="1691934"/>
            <a:ext cx="2480700" cy="8862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latin typeface="Calibri"/>
                <a:ea typeface="Calibri"/>
                <a:cs typeface="Calibri"/>
                <a:sym typeface="Calibri"/>
              </a:rPr>
              <a:t>The calculation of the number of scooters to be transferred to each zone is based on usage annual history</a:t>
            </a:r>
            <a:endParaRPr>
              <a:latin typeface="Calibri"/>
              <a:ea typeface="Calibri"/>
              <a:cs typeface="Calibri"/>
              <a:sym typeface="Calibri"/>
            </a:endParaRPr>
          </a:p>
        </p:txBody>
      </p:sp>
      <p:graphicFrame>
        <p:nvGraphicFramePr>
          <p:cNvPr id="1295" name="Google Shape;1295;g3e3a61befe4_0_4085"/>
          <p:cNvGraphicFramePr/>
          <p:nvPr/>
        </p:nvGraphicFramePr>
        <p:xfrm>
          <a:off x="152400" y="152400"/>
          <a:ext cx="3000000" cy="3000000"/>
        </p:xfrm>
        <a:graphic>
          <a:graphicData uri="http://schemas.openxmlformats.org/drawingml/2006/table">
            <a:tbl>
              <a:tblPr>
                <a:noFill/>
                <a:tableStyleId>{50916073-6137-4BFC-AC2B-91BFF95D4831}</a:tableStyleId>
              </a:tblPr>
              <a:tblGrid>
                <a:gridCol w="19050"/>
              </a:tblGrid>
              <a:tr h="19050">
                <a:tc>
                  <a:txBody>
                    <a:bodyPr/>
                    <a:lstStyle/>
                    <a:p>
                      <a:pPr indent="0" lvl="0" marL="0" rtl="0" algn="l">
                        <a:spcBef>
                          <a:spcPts val="0"/>
                        </a:spcBef>
                        <a:spcAft>
                          <a:spcPts val="0"/>
                        </a:spcAft>
                        <a:buNone/>
                      </a:pPr>
                      <a:r>
                        <a:t/>
                      </a:r>
                      <a:endParaRPr/>
                    </a:p>
                  </a:txBody>
                  <a:tcPr marT="91425" marB="91425" marR="91425" marL="91425"/>
                </a:tc>
              </a:tr>
            </a:tbl>
          </a:graphicData>
        </a:graphic>
      </p:graphicFrame>
      <p:graphicFrame>
        <p:nvGraphicFramePr>
          <p:cNvPr id="1296" name="Google Shape;1296;g3e3a61befe4_0_4085"/>
          <p:cNvGraphicFramePr/>
          <p:nvPr/>
        </p:nvGraphicFramePr>
        <p:xfrm>
          <a:off x="304800" y="304800"/>
          <a:ext cx="3000000" cy="3000000"/>
        </p:xfrm>
        <a:graphic>
          <a:graphicData uri="http://schemas.openxmlformats.org/drawingml/2006/table">
            <a:tbl>
              <a:tblPr>
                <a:noFill/>
                <a:tableStyleId>{50916073-6137-4BFC-AC2B-91BFF95D4831}</a:tableStyleId>
              </a:tblPr>
              <a:tblGrid>
                <a:gridCol w="19050"/>
              </a:tblGrid>
              <a:tr h="19050">
                <a:tc>
                  <a:txBody>
                    <a:bodyPr/>
                    <a:lstStyle/>
                    <a:p>
                      <a:pPr indent="0" lvl="0" marL="0" rtl="0" algn="l">
                        <a:spcBef>
                          <a:spcPts val="0"/>
                        </a:spcBef>
                        <a:spcAft>
                          <a:spcPts val="0"/>
                        </a:spcAft>
                        <a:buNone/>
                      </a:pPr>
                      <a:r>
                        <a:t/>
                      </a:r>
                      <a:endParaRPr/>
                    </a:p>
                  </a:txBody>
                  <a:tcPr marT="91425" marB="91425" marR="91425" marL="91425"/>
                </a:tc>
              </a:tr>
            </a:tbl>
          </a:graphicData>
        </a:graphic>
      </p:graphicFrame>
      <p:graphicFrame>
        <p:nvGraphicFramePr>
          <p:cNvPr id="1297" name="Google Shape;1297;g3e3a61befe4_0_4085"/>
          <p:cNvGraphicFramePr/>
          <p:nvPr/>
        </p:nvGraphicFramePr>
        <p:xfrm>
          <a:off x="-409575" y="2066500"/>
          <a:ext cx="3000000" cy="3000000"/>
        </p:xfrm>
        <a:graphic>
          <a:graphicData uri="http://schemas.openxmlformats.org/drawingml/2006/table">
            <a:tbl>
              <a:tblPr>
                <a:noFill/>
                <a:tableStyleId>{50916073-6137-4BFC-AC2B-91BFF95D4831}</a:tableStyleId>
              </a:tblPr>
              <a:tblGrid>
                <a:gridCol w="19050"/>
              </a:tblGrid>
              <a:tr h="19050">
                <a:tc>
                  <a:txBody>
                    <a:bodyPr/>
                    <a:lstStyle/>
                    <a:p>
                      <a:pPr indent="0" lvl="0" marL="0" rtl="0" algn="l">
                        <a:spcBef>
                          <a:spcPts val="0"/>
                        </a:spcBef>
                        <a:spcAft>
                          <a:spcPts val="0"/>
                        </a:spcAft>
                        <a:buNone/>
                      </a:pPr>
                      <a:r>
                        <a:t/>
                      </a:r>
                      <a:endParaRPr/>
                    </a:p>
                  </a:txBody>
                  <a:tcPr marT="91425" marB="91425" marR="91425" marL="91425"/>
                </a:tc>
              </a:tr>
            </a:tbl>
          </a:graphicData>
        </a:graphic>
      </p:graphicFrame>
      <p:sp>
        <p:nvSpPr>
          <p:cNvPr id="1298" name="Google Shape;1298;g3e3a61befe4_0_4085"/>
          <p:cNvSpPr txBox="1"/>
          <p:nvPr/>
        </p:nvSpPr>
        <p:spPr>
          <a:xfrm>
            <a:off x="152398" y="3652747"/>
            <a:ext cx="1383000" cy="585000"/>
          </a:xfrm>
          <a:prstGeom prst="rect">
            <a:avLst/>
          </a:prstGeom>
          <a:solidFill>
            <a:schemeClr val="lt1"/>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US" sz="1300">
                <a:solidFill>
                  <a:schemeClr val="dk1"/>
                </a:solidFill>
              </a:rPr>
              <a:t>Intermediate Effect</a:t>
            </a:r>
            <a:endParaRPr b="1" sz="1300">
              <a:solidFill>
                <a:srgbClr val="FF0000"/>
              </a:solidFill>
              <a:latin typeface="Calibri"/>
              <a:ea typeface="Calibri"/>
              <a:cs typeface="Calibri"/>
              <a:sym typeface="Calibri"/>
            </a:endParaRPr>
          </a:p>
        </p:txBody>
      </p:sp>
      <p:sp>
        <p:nvSpPr>
          <p:cNvPr id="1299" name="Google Shape;1299;g3e3a61befe4_0_4085"/>
          <p:cNvSpPr txBox="1"/>
          <p:nvPr/>
        </p:nvSpPr>
        <p:spPr>
          <a:xfrm>
            <a:off x="164447" y="1984427"/>
            <a:ext cx="1383000" cy="384900"/>
          </a:xfrm>
          <a:prstGeom prst="rect">
            <a:avLst/>
          </a:prstGeom>
          <a:solidFill>
            <a:schemeClr val="lt1"/>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US" sz="1300">
                <a:solidFill>
                  <a:schemeClr val="dk1"/>
                </a:solidFill>
              </a:rPr>
              <a:t>Cause</a:t>
            </a:r>
            <a:endParaRPr b="1" sz="1300">
              <a:solidFill>
                <a:srgbClr val="FF0000"/>
              </a:solidFill>
              <a:latin typeface="Calibri"/>
              <a:ea typeface="Calibri"/>
              <a:cs typeface="Calibri"/>
              <a:sym typeface="Calibri"/>
            </a:endParaRPr>
          </a:p>
        </p:txBody>
      </p:sp>
      <p:sp>
        <p:nvSpPr>
          <p:cNvPr id="1300" name="Google Shape;1300;g3e3a61befe4_0_4085"/>
          <p:cNvSpPr/>
          <p:nvPr/>
        </p:nvSpPr>
        <p:spPr>
          <a:xfrm>
            <a:off x="4447891" y="3468062"/>
            <a:ext cx="2480700" cy="7509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latin typeface="Calibri"/>
                <a:ea typeface="Calibri"/>
                <a:cs typeface="Calibri"/>
                <a:sym typeface="Calibri"/>
              </a:rPr>
              <a:t>Zones  historically favored by scooter use continue to receive more scooters</a:t>
            </a:r>
            <a:endParaRPr>
              <a:latin typeface="Calibri"/>
              <a:ea typeface="Calibri"/>
              <a:cs typeface="Calibri"/>
              <a:sym typeface="Calibri"/>
            </a:endParaRPr>
          </a:p>
        </p:txBody>
      </p:sp>
      <p:cxnSp>
        <p:nvCxnSpPr>
          <p:cNvPr id="1301" name="Google Shape;1301;g3e3a61befe4_0_4085"/>
          <p:cNvCxnSpPr>
            <a:stCxn id="1290" idx="0"/>
            <a:endCxn id="1300" idx="2"/>
          </p:cNvCxnSpPr>
          <p:nvPr/>
        </p:nvCxnSpPr>
        <p:spPr>
          <a:xfrm flipH="1" rot="10800000">
            <a:off x="5682238" y="4219031"/>
            <a:ext cx="6000" cy="670800"/>
          </a:xfrm>
          <a:prstGeom prst="straightConnector1">
            <a:avLst/>
          </a:prstGeom>
          <a:noFill/>
          <a:ln cap="flat" cmpd="sng" w="9525">
            <a:solidFill>
              <a:schemeClr val="dk2"/>
            </a:solidFill>
            <a:prstDash val="solid"/>
            <a:round/>
            <a:headEnd len="med" w="med" type="stealth"/>
            <a:tailEnd len="med" w="med" type="none"/>
          </a:ln>
        </p:spPr>
      </p:cxnSp>
      <p:cxnSp>
        <p:nvCxnSpPr>
          <p:cNvPr id="1302" name="Google Shape;1302;g3e3a61befe4_0_4085"/>
          <p:cNvCxnSpPr>
            <a:stCxn id="1300" idx="0"/>
            <a:endCxn id="1294" idx="2"/>
          </p:cNvCxnSpPr>
          <p:nvPr/>
        </p:nvCxnSpPr>
        <p:spPr>
          <a:xfrm rot="10800000">
            <a:off x="5665141" y="2578262"/>
            <a:ext cx="23100" cy="889800"/>
          </a:xfrm>
          <a:prstGeom prst="straightConnector1">
            <a:avLst/>
          </a:prstGeom>
          <a:noFill/>
          <a:ln cap="flat" cmpd="sng" w="9525">
            <a:solidFill>
              <a:schemeClr val="dk2"/>
            </a:solidFill>
            <a:prstDash val="solid"/>
            <a:round/>
            <a:headEnd len="med" w="med" type="triangle"/>
            <a:tailEnd len="med" w="med" type="none"/>
          </a:ln>
        </p:spPr>
      </p:cxnSp>
      <p:sp>
        <p:nvSpPr>
          <p:cNvPr id="1303" name="Google Shape;1303;g3e3a61befe4_0_4085"/>
          <p:cNvSpPr/>
          <p:nvPr/>
        </p:nvSpPr>
        <p:spPr>
          <a:xfrm>
            <a:off x="1784538" y="811925"/>
            <a:ext cx="2454000" cy="6246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en-US">
                <a:solidFill>
                  <a:schemeClr val="dk1"/>
                </a:solidFill>
                <a:latin typeface="Calibri"/>
                <a:ea typeface="Calibri"/>
                <a:cs typeface="Calibri"/>
                <a:sym typeface="Calibri"/>
              </a:rPr>
              <a:t>1 - Sustainable Development and Social Welfare</a:t>
            </a:r>
            <a:endParaRPr>
              <a:latin typeface="Calibri"/>
              <a:ea typeface="Calibri"/>
              <a:cs typeface="Calibri"/>
              <a:sym typeface="Calibri"/>
            </a:endParaRPr>
          </a:p>
        </p:txBody>
      </p:sp>
      <p:sp>
        <p:nvSpPr>
          <p:cNvPr id="1304" name="Google Shape;1304;g3e3a61befe4_0_4085"/>
          <p:cNvSpPr/>
          <p:nvPr/>
        </p:nvSpPr>
        <p:spPr>
          <a:xfrm>
            <a:off x="4357200" y="811928"/>
            <a:ext cx="2569500" cy="6246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a:solidFill>
                  <a:schemeClr val="dk1"/>
                </a:solidFill>
                <a:latin typeface="Calibri"/>
                <a:ea typeface="Calibri"/>
                <a:cs typeface="Calibri"/>
                <a:sym typeface="Calibri"/>
              </a:rPr>
              <a:t>2. Justice and Non-Discrimination</a:t>
            </a:r>
            <a:endParaRPr>
              <a:latin typeface="Calibri"/>
              <a:ea typeface="Calibri"/>
              <a:cs typeface="Calibri"/>
              <a:sym typeface="Calibri"/>
            </a:endParaRPr>
          </a:p>
        </p:txBody>
      </p:sp>
      <p:sp>
        <p:nvSpPr>
          <p:cNvPr id="1305" name="Google Shape;1305;g3e3a61befe4_0_4085"/>
          <p:cNvSpPr txBox="1"/>
          <p:nvPr/>
        </p:nvSpPr>
        <p:spPr>
          <a:xfrm>
            <a:off x="282900" y="931775"/>
            <a:ext cx="1240500" cy="585000"/>
          </a:xfrm>
          <a:prstGeom prst="rect">
            <a:avLst/>
          </a:prstGeom>
          <a:solidFill>
            <a:schemeClr val="lt1"/>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US" sz="1300">
                <a:solidFill>
                  <a:schemeClr val="dk1"/>
                </a:solidFill>
              </a:rPr>
              <a:t>Ethics Principles</a:t>
            </a:r>
            <a:endParaRPr b="1" sz="1300">
              <a:solidFill>
                <a:srgbClr val="FF0000"/>
              </a:solidFill>
              <a:latin typeface="Calibri"/>
              <a:ea typeface="Calibri"/>
              <a:cs typeface="Calibri"/>
              <a:sym typeface="Calibri"/>
            </a:endParaRPr>
          </a:p>
        </p:txBody>
      </p:sp>
      <p:sp>
        <p:nvSpPr>
          <p:cNvPr id="1306" name="Google Shape;1306;g3e3a61befe4_0_4085"/>
          <p:cNvSpPr/>
          <p:nvPr/>
        </p:nvSpPr>
        <p:spPr>
          <a:xfrm>
            <a:off x="1862175" y="1637526"/>
            <a:ext cx="2365200" cy="11526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solidFill>
                  <a:schemeClr val="dk1"/>
                </a:solidFill>
                <a:latin typeface="Calibri"/>
                <a:ea typeface="Calibri"/>
                <a:cs typeface="Calibri"/>
                <a:sym typeface="Calibri"/>
              </a:rPr>
              <a:t>There is no minimum scooter retention policy to prevent zones from becoming empty after transfers</a:t>
            </a:r>
            <a:endParaRPr>
              <a:latin typeface="Calibri"/>
              <a:ea typeface="Calibri"/>
              <a:cs typeface="Calibri"/>
              <a:sym typeface="Calibri"/>
            </a:endParaRPr>
          </a:p>
        </p:txBody>
      </p:sp>
      <p:cxnSp>
        <p:nvCxnSpPr>
          <p:cNvPr id="1307" name="Google Shape;1307;g3e3a61befe4_0_4085"/>
          <p:cNvCxnSpPr>
            <a:stCxn id="1306" idx="2"/>
            <a:endCxn id="1292" idx="0"/>
          </p:cNvCxnSpPr>
          <p:nvPr/>
        </p:nvCxnSpPr>
        <p:spPr>
          <a:xfrm>
            <a:off x="3044775" y="2790126"/>
            <a:ext cx="11700" cy="4737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mc:AlternateContent>
    <mc:Choice Requires="p14">
      <p:transition spd="slow" p14:dur="700">
        <p:fade/>
      </p:transition>
    </mc:Choice>
    <mc:Fallback>
      <p:transition spd="slow">
        <p:fade/>
      </p:transition>
    </mc:Fallback>
  </mc:AlternateContent>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1" name="Shape 1311"/>
        <p:cNvGrpSpPr/>
        <p:nvPr/>
      </p:nvGrpSpPr>
      <p:grpSpPr>
        <a:xfrm>
          <a:off x="0" y="0"/>
          <a:ext cx="0" cy="0"/>
          <a:chOff x="0" y="0"/>
          <a:chExt cx="0" cy="0"/>
        </a:xfrm>
      </p:grpSpPr>
      <p:sp>
        <p:nvSpPr>
          <p:cNvPr id="1312" name="Google Shape;1312;g3e3a61befe4_0_4118"/>
          <p:cNvSpPr txBox="1"/>
          <p:nvPr>
            <p:ph type="title"/>
          </p:nvPr>
        </p:nvSpPr>
        <p:spPr>
          <a:xfrm>
            <a:off x="101475" y="108450"/>
            <a:ext cx="9604200" cy="624600"/>
          </a:xfrm>
          <a:prstGeom prst="rect">
            <a:avLst/>
          </a:prstGeom>
          <a:solidFill>
            <a:srgbClr val="000000">
              <a:alpha val="0"/>
            </a:srgbClr>
          </a:solidFill>
          <a:ln>
            <a:noFill/>
          </a:ln>
        </p:spPr>
        <p:txBody>
          <a:bodyPr anchorCtr="0" anchor="ctr" bIns="45700" lIns="91400" spcFirstLastPara="1" rIns="91400" wrap="square" tIns="45700">
            <a:noAutofit/>
          </a:bodyPr>
          <a:lstStyle/>
          <a:p>
            <a:pPr indent="0" lvl="0" marL="0" rtl="0" algn="l">
              <a:spcBef>
                <a:spcPts val="0"/>
              </a:spcBef>
              <a:spcAft>
                <a:spcPts val="0"/>
              </a:spcAft>
              <a:buNone/>
            </a:pPr>
            <a:r>
              <a:rPr b="1" lang="en-US" sz="2300">
                <a:solidFill>
                  <a:srgbClr val="1E4E79"/>
                </a:solidFill>
                <a:latin typeface="Arial"/>
                <a:ea typeface="Arial"/>
                <a:cs typeface="Arial"/>
                <a:sym typeface="Arial"/>
              </a:rPr>
              <a:t>Step </a:t>
            </a:r>
            <a:r>
              <a:rPr lang="en-US" sz="2300">
                <a:latin typeface="Arial"/>
                <a:ea typeface="Arial"/>
                <a:cs typeface="Arial"/>
                <a:sym typeface="Arial"/>
              </a:rPr>
              <a:t>3</a:t>
            </a:r>
            <a:r>
              <a:rPr b="1" lang="en-US" sz="2300">
                <a:solidFill>
                  <a:srgbClr val="1E4E79"/>
                </a:solidFill>
                <a:latin typeface="Arial"/>
                <a:ea typeface="Arial"/>
                <a:cs typeface="Arial"/>
                <a:sym typeface="Arial"/>
              </a:rPr>
              <a:t>: Mapping of Ethical Causes and Consequences by Ethical Principle </a:t>
            </a:r>
            <a:endParaRPr b="1" sz="2300">
              <a:solidFill>
                <a:srgbClr val="1E4E79"/>
              </a:solidFill>
              <a:latin typeface="Arial"/>
              <a:ea typeface="Arial"/>
              <a:cs typeface="Arial"/>
              <a:sym typeface="Arial"/>
            </a:endParaRPr>
          </a:p>
        </p:txBody>
      </p:sp>
      <p:grpSp>
        <p:nvGrpSpPr>
          <p:cNvPr id="1313" name="Google Shape;1313;g3e3a61befe4_0_4118"/>
          <p:cNvGrpSpPr/>
          <p:nvPr/>
        </p:nvGrpSpPr>
        <p:grpSpPr>
          <a:xfrm>
            <a:off x="-18000" y="5842891"/>
            <a:ext cx="9942000" cy="1014788"/>
            <a:chOff x="-21650" y="5927750"/>
            <a:chExt cx="9942000" cy="930230"/>
          </a:xfrm>
        </p:grpSpPr>
        <p:sp>
          <p:nvSpPr>
            <p:cNvPr id="1314" name="Google Shape;1314;g3e3a61befe4_0_4118"/>
            <p:cNvSpPr/>
            <p:nvPr/>
          </p:nvSpPr>
          <p:spPr>
            <a:xfrm>
              <a:off x="5239747" y="5949280"/>
              <a:ext cx="4680600" cy="9087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Arial"/>
                  <a:ea typeface="Arial"/>
                  <a:cs typeface="Arial"/>
                  <a:sym typeface="Arial"/>
                </a:rPr>
                <a:t>25th Annual International Conference on Digital Government Research (dg.o 2024)</a:t>
              </a:r>
              <a:endParaRPr b="0" i="0" sz="1800" u="none" cap="none" strike="noStrike">
                <a:solidFill>
                  <a:schemeClr val="lt1"/>
                </a:solidFill>
                <a:latin typeface="Arial"/>
                <a:ea typeface="Arial"/>
                <a:cs typeface="Arial"/>
                <a:sym typeface="Arial"/>
              </a:endParaRPr>
            </a:p>
          </p:txBody>
        </p:sp>
        <p:pic>
          <p:nvPicPr>
            <p:cNvPr id="1315" name="Google Shape;1315;g3e3a61befe4_0_4118"/>
            <p:cNvPicPr preferRelativeResize="0"/>
            <p:nvPr/>
          </p:nvPicPr>
          <p:blipFill rotWithShape="1">
            <a:blip r:embed="rId3">
              <a:alphaModFix/>
            </a:blip>
            <a:srcRect b="-112517" l="-23390" r="23390" t="137700"/>
            <a:stretch/>
          </p:blipFill>
          <p:spPr>
            <a:xfrm>
              <a:off x="0" y="6007596"/>
              <a:ext cx="9920265" cy="792088"/>
            </a:xfrm>
            <a:prstGeom prst="rect">
              <a:avLst/>
            </a:prstGeom>
            <a:noFill/>
            <a:ln>
              <a:noFill/>
            </a:ln>
          </p:spPr>
        </p:pic>
        <p:sp>
          <p:nvSpPr>
            <p:cNvPr id="1316" name="Google Shape;1316;g3e3a61befe4_0_4118"/>
            <p:cNvSpPr/>
            <p:nvPr/>
          </p:nvSpPr>
          <p:spPr>
            <a:xfrm>
              <a:off x="-21650" y="5927750"/>
              <a:ext cx="9942000" cy="9087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sp>
        <p:nvSpPr>
          <p:cNvPr id="1317" name="Google Shape;1317;g3e3a61befe4_0_4118"/>
          <p:cNvSpPr txBox="1"/>
          <p:nvPr>
            <p:ph idx="12" type="sldNum"/>
          </p:nvPr>
        </p:nvSpPr>
        <p:spPr>
          <a:xfrm>
            <a:off x="6996113" y="6356350"/>
            <a:ext cx="22290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pic>
        <p:nvPicPr>
          <p:cNvPr id="1318" name="Google Shape;1318;g3e3a61befe4_0_4118"/>
          <p:cNvPicPr preferRelativeResize="0"/>
          <p:nvPr/>
        </p:nvPicPr>
        <p:blipFill rotWithShape="1">
          <a:blip r:embed="rId4">
            <a:alphaModFix/>
          </a:blip>
          <a:srcRect b="0" l="0" r="0" t="0"/>
          <a:stretch/>
        </p:blipFill>
        <p:spPr>
          <a:xfrm>
            <a:off x="218750" y="6052376"/>
            <a:ext cx="1823009" cy="470325"/>
          </a:xfrm>
          <a:prstGeom prst="rect">
            <a:avLst/>
          </a:prstGeom>
          <a:noFill/>
          <a:ln>
            <a:noFill/>
          </a:ln>
        </p:spPr>
      </p:pic>
      <p:pic>
        <p:nvPicPr>
          <p:cNvPr id="1319" name="Google Shape;1319;g3e3a61befe4_0_4118"/>
          <p:cNvPicPr preferRelativeResize="0"/>
          <p:nvPr/>
        </p:nvPicPr>
        <p:blipFill rotWithShape="1">
          <a:blip r:embed="rId5">
            <a:alphaModFix/>
          </a:blip>
          <a:srcRect b="0" l="0" r="0" t="0"/>
          <a:stretch/>
        </p:blipFill>
        <p:spPr>
          <a:xfrm>
            <a:off x="6996125" y="5975242"/>
            <a:ext cx="1811830" cy="624575"/>
          </a:xfrm>
          <a:prstGeom prst="rect">
            <a:avLst/>
          </a:prstGeom>
          <a:noFill/>
          <a:ln>
            <a:noFill/>
          </a:ln>
        </p:spPr>
      </p:pic>
      <p:sp>
        <p:nvSpPr>
          <p:cNvPr id="1320" name="Google Shape;1320;g3e3a61befe4_0_4118"/>
          <p:cNvSpPr/>
          <p:nvPr/>
        </p:nvSpPr>
        <p:spPr>
          <a:xfrm>
            <a:off x="1812973" y="5001892"/>
            <a:ext cx="2480700" cy="470400"/>
          </a:xfrm>
          <a:prstGeom prst="roundRect">
            <a:avLst>
              <a:gd fmla="val 16667" name="adj"/>
            </a:avLst>
          </a:prstGeom>
          <a:solidFill>
            <a:srgbClr val="EA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latin typeface="Calibri"/>
                <a:ea typeface="Calibri"/>
                <a:cs typeface="Calibri"/>
                <a:sym typeface="Calibri"/>
              </a:rPr>
              <a:t>Unequal access</a:t>
            </a:r>
            <a:endParaRPr>
              <a:latin typeface="Calibri"/>
              <a:ea typeface="Calibri"/>
              <a:cs typeface="Calibri"/>
              <a:sym typeface="Calibri"/>
            </a:endParaRPr>
          </a:p>
        </p:txBody>
      </p:sp>
      <p:cxnSp>
        <p:nvCxnSpPr>
          <p:cNvPr id="1321" name="Google Shape;1321;g3e3a61befe4_0_4118"/>
          <p:cNvCxnSpPr/>
          <p:nvPr/>
        </p:nvCxnSpPr>
        <p:spPr>
          <a:xfrm>
            <a:off x="231300" y="4604275"/>
            <a:ext cx="9439800" cy="27000"/>
          </a:xfrm>
          <a:prstGeom prst="straightConnector1">
            <a:avLst/>
          </a:prstGeom>
          <a:noFill/>
          <a:ln cap="flat" cmpd="sng" w="28575">
            <a:solidFill>
              <a:srgbClr val="FF0000"/>
            </a:solidFill>
            <a:prstDash val="dot"/>
            <a:round/>
            <a:headEnd len="med" w="med" type="none"/>
            <a:tailEnd len="med" w="med" type="none"/>
          </a:ln>
        </p:spPr>
      </p:cxnSp>
      <p:sp>
        <p:nvSpPr>
          <p:cNvPr id="1322" name="Google Shape;1322;g3e3a61befe4_0_4118"/>
          <p:cNvSpPr txBox="1"/>
          <p:nvPr/>
        </p:nvSpPr>
        <p:spPr>
          <a:xfrm>
            <a:off x="131149" y="4944584"/>
            <a:ext cx="1449600" cy="585000"/>
          </a:xfrm>
          <a:prstGeom prst="rect">
            <a:avLst/>
          </a:prstGeom>
          <a:solidFill>
            <a:srgbClr val="EA9999"/>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US" sz="1300">
                <a:solidFill>
                  <a:schemeClr val="dk1"/>
                </a:solidFill>
              </a:rPr>
              <a:t>Ethical Consequences</a:t>
            </a:r>
            <a:endParaRPr b="1" sz="1300">
              <a:solidFill>
                <a:schemeClr val="dk1"/>
              </a:solidFill>
            </a:endParaRPr>
          </a:p>
        </p:txBody>
      </p:sp>
      <p:cxnSp>
        <p:nvCxnSpPr>
          <p:cNvPr id="1323" name="Google Shape;1323;g3e3a61befe4_0_4118"/>
          <p:cNvCxnSpPr/>
          <p:nvPr/>
        </p:nvCxnSpPr>
        <p:spPr>
          <a:xfrm rot="10800000">
            <a:off x="1664753" y="772000"/>
            <a:ext cx="0" cy="5069400"/>
          </a:xfrm>
          <a:prstGeom prst="straightConnector1">
            <a:avLst/>
          </a:prstGeom>
          <a:noFill/>
          <a:ln cap="flat" cmpd="sng" w="19050">
            <a:solidFill>
              <a:schemeClr val="dk2"/>
            </a:solidFill>
            <a:prstDash val="solid"/>
            <a:round/>
            <a:headEnd len="med" w="med" type="diamond"/>
            <a:tailEnd len="med" w="med" type="diamond"/>
          </a:ln>
        </p:spPr>
      </p:cxnSp>
      <p:sp>
        <p:nvSpPr>
          <p:cNvPr id="1324" name="Google Shape;1324;g3e3a61befe4_0_4118"/>
          <p:cNvSpPr/>
          <p:nvPr/>
        </p:nvSpPr>
        <p:spPr>
          <a:xfrm>
            <a:off x="4441888" y="4889831"/>
            <a:ext cx="2480700" cy="694500"/>
          </a:xfrm>
          <a:prstGeom prst="roundRect">
            <a:avLst>
              <a:gd fmla="val 16667" name="adj"/>
            </a:avLst>
          </a:prstGeom>
          <a:solidFill>
            <a:srgbClr val="EA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latin typeface="Calibri"/>
                <a:ea typeface="Calibri"/>
                <a:cs typeface="Calibri"/>
                <a:sym typeface="Calibri"/>
              </a:rPr>
              <a:t>Perpetuation of biases and </a:t>
            </a:r>
            <a:r>
              <a:rPr lang="en-US">
                <a:solidFill>
                  <a:schemeClr val="dk1"/>
                </a:solidFill>
                <a:latin typeface="Calibri"/>
                <a:ea typeface="Calibri"/>
                <a:cs typeface="Calibri"/>
                <a:sym typeface="Calibri"/>
              </a:rPr>
              <a:t>favoring zones</a:t>
            </a:r>
            <a:endParaRPr>
              <a:latin typeface="Calibri"/>
              <a:ea typeface="Calibri"/>
              <a:cs typeface="Calibri"/>
              <a:sym typeface="Calibri"/>
            </a:endParaRPr>
          </a:p>
        </p:txBody>
      </p:sp>
      <p:sp>
        <p:nvSpPr>
          <p:cNvPr id="1325" name="Google Shape;1325;g3e3a61befe4_0_4118"/>
          <p:cNvSpPr/>
          <p:nvPr/>
        </p:nvSpPr>
        <p:spPr>
          <a:xfrm>
            <a:off x="7135200" y="4952549"/>
            <a:ext cx="2660400" cy="569100"/>
          </a:xfrm>
          <a:prstGeom prst="roundRect">
            <a:avLst>
              <a:gd fmla="val 16667" name="adj"/>
            </a:avLst>
          </a:prstGeom>
          <a:solidFill>
            <a:srgbClr val="EA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latin typeface="Calibri"/>
                <a:ea typeface="Calibri"/>
                <a:cs typeface="Calibri"/>
                <a:sym typeface="Calibri"/>
              </a:rPr>
              <a:t>Lack of informed consent and risk of legal non-compliance</a:t>
            </a:r>
            <a:endParaRPr>
              <a:latin typeface="Calibri"/>
              <a:ea typeface="Calibri"/>
              <a:cs typeface="Calibri"/>
              <a:sym typeface="Calibri"/>
            </a:endParaRPr>
          </a:p>
        </p:txBody>
      </p:sp>
      <p:cxnSp>
        <p:nvCxnSpPr>
          <p:cNvPr id="1326" name="Google Shape;1326;g3e3a61befe4_0_4118"/>
          <p:cNvCxnSpPr/>
          <p:nvPr/>
        </p:nvCxnSpPr>
        <p:spPr>
          <a:xfrm>
            <a:off x="323850" y="3048663"/>
            <a:ext cx="9439800" cy="27000"/>
          </a:xfrm>
          <a:prstGeom prst="straightConnector1">
            <a:avLst/>
          </a:prstGeom>
          <a:noFill/>
          <a:ln cap="flat" cmpd="sng" w="28575">
            <a:solidFill>
              <a:schemeClr val="dk1"/>
            </a:solidFill>
            <a:prstDash val="dot"/>
            <a:round/>
            <a:headEnd len="med" w="med" type="none"/>
            <a:tailEnd len="med" w="med" type="none"/>
          </a:ln>
        </p:spPr>
      </p:cxnSp>
      <p:sp>
        <p:nvSpPr>
          <p:cNvPr id="1327" name="Google Shape;1327;g3e3a61befe4_0_4118"/>
          <p:cNvSpPr/>
          <p:nvPr/>
        </p:nvSpPr>
        <p:spPr>
          <a:xfrm>
            <a:off x="1815975" y="3263676"/>
            <a:ext cx="2480700" cy="11526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US">
                <a:solidFill>
                  <a:schemeClr val="dk1"/>
                </a:solidFill>
                <a:latin typeface="Calibri"/>
                <a:ea typeface="Calibri"/>
                <a:cs typeface="Calibri"/>
                <a:sym typeface="Calibri"/>
              </a:rPr>
              <a:t>If the Distribution Agent’s central stock is empty, scooters may be transferred from other zones, leaving some areas without scooters</a:t>
            </a:r>
            <a:endParaRPr>
              <a:latin typeface="Calibri"/>
              <a:ea typeface="Calibri"/>
              <a:cs typeface="Calibri"/>
              <a:sym typeface="Calibri"/>
            </a:endParaRPr>
          </a:p>
        </p:txBody>
      </p:sp>
      <p:cxnSp>
        <p:nvCxnSpPr>
          <p:cNvPr id="1328" name="Google Shape;1328;g3e3a61befe4_0_4118"/>
          <p:cNvCxnSpPr>
            <a:stCxn id="1320" idx="0"/>
            <a:endCxn id="1327" idx="2"/>
          </p:cNvCxnSpPr>
          <p:nvPr/>
        </p:nvCxnSpPr>
        <p:spPr>
          <a:xfrm flipH="1" rot="10800000">
            <a:off x="3053323" y="4416292"/>
            <a:ext cx="3000" cy="585600"/>
          </a:xfrm>
          <a:prstGeom prst="straightConnector1">
            <a:avLst/>
          </a:prstGeom>
          <a:noFill/>
          <a:ln cap="flat" cmpd="sng" w="9525">
            <a:solidFill>
              <a:schemeClr val="dk2"/>
            </a:solidFill>
            <a:prstDash val="solid"/>
            <a:round/>
            <a:headEnd len="med" w="med" type="triangle"/>
            <a:tailEnd len="med" w="med" type="none"/>
          </a:ln>
        </p:spPr>
      </p:cxnSp>
      <p:sp>
        <p:nvSpPr>
          <p:cNvPr id="1329" name="Google Shape;1329;g3e3a61befe4_0_4118"/>
          <p:cNvSpPr/>
          <p:nvPr/>
        </p:nvSpPr>
        <p:spPr>
          <a:xfrm>
            <a:off x="4424800" y="1691934"/>
            <a:ext cx="2480700" cy="8862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latin typeface="Calibri"/>
                <a:ea typeface="Calibri"/>
                <a:cs typeface="Calibri"/>
                <a:sym typeface="Calibri"/>
              </a:rPr>
              <a:t>The calculation of the number of scooters to be transferred to each zone is based on usage annual history</a:t>
            </a:r>
            <a:endParaRPr>
              <a:latin typeface="Calibri"/>
              <a:ea typeface="Calibri"/>
              <a:cs typeface="Calibri"/>
              <a:sym typeface="Calibri"/>
            </a:endParaRPr>
          </a:p>
        </p:txBody>
      </p:sp>
      <p:graphicFrame>
        <p:nvGraphicFramePr>
          <p:cNvPr id="1330" name="Google Shape;1330;g3e3a61befe4_0_4118"/>
          <p:cNvGraphicFramePr/>
          <p:nvPr/>
        </p:nvGraphicFramePr>
        <p:xfrm>
          <a:off x="152400" y="152400"/>
          <a:ext cx="3000000" cy="3000000"/>
        </p:xfrm>
        <a:graphic>
          <a:graphicData uri="http://schemas.openxmlformats.org/drawingml/2006/table">
            <a:tbl>
              <a:tblPr>
                <a:noFill/>
                <a:tableStyleId>{50916073-6137-4BFC-AC2B-91BFF95D4831}</a:tableStyleId>
              </a:tblPr>
              <a:tblGrid>
                <a:gridCol w="19050"/>
              </a:tblGrid>
              <a:tr h="19050">
                <a:tc>
                  <a:txBody>
                    <a:bodyPr/>
                    <a:lstStyle/>
                    <a:p>
                      <a:pPr indent="0" lvl="0" marL="0" rtl="0" algn="l">
                        <a:spcBef>
                          <a:spcPts val="0"/>
                        </a:spcBef>
                        <a:spcAft>
                          <a:spcPts val="0"/>
                        </a:spcAft>
                        <a:buNone/>
                      </a:pPr>
                      <a:r>
                        <a:t/>
                      </a:r>
                      <a:endParaRPr/>
                    </a:p>
                  </a:txBody>
                  <a:tcPr marT="91425" marB="91425" marR="91425" marL="91425"/>
                </a:tc>
              </a:tr>
            </a:tbl>
          </a:graphicData>
        </a:graphic>
      </p:graphicFrame>
      <p:graphicFrame>
        <p:nvGraphicFramePr>
          <p:cNvPr id="1331" name="Google Shape;1331;g3e3a61befe4_0_4118"/>
          <p:cNvGraphicFramePr/>
          <p:nvPr/>
        </p:nvGraphicFramePr>
        <p:xfrm>
          <a:off x="304800" y="304800"/>
          <a:ext cx="3000000" cy="3000000"/>
        </p:xfrm>
        <a:graphic>
          <a:graphicData uri="http://schemas.openxmlformats.org/drawingml/2006/table">
            <a:tbl>
              <a:tblPr>
                <a:noFill/>
                <a:tableStyleId>{50916073-6137-4BFC-AC2B-91BFF95D4831}</a:tableStyleId>
              </a:tblPr>
              <a:tblGrid>
                <a:gridCol w="19050"/>
              </a:tblGrid>
              <a:tr h="19050">
                <a:tc>
                  <a:txBody>
                    <a:bodyPr/>
                    <a:lstStyle/>
                    <a:p>
                      <a:pPr indent="0" lvl="0" marL="0" rtl="0" algn="l">
                        <a:spcBef>
                          <a:spcPts val="0"/>
                        </a:spcBef>
                        <a:spcAft>
                          <a:spcPts val="0"/>
                        </a:spcAft>
                        <a:buNone/>
                      </a:pPr>
                      <a:r>
                        <a:t/>
                      </a:r>
                      <a:endParaRPr/>
                    </a:p>
                  </a:txBody>
                  <a:tcPr marT="91425" marB="91425" marR="91425" marL="91425"/>
                </a:tc>
              </a:tr>
            </a:tbl>
          </a:graphicData>
        </a:graphic>
      </p:graphicFrame>
      <p:graphicFrame>
        <p:nvGraphicFramePr>
          <p:cNvPr id="1332" name="Google Shape;1332;g3e3a61befe4_0_4118"/>
          <p:cNvGraphicFramePr/>
          <p:nvPr/>
        </p:nvGraphicFramePr>
        <p:xfrm>
          <a:off x="-409575" y="2066500"/>
          <a:ext cx="3000000" cy="3000000"/>
        </p:xfrm>
        <a:graphic>
          <a:graphicData uri="http://schemas.openxmlformats.org/drawingml/2006/table">
            <a:tbl>
              <a:tblPr>
                <a:noFill/>
                <a:tableStyleId>{50916073-6137-4BFC-AC2B-91BFF95D4831}</a:tableStyleId>
              </a:tblPr>
              <a:tblGrid>
                <a:gridCol w="19050"/>
              </a:tblGrid>
              <a:tr h="19050">
                <a:tc>
                  <a:txBody>
                    <a:bodyPr/>
                    <a:lstStyle/>
                    <a:p>
                      <a:pPr indent="0" lvl="0" marL="0" rtl="0" algn="l">
                        <a:spcBef>
                          <a:spcPts val="0"/>
                        </a:spcBef>
                        <a:spcAft>
                          <a:spcPts val="0"/>
                        </a:spcAft>
                        <a:buNone/>
                      </a:pPr>
                      <a:r>
                        <a:t/>
                      </a:r>
                      <a:endParaRPr/>
                    </a:p>
                  </a:txBody>
                  <a:tcPr marT="91425" marB="91425" marR="91425" marL="91425"/>
                </a:tc>
              </a:tr>
            </a:tbl>
          </a:graphicData>
        </a:graphic>
      </p:graphicFrame>
      <p:sp>
        <p:nvSpPr>
          <p:cNvPr id="1333" name="Google Shape;1333;g3e3a61befe4_0_4118"/>
          <p:cNvSpPr txBox="1"/>
          <p:nvPr/>
        </p:nvSpPr>
        <p:spPr>
          <a:xfrm>
            <a:off x="152398" y="3652747"/>
            <a:ext cx="1383000" cy="585000"/>
          </a:xfrm>
          <a:prstGeom prst="rect">
            <a:avLst/>
          </a:prstGeom>
          <a:solidFill>
            <a:schemeClr val="lt1"/>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US" sz="1300">
                <a:solidFill>
                  <a:schemeClr val="dk1"/>
                </a:solidFill>
              </a:rPr>
              <a:t>Intermediate Effect</a:t>
            </a:r>
            <a:endParaRPr b="1" sz="1300">
              <a:solidFill>
                <a:srgbClr val="FF0000"/>
              </a:solidFill>
              <a:latin typeface="Calibri"/>
              <a:ea typeface="Calibri"/>
              <a:cs typeface="Calibri"/>
              <a:sym typeface="Calibri"/>
            </a:endParaRPr>
          </a:p>
        </p:txBody>
      </p:sp>
      <p:sp>
        <p:nvSpPr>
          <p:cNvPr id="1334" name="Google Shape;1334;g3e3a61befe4_0_4118"/>
          <p:cNvSpPr txBox="1"/>
          <p:nvPr/>
        </p:nvSpPr>
        <p:spPr>
          <a:xfrm>
            <a:off x="164447" y="1984427"/>
            <a:ext cx="1383000" cy="384900"/>
          </a:xfrm>
          <a:prstGeom prst="rect">
            <a:avLst/>
          </a:prstGeom>
          <a:solidFill>
            <a:schemeClr val="lt1"/>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US" sz="1300">
                <a:solidFill>
                  <a:schemeClr val="dk1"/>
                </a:solidFill>
              </a:rPr>
              <a:t>Cause</a:t>
            </a:r>
            <a:endParaRPr b="1" sz="1300">
              <a:solidFill>
                <a:srgbClr val="FF0000"/>
              </a:solidFill>
              <a:latin typeface="Calibri"/>
              <a:ea typeface="Calibri"/>
              <a:cs typeface="Calibri"/>
              <a:sym typeface="Calibri"/>
            </a:endParaRPr>
          </a:p>
        </p:txBody>
      </p:sp>
      <p:sp>
        <p:nvSpPr>
          <p:cNvPr id="1335" name="Google Shape;1335;g3e3a61befe4_0_4118"/>
          <p:cNvSpPr/>
          <p:nvPr/>
        </p:nvSpPr>
        <p:spPr>
          <a:xfrm>
            <a:off x="4447891" y="3468062"/>
            <a:ext cx="2480700" cy="7509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latin typeface="Calibri"/>
                <a:ea typeface="Calibri"/>
                <a:cs typeface="Calibri"/>
                <a:sym typeface="Calibri"/>
              </a:rPr>
              <a:t>Zones  historically favored by scooter use continue to receive more scooters</a:t>
            </a:r>
            <a:endParaRPr>
              <a:latin typeface="Calibri"/>
              <a:ea typeface="Calibri"/>
              <a:cs typeface="Calibri"/>
              <a:sym typeface="Calibri"/>
            </a:endParaRPr>
          </a:p>
        </p:txBody>
      </p:sp>
      <p:cxnSp>
        <p:nvCxnSpPr>
          <p:cNvPr id="1336" name="Google Shape;1336;g3e3a61befe4_0_4118"/>
          <p:cNvCxnSpPr>
            <a:stCxn id="1324" idx="0"/>
            <a:endCxn id="1335" idx="2"/>
          </p:cNvCxnSpPr>
          <p:nvPr/>
        </p:nvCxnSpPr>
        <p:spPr>
          <a:xfrm flipH="1" rot="10800000">
            <a:off x="5682238" y="4219031"/>
            <a:ext cx="6000" cy="670800"/>
          </a:xfrm>
          <a:prstGeom prst="straightConnector1">
            <a:avLst/>
          </a:prstGeom>
          <a:noFill/>
          <a:ln cap="flat" cmpd="sng" w="9525">
            <a:solidFill>
              <a:schemeClr val="dk2"/>
            </a:solidFill>
            <a:prstDash val="solid"/>
            <a:round/>
            <a:headEnd len="med" w="med" type="stealth"/>
            <a:tailEnd len="med" w="med" type="none"/>
          </a:ln>
        </p:spPr>
      </p:cxnSp>
      <p:cxnSp>
        <p:nvCxnSpPr>
          <p:cNvPr id="1337" name="Google Shape;1337;g3e3a61befe4_0_4118"/>
          <p:cNvCxnSpPr>
            <a:stCxn id="1335" idx="0"/>
            <a:endCxn id="1329" idx="2"/>
          </p:cNvCxnSpPr>
          <p:nvPr/>
        </p:nvCxnSpPr>
        <p:spPr>
          <a:xfrm rot="10800000">
            <a:off x="5665141" y="2578262"/>
            <a:ext cx="23100" cy="889800"/>
          </a:xfrm>
          <a:prstGeom prst="straightConnector1">
            <a:avLst/>
          </a:prstGeom>
          <a:noFill/>
          <a:ln cap="flat" cmpd="sng" w="9525">
            <a:solidFill>
              <a:schemeClr val="dk2"/>
            </a:solidFill>
            <a:prstDash val="solid"/>
            <a:round/>
            <a:headEnd len="med" w="med" type="triangle"/>
            <a:tailEnd len="med" w="med" type="none"/>
          </a:ln>
        </p:spPr>
      </p:cxnSp>
      <p:sp>
        <p:nvSpPr>
          <p:cNvPr id="1338" name="Google Shape;1338;g3e3a61befe4_0_4118"/>
          <p:cNvSpPr/>
          <p:nvPr/>
        </p:nvSpPr>
        <p:spPr>
          <a:xfrm>
            <a:off x="1784538" y="811925"/>
            <a:ext cx="2454000" cy="6246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en-US">
                <a:solidFill>
                  <a:schemeClr val="dk1"/>
                </a:solidFill>
                <a:latin typeface="Calibri"/>
                <a:ea typeface="Calibri"/>
                <a:cs typeface="Calibri"/>
                <a:sym typeface="Calibri"/>
              </a:rPr>
              <a:t>1 - Sustainable Development and Social Welfare</a:t>
            </a:r>
            <a:endParaRPr>
              <a:latin typeface="Calibri"/>
              <a:ea typeface="Calibri"/>
              <a:cs typeface="Calibri"/>
              <a:sym typeface="Calibri"/>
            </a:endParaRPr>
          </a:p>
        </p:txBody>
      </p:sp>
      <p:sp>
        <p:nvSpPr>
          <p:cNvPr id="1339" name="Google Shape;1339;g3e3a61befe4_0_4118"/>
          <p:cNvSpPr/>
          <p:nvPr/>
        </p:nvSpPr>
        <p:spPr>
          <a:xfrm>
            <a:off x="4357200" y="811928"/>
            <a:ext cx="2569500" cy="6246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a:solidFill>
                  <a:schemeClr val="dk1"/>
                </a:solidFill>
                <a:latin typeface="Calibri"/>
                <a:ea typeface="Calibri"/>
                <a:cs typeface="Calibri"/>
                <a:sym typeface="Calibri"/>
              </a:rPr>
              <a:t>2. Justice and Non-Discrimination</a:t>
            </a:r>
            <a:endParaRPr>
              <a:latin typeface="Calibri"/>
              <a:ea typeface="Calibri"/>
              <a:cs typeface="Calibri"/>
              <a:sym typeface="Calibri"/>
            </a:endParaRPr>
          </a:p>
        </p:txBody>
      </p:sp>
      <p:sp>
        <p:nvSpPr>
          <p:cNvPr id="1340" name="Google Shape;1340;g3e3a61befe4_0_4118"/>
          <p:cNvSpPr/>
          <p:nvPr/>
        </p:nvSpPr>
        <p:spPr>
          <a:xfrm>
            <a:off x="7045350" y="798475"/>
            <a:ext cx="2660400" cy="6246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a:solidFill>
                  <a:schemeClr val="dk1"/>
                </a:solidFill>
                <a:latin typeface="Calibri"/>
                <a:ea typeface="Calibri"/>
                <a:cs typeface="Calibri"/>
                <a:sym typeface="Calibri"/>
              </a:rPr>
              <a:t>3. Privacy and Data Protection</a:t>
            </a:r>
            <a:endParaRPr>
              <a:latin typeface="Calibri"/>
              <a:ea typeface="Calibri"/>
              <a:cs typeface="Calibri"/>
              <a:sym typeface="Calibri"/>
            </a:endParaRPr>
          </a:p>
        </p:txBody>
      </p:sp>
      <p:sp>
        <p:nvSpPr>
          <p:cNvPr id="1341" name="Google Shape;1341;g3e3a61befe4_0_4118"/>
          <p:cNvSpPr txBox="1"/>
          <p:nvPr/>
        </p:nvSpPr>
        <p:spPr>
          <a:xfrm>
            <a:off x="282900" y="931775"/>
            <a:ext cx="1240500" cy="585000"/>
          </a:xfrm>
          <a:prstGeom prst="rect">
            <a:avLst/>
          </a:prstGeom>
          <a:solidFill>
            <a:schemeClr val="lt1"/>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US" sz="1300">
                <a:solidFill>
                  <a:schemeClr val="dk1"/>
                </a:solidFill>
              </a:rPr>
              <a:t>Ethics Principles</a:t>
            </a:r>
            <a:endParaRPr b="1" sz="1300">
              <a:solidFill>
                <a:srgbClr val="FF0000"/>
              </a:solidFill>
              <a:latin typeface="Calibri"/>
              <a:ea typeface="Calibri"/>
              <a:cs typeface="Calibri"/>
              <a:sym typeface="Calibri"/>
            </a:endParaRPr>
          </a:p>
        </p:txBody>
      </p:sp>
      <p:sp>
        <p:nvSpPr>
          <p:cNvPr id="1342" name="Google Shape;1342;g3e3a61befe4_0_4118"/>
          <p:cNvSpPr/>
          <p:nvPr/>
        </p:nvSpPr>
        <p:spPr>
          <a:xfrm>
            <a:off x="1862175" y="1637526"/>
            <a:ext cx="2365200" cy="11526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solidFill>
                  <a:schemeClr val="dk1"/>
                </a:solidFill>
                <a:latin typeface="Calibri"/>
                <a:ea typeface="Calibri"/>
                <a:cs typeface="Calibri"/>
                <a:sym typeface="Calibri"/>
              </a:rPr>
              <a:t>There is no minimum scooter retention policy to prevent zones from becoming empty after transfers</a:t>
            </a:r>
            <a:endParaRPr>
              <a:latin typeface="Calibri"/>
              <a:ea typeface="Calibri"/>
              <a:cs typeface="Calibri"/>
              <a:sym typeface="Calibri"/>
            </a:endParaRPr>
          </a:p>
        </p:txBody>
      </p:sp>
      <p:cxnSp>
        <p:nvCxnSpPr>
          <p:cNvPr id="1343" name="Google Shape;1343;g3e3a61befe4_0_4118"/>
          <p:cNvCxnSpPr>
            <a:stCxn id="1342" idx="2"/>
            <a:endCxn id="1327" idx="0"/>
          </p:cNvCxnSpPr>
          <p:nvPr/>
        </p:nvCxnSpPr>
        <p:spPr>
          <a:xfrm>
            <a:off x="3044775" y="2790126"/>
            <a:ext cx="11700" cy="4737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mc:AlternateContent>
    <mc:Choice Requires="p14">
      <p:transition spd="slow" p14:dur="700">
        <p:fade/>
      </p:transition>
    </mc:Choice>
    <mc:Fallback>
      <p:transition spd="slow">
        <p:fade/>
      </p:transition>
    </mc:Fallback>
  </mc:AlternateContent>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7" name="Shape 1347"/>
        <p:cNvGrpSpPr/>
        <p:nvPr/>
      </p:nvGrpSpPr>
      <p:grpSpPr>
        <a:xfrm>
          <a:off x="0" y="0"/>
          <a:ext cx="0" cy="0"/>
          <a:chOff x="0" y="0"/>
          <a:chExt cx="0" cy="0"/>
        </a:xfrm>
      </p:grpSpPr>
      <p:sp>
        <p:nvSpPr>
          <p:cNvPr id="1348" name="Google Shape;1348;g3e3a61befe4_0_4046"/>
          <p:cNvSpPr txBox="1"/>
          <p:nvPr>
            <p:ph type="title"/>
          </p:nvPr>
        </p:nvSpPr>
        <p:spPr>
          <a:xfrm>
            <a:off x="101475" y="108450"/>
            <a:ext cx="9604200" cy="624600"/>
          </a:xfrm>
          <a:prstGeom prst="rect">
            <a:avLst/>
          </a:prstGeom>
          <a:solidFill>
            <a:srgbClr val="000000">
              <a:alpha val="0"/>
            </a:srgbClr>
          </a:solidFill>
          <a:ln>
            <a:noFill/>
          </a:ln>
        </p:spPr>
        <p:txBody>
          <a:bodyPr anchorCtr="0" anchor="ctr" bIns="45700" lIns="91400" spcFirstLastPara="1" rIns="91400" wrap="square" tIns="45700">
            <a:noAutofit/>
          </a:bodyPr>
          <a:lstStyle/>
          <a:p>
            <a:pPr indent="0" lvl="0" marL="0" rtl="0" algn="l">
              <a:spcBef>
                <a:spcPts val="0"/>
              </a:spcBef>
              <a:spcAft>
                <a:spcPts val="0"/>
              </a:spcAft>
              <a:buNone/>
            </a:pPr>
            <a:r>
              <a:rPr b="1" lang="en-US" sz="2300">
                <a:solidFill>
                  <a:srgbClr val="1E4E79"/>
                </a:solidFill>
                <a:latin typeface="Arial"/>
                <a:ea typeface="Arial"/>
                <a:cs typeface="Arial"/>
                <a:sym typeface="Arial"/>
              </a:rPr>
              <a:t>Step </a:t>
            </a:r>
            <a:r>
              <a:rPr lang="en-US" sz="2300">
                <a:latin typeface="Arial"/>
                <a:ea typeface="Arial"/>
                <a:cs typeface="Arial"/>
                <a:sym typeface="Arial"/>
              </a:rPr>
              <a:t>3</a:t>
            </a:r>
            <a:r>
              <a:rPr b="1" lang="en-US" sz="2300">
                <a:solidFill>
                  <a:srgbClr val="1E4E79"/>
                </a:solidFill>
                <a:latin typeface="Arial"/>
                <a:ea typeface="Arial"/>
                <a:cs typeface="Arial"/>
                <a:sym typeface="Arial"/>
              </a:rPr>
              <a:t>: Mapping of Ethical Causes and Consequences by Ethical Principle </a:t>
            </a:r>
            <a:endParaRPr b="1" sz="2300">
              <a:solidFill>
                <a:srgbClr val="1E4E79"/>
              </a:solidFill>
              <a:latin typeface="Arial"/>
              <a:ea typeface="Arial"/>
              <a:cs typeface="Arial"/>
              <a:sym typeface="Arial"/>
            </a:endParaRPr>
          </a:p>
        </p:txBody>
      </p:sp>
      <p:grpSp>
        <p:nvGrpSpPr>
          <p:cNvPr id="1349" name="Google Shape;1349;g3e3a61befe4_0_4046"/>
          <p:cNvGrpSpPr/>
          <p:nvPr/>
        </p:nvGrpSpPr>
        <p:grpSpPr>
          <a:xfrm>
            <a:off x="-18000" y="5842891"/>
            <a:ext cx="9942000" cy="1014788"/>
            <a:chOff x="-21650" y="5927750"/>
            <a:chExt cx="9942000" cy="930230"/>
          </a:xfrm>
        </p:grpSpPr>
        <p:sp>
          <p:nvSpPr>
            <p:cNvPr id="1350" name="Google Shape;1350;g3e3a61befe4_0_4046"/>
            <p:cNvSpPr/>
            <p:nvPr/>
          </p:nvSpPr>
          <p:spPr>
            <a:xfrm>
              <a:off x="5239747" y="5949280"/>
              <a:ext cx="4680600" cy="9087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Arial"/>
                  <a:ea typeface="Arial"/>
                  <a:cs typeface="Arial"/>
                  <a:sym typeface="Arial"/>
                </a:rPr>
                <a:t>25th Annual International Conference on Digital Government Research (dg.o 2024)</a:t>
              </a:r>
              <a:endParaRPr b="0" i="0" sz="1800" u="none" cap="none" strike="noStrike">
                <a:solidFill>
                  <a:schemeClr val="lt1"/>
                </a:solidFill>
                <a:latin typeface="Arial"/>
                <a:ea typeface="Arial"/>
                <a:cs typeface="Arial"/>
                <a:sym typeface="Arial"/>
              </a:endParaRPr>
            </a:p>
          </p:txBody>
        </p:sp>
        <p:pic>
          <p:nvPicPr>
            <p:cNvPr id="1351" name="Google Shape;1351;g3e3a61befe4_0_4046"/>
            <p:cNvPicPr preferRelativeResize="0"/>
            <p:nvPr/>
          </p:nvPicPr>
          <p:blipFill rotWithShape="1">
            <a:blip r:embed="rId3">
              <a:alphaModFix/>
            </a:blip>
            <a:srcRect b="-112517" l="-23390" r="23390" t="137700"/>
            <a:stretch/>
          </p:blipFill>
          <p:spPr>
            <a:xfrm>
              <a:off x="0" y="6007596"/>
              <a:ext cx="9920265" cy="792088"/>
            </a:xfrm>
            <a:prstGeom prst="rect">
              <a:avLst/>
            </a:prstGeom>
            <a:noFill/>
            <a:ln>
              <a:noFill/>
            </a:ln>
          </p:spPr>
        </p:pic>
        <p:sp>
          <p:nvSpPr>
            <p:cNvPr id="1352" name="Google Shape;1352;g3e3a61befe4_0_4046"/>
            <p:cNvSpPr/>
            <p:nvPr/>
          </p:nvSpPr>
          <p:spPr>
            <a:xfrm>
              <a:off x="-21650" y="5927750"/>
              <a:ext cx="9942000" cy="9087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sp>
        <p:nvSpPr>
          <p:cNvPr id="1353" name="Google Shape;1353;g3e3a61befe4_0_4046"/>
          <p:cNvSpPr txBox="1"/>
          <p:nvPr>
            <p:ph idx="12" type="sldNum"/>
          </p:nvPr>
        </p:nvSpPr>
        <p:spPr>
          <a:xfrm>
            <a:off x="6996113" y="6356350"/>
            <a:ext cx="22290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pic>
        <p:nvPicPr>
          <p:cNvPr id="1354" name="Google Shape;1354;g3e3a61befe4_0_4046"/>
          <p:cNvPicPr preferRelativeResize="0"/>
          <p:nvPr/>
        </p:nvPicPr>
        <p:blipFill rotWithShape="1">
          <a:blip r:embed="rId4">
            <a:alphaModFix/>
          </a:blip>
          <a:srcRect b="0" l="0" r="0" t="0"/>
          <a:stretch/>
        </p:blipFill>
        <p:spPr>
          <a:xfrm>
            <a:off x="218750" y="6052376"/>
            <a:ext cx="1823009" cy="470325"/>
          </a:xfrm>
          <a:prstGeom prst="rect">
            <a:avLst/>
          </a:prstGeom>
          <a:noFill/>
          <a:ln>
            <a:noFill/>
          </a:ln>
        </p:spPr>
      </p:pic>
      <p:pic>
        <p:nvPicPr>
          <p:cNvPr id="1355" name="Google Shape;1355;g3e3a61befe4_0_4046"/>
          <p:cNvPicPr preferRelativeResize="0"/>
          <p:nvPr/>
        </p:nvPicPr>
        <p:blipFill rotWithShape="1">
          <a:blip r:embed="rId5">
            <a:alphaModFix/>
          </a:blip>
          <a:srcRect b="0" l="0" r="0" t="0"/>
          <a:stretch/>
        </p:blipFill>
        <p:spPr>
          <a:xfrm>
            <a:off x="6996125" y="5975242"/>
            <a:ext cx="1811830" cy="624575"/>
          </a:xfrm>
          <a:prstGeom prst="rect">
            <a:avLst/>
          </a:prstGeom>
          <a:noFill/>
          <a:ln>
            <a:noFill/>
          </a:ln>
        </p:spPr>
      </p:pic>
      <p:sp>
        <p:nvSpPr>
          <p:cNvPr id="1356" name="Google Shape;1356;g3e3a61befe4_0_4046"/>
          <p:cNvSpPr/>
          <p:nvPr/>
        </p:nvSpPr>
        <p:spPr>
          <a:xfrm>
            <a:off x="1812973" y="5001892"/>
            <a:ext cx="2480700" cy="470400"/>
          </a:xfrm>
          <a:prstGeom prst="roundRect">
            <a:avLst>
              <a:gd fmla="val 16667" name="adj"/>
            </a:avLst>
          </a:prstGeom>
          <a:solidFill>
            <a:srgbClr val="EA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latin typeface="Calibri"/>
                <a:ea typeface="Calibri"/>
                <a:cs typeface="Calibri"/>
                <a:sym typeface="Calibri"/>
              </a:rPr>
              <a:t>Unequal access</a:t>
            </a:r>
            <a:endParaRPr>
              <a:latin typeface="Calibri"/>
              <a:ea typeface="Calibri"/>
              <a:cs typeface="Calibri"/>
              <a:sym typeface="Calibri"/>
            </a:endParaRPr>
          </a:p>
        </p:txBody>
      </p:sp>
      <p:cxnSp>
        <p:nvCxnSpPr>
          <p:cNvPr id="1357" name="Google Shape;1357;g3e3a61befe4_0_4046"/>
          <p:cNvCxnSpPr/>
          <p:nvPr/>
        </p:nvCxnSpPr>
        <p:spPr>
          <a:xfrm>
            <a:off x="231300" y="4604275"/>
            <a:ext cx="9439800" cy="27000"/>
          </a:xfrm>
          <a:prstGeom prst="straightConnector1">
            <a:avLst/>
          </a:prstGeom>
          <a:noFill/>
          <a:ln cap="flat" cmpd="sng" w="28575">
            <a:solidFill>
              <a:srgbClr val="FF0000"/>
            </a:solidFill>
            <a:prstDash val="dot"/>
            <a:round/>
            <a:headEnd len="med" w="med" type="none"/>
            <a:tailEnd len="med" w="med" type="none"/>
          </a:ln>
        </p:spPr>
      </p:cxnSp>
      <p:sp>
        <p:nvSpPr>
          <p:cNvPr id="1358" name="Google Shape;1358;g3e3a61befe4_0_4046"/>
          <p:cNvSpPr txBox="1"/>
          <p:nvPr/>
        </p:nvSpPr>
        <p:spPr>
          <a:xfrm>
            <a:off x="131149" y="4944584"/>
            <a:ext cx="1449600" cy="585000"/>
          </a:xfrm>
          <a:prstGeom prst="rect">
            <a:avLst/>
          </a:prstGeom>
          <a:solidFill>
            <a:srgbClr val="EA9999"/>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US" sz="1300">
                <a:solidFill>
                  <a:schemeClr val="dk1"/>
                </a:solidFill>
              </a:rPr>
              <a:t>Ethical Consequences</a:t>
            </a:r>
            <a:endParaRPr b="1" sz="1300">
              <a:solidFill>
                <a:schemeClr val="dk1"/>
              </a:solidFill>
            </a:endParaRPr>
          </a:p>
        </p:txBody>
      </p:sp>
      <p:cxnSp>
        <p:nvCxnSpPr>
          <p:cNvPr id="1359" name="Google Shape;1359;g3e3a61befe4_0_4046"/>
          <p:cNvCxnSpPr/>
          <p:nvPr/>
        </p:nvCxnSpPr>
        <p:spPr>
          <a:xfrm rot="10800000">
            <a:off x="1664753" y="772000"/>
            <a:ext cx="0" cy="5069400"/>
          </a:xfrm>
          <a:prstGeom prst="straightConnector1">
            <a:avLst/>
          </a:prstGeom>
          <a:noFill/>
          <a:ln cap="flat" cmpd="sng" w="19050">
            <a:solidFill>
              <a:schemeClr val="dk2"/>
            </a:solidFill>
            <a:prstDash val="solid"/>
            <a:round/>
            <a:headEnd len="med" w="med" type="diamond"/>
            <a:tailEnd len="med" w="med" type="diamond"/>
          </a:ln>
        </p:spPr>
      </p:cxnSp>
      <p:sp>
        <p:nvSpPr>
          <p:cNvPr id="1360" name="Google Shape;1360;g3e3a61befe4_0_4046"/>
          <p:cNvSpPr/>
          <p:nvPr/>
        </p:nvSpPr>
        <p:spPr>
          <a:xfrm>
            <a:off x="4441888" y="4889831"/>
            <a:ext cx="2480700" cy="694500"/>
          </a:xfrm>
          <a:prstGeom prst="roundRect">
            <a:avLst>
              <a:gd fmla="val 16667" name="adj"/>
            </a:avLst>
          </a:prstGeom>
          <a:solidFill>
            <a:srgbClr val="EA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latin typeface="Calibri"/>
                <a:ea typeface="Calibri"/>
                <a:cs typeface="Calibri"/>
                <a:sym typeface="Calibri"/>
              </a:rPr>
              <a:t>Perpetuation of biases and </a:t>
            </a:r>
            <a:r>
              <a:rPr lang="en-US">
                <a:solidFill>
                  <a:schemeClr val="dk1"/>
                </a:solidFill>
                <a:latin typeface="Calibri"/>
                <a:ea typeface="Calibri"/>
                <a:cs typeface="Calibri"/>
                <a:sym typeface="Calibri"/>
              </a:rPr>
              <a:t>favoring zones</a:t>
            </a:r>
            <a:endParaRPr>
              <a:latin typeface="Calibri"/>
              <a:ea typeface="Calibri"/>
              <a:cs typeface="Calibri"/>
              <a:sym typeface="Calibri"/>
            </a:endParaRPr>
          </a:p>
        </p:txBody>
      </p:sp>
      <p:sp>
        <p:nvSpPr>
          <p:cNvPr id="1361" name="Google Shape;1361;g3e3a61befe4_0_4046"/>
          <p:cNvSpPr/>
          <p:nvPr/>
        </p:nvSpPr>
        <p:spPr>
          <a:xfrm>
            <a:off x="7135200" y="4952549"/>
            <a:ext cx="2660400" cy="569100"/>
          </a:xfrm>
          <a:prstGeom prst="roundRect">
            <a:avLst>
              <a:gd fmla="val 16667" name="adj"/>
            </a:avLst>
          </a:prstGeom>
          <a:solidFill>
            <a:srgbClr val="EA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latin typeface="Calibri"/>
                <a:ea typeface="Calibri"/>
                <a:cs typeface="Calibri"/>
                <a:sym typeface="Calibri"/>
              </a:rPr>
              <a:t>Lack of informed consent and risk of legal non-compliance</a:t>
            </a:r>
            <a:endParaRPr>
              <a:latin typeface="Calibri"/>
              <a:ea typeface="Calibri"/>
              <a:cs typeface="Calibri"/>
              <a:sym typeface="Calibri"/>
            </a:endParaRPr>
          </a:p>
        </p:txBody>
      </p:sp>
      <p:cxnSp>
        <p:nvCxnSpPr>
          <p:cNvPr id="1362" name="Google Shape;1362;g3e3a61befe4_0_4046"/>
          <p:cNvCxnSpPr/>
          <p:nvPr/>
        </p:nvCxnSpPr>
        <p:spPr>
          <a:xfrm>
            <a:off x="323850" y="3048663"/>
            <a:ext cx="9439800" cy="27000"/>
          </a:xfrm>
          <a:prstGeom prst="straightConnector1">
            <a:avLst/>
          </a:prstGeom>
          <a:noFill/>
          <a:ln cap="flat" cmpd="sng" w="28575">
            <a:solidFill>
              <a:schemeClr val="dk1"/>
            </a:solidFill>
            <a:prstDash val="dot"/>
            <a:round/>
            <a:headEnd len="med" w="med" type="none"/>
            <a:tailEnd len="med" w="med" type="none"/>
          </a:ln>
        </p:spPr>
      </p:cxnSp>
      <p:sp>
        <p:nvSpPr>
          <p:cNvPr id="1363" name="Google Shape;1363;g3e3a61befe4_0_4046"/>
          <p:cNvSpPr/>
          <p:nvPr/>
        </p:nvSpPr>
        <p:spPr>
          <a:xfrm>
            <a:off x="1815975" y="3263676"/>
            <a:ext cx="2480700" cy="11526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US">
                <a:solidFill>
                  <a:schemeClr val="dk1"/>
                </a:solidFill>
                <a:latin typeface="Calibri"/>
                <a:ea typeface="Calibri"/>
                <a:cs typeface="Calibri"/>
                <a:sym typeface="Calibri"/>
              </a:rPr>
              <a:t>If the Distribution Agent’s central stock is empty, scooters may be transferred from other zones, leaving some areas without scooters</a:t>
            </a:r>
            <a:endParaRPr>
              <a:latin typeface="Calibri"/>
              <a:ea typeface="Calibri"/>
              <a:cs typeface="Calibri"/>
              <a:sym typeface="Calibri"/>
            </a:endParaRPr>
          </a:p>
        </p:txBody>
      </p:sp>
      <p:cxnSp>
        <p:nvCxnSpPr>
          <p:cNvPr id="1364" name="Google Shape;1364;g3e3a61befe4_0_4046"/>
          <p:cNvCxnSpPr>
            <a:stCxn id="1356" idx="0"/>
            <a:endCxn id="1363" idx="2"/>
          </p:cNvCxnSpPr>
          <p:nvPr/>
        </p:nvCxnSpPr>
        <p:spPr>
          <a:xfrm flipH="1" rot="10800000">
            <a:off x="3053323" y="4416292"/>
            <a:ext cx="3000" cy="585600"/>
          </a:xfrm>
          <a:prstGeom prst="straightConnector1">
            <a:avLst/>
          </a:prstGeom>
          <a:noFill/>
          <a:ln cap="flat" cmpd="sng" w="9525">
            <a:solidFill>
              <a:schemeClr val="dk2"/>
            </a:solidFill>
            <a:prstDash val="solid"/>
            <a:round/>
            <a:headEnd len="med" w="med" type="triangle"/>
            <a:tailEnd len="med" w="med" type="none"/>
          </a:ln>
        </p:spPr>
      </p:cxnSp>
      <p:sp>
        <p:nvSpPr>
          <p:cNvPr id="1365" name="Google Shape;1365;g3e3a61befe4_0_4046"/>
          <p:cNvSpPr/>
          <p:nvPr/>
        </p:nvSpPr>
        <p:spPr>
          <a:xfrm>
            <a:off x="4424800" y="1691934"/>
            <a:ext cx="2480700" cy="8862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latin typeface="Calibri"/>
                <a:ea typeface="Calibri"/>
                <a:cs typeface="Calibri"/>
                <a:sym typeface="Calibri"/>
              </a:rPr>
              <a:t>The calculation of the number of scooters to be transferred to each zone is based on usage annual history</a:t>
            </a:r>
            <a:endParaRPr>
              <a:latin typeface="Calibri"/>
              <a:ea typeface="Calibri"/>
              <a:cs typeface="Calibri"/>
              <a:sym typeface="Calibri"/>
            </a:endParaRPr>
          </a:p>
        </p:txBody>
      </p:sp>
      <p:graphicFrame>
        <p:nvGraphicFramePr>
          <p:cNvPr id="1366" name="Google Shape;1366;g3e3a61befe4_0_4046"/>
          <p:cNvGraphicFramePr/>
          <p:nvPr/>
        </p:nvGraphicFramePr>
        <p:xfrm>
          <a:off x="152400" y="152400"/>
          <a:ext cx="3000000" cy="3000000"/>
        </p:xfrm>
        <a:graphic>
          <a:graphicData uri="http://schemas.openxmlformats.org/drawingml/2006/table">
            <a:tbl>
              <a:tblPr>
                <a:noFill/>
                <a:tableStyleId>{50916073-6137-4BFC-AC2B-91BFF95D4831}</a:tableStyleId>
              </a:tblPr>
              <a:tblGrid>
                <a:gridCol w="19050"/>
              </a:tblGrid>
              <a:tr h="19050">
                <a:tc>
                  <a:txBody>
                    <a:bodyPr/>
                    <a:lstStyle/>
                    <a:p>
                      <a:pPr indent="0" lvl="0" marL="0" rtl="0" algn="l">
                        <a:spcBef>
                          <a:spcPts val="0"/>
                        </a:spcBef>
                        <a:spcAft>
                          <a:spcPts val="0"/>
                        </a:spcAft>
                        <a:buNone/>
                      </a:pPr>
                      <a:r>
                        <a:t/>
                      </a:r>
                      <a:endParaRPr/>
                    </a:p>
                  </a:txBody>
                  <a:tcPr marT="91425" marB="91425" marR="91425" marL="91425"/>
                </a:tc>
              </a:tr>
            </a:tbl>
          </a:graphicData>
        </a:graphic>
      </p:graphicFrame>
      <p:graphicFrame>
        <p:nvGraphicFramePr>
          <p:cNvPr id="1367" name="Google Shape;1367;g3e3a61befe4_0_4046"/>
          <p:cNvGraphicFramePr/>
          <p:nvPr/>
        </p:nvGraphicFramePr>
        <p:xfrm>
          <a:off x="304800" y="304800"/>
          <a:ext cx="3000000" cy="3000000"/>
        </p:xfrm>
        <a:graphic>
          <a:graphicData uri="http://schemas.openxmlformats.org/drawingml/2006/table">
            <a:tbl>
              <a:tblPr>
                <a:noFill/>
                <a:tableStyleId>{50916073-6137-4BFC-AC2B-91BFF95D4831}</a:tableStyleId>
              </a:tblPr>
              <a:tblGrid>
                <a:gridCol w="19050"/>
              </a:tblGrid>
              <a:tr h="19050">
                <a:tc>
                  <a:txBody>
                    <a:bodyPr/>
                    <a:lstStyle/>
                    <a:p>
                      <a:pPr indent="0" lvl="0" marL="0" rtl="0" algn="l">
                        <a:spcBef>
                          <a:spcPts val="0"/>
                        </a:spcBef>
                        <a:spcAft>
                          <a:spcPts val="0"/>
                        </a:spcAft>
                        <a:buNone/>
                      </a:pPr>
                      <a:r>
                        <a:t/>
                      </a:r>
                      <a:endParaRPr/>
                    </a:p>
                  </a:txBody>
                  <a:tcPr marT="91425" marB="91425" marR="91425" marL="91425"/>
                </a:tc>
              </a:tr>
            </a:tbl>
          </a:graphicData>
        </a:graphic>
      </p:graphicFrame>
      <p:graphicFrame>
        <p:nvGraphicFramePr>
          <p:cNvPr id="1368" name="Google Shape;1368;g3e3a61befe4_0_4046"/>
          <p:cNvGraphicFramePr/>
          <p:nvPr/>
        </p:nvGraphicFramePr>
        <p:xfrm>
          <a:off x="-409575" y="2066500"/>
          <a:ext cx="3000000" cy="3000000"/>
        </p:xfrm>
        <a:graphic>
          <a:graphicData uri="http://schemas.openxmlformats.org/drawingml/2006/table">
            <a:tbl>
              <a:tblPr>
                <a:noFill/>
                <a:tableStyleId>{50916073-6137-4BFC-AC2B-91BFF95D4831}</a:tableStyleId>
              </a:tblPr>
              <a:tblGrid>
                <a:gridCol w="19050"/>
              </a:tblGrid>
              <a:tr h="19050">
                <a:tc>
                  <a:txBody>
                    <a:bodyPr/>
                    <a:lstStyle/>
                    <a:p>
                      <a:pPr indent="0" lvl="0" marL="0" rtl="0" algn="l">
                        <a:spcBef>
                          <a:spcPts val="0"/>
                        </a:spcBef>
                        <a:spcAft>
                          <a:spcPts val="0"/>
                        </a:spcAft>
                        <a:buNone/>
                      </a:pPr>
                      <a:r>
                        <a:t/>
                      </a:r>
                      <a:endParaRPr/>
                    </a:p>
                  </a:txBody>
                  <a:tcPr marT="91425" marB="91425" marR="91425" marL="91425"/>
                </a:tc>
              </a:tr>
            </a:tbl>
          </a:graphicData>
        </a:graphic>
      </p:graphicFrame>
      <p:sp>
        <p:nvSpPr>
          <p:cNvPr id="1369" name="Google Shape;1369;g3e3a61befe4_0_4046"/>
          <p:cNvSpPr txBox="1"/>
          <p:nvPr/>
        </p:nvSpPr>
        <p:spPr>
          <a:xfrm>
            <a:off x="152398" y="3652747"/>
            <a:ext cx="1383000" cy="585000"/>
          </a:xfrm>
          <a:prstGeom prst="rect">
            <a:avLst/>
          </a:prstGeom>
          <a:solidFill>
            <a:schemeClr val="lt1"/>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US" sz="1300">
                <a:solidFill>
                  <a:schemeClr val="dk1"/>
                </a:solidFill>
              </a:rPr>
              <a:t>Intermediate Effect</a:t>
            </a:r>
            <a:endParaRPr b="1" sz="1300">
              <a:solidFill>
                <a:srgbClr val="FF0000"/>
              </a:solidFill>
              <a:latin typeface="Calibri"/>
              <a:ea typeface="Calibri"/>
              <a:cs typeface="Calibri"/>
              <a:sym typeface="Calibri"/>
            </a:endParaRPr>
          </a:p>
        </p:txBody>
      </p:sp>
      <p:sp>
        <p:nvSpPr>
          <p:cNvPr id="1370" name="Google Shape;1370;g3e3a61befe4_0_4046"/>
          <p:cNvSpPr txBox="1"/>
          <p:nvPr/>
        </p:nvSpPr>
        <p:spPr>
          <a:xfrm>
            <a:off x="164447" y="1984427"/>
            <a:ext cx="1383000" cy="384900"/>
          </a:xfrm>
          <a:prstGeom prst="rect">
            <a:avLst/>
          </a:prstGeom>
          <a:solidFill>
            <a:schemeClr val="lt1"/>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US" sz="1300">
                <a:solidFill>
                  <a:schemeClr val="dk1"/>
                </a:solidFill>
              </a:rPr>
              <a:t>Cause</a:t>
            </a:r>
            <a:endParaRPr b="1" sz="1300">
              <a:solidFill>
                <a:srgbClr val="FF0000"/>
              </a:solidFill>
              <a:latin typeface="Calibri"/>
              <a:ea typeface="Calibri"/>
              <a:cs typeface="Calibri"/>
              <a:sym typeface="Calibri"/>
            </a:endParaRPr>
          </a:p>
        </p:txBody>
      </p:sp>
      <p:sp>
        <p:nvSpPr>
          <p:cNvPr id="1371" name="Google Shape;1371;g3e3a61befe4_0_4046"/>
          <p:cNvSpPr/>
          <p:nvPr/>
        </p:nvSpPr>
        <p:spPr>
          <a:xfrm>
            <a:off x="4447891" y="3468062"/>
            <a:ext cx="2480700" cy="7509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latin typeface="Calibri"/>
                <a:ea typeface="Calibri"/>
                <a:cs typeface="Calibri"/>
                <a:sym typeface="Calibri"/>
              </a:rPr>
              <a:t>Zones  historically favored by scooter use continue to receive more scooters</a:t>
            </a:r>
            <a:endParaRPr>
              <a:latin typeface="Calibri"/>
              <a:ea typeface="Calibri"/>
              <a:cs typeface="Calibri"/>
              <a:sym typeface="Calibri"/>
            </a:endParaRPr>
          </a:p>
        </p:txBody>
      </p:sp>
      <p:cxnSp>
        <p:nvCxnSpPr>
          <p:cNvPr id="1372" name="Google Shape;1372;g3e3a61befe4_0_4046"/>
          <p:cNvCxnSpPr>
            <a:stCxn id="1360" idx="0"/>
            <a:endCxn id="1371" idx="2"/>
          </p:cNvCxnSpPr>
          <p:nvPr/>
        </p:nvCxnSpPr>
        <p:spPr>
          <a:xfrm flipH="1" rot="10800000">
            <a:off x="5682238" y="4219031"/>
            <a:ext cx="6000" cy="670800"/>
          </a:xfrm>
          <a:prstGeom prst="straightConnector1">
            <a:avLst/>
          </a:prstGeom>
          <a:noFill/>
          <a:ln cap="flat" cmpd="sng" w="9525">
            <a:solidFill>
              <a:schemeClr val="dk2"/>
            </a:solidFill>
            <a:prstDash val="solid"/>
            <a:round/>
            <a:headEnd len="med" w="med" type="stealth"/>
            <a:tailEnd len="med" w="med" type="none"/>
          </a:ln>
        </p:spPr>
      </p:cxnSp>
      <p:cxnSp>
        <p:nvCxnSpPr>
          <p:cNvPr id="1373" name="Google Shape;1373;g3e3a61befe4_0_4046"/>
          <p:cNvCxnSpPr>
            <a:stCxn id="1371" idx="0"/>
            <a:endCxn id="1365" idx="2"/>
          </p:cNvCxnSpPr>
          <p:nvPr/>
        </p:nvCxnSpPr>
        <p:spPr>
          <a:xfrm rot="10800000">
            <a:off x="5665141" y="2578262"/>
            <a:ext cx="23100" cy="889800"/>
          </a:xfrm>
          <a:prstGeom prst="straightConnector1">
            <a:avLst/>
          </a:prstGeom>
          <a:noFill/>
          <a:ln cap="flat" cmpd="sng" w="9525">
            <a:solidFill>
              <a:schemeClr val="dk2"/>
            </a:solidFill>
            <a:prstDash val="solid"/>
            <a:round/>
            <a:headEnd len="med" w="med" type="triangle"/>
            <a:tailEnd len="med" w="med" type="none"/>
          </a:ln>
        </p:spPr>
      </p:cxnSp>
      <p:sp>
        <p:nvSpPr>
          <p:cNvPr id="1374" name="Google Shape;1374;g3e3a61befe4_0_4046"/>
          <p:cNvSpPr/>
          <p:nvPr/>
        </p:nvSpPr>
        <p:spPr>
          <a:xfrm>
            <a:off x="1784538" y="811925"/>
            <a:ext cx="2454000" cy="6246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en-US">
                <a:solidFill>
                  <a:schemeClr val="dk1"/>
                </a:solidFill>
                <a:latin typeface="Calibri"/>
                <a:ea typeface="Calibri"/>
                <a:cs typeface="Calibri"/>
                <a:sym typeface="Calibri"/>
              </a:rPr>
              <a:t>1 - Sustainable Development and Social Welfare</a:t>
            </a:r>
            <a:endParaRPr>
              <a:latin typeface="Calibri"/>
              <a:ea typeface="Calibri"/>
              <a:cs typeface="Calibri"/>
              <a:sym typeface="Calibri"/>
            </a:endParaRPr>
          </a:p>
        </p:txBody>
      </p:sp>
      <p:sp>
        <p:nvSpPr>
          <p:cNvPr id="1375" name="Google Shape;1375;g3e3a61befe4_0_4046"/>
          <p:cNvSpPr/>
          <p:nvPr/>
        </p:nvSpPr>
        <p:spPr>
          <a:xfrm>
            <a:off x="4357200" y="811928"/>
            <a:ext cx="2569500" cy="6246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a:solidFill>
                  <a:schemeClr val="dk1"/>
                </a:solidFill>
                <a:latin typeface="Calibri"/>
                <a:ea typeface="Calibri"/>
                <a:cs typeface="Calibri"/>
                <a:sym typeface="Calibri"/>
              </a:rPr>
              <a:t>2. Justice and Non-Discrimination</a:t>
            </a:r>
            <a:endParaRPr>
              <a:latin typeface="Calibri"/>
              <a:ea typeface="Calibri"/>
              <a:cs typeface="Calibri"/>
              <a:sym typeface="Calibri"/>
            </a:endParaRPr>
          </a:p>
        </p:txBody>
      </p:sp>
      <p:sp>
        <p:nvSpPr>
          <p:cNvPr id="1376" name="Google Shape;1376;g3e3a61befe4_0_4046"/>
          <p:cNvSpPr/>
          <p:nvPr/>
        </p:nvSpPr>
        <p:spPr>
          <a:xfrm>
            <a:off x="7045350" y="798475"/>
            <a:ext cx="2660400" cy="6246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a:solidFill>
                  <a:schemeClr val="dk1"/>
                </a:solidFill>
                <a:latin typeface="Calibri"/>
                <a:ea typeface="Calibri"/>
                <a:cs typeface="Calibri"/>
                <a:sym typeface="Calibri"/>
              </a:rPr>
              <a:t>3. Privacy and Data Protection</a:t>
            </a:r>
            <a:endParaRPr>
              <a:latin typeface="Calibri"/>
              <a:ea typeface="Calibri"/>
              <a:cs typeface="Calibri"/>
              <a:sym typeface="Calibri"/>
            </a:endParaRPr>
          </a:p>
        </p:txBody>
      </p:sp>
      <p:sp>
        <p:nvSpPr>
          <p:cNvPr id="1377" name="Google Shape;1377;g3e3a61befe4_0_4046"/>
          <p:cNvSpPr/>
          <p:nvPr/>
        </p:nvSpPr>
        <p:spPr>
          <a:xfrm>
            <a:off x="7225041" y="3464527"/>
            <a:ext cx="2480700" cy="7509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latin typeface="Calibri"/>
                <a:ea typeface="Calibri"/>
                <a:cs typeface="Calibri"/>
                <a:sym typeface="Calibri"/>
              </a:rPr>
              <a:t>Lack of transparency about data usage</a:t>
            </a:r>
            <a:endParaRPr>
              <a:latin typeface="Calibri"/>
              <a:ea typeface="Calibri"/>
              <a:cs typeface="Calibri"/>
              <a:sym typeface="Calibri"/>
            </a:endParaRPr>
          </a:p>
        </p:txBody>
      </p:sp>
      <p:cxnSp>
        <p:nvCxnSpPr>
          <p:cNvPr id="1378" name="Google Shape;1378;g3e3a61befe4_0_4046"/>
          <p:cNvCxnSpPr>
            <a:stCxn id="1377" idx="2"/>
            <a:endCxn id="1361" idx="0"/>
          </p:cNvCxnSpPr>
          <p:nvPr/>
        </p:nvCxnSpPr>
        <p:spPr>
          <a:xfrm>
            <a:off x="8465391" y="4215427"/>
            <a:ext cx="0" cy="737100"/>
          </a:xfrm>
          <a:prstGeom prst="straightConnector1">
            <a:avLst/>
          </a:prstGeom>
          <a:noFill/>
          <a:ln cap="flat" cmpd="sng" w="9525">
            <a:solidFill>
              <a:schemeClr val="dk2"/>
            </a:solidFill>
            <a:prstDash val="solid"/>
            <a:round/>
            <a:headEnd len="med" w="med" type="none"/>
            <a:tailEnd len="med" w="med" type="triangle"/>
          </a:ln>
        </p:spPr>
      </p:cxnSp>
      <p:sp>
        <p:nvSpPr>
          <p:cNvPr id="1379" name="Google Shape;1379;g3e3a61befe4_0_4046"/>
          <p:cNvSpPr txBox="1"/>
          <p:nvPr/>
        </p:nvSpPr>
        <p:spPr>
          <a:xfrm>
            <a:off x="282900" y="931775"/>
            <a:ext cx="1240500" cy="585000"/>
          </a:xfrm>
          <a:prstGeom prst="rect">
            <a:avLst/>
          </a:prstGeom>
          <a:solidFill>
            <a:schemeClr val="lt1"/>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US" sz="1300">
                <a:solidFill>
                  <a:schemeClr val="dk1"/>
                </a:solidFill>
              </a:rPr>
              <a:t>Ethics Principles</a:t>
            </a:r>
            <a:endParaRPr b="1" sz="1300">
              <a:solidFill>
                <a:srgbClr val="FF0000"/>
              </a:solidFill>
              <a:latin typeface="Calibri"/>
              <a:ea typeface="Calibri"/>
              <a:cs typeface="Calibri"/>
              <a:sym typeface="Calibri"/>
            </a:endParaRPr>
          </a:p>
        </p:txBody>
      </p:sp>
      <p:sp>
        <p:nvSpPr>
          <p:cNvPr id="1380" name="Google Shape;1380;g3e3a61befe4_0_4046"/>
          <p:cNvSpPr/>
          <p:nvPr/>
        </p:nvSpPr>
        <p:spPr>
          <a:xfrm>
            <a:off x="1862175" y="1637526"/>
            <a:ext cx="2365200" cy="11526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solidFill>
                  <a:schemeClr val="dk1"/>
                </a:solidFill>
                <a:latin typeface="Calibri"/>
                <a:ea typeface="Calibri"/>
                <a:cs typeface="Calibri"/>
                <a:sym typeface="Calibri"/>
              </a:rPr>
              <a:t>There is no minimum scooter retention policy to prevent zones from becoming empty after transfers</a:t>
            </a:r>
            <a:endParaRPr>
              <a:latin typeface="Calibri"/>
              <a:ea typeface="Calibri"/>
              <a:cs typeface="Calibri"/>
              <a:sym typeface="Calibri"/>
            </a:endParaRPr>
          </a:p>
        </p:txBody>
      </p:sp>
      <p:cxnSp>
        <p:nvCxnSpPr>
          <p:cNvPr id="1381" name="Google Shape;1381;g3e3a61befe4_0_4046"/>
          <p:cNvCxnSpPr>
            <a:stCxn id="1380" idx="2"/>
            <a:endCxn id="1363" idx="0"/>
          </p:cNvCxnSpPr>
          <p:nvPr/>
        </p:nvCxnSpPr>
        <p:spPr>
          <a:xfrm>
            <a:off x="3044775" y="2790126"/>
            <a:ext cx="11700" cy="4737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mc:AlternateContent>
    <mc:Choice Requires="p14">
      <p:transition spd="slow" p14:dur="700">
        <p:fade/>
      </p:transition>
    </mc:Choice>
    <mc:Fallback>
      <p:transition spd="slow">
        <p:fade/>
      </p:transition>
    </mc:Fallback>
  </mc:AlternateContent>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5" name="Shape 1385"/>
        <p:cNvGrpSpPr/>
        <p:nvPr/>
      </p:nvGrpSpPr>
      <p:grpSpPr>
        <a:xfrm>
          <a:off x="0" y="0"/>
          <a:ext cx="0" cy="0"/>
          <a:chOff x="0" y="0"/>
          <a:chExt cx="0" cy="0"/>
        </a:xfrm>
      </p:grpSpPr>
      <p:sp>
        <p:nvSpPr>
          <p:cNvPr id="1386" name="Google Shape;1386;g3e3a61befe4_0_4157"/>
          <p:cNvSpPr txBox="1"/>
          <p:nvPr>
            <p:ph type="title"/>
          </p:nvPr>
        </p:nvSpPr>
        <p:spPr>
          <a:xfrm>
            <a:off x="101475" y="108450"/>
            <a:ext cx="9604200" cy="624600"/>
          </a:xfrm>
          <a:prstGeom prst="rect">
            <a:avLst/>
          </a:prstGeom>
          <a:solidFill>
            <a:srgbClr val="000000">
              <a:alpha val="0"/>
            </a:srgbClr>
          </a:solidFill>
          <a:ln>
            <a:noFill/>
          </a:ln>
        </p:spPr>
        <p:txBody>
          <a:bodyPr anchorCtr="0" anchor="ctr" bIns="45700" lIns="91400" spcFirstLastPara="1" rIns="91400" wrap="square" tIns="45700">
            <a:noAutofit/>
          </a:bodyPr>
          <a:lstStyle/>
          <a:p>
            <a:pPr indent="0" lvl="0" marL="0" rtl="0" algn="l">
              <a:spcBef>
                <a:spcPts val="0"/>
              </a:spcBef>
              <a:spcAft>
                <a:spcPts val="0"/>
              </a:spcAft>
              <a:buNone/>
            </a:pPr>
            <a:r>
              <a:rPr b="1" lang="en-US" sz="2300">
                <a:solidFill>
                  <a:srgbClr val="1E4E79"/>
                </a:solidFill>
                <a:latin typeface="Arial"/>
                <a:ea typeface="Arial"/>
                <a:cs typeface="Arial"/>
                <a:sym typeface="Arial"/>
              </a:rPr>
              <a:t>Step </a:t>
            </a:r>
            <a:r>
              <a:rPr lang="en-US" sz="2300">
                <a:latin typeface="Arial"/>
                <a:ea typeface="Arial"/>
                <a:cs typeface="Arial"/>
                <a:sym typeface="Arial"/>
              </a:rPr>
              <a:t>3</a:t>
            </a:r>
            <a:r>
              <a:rPr b="1" lang="en-US" sz="2300">
                <a:solidFill>
                  <a:srgbClr val="1E4E79"/>
                </a:solidFill>
                <a:latin typeface="Arial"/>
                <a:ea typeface="Arial"/>
                <a:cs typeface="Arial"/>
                <a:sym typeface="Arial"/>
              </a:rPr>
              <a:t>: Mapping of Ethical Causes and Consequences by Ethical Principle </a:t>
            </a:r>
            <a:endParaRPr b="1" sz="2300">
              <a:solidFill>
                <a:srgbClr val="1E4E79"/>
              </a:solidFill>
              <a:latin typeface="Arial"/>
              <a:ea typeface="Arial"/>
              <a:cs typeface="Arial"/>
              <a:sym typeface="Arial"/>
            </a:endParaRPr>
          </a:p>
        </p:txBody>
      </p:sp>
      <p:grpSp>
        <p:nvGrpSpPr>
          <p:cNvPr id="1387" name="Google Shape;1387;g3e3a61befe4_0_4157"/>
          <p:cNvGrpSpPr/>
          <p:nvPr/>
        </p:nvGrpSpPr>
        <p:grpSpPr>
          <a:xfrm>
            <a:off x="-18000" y="5842891"/>
            <a:ext cx="9942000" cy="1014788"/>
            <a:chOff x="-21650" y="5927750"/>
            <a:chExt cx="9942000" cy="930230"/>
          </a:xfrm>
        </p:grpSpPr>
        <p:sp>
          <p:nvSpPr>
            <p:cNvPr id="1388" name="Google Shape;1388;g3e3a61befe4_0_4157"/>
            <p:cNvSpPr/>
            <p:nvPr/>
          </p:nvSpPr>
          <p:spPr>
            <a:xfrm>
              <a:off x="5239747" y="5949280"/>
              <a:ext cx="4680600" cy="9087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Arial"/>
                  <a:ea typeface="Arial"/>
                  <a:cs typeface="Arial"/>
                  <a:sym typeface="Arial"/>
                </a:rPr>
                <a:t>25th Annual International Conference on Digital Government Research (dg.o 2024)</a:t>
              </a:r>
              <a:endParaRPr b="0" i="0" sz="1800" u="none" cap="none" strike="noStrike">
                <a:solidFill>
                  <a:schemeClr val="lt1"/>
                </a:solidFill>
                <a:latin typeface="Arial"/>
                <a:ea typeface="Arial"/>
                <a:cs typeface="Arial"/>
                <a:sym typeface="Arial"/>
              </a:endParaRPr>
            </a:p>
          </p:txBody>
        </p:sp>
        <p:pic>
          <p:nvPicPr>
            <p:cNvPr id="1389" name="Google Shape;1389;g3e3a61befe4_0_4157"/>
            <p:cNvPicPr preferRelativeResize="0"/>
            <p:nvPr/>
          </p:nvPicPr>
          <p:blipFill rotWithShape="1">
            <a:blip r:embed="rId3">
              <a:alphaModFix/>
            </a:blip>
            <a:srcRect b="-112517" l="-23390" r="23390" t="137700"/>
            <a:stretch/>
          </p:blipFill>
          <p:spPr>
            <a:xfrm>
              <a:off x="0" y="6007596"/>
              <a:ext cx="9920265" cy="792088"/>
            </a:xfrm>
            <a:prstGeom prst="rect">
              <a:avLst/>
            </a:prstGeom>
            <a:noFill/>
            <a:ln>
              <a:noFill/>
            </a:ln>
          </p:spPr>
        </p:pic>
        <p:sp>
          <p:nvSpPr>
            <p:cNvPr id="1390" name="Google Shape;1390;g3e3a61befe4_0_4157"/>
            <p:cNvSpPr/>
            <p:nvPr/>
          </p:nvSpPr>
          <p:spPr>
            <a:xfrm>
              <a:off x="-21650" y="5927750"/>
              <a:ext cx="9942000" cy="9087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sp>
        <p:nvSpPr>
          <p:cNvPr id="1391" name="Google Shape;1391;g3e3a61befe4_0_4157"/>
          <p:cNvSpPr txBox="1"/>
          <p:nvPr>
            <p:ph idx="12" type="sldNum"/>
          </p:nvPr>
        </p:nvSpPr>
        <p:spPr>
          <a:xfrm>
            <a:off x="6996113" y="6356350"/>
            <a:ext cx="22290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pic>
        <p:nvPicPr>
          <p:cNvPr id="1392" name="Google Shape;1392;g3e3a61befe4_0_4157"/>
          <p:cNvPicPr preferRelativeResize="0"/>
          <p:nvPr/>
        </p:nvPicPr>
        <p:blipFill rotWithShape="1">
          <a:blip r:embed="rId4">
            <a:alphaModFix/>
          </a:blip>
          <a:srcRect b="0" l="0" r="0" t="0"/>
          <a:stretch/>
        </p:blipFill>
        <p:spPr>
          <a:xfrm>
            <a:off x="218750" y="6052376"/>
            <a:ext cx="1823009" cy="470325"/>
          </a:xfrm>
          <a:prstGeom prst="rect">
            <a:avLst/>
          </a:prstGeom>
          <a:noFill/>
          <a:ln>
            <a:noFill/>
          </a:ln>
        </p:spPr>
      </p:pic>
      <p:pic>
        <p:nvPicPr>
          <p:cNvPr id="1393" name="Google Shape;1393;g3e3a61befe4_0_4157"/>
          <p:cNvPicPr preferRelativeResize="0"/>
          <p:nvPr/>
        </p:nvPicPr>
        <p:blipFill rotWithShape="1">
          <a:blip r:embed="rId5">
            <a:alphaModFix/>
          </a:blip>
          <a:srcRect b="0" l="0" r="0" t="0"/>
          <a:stretch/>
        </p:blipFill>
        <p:spPr>
          <a:xfrm>
            <a:off x="6996125" y="5975242"/>
            <a:ext cx="1811830" cy="624575"/>
          </a:xfrm>
          <a:prstGeom prst="rect">
            <a:avLst/>
          </a:prstGeom>
          <a:noFill/>
          <a:ln>
            <a:noFill/>
          </a:ln>
        </p:spPr>
      </p:pic>
      <p:sp>
        <p:nvSpPr>
          <p:cNvPr id="1394" name="Google Shape;1394;g3e3a61befe4_0_4157"/>
          <p:cNvSpPr/>
          <p:nvPr/>
        </p:nvSpPr>
        <p:spPr>
          <a:xfrm>
            <a:off x="1812973" y="5001892"/>
            <a:ext cx="2480700" cy="470400"/>
          </a:xfrm>
          <a:prstGeom prst="roundRect">
            <a:avLst>
              <a:gd fmla="val 16667" name="adj"/>
            </a:avLst>
          </a:prstGeom>
          <a:solidFill>
            <a:srgbClr val="EA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latin typeface="Calibri"/>
                <a:ea typeface="Calibri"/>
                <a:cs typeface="Calibri"/>
                <a:sym typeface="Calibri"/>
              </a:rPr>
              <a:t>Unequal access</a:t>
            </a:r>
            <a:endParaRPr>
              <a:latin typeface="Calibri"/>
              <a:ea typeface="Calibri"/>
              <a:cs typeface="Calibri"/>
              <a:sym typeface="Calibri"/>
            </a:endParaRPr>
          </a:p>
        </p:txBody>
      </p:sp>
      <p:cxnSp>
        <p:nvCxnSpPr>
          <p:cNvPr id="1395" name="Google Shape;1395;g3e3a61befe4_0_4157"/>
          <p:cNvCxnSpPr/>
          <p:nvPr/>
        </p:nvCxnSpPr>
        <p:spPr>
          <a:xfrm>
            <a:off x="231300" y="4604275"/>
            <a:ext cx="9439800" cy="27000"/>
          </a:xfrm>
          <a:prstGeom prst="straightConnector1">
            <a:avLst/>
          </a:prstGeom>
          <a:noFill/>
          <a:ln cap="flat" cmpd="sng" w="28575">
            <a:solidFill>
              <a:srgbClr val="FF0000"/>
            </a:solidFill>
            <a:prstDash val="dot"/>
            <a:round/>
            <a:headEnd len="med" w="med" type="none"/>
            <a:tailEnd len="med" w="med" type="none"/>
          </a:ln>
        </p:spPr>
      </p:cxnSp>
      <p:sp>
        <p:nvSpPr>
          <p:cNvPr id="1396" name="Google Shape;1396;g3e3a61befe4_0_4157"/>
          <p:cNvSpPr txBox="1"/>
          <p:nvPr/>
        </p:nvSpPr>
        <p:spPr>
          <a:xfrm>
            <a:off x="131149" y="4944584"/>
            <a:ext cx="1449600" cy="585000"/>
          </a:xfrm>
          <a:prstGeom prst="rect">
            <a:avLst/>
          </a:prstGeom>
          <a:solidFill>
            <a:srgbClr val="EA9999"/>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US" sz="1300">
                <a:solidFill>
                  <a:schemeClr val="dk1"/>
                </a:solidFill>
              </a:rPr>
              <a:t>Ethical Consequences</a:t>
            </a:r>
            <a:endParaRPr b="1" sz="1300">
              <a:solidFill>
                <a:schemeClr val="dk1"/>
              </a:solidFill>
            </a:endParaRPr>
          </a:p>
        </p:txBody>
      </p:sp>
      <p:cxnSp>
        <p:nvCxnSpPr>
          <p:cNvPr id="1397" name="Google Shape;1397;g3e3a61befe4_0_4157"/>
          <p:cNvCxnSpPr/>
          <p:nvPr/>
        </p:nvCxnSpPr>
        <p:spPr>
          <a:xfrm rot="10800000">
            <a:off x="1664753" y="772000"/>
            <a:ext cx="0" cy="5069400"/>
          </a:xfrm>
          <a:prstGeom prst="straightConnector1">
            <a:avLst/>
          </a:prstGeom>
          <a:noFill/>
          <a:ln cap="flat" cmpd="sng" w="19050">
            <a:solidFill>
              <a:schemeClr val="dk2"/>
            </a:solidFill>
            <a:prstDash val="solid"/>
            <a:round/>
            <a:headEnd len="med" w="med" type="diamond"/>
            <a:tailEnd len="med" w="med" type="diamond"/>
          </a:ln>
        </p:spPr>
      </p:cxnSp>
      <p:sp>
        <p:nvSpPr>
          <p:cNvPr id="1398" name="Google Shape;1398;g3e3a61befe4_0_4157"/>
          <p:cNvSpPr/>
          <p:nvPr/>
        </p:nvSpPr>
        <p:spPr>
          <a:xfrm>
            <a:off x="4441888" y="4889831"/>
            <a:ext cx="2480700" cy="694500"/>
          </a:xfrm>
          <a:prstGeom prst="roundRect">
            <a:avLst>
              <a:gd fmla="val 16667" name="adj"/>
            </a:avLst>
          </a:prstGeom>
          <a:solidFill>
            <a:srgbClr val="EA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latin typeface="Calibri"/>
                <a:ea typeface="Calibri"/>
                <a:cs typeface="Calibri"/>
                <a:sym typeface="Calibri"/>
              </a:rPr>
              <a:t>Perpetuation of biases and </a:t>
            </a:r>
            <a:r>
              <a:rPr lang="en-US">
                <a:solidFill>
                  <a:schemeClr val="dk1"/>
                </a:solidFill>
                <a:latin typeface="Calibri"/>
                <a:ea typeface="Calibri"/>
                <a:cs typeface="Calibri"/>
                <a:sym typeface="Calibri"/>
              </a:rPr>
              <a:t>favoring zones</a:t>
            </a:r>
            <a:endParaRPr>
              <a:latin typeface="Calibri"/>
              <a:ea typeface="Calibri"/>
              <a:cs typeface="Calibri"/>
              <a:sym typeface="Calibri"/>
            </a:endParaRPr>
          </a:p>
        </p:txBody>
      </p:sp>
      <p:sp>
        <p:nvSpPr>
          <p:cNvPr id="1399" name="Google Shape;1399;g3e3a61befe4_0_4157"/>
          <p:cNvSpPr/>
          <p:nvPr/>
        </p:nvSpPr>
        <p:spPr>
          <a:xfrm>
            <a:off x="7135200" y="4952549"/>
            <a:ext cx="2660400" cy="569100"/>
          </a:xfrm>
          <a:prstGeom prst="roundRect">
            <a:avLst>
              <a:gd fmla="val 16667" name="adj"/>
            </a:avLst>
          </a:prstGeom>
          <a:solidFill>
            <a:srgbClr val="EA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latin typeface="Calibri"/>
                <a:ea typeface="Calibri"/>
                <a:cs typeface="Calibri"/>
                <a:sym typeface="Calibri"/>
              </a:rPr>
              <a:t>Lack of informed consent and risk of legal non-compliance</a:t>
            </a:r>
            <a:endParaRPr>
              <a:latin typeface="Calibri"/>
              <a:ea typeface="Calibri"/>
              <a:cs typeface="Calibri"/>
              <a:sym typeface="Calibri"/>
            </a:endParaRPr>
          </a:p>
        </p:txBody>
      </p:sp>
      <p:cxnSp>
        <p:nvCxnSpPr>
          <p:cNvPr id="1400" name="Google Shape;1400;g3e3a61befe4_0_4157"/>
          <p:cNvCxnSpPr/>
          <p:nvPr/>
        </p:nvCxnSpPr>
        <p:spPr>
          <a:xfrm>
            <a:off x="323850" y="3048663"/>
            <a:ext cx="9439800" cy="27000"/>
          </a:xfrm>
          <a:prstGeom prst="straightConnector1">
            <a:avLst/>
          </a:prstGeom>
          <a:noFill/>
          <a:ln cap="flat" cmpd="sng" w="28575">
            <a:solidFill>
              <a:schemeClr val="dk1"/>
            </a:solidFill>
            <a:prstDash val="dot"/>
            <a:round/>
            <a:headEnd len="med" w="med" type="none"/>
            <a:tailEnd len="med" w="med" type="none"/>
          </a:ln>
        </p:spPr>
      </p:cxnSp>
      <p:sp>
        <p:nvSpPr>
          <p:cNvPr id="1401" name="Google Shape;1401;g3e3a61befe4_0_4157"/>
          <p:cNvSpPr/>
          <p:nvPr/>
        </p:nvSpPr>
        <p:spPr>
          <a:xfrm>
            <a:off x="1815975" y="3263676"/>
            <a:ext cx="2480700" cy="11526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US">
                <a:solidFill>
                  <a:schemeClr val="dk1"/>
                </a:solidFill>
                <a:latin typeface="Calibri"/>
                <a:ea typeface="Calibri"/>
                <a:cs typeface="Calibri"/>
                <a:sym typeface="Calibri"/>
              </a:rPr>
              <a:t>If the Distribution Agent’s central stock is empty, scooters may be transferred from other zones, leaving some areas without scooters</a:t>
            </a:r>
            <a:endParaRPr>
              <a:latin typeface="Calibri"/>
              <a:ea typeface="Calibri"/>
              <a:cs typeface="Calibri"/>
              <a:sym typeface="Calibri"/>
            </a:endParaRPr>
          </a:p>
        </p:txBody>
      </p:sp>
      <p:cxnSp>
        <p:nvCxnSpPr>
          <p:cNvPr id="1402" name="Google Shape;1402;g3e3a61befe4_0_4157"/>
          <p:cNvCxnSpPr>
            <a:stCxn id="1394" idx="0"/>
            <a:endCxn id="1401" idx="2"/>
          </p:cNvCxnSpPr>
          <p:nvPr/>
        </p:nvCxnSpPr>
        <p:spPr>
          <a:xfrm flipH="1" rot="10800000">
            <a:off x="3053323" y="4416292"/>
            <a:ext cx="3000" cy="585600"/>
          </a:xfrm>
          <a:prstGeom prst="straightConnector1">
            <a:avLst/>
          </a:prstGeom>
          <a:noFill/>
          <a:ln cap="flat" cmpd="sng" w="9525">
            <a:solidFill>
              <a:schemeClr val="dk2"/>
            </a:solidFill>
            <a:prstDash val="solid"/>
            <a:round/>
            <a:headEnd len="med" w="med" type="triangle"/>
            <a:tailEnd len="med" w="med" type="none"/>
          </a:ln>
        </p:spPr>
      </p:cxnSp>
      <p:sp>
        <p:nvSpPr>
          <p:cNvPr id="1403" name="Google Shape;1403;g3e3a61befe4_0_4157"/>
          <p:cNvSpPr/>
          <p:nvPr/>
        </p:nvSpPr>
        <p:spPr>
          <a:xfrm>
            <a:off x="4424800" y="1691934"/>
            <a:ext cx="2480700" cy="8862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latin typeface="Calibri"/>
                <a:ea typeface="Calibri"/>
                <a:cs typeface="Calibri"/>
                <a:sym typeface="Calibri"/>
              </a:rPr>
              <a:t>The calculation of the number of scooters to be transferred to each zone is based on usage annual history</a:t>
            </a:r>
            <a:endParaRPr>
              <a:latin typeface="Calibri"/>
              <a:ea typeface="Calibri"/>
              <a:cs typeface="Calibri"/>
              <a:sym typeface="Calibri"/>
            </a:endParaRPr>
          </a:p>
        </p:txBody>
      </p:sp>
      <p:graphicFrame>
        <p:nvGraphicFramePr>
          <p:cNvPr id="1404" name="Google Shape;1404;g3e3a61befe4_0_4157"/>
          <p:cNvGraphicFramePr/>
          <p:nvPr/>
        </p:nvGraphicFramePr>
        <p:xfrm>
          <a:off x="152400" y="152400"/>
          <a:ext cx="3000000" cy="3000000"/>
        </p:xfrm>
        <a:graphic>
          <a:graphicData uri="http://schemas.openxmlformats.org/drawingml/2006/table">
            <a:tbl>
              <a:tblPr>
                <a:noFill/>
                <a:tableStyleId>{50916073-6137-4BFC-AC2B-91BFF95D4831}</a:tableStyleId>
              </a:tblPr>
              <a:tblGrid>
                <a:gridCol w="19050"/>
              </a:tblGrid>
              <a:tr h="19050">
                <a:tc>
                  <a:txBody>
                    <a:bodyPr/>
                    <a:lstStyle/>
                    <a:p>
                      <a:pPr indent="0" lvl="0" marL="0" rtl="0" algn="l">
                        <a:spcBef>
                          <a:spcPts val="0"/>
                        </a:spcBef>
                        <a:spcAft>
                          <a:spcPts val="0"/>
                        </a:spcAft>
                        <a:buNone/>
                      </a:pPr>
                      <a:r>
                        <a:t/>
                      </a:r>
                      <a:endParaRPr/>
                    </a:p>
                  </a:txBody>
                  <a:tcPr marT="91425" marB="91425" marR="91425" marL="91425"/>
                </a:tc>
              </a:tr>
            </a:tbl>
          </a:graphicData>
        </a:graphic>
      </p:graphicFrame>
      <p:graphicFrame>
        <p:nvGraphicFramePr>
          <p:cNvPr id="1405" name="Google Shape;1405;g3e3a61befe4_0_4157"/>
          <p:cNvGraphicFramePr/>
          <p:nvPr/>
        </p:nvGraphicFramePr>
        <p:xfrm>
          <a:off x="304800" y="304800"/>
          <a:ext cx="3000000" cy="3000000"/>
        </p:xfrm>
        <a:graphic>
          <a:graphicData uri="http://schemas.openxmlformats.org/drawingml/2006/table">
            <a:tbl>
              <a:tblPr>
                <a:noFill/>
                <a:tableStyleId>{50916073-6137-4BFC-AC2B-91BFF95D4831}</a:tableStyleId>
              </a:tblPr>
              <a:tblGrid>
                <a:gridCol w="19050"/>
              </a:tblGrid>
              <a:tr h="19050">
                <a:tc>
                  <a:txBody>
                    <a:bodyPr/>
                    <a:lstStyle/>
                    <a:p>
                      <a:pPr indent="0" lvl="0" marL="0" rtl="0" algn="l">
                        <a:spcBef>
                          <a:spcPts val="0"/>
                        </a:spcBef>
                        <a:spcAft>
                          <a:spcPts val="0"/>
                        </a:spcAft>
                        <a:buNone/>
                      </a:pPr>
                      <a:r>
                        <a:t/>
                      </a:r>
                      <a:endParaRPr/>
                    </a:p>
                  </a:txBody>
                  <a:tcPr marT="91425" marB="91425" marR="91425" marL="91425"/>
                </a:tc>
              </a:tr>
            </a:tbl>
          </a:graphicData>
        </a:graphic>
      </p:graphicFrame>
      <p:graphicFrame>
        <p:nvGraphicFramePr>
          <p:cNvPr id="1406" name="Google Shape;1406;g3e3a61befe4_0_4157"/>
          <p:cNvGraphicFramePr/>
          <p:nvPr/>
        </p:nvGraphicFramePr>
        <p:xfrm>
          <a:off x="-409575" y="2066500"/>
          <a:ext cx="3000000" cy="3000000"/>
        </p:xfrm>
        <a:graphic>
          <a:graphicData uri="http://schemas.openxmlformats.org/drawingml/2006/table">
            <a:tbl>
              <a:tblPr>
                <a:noFill/>
                <a:tableStyleId>{50916073-6137-4BFC-AC2B-91BFF95D4831}</a:tableStyleId>
              </a:tblPr>
              <a:tblGrid>
                <a:gridCol w="19050"/>
              </a:tblGrid>
              <a:tr h="19050">
                <a:tc>
                  <a:txBody>
                    <a:bodyPr/>
                    <a:lstStyle/>
                    <a:p>
                      <a:pPr indent="0" lvl="0" marL="0" rtl="0" algn="l">
                        <a:spcBef>
                          <a:spcPts val="0"/>
                        </a:spcBef>
                        <a:spcAft>
                          <a:spcPts val="0"/>
                        </a:spcAft>
                        <a:buNone/>
                      </a:pPr>
                      <a:r>
                        <a:t/>
                      </a:r>
                      <a:endParaRPr/>
                    </a:p>
                  </a:txBody>
                  <a:tcPr marT="91425" marB="91425" marR="91425" marL="91425"/>
                </a:tc>
              </a:tr>
            </a:tbl>
          </a:graphicData>
        </a:graphic>
      </p:graphicFrame>
      <p:sp>
        <p:nvSpPr>
          <p:cNvPr id="1407" name="Google Shape;1407;g3e3a61befe4_0_4157"/>
          <p:cNvSpPr txBox="1"/>
          <p:nvPr/>
        </p:nvSpPr>
        <p:spPr>
          <a:xfrm>
            <a:off x="152398" y="3652747"/>
            <a:ext cx="1383000" cy="585000"/>
          </a:xfrm>
          <a:prstGeom prst="rect">
            <a:avLst/>
          </a:prstGeom>
          <a:solidFill>
            <a:schemeClr val="lt1"/>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US" sz="1300">
                <a:solidFill>
                  <a:schemeClr val="dk1"/>
                </a:solidFill>
              </a:rPr>
              <a:t>Intermediate Effect</a:t>
            </a:r>
            <a:endParaRPr b="1" sz="1300">
              <a:solidFill>
                <a:srgbClr val="FF0000"/>
              </a:solidFill>
              <a:latin typeface="Calibri"/>
              <a:ea typeface="Calibri"/>
              <a:cs typeface="Calibri"/>
              <a:sym typeface="Calibri"/>
            </a:endParaRPr>
          </a:p>
        </p:txBody>
      </p:sp>
      <p:sp>
        <p:nvSpPr>
          <p:cNvPr id="1408" name="Google Shape;1408;g3e3a61befe4_0_4157"/>
          <p:cNvSpPr txBox="1"/>
          <p:nvPr/>
        </p:nvSpPr>
        <p:spPr>
          <a:xfrm>
            <a:off x="164447" y="1984427"/>
            <a:ext cx="1383000" cy="384900"/>
          </a:xfrm>
          <a:prstGeom prst="rect">
            <a:avLst/>
          </a:prstGeom>
          <a:solidFill>
            <a:schemeClr val="lt1"/>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US" sz="1300">
                <a:solidFill>
                  <a:schemeClr val="dk1"/>
                </a:solidFill>
              </a:rPr>
              <a:t>Cause</a:t>
            </a:r>
            <a:endParaRPr b="1" sz="1300">
              <a:solidFill>
                <a:srgbClr val="FF0000"/>
              </a:solidFill>
              <a:latin typeface="Calibri"/>
              <a:ea typeface="Calibri"/>
              <a:cs typeface="Calibri"/>
              <a:sym typeface="Calibri"/>
            </a:endParaRPr>
          </a:p>
        </p:txBody>
      </p:sp>
      <p:sp>
        <p:nvSpPr>
          <p:cNvPr id="1409" name="Google Shape;1409;g3e3a61befe4_0_4157"/>
          <p:cNvSpPr/>
          <p:nvPr/>
        </p:nvSpPr>
        <p:spPr>
          <a:xfrm>
            <a:off x="4447891" y="3468062"/>
            <a:ext cx="2480700" cy="7509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latin typeface="Calibri"/>
                <a:ea typeface="Calibri"/>
                <a:cs typeface="Calibri"/>
                <a:sym typeface="Calibri"/>
              </a:rPr>
              <a:t>Zones  historically favored by scooter use continue to receive more scooters</a:t>
            </a:r>
            <a:endParaRPr>
              <a:latin typeface="Calibri"/>
              <a:ea typeface="Calibri"/>
              <a:cs typeface="Calibri"/>
              <a:sym typeface="Calibri"/>
            </a:endParaRPr>
          </a:p>
        </p:txBody>
      </p:sp>
      <p:cxnSp>
        <p:nvCxnSpPr>
          <p:cNvPr id="1410" name="Google Shape;1410;g3e3a61befe4_0_4157"/>
          <p:cNvCxnSpPr>
            <a:stCxn id="1398" idx="0"/>
            <a:endCxn id="1409" idx="2"/>
          </p:cNvCxnSpPr>
          <p:nvPr/>
        </p:nvCxnSpPr>
        <p:spPr>
          <a:xfrm flipH="1" rot="10800000">
            <a:off x="5682238" y="4219031"/>
            <a:ext cx="6000" cy="670800"/>
          </a:xfrm>
          <a:prstGeom prst="straightConnector1">
            <a:avLst/>
          </a:prstGeom>
          <a:noFill/>
          <a:ln cap="flat" cmpd="sng" w="9525">
            <a:solidFill>
              <a:schemeClr val="dk2"/>
            </a:solidFill>
            <a:prstDash val="solid"/>
            <a:round/>
            <a:headEnd len="med" w="med" type="stealth"/>
            <a:tailEnd len="med" w="med" type="none"/>
          </a:ln>
        </p:spPr>
      </p:cxnSp>
      <p:cxnSp>
        <p:nvCxnSpPr>
          <p:cNvPr id="1411" name="Google Shape;1411;g3e3a61befe4_0_4157"/>
          <p:cNvCxnSpPr>
            <a:stCxn id="1409" idx="0"/>
            <a:endCxn id="1403" idx="2"/>
          </p:cNvCxnSpPr>
          <p:nvPr/>
        </p:nvCxnSpPr>
        <p:spPr>
          <a:xfrm rot="10800000">
            <a:off x="5665141" y="2578262"/>
            <a:ext cx="23100" cy="889800"/>
          </a:xfrm>
          <a:prstGeom prst="straightConnector1">
            <a:avLst/>
          </a:prstGeom>
          <a:noFill/>
          <a:ln cap="flat" cmpd="sng" w="9525">
            <a:solidFill>
              <a:schemeClr val="dk2"/>
            </a:solidFill>
            <a:prstDash val="solid"/>
            <a:round/>
            <a:headEnd len="med" w="med" type="triangle"/>
            <a:tailEnd len="med" w="med" type="none"/>
          </a:ln>
        </p:spPr>
      </p:cxnSp>
      <p:sp>
        <p:nvSpPr>
          <p:cNvPr id="1412" name="Google Shape;1412;g3e3a61befe4_0_4157"/>
          <p:cNvSpPr/>
          <p:nvPr/>
        </p:nvSpPr>
        <p:spPr>
          <a:xfrm>
            <a:off x="1784538" y="811925"/>
            <a:ext cx="2454000" cy="6246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en-US">
                <a:solidFill>
                  <a:schemeClr val="dk1"/>
                </a:solidFill>
                <a:latin typeface="Calibri"/>
                <a:ea typeface="Calibri"/>
                <a:cs typeface="Calibri"/>
                <a:sym typeface="Calibri"/>
              </a:rPr>
              <a:t>1 - Sustainable Development and Social Welfare</a:t>
            </a:r>
            <a:endParaRPr>
              <a:latin typeface="Calibri"/>
              <a:ea typeface="Calibri"/>
              <a:cs typeface="Calibri"/>
              <a:sym typeface="Calibri"/>
            </a:endParaRPr>
          </a:p>
        </p:txBody>
      </p:sp>
      <p:sp>
        <p:nvSpPr>
          <p:cNvPr id="1413" name="Google Shape;1413;g3e3a61befe4_0_4157"/>
          <p:cNvSpPr/>
          <p:nvPr/>
        </p:nvSpPr>
        <p:spPr>
          <a:xfrm>
            <a:off x="4357200" y="811928"/>
            <a:ext cx="2569500" cy="6246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a:solidFill>
                  <a:schemeClr val="dk1"/>
                </a:solidFill>
                <a:latin typeface="Calibri"/>
                <a:ea typeface="Calibri"/>
                <a:cs typeface="Calibri"/>
                <a:sym typeface="Calibri"/>
              </a:rPr>
              <a:t>2. Justice and Non-Discrimination</a:t>
            </a:r>
            <a:endParaRPr>
              <a:latin typeface="Calibri"/>
              <a:ea typeface="Calibri"/>
              <a:cs typeface="Calibri"/>
              <a:sym typeface="Calibri"/>
            </a:endParaRPr>
          </a:p>
        </p:txBody>
      </p:sp>
      <p:sp>
        <p:nvSpPr>
          <p:cNvPr id="1414" name="Google Shape;1414;g3e3a61befe4_0_4157"/>
          <p:cNvSpPr/>
          <p:nvPr/>
        </p:nvSpPr>
        <p:spPr>
          <a:xfrm>
            <a:off x="7045350" y="798475"/>
            <a:ext cx="2660400" cy="6246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a:solidFill>
                  <a:schemeClr val="dk1"/>
                </a:solidFill>
                <a:latin typeface="Calibri"/>
                <a:ea typeface="Calibri"/>
                <a:cs typeface="Calibri"/>
                <a:sym typeface="Calibri"/>
              </a:rPr>
              <a:t>3. Privacy and Data Protection</a:t>
            </a:r>
            <a:endParaRPr>
              <a:latin typeface="Calibri"/>
              <a:ea typeface="Calibri"/>
              <a:cs typeface="Calibri"/>
              <a:sym typeface="Calibri"/>
            </a:endParaRPr>
          </a:p>
        </p:txBody>
      </p:sp>
      <p:sp>
        <p:nvSpPr>
          <p:cNvPr id="1415" name="Google Shape;1415;g3e3a61befe4_0_4157"/>
          <p:cNvSpPr/>
          <p:nvPr/>
        </p:nvSpPr>
        <p:spPr>
          <a:xfrm>
            <a:off x="7225041" y="3464527"/>
            <a:ext cx="2480700" cy="7509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latin typeface="Calibri"/>
                <a:ea typeface="Calibri"/>
                <a:cs typeface="Calibri"/>
                <a:sym typeface="Calibri"/>
              </a:rPr>
              <a:t>Lack of transparency about data usage</a:t>
            </a:r>
            <a:endParaRPr>
              <a:latin typeface="Calibri"/>
              <a:ea typeface="Calibri"/>
              <a:cs typeface="Calibri"/>
              <a:sym typeface="Calibri"/>
            </a:endParaRPr>
          </a:p>
        </p:txBody>
      </p:sp>
      <p:sp>
        <p:nvSpPr>
          <p:cNvPr id="1416" name="Google Shape;1416;g3e3a61befe4_0_4157"/>
          <p:cNvSpPr/>
          <p:nvPr/>
        </p:nvSpPr>
        <p:spPr>
          <a:xfrm>
            <a:off x="7135201" y="1655687"/>
            <a:ext cx="2660400" cy="8862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latin typeface="Calibri"/>
                <a:ea typeface="Calibri"/>
                <a:cs typeface="Calibri"/>
                <a:sym typeface="Calibri"/>
              </a:rPr>
              <a:t>Collection of user data (location and usage times) to generate zone demand information</a:t>
            </a:r>
            <a:endParaRPr>
              <a:latin typeface="Calibri"/>
              <a:ea typeface="Calibri"/>
              <a:cs typeface="Calibri"/>
              <a:sym typeface="Calibri"/>
            </a:endParaRPr>
          </a:p>
        </p:txBody>
      </p:sp>
      <p:cxnSp>
        <p:nvCxnSpPr>
          <p:cNvPr id="1417" name="Google Shape;1417;g3e3a61befe4_0_4157"/>
          <p:cNvCxnSpPr>
            <a:stCxn id="1416" idx="2"/>
            <a:endCxn id="1415" idx="0"/>
          </p:cNvCxnSpPr>
          <p:nvPr/>
        </p:nvCxnSpPr>
        <p:spPr>
          <a:xfrm>
            <a:off x="8465401" y="2541887"/>
            <a:ext cx="0" cy="922500"/>
          </a:xfrm>
          <a:prstGeom prst="straightConnector1">
            <a:avLst/>
          </a:prstGeom>
          <a:noFill/>
          <a:ln cap="flat" cmpd="sng" w="9525">
            <a:solidFill>
              <a:schemeClr val="dk2"/>
            </a:solidFill>
            <a:prstDash val="solid"/>
            <a:round/>
            <a:headEnd len="med" w="med" type="none"/>
            <a:tailEnd len="med" w="med" type="triangle"/>
          </a:ln>
        </p:spPr>
      </p:cxnSp>
      <p:cxnSp>
        <p:nvCxnSpPr>
          <p:cNvPr id="1418" name="Google Shape;1418;g3e3a61befe4_0_4157"/>
          <p:cNvCxnSpPr>
            <a:stCxn id="1415" idx="2"/>
            <a:endCxn id="1399" idx="0"/>
          </p:cNvCxnSpPr>
          <p:nvPr/>
        </p:nvCxnSpPr>
        <p:spPr>
          <a:xfrm>
            <a:off x="8465391" y="4215427"/>
            <a:ext cx="0" cy="737100"/>
          </a:xfrm>
          <a:prstGeom prst="straightConnector1">
            <a:avLst/>
          </a:prstGeom>
          <a:noFill/>
          <a:ln cap="flat" cmpd="sng" w="9525">
            <a:solidFill>
              <a:schemeClr val="dk2"/>
            </a:solidFill>
            <a:prstDash val="solid"/>
            <a:round/>
            <a:headEnd len="med" w="med" type="none"/>
            <a:tailEnd len="med" w="med" type="triangle"/>
          </a:ln>
        </p:spPr>
      </p:cxnSp>
      <p:sp>
        <p:nvSpPr>
          <p:cNvPr id="1419" name="Google Shape;1419;g3e3a61befe4_0_4157"/>
          <p:cNvSpPr txBox="1"/>
          <p:nvPr/>
        </p:nvSpPr>
        <p:spPr>
          <a:xfrm>
            <a:off x="282900" y="931775"/>
            <a:ext cx="1240500" cy="585000"/>
          </a:xfrm>
          <a:prstGeom prst="rect">
            <a:avLst/>
          </a:prstGeom>
          <a:solidFill>
            <a:schemeClr val="lt1"/>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US" sz="1300">
                <a:solidFill>
                  <a:schemeClr val="dk1"/>
                </a:solidFill>
              </a:rPr>
              <a:t>Ethics Principles</a:t>
            </a:r>
            <a:endParaRPr b="1" sz="1300">
              <a:solidFill>
                <a:srgbClr val="FF0000"/>
              </a:solidFill>
              <a:latin typeface="Calibri"/>
              <a:ea typeface="Calibri"/>
              <a:cs typeface="Calibri"/>
              <a:sym typeface="Calibri"/>
            </a:endParaRPr>
          </a:p>
        </p:txBody>
      </p:sp>
      <p:sp>
        <p:nvSpPr>
          <p:cNvPr id="1420" name="Google Shape;1420;g3e3a61befe4_0_4157"/>
          <p:cNvSpPr/>
          <p:nvPr/>
        </p:nvSpPr>
        <p:spPr>
          <a:xfrm>
            <a:off x="1862175" y="1637526"/>
            <a:ext cx="2365200" cy="11526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solidFill>
                  <a:schemeClr val="dk1"/>
                </a:solidFill>
                <a:latin typeface="Calibri"/>
                <a:ea typeface="Calibri"/>
                <a:cs typeface="Calibri"/>
                <a:sym typeface="Calibri"/>
              </a:rPr>
              <a:t>There is no minimum scooter retention policy to prevent zones from becoming empty after transfers</a:t>
            </a:r>
            <a:endParaRPr>
              <a:latin typeface="Calibri"/>
              <a:ea typeface="Calibri"/>
              <a:cs typeface="Calibri"/>
              <a:sym typeface="Calibri"/>
            </a:endParaRPr>
          </a:p>
        </p:txBody>
      </p:sp>
      <p:cxnSp>
        <p:nvCxnSpPr>
          <p:cNvPr id="1421" name="Google Shape;1421;g3e3a61befe4_0_4157"/>
          <p:cNvCxnSpPr>
            <a:stCxn id="1420" idx="2"/>
            <a:endCxn id="1401" idx="0"/>
          </p:cNvCxnSpPr>
          <p:nvPr/>
        </p:nvCxnSpPr>
        <p:spPr>
          <a:xfrm>
            <a:off x="3044775" y="2790126"/>
            <a:ext cx="11700" cy="4737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mc:AlternateContent>
    <mc:Choice Requires="p14">
      <p:transition spd="slow" p14:dur="700">
        <p:fade/>
      </p:transition>
    </mc:Choice>
    <mc:Fallback>
      <p:transition spd="slow">
        <p:fade/>
      </p:transition>
    </mc:Fallback>
  </mc:AlternateContent>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5" name="Shape 1425"/>
        <p:cNvGrpSpPr/>
        <p:nvPr/>
      </p:nvGrpSpPr>
      <p:grpSpPr>
        <a:xfrm>
          <a:off x="0" y="0"/>
          <a:ext cx="0" cy="0"/>
          <a:chOff x="0" y="0"/>
          <a:chExt cx="0" cy="0"/>
        </a:xfrm>
      </p:grpSpPr>
      <p:sp>
        <p:nvSpPr>
          <p:cNvPr id="1426" name="Google Shape;1426;g3e3a61befe4_0_4196"/>
          <p:cNvSpPr txBox="1"/>
          <p:nvPr>
            <p:ph type="title"/>
          </p:nvPr>
        </p:nvSpPr>
        <p:spPr>
          <a:xfrm>
            <a:off x="101475" y="108450"/>
            <a:ext cx="9635100" cy="6246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1E4E79"/>
              </a:buClr>
              <a:buSzPts val="4000"/>
              <a:buFont typeface="Arial"/>
              <a:buNone/>
            </a:pPr>
            <a:r>
              <a:rPr lang="en-US" sz="2400"/>
              <a:t>Step 3.2 : Classification of ethical negative consequences into Action, Influence, and Monitor</a:t>
            </a:r>
            <a:endParaRPr sz="2400"/>
          </a:p>
        </p:txBody>
      </p:sp>
      <p:grpSp>
        <p:nvGrpSpPr>
          <p:cNvPr id="1427" name="Google Shape;1427;g3e3a61befe4_0_4196"/>
          <p:cNvGrpSpPr/>
          <p:nvPr/>
        </p:nvGrpSpPr>
        <p:grpSpPr>
          <a:xfrm>
            <a:off x="-18000" y="5842891"/>
            <a:ext cx="9942000" cy="1014788"/>
            <a:chOff x="-21650" y="5927750"/>
            <a:chExt cx="9942000" cy="930230"/>
          </a:xfrm>
        </p:grpSpPr>
        <p:sp>
          <p:nvSpPr>
            <p:cNvPr id="1428" name="Google Shape;1428;g3e3a61befe4_0_4196"/>
            <p:cNvSpPr/>
            <p:nvPr/>
          </p:nvSpPr>
          <p:spPr>
            <a:xfrm>
              <a:off x="5239747" y="5949280"/>
              <a:ext cx="4680600" cy="9087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Arial"/>
                  <a:ea typeface="Arial"/>
                  <a:cs typeface="Arial"/>
                  <a:sym typeface="Arial"/>
                </a:rPr>
                <a:t>25th Annual International Conference on Digital Government Research (dg.o 2024)</a:t>
              </a:r>
              <a:endParaRPr b="0" i="0" sz="1800" u="none" cap="none" strike="noStrike">
                <a:solidFill>
                  <a:schemeClr val="lt1"/>
                </a:solidFill>
                <a:latin typeface="Arial"/>
                <a:ea typeface="Arial"/>
                <a:cs typeface="Arial"/>
                <a:sym typeface="Arial"/>
              </a:endParaRPr>
            </a:p>
          </p:txBody>
        </p:sp>
        <p:pic>
          <p:nvPicPr>
            <p:cNvPr id="1429" name="Google Shape;1429;g3e3a61befe4_0_4196"/>
            <p:cNvPicPr preferRelativeResize="0"/>
            <p:nvPr/>
          </p:nvPicPr>
          <p:blipFill rotWithShape="1">
            <a:blip r:embed="rId3">
              <a:alphaModFix/>
            </a:blip>
            <a:srcRect b="-112517" l="-23390" r="23390" t="137700"/>
            <a:stretch/>
          </p:blipFill>
          <p:spPr>
            <a:xfrm>
              <a:off x="0" y="6007596"/>
              <a:ext cx="9920265" cy="792088"/>
            </a:xfrm>
            <a:prstGeom prst="rect">
              <a:avLst/>
            </a:prstGeom>
            <a:noFill/>
            <a:ln>
              <a:noFill/>
            </a:ln>
          </p:spPr>
        </p:pic>
        <p:sp>
          <p:nvSpPr>
            <p:cNvPr id="1430" name="Google Shape;1430;g3e3a61befe4_0_4196"/>
            <p:cNvSpPr/>
            <p:nvPr/>
          </p:nvSpPr>
          <p:spPr>
            <a:xfrm>
              <a:off x="-21650" y="5927750"/>
              <a:ext cx="9942000" cy="9087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sp>
        <p:nvSpPr>
          <p:cNvPr id="1431" name="Google Shape;1431;g3e3a61befe4_0_4196"/>
          <p:cNvSpPr txBox="1"/>
          <p:nvPr>
            <p:ph idx="12" type="sldNum"/>
          </p:nvPr>
        </p:nvSpPr>
        <p:spPr>
          <a:xfrm>
            <a:off x="6996113" y="6356350"/>
            <a:ext cx="22290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pic>
        <p:nvPicPr>
          <p:cNvPr id="1432" name="Google Shape;1432;g3e3a61befe4_0_4196"/>
          <p:cNvPicPr preferRelativeResize="0"/>
          <p:nvPr/>
        </p:nvPicPr>
        <p:blipFill rotWithShape="1">
          <a:blip r:embed="rId4">
            <a:alphaModFix/>
          </a:blip>
          <a:srcRect b="0" l="0" r="0" t="0"/>
          <a:stretch/>
        </p:blipFill>
        <p:spPr>
          <a:xfrm>
            <a:off x="218750" y="6052376"/>
            <a:ext cx="1823009" cy="470325"/>
          </a:xfrm>
          <a:prstGeom prst="rect">
            <a:avLst/>
          </a:prstGeom>
          <a:noFill/>
          <a:ln>
            <a:noFill/>
          </a:ln>
        </p:spPr>
      </p:pic>
      <p:pic>
        <p:nvPicPr>
          <p:cNvPr id="1433" name="Google Shape;1433;g3e3a61befe4_0_4196"/>
          <p:cNvPicPr preferRelativeResize="0"/>
          <p:nvPr/>
        </p:nvPicPr>
        <p:blipFill rotWithShape="1">
          <a:blip r:embed="rId5">
            <a:alphaModFix/>
          </a:blip>
          <a:srcRect b="0" l="0" r="0" t="0"/>
          <a:stretch/>
        </p:blipFill>
        <p:spPr>
          <a:xfrm>
            <a:off x="6996125" y="5975242"/>
            <a:ext cx="1811830" cy="624575"/>
          </a:xfrm>
          <a:prstGeom prst="rect">
            <a:avLst/>
          </a:prstGeom>
          <a:noFill/>
          <a:ln>
            <a:noFill/>
          </a:ln>
        </p:spPr>
      </p:pic>
      <p:pic>
        <p:nvPicPr>
          <p:cNvPr id="1434" name="Google Shape;1434;g3e3a61befe4_0_4196" title="ChatGPT Image 19 de mai. de 2026, 11_45_05.png"/>
          <p:cNvPicPr preferRelativeResize="0"/>
          <p:nvPr/>
        </p:nvPicPr>
        <p:blipFill rotWithShape="1">
          <a:blip r:embed="rId6">
            <a:alphaModFix/>
          </a:blip>
          <a:srcRect b="0" l="0" r="66926" t="0"/>
          <a:stretch/>
        </p:blipFill>
        <p:spPr>
          <a:xfrm>
            <a:off x="1907775" y="1492300"/>
            <a:ext cx="1913876" cy="3256601"/>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8" name="Shape 1438"/>
        <p:cNvGrpSpPr/>
        <p:nvPr/>
      </p:nvGrpSpPr>
      <p:grpSpPr>
        <a:xfrm>
          <a:off x="0" y="0"/>
          <a:ext cx="0" cy="0"/>
          <a:chOff x="0" y="0"/>
          <a:chExt cx="0" cy="0"/>
        </a:xfrm>
      </p:grpSpPr>
      <p:sp>
        <p:nvSpPr>
          <p:cNvPr id="1439" name="Google Shape;1439;g3e292f661c6_30_1078"/>
          <p:cNvSpPr txBox="1"/>
          <p:nvPr>
            <p:ph type="title"/>
          </p:nvPr>
        </p:nvSpPr>
        <p:spPr>
          <a:xfrm>
            <a:off x="101475" y="108450"/>
            <a:ext cx="9635100" cy="6246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1E4E79"/>
              </a:buClr>
              <a:buSzPts val="4000"/>
              <a:buFont typeface="Arial"/>
              <a:buNone/>
            </a:pPr>
            <a:r>
              <a:rPr lang="en-US" sz="2400"/>
              <a:t>Step 3.2 : </a:t>
            </a:r>
            <a:r>
              <a:rPr lang="en-US" sz="2400"/>
              <a:t>Classification of ethical </a:t>
            </a:r>
            <a:r>
              <a:rPr lang="en-US" sz="2400"/>
              <a:t>negative</a:t>
            </a:r>
            <a:r>
              <a:rPr lang="en-US" sz="2400"/>
              <a:t> consequences into Action, Influence, and Monitor</a:t>
            </a:r>
            <a:endParaRPr sz="2400"/>
          </a:p>
        </p:txBody>
      </p:sp>
      <p:grpSp>
        <p:nvGrpSpPr>
          <p:cNvPr id="1440" name="Google Shape;1440;g3e292f661c6_30_1078"/>
          <p:cNvGrpSpPr/>
          <p:nvPr/>
        </p:nvGrpSpPr>
        <p:grpSpPr>
          <a:xfrm>
            <a:off x="-18000" y="5842891"/>
            <a:ext cx="9942000" cy="1014788"/>
            <a:chOff x="-21650" y="5927750"/>
            <a:chExt cx="9942000" cy="930230"/>
          </a:xfrm>
        </p:grpSpPr>
        <p:sp>
          <p:nvSpPr>
            <p:cNvPr id="1441" name="Google Shape;1441;g3e292f661c6_30_1078"/>
            <p:cNvSpPr/>
            <p:nvPr/>
          </p:nvSpPr>
          <p:spPr>
            <a:xfrm>
              <a:off x="5239747" y="5949280"/>
              <a:ext cx="4680600" cy="9087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Arial"/>
                  <a:ea typeface="Arial"/>
                  <a:cs typeface="Arial"/>
                  <a:sym typeface="Arial"/>
                </a:rPr>
                <a:t>25th Annual International Conference on Digital Government Research (dg.o 2024)</a:t>
              </a:r>
              <a:endParaRPr b="0" i="0" sz="1800" u="none" cap="none" strike="noStrike">
                <a:solidFill>
                  <a:schemeClr val="lt1"/>
                </a:solidFill>
                <a:latin typeface="Arial"/>
                <a:ea typeface="Arial"/>
                <a:cs typeface="Arial"/>
                <a:sym typeface="Arial"/>
              </a:endParaRPr>
            </a:p>
          </p:txBody>
        </p:sp>
        <p:pic>
          <p:nvPicPr>
            <p:cNvPr id="1442" name="Google Shape;1442;g3e292f661c6_30_1078"/>
            <p:cNvPicPr preferRelativeResize="0"/>
            <p:nvPr/>
          </p:nvPicPr>
          <p:blipFill rotWithShape="1">
            <a:blip r:embed="rId3">
              <a:alphaModFix/>
            </a:blip>
            <a:srcRect b="-112517" l="-23390" r="23390" t="137700"/>
            <a:stretch/>
          </p:blipFill>
          <p:spPr>
            <a:xfrm>
              <a:off x="0" y="6007596"/>
              <a:ext cx="9920265" cy="792088"/>
            </a:xfrm>
            <a:prstGeom prst="rect">
              <a:avLst/>
            </a:prstGeom>
            <a:noFill/>
            <a:ln>
              <a:noFill/>
            </a:ln>
          </p:spPr>
        </p:pic>
        <p:sp>
          <p:nvSpPr>
            <p:cNvPr id="1443" name="Google Shape;1443;g3e292f661c6_30_1078"/>
            <p:cNvSpPr/>
            <p:nvPr/>
          </p:nvSpPr>
          <p:spPr>
            <a:xfrm>
              <a:off x="-21650" y="5927750"/>
              <a:ext cx="9942000" cy="9087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sp>
        <p:nvSpPr>
          <p:cNvPr id="1444" name="Google Shape;1444;g3e292f661c6_30_1078"/>
          <p:cNvSpPr txBox="1"/>
          <p:nvPr>
            <p:ph idx="12" type="sldNum"/>
          </p:nvPr>
        </p:nvSpPr>
        <p:spPr>
          <a:xfrm>
            <a:off x="6996113" y="6356350"/>
            <a:ext cx="22290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pic>
        <p:nvPicPr>
          <p:cNvPr id="1445" name="Google Shape;1445;g3e292f661c6_30_1078"/>
          <p:cNvPicPr preferRelativeResize="0"/>
          <p:nvPr/>
        </p:nvPicPr>
        <p:blipFill rotWithShape="1">
          <a:blip r:embed="rId4">
            <a:alphaModFix/>
          </a:blip>
          <a:srcRect b="0" l="0" r="0" t="0"/>
          <a:stretch/>
        </p:blipFill>
        <p:spPr>
          <a:xfrm>
            <a:off x="218750" y="6052376"/>
            <a:ext cx="1823009" cy="470325"/>
          </a:xfrm>
          <a:prstGeom prst="rect">
            <a:avLst/>
          </a:prstGeom>
          <a:noFill/>
          <a:ln>
            <a:noFill/>
          </a:ln>
        </p:spPr>
      </p:pic>
      <p:pic>
        <p:nvPicPr>
          <p:cNvPr id="1446" name="Google Shape;1446;g3e292f661c6_30_1078"/>
          <p:cNvPicPr preferRelativeResize="0"/>
          <p:nvPr/>
        </p:nvPicPr>
        <p:blipFill rotWithShape="1">
          <a:blip r:embed="rId5">
            <a:alphaModFix/>
          </a:blip>
          <a:srcRect b="0" l="0" r="0" t="0"/>
          <a:stretch/>
        </p:blipFill>
        <p:spPr>
          <a:xfrm>
            <a:off x="6996125" y="5975242"/>
            <a:ext cx="1811830" cy="624575"/>
          </a:xfrm>
          <a:prstGeom prst="rect">
            <a:avLst/>
          </a:prstGeom>
          <a:noFill/>
          <a:ln>
            <a:noFill/>
          </a:ln>
        </p:spPr>
      </p:pic>
      <p:pic>
        <p:nvPicPr>
          <p:cNvPr id="1447" name="Google Shape;1447;g3e292f661c6_30_1078" title="ChatGPT Image 19 de mai. de 2026, 11_45_05.png"/>
          <p:cNvPicPr preferRelativeResize="0"/>
          <p:nvPr/>
        </p:nvPicPr>
        <p:blipFill rotWithShape="1">
          <a:blip r:embed="rId6">
            <a:alphaModFix/>
          </a:blip>
          <a:srcRect b="0" l="0" r="33462" t="0"/>
          <a:stretch/>
        </p:blipFill>
        <p:spPr>
          <a:xfrm>
            <a:off x="1907775" y="1492300"/>
            <a:ext cx="3850248" cy="325670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1" name="Shape 1451"/>
        <p:cNvGrpSpPr/>
        <p:nvPr/>
      </p:nvGrpSpPr>
      <p:grpSpPr>
        <a:xfrm>
          <a:off x="0" y="0"/>
          <a:ext cx="0" cy="0"/>
          <a:chOff x="0" y="0"/>
          <a:chExt cx="0" cy="0"/>
        </a:xfrm>
      </p:grpSpPr>
      <p:sp>
        <p:nvSpPr>
          <p:cNvPr id="1452" name="Google Shape;1452;g3e3a61befe4_0_4208"/>
          <p:cNvSpPr txBox="1"/>
          <p:nvPr>
            <p:ph type="title"/>
          </p:nvPr>
        </p:nvSpPr>
        <p:spPr>
          <a:xfrm>
            <a:off x="101475" y="108450"/>
            <a:ext cx="9635100" cy="6246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1E4E79"/>
              </a:buClr>
              <a:buSzPts val="4000"/>
              <a:buFont typeface="Arial"/>
              <a:buNone/>
            </a:pPr>
            <a:r>
              <a:rPr lang="en-US" sz="2400"/>
              <a:t>Step 3.2 : Classification of ethical negative consequences into Action, Influence, and Monitor</a:t>
            </a:r>
            <a:endParaRPr sz="2400"/>
          </a:p>
        </p:txBody>
      </p:sp>
      <p:grpSp>
        <p:nvGrpSpPr>
          <p:cNvPr id="1453" name="Google Shape;1453;g3e3a61befe4_0_4208"/>
          <p:cNvGrpSpPr/>
          <p:nvPr/>
        </p:nvGrpSpPr>
        <p:grpSpPr>
          <a:xfrm>
            <a:off x="-18000" y="5842891"/>
            <a:ext cx="9942000" cy="1014788"/>
            <a:chOff x="-21650" y="5927750"/>
            <a:chExt cx="9942000" cy="930230"/>
          </a:xfrm>
        </p:grpSpPr>
        <p:sp>
          <p:nvSpPr>
            <p:cNvPr id="1454" name="Google Shape;1454;g3e3a61befe4_0_4208"/>
            <p:cNvSpPr/>
            <p:nvPr/>
          </p:nvSpPr>
          <p:spPr>
            <a:xfrm>
              <a:off x="5239747" y="5949280"/>
              <a:ext cx="4680600" cy="9087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Arial"/>
                  <a:ea typeface="Arial"/>
                  <a:cs typeface="Arial"/>
                  <a:sym typeface="Arial"/>
                </a:rPr>
                <a:t>25th Annual International Conference on Digital Government Research (dg.o 2024)</a:t>
              </a:r>
              <a:endParaRPr b="0" i="0" sz="1800" u="none" cap="none" strike="noStrike">
                <a:solidFill>
                  <a:schemeClr val="lt1"/>
                </a:solidFill>
                <a:latin typeface="Arial"/>
                <a:ea typeface="Arial"/>
                <a:cs typeface="Arial"/>
                <a:sym typeface="Arial"/>
              </a:endParaRPr>
            </a:p>
          </p:txBody>
        </p:sp>
        <p:pic>
          <p:nvPicPr>
            <p:cNvPr id="1455" name="Google Shape;1455;g3e3a61befe4_0_4208"/>
            <p:cNvPicPr preferRelativeResize="0"/>
            <p:nvPr/>
          </p:nvPicPr>
          <p:blipFill rotWithShape="1">
            <a:blip r:embed="rId3">
              <a:alphaModFix/>
            </a:blip>
            <a:srcRect b="-112517" l="-23390" r="23390" t="137700"/>
            <a:stretch/>
          </p:blipFill>
          <p:spPr>
            <a:xfrm>
              <a:off x="0" y="6007596"/>
              <a:ext cx="9920265" cy="792088"/>
            </a:xfrm>
            <a:prstGeom prst="rect">
              <a:avLst/>
            </a:prstGeom>
            <a:noFill/>
            <a:ln>
              <a:noFill/>
            </a:ln>
          </p:spPr>
        </p:pic>
        <p:sp>
          <p:nvSpPr>
            <p:cNvPr id="1456" name="Google Shape;1456;g3e3a61befe4_0_4208"/>
            <p:cNvSpPr/>
            <p:nvPr/>
          </p:nvSpPr>
          <p:spPr>
            <a:xfrm>
              <a:off x="-21650" y="5927750"/>
              <a:ext cx="9942000" cy="9087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sp>
        <p:nvSpPr>
          <p:cNvPr id="1457" name="Google Shape;1457;g3e3a61befe4_0_4208"/>
          <p:cNvSpPr txBox="1"/>
          <p:nvPr>
            <p:ph idx="12" type="sldNum"/>
          </p:nvPr>
        </p:nvSpPr>
        <p:spPr>
          <a:xfrm>
            <a:off x="6996113" y="6356350"/>
            <a:ext cx="22290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pic>
        <p:nvPicPr>
          <p:cNvPr id="1458" name="Google Shape;1458;g3e3a61befe4_0_4208"/>
          <p:cNvPicPr preferRelativeResize="0"/>
          <p:nvPr/>
        </p:nvPicPr>
        <p:blipFill rotWithShape="1">
          <a:blip r:embed="rId4">
            <a:alphaModFix/>
          </a:blip>
          <a:srcRect b="0" l="0" r="0" t="0"/>
          <a:stretch/>
        </p:blipFill>
        <p:spPr>
          <a:xfrm>
            <a:off x="218750" y="6052376"/>
            <a:ext cx="1823009" cy="470325"/>
          </a:xfrm>
          <a:prstGeom prst="rect">
            <a:avLst/>
          </a:prstGeom>
          <a:noFill/>
          <a:ln>
            <a:noFill/>
          </a:ln>
        </p:spPr>
      </p:pic>
      <p:pic>
        <p:nvPicPr>
          <p:cNvPr id="1459" name="Google Shape;1459;g3e3a61befe4_0_4208"/>
          <p:cNvPicPr preferRelativeResize="0"/>
          <p:nvPr/>
        </p:nvPicPr>
        <p:blipFill rotWithShape="1">
          <a:blip r:embed="rId5">
            <a:alphaModFix/>
          </a:blip>
          <a:srcRect b="0" l="0" r="0" t="0"/>
          <a:stretch/>
        </p:blipFill>
        <p:spPr>
          <a:xfrm>
            <a:off x="6996125" y="5975242"/>
            <a:ext cx="1811830" cy="624575"/>
          </a:xfrm>
          <a:prstGeom prst="rect">
            <a:avLst/>
          </a:prstGeom>
          <a:noFill/>
          <a:ln>
            <a:noFill/>
          </a:ln>
        </p:spPr>
      </p:pic>
      <p:pic>
        <p:nvPicPr>
          <p:cNvPr id="1460" name="Google Shape;1460;g3e3a61befe4_0_4208" title="ChatGPT Image 19 de mai. de 2026, 11_45_05.png"/>
          <p:cNvPicPr preferRelativeResize="0"/>
          <p:nvPr/>
        </p:nvPicPr>
        <p:blipFill>
          <a:blip r:embed="rId6">
            <a:alphaModFix/>
          </a:blip>
          <a:stretch>
            <a:fillRect/>
          </a:stretch>
        </p:blipFill>
        <p:spPr>
          <a:xfrm>
            <a:off x="1907775" y="1492300"/>
            <a:ext cx="5786625" cy="325670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4" name="Shape 1464"/>
        <p:cNvGrpSpPr/>
        <p:nvPr/>
      </p:nvGrpSpPr>
      <p:grpSpPr>
        <a:xfrm>
          <a:off x="0" y="0"/>
          <a:ext cx="0" cy="0"/>
          <a:chOff x="0" y="0"/>
          <a:chExt cx="0" cy="0"/>
        </a:xfrm>
      </p:grpSpPr>
      <p:sp>
        <p:nvSpPr>
          <p:cNvPr id="1465" name="Google Shape;1465;g3e33499f370_0_102"/>
          <p:cNvSpPr txBox="1"/>
          <p:nvPr>
            <p:ph type="title"/>
          </p:nvPr>
        </p:nvSpPr>
        <p:spPr>
          <a:xfrm>
            <a:off x="101475" y="108450"/>
            <a:ext cx="9635100" cy="6246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1E4E79"/>
              </a:buClr>
              <a:buSzPts val="4000"/>
              <a:buFont typeface="Arial"/>
              <a:buNone/>
            </a:pPr>
            <a:r>
              <a:rPr lang="en-US" sz="2400"/>
              <a:t>Step 3.3: Classification of ethical consequences into Action, Influence, and Monitor</a:t>
            </a:r>
            <a:endParaRPr sz="2400"/>
          </a:p>
        </p:txBody>
      </p:sp>
      <p:grpSp>
        <p:nvGrpSpPr>
          <p:cNvPr id="1466" name="Google Shape;1466;g3e33499f370_0_102"/>
          <p:cNvGrpSpPr/>
          <p:nvPr/>
        </p:nvGrpSpPr>
        <p:grpSpPr>
          <a:xfrm>
            <a:off x="-18000" y="5842891"/>
            <a:ext cx="9942000" cy="1014788"/>
            <a:chOff x="-21650" y="5927750"/>
            <a:chExt cx="9942000" cy="930230"/>
          </a:xfrm>
        </p:grpSpPr>
        <p:sp>
          <p:nvSpPr>
            <p:cNvPr id="1467" name="Google Shape;1467;g3e33499f370_0_102"/>
            <p:cNvSpPr/>
            <p:nvPr/>
          </p:nvSpPr>
          <p:spPr>
            <a:xfrm>
              <a:off x="5239747" y="5949280"/>
              <a:ext cx="4680600" cy="9087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Arial"/>
                  <a:ea typeface="Arial"/>
                  <a:cs typeface="Arial"/>
                  <a:sym typeface="Arial"/>
                </a:rPr>
                <a:t>25th Annual International Conference on Digital Government Research (dg.o 2024)</a:t>
              </a:r>
              <a:endParaRPr b="0" i="0" sz="1800" u="none" cap="none" strike="noStrike">
                <a:solidFill>
                  <a:schemeClr val="lt1"/>
                </a:solidFill>
                <a:latin typeface="Arial"/>
                <a:ea typeface="Arial"/>
                <a:cs typeface="Arial"/>
                <a:sym typeface="Arial"/>
              </a:endParaRPr>
            </a:p>
          </p:txBody>
        </p:sp>
        <p:pic>
          <p:nvPicPr>
            <p:cNvPr id="1468" name="Google Shape;1468;g3e33499f370_0_102"/>
            <p:cNvPicPr preferRelativeResize="0"/>
            <p:nvPr/>
          </p:nvPicPr>
          <p:blipFill rotWithShape="1">
            <a:blip r:embed="rId3">
              <a:alphaModFix/>
            </a:blip>
            <a:srcRect b="-112517" l="-23390" r="23390" t="137700"/>
            <a:stretch/>
          </p:blipFill>
          <p:spPr>
            <a:xfrm>
              <a:off x="0" y="6007596"/>
              <a:ext cx="9920265" cy="792088"/>
            </a:xfrm>
            <a:prstGeom prst="rect">
              <a:avLst/>
            </a:prstGeom>
            <a:noFill/>
            <a:ln>
              <a:noFill/>
            </a:ln>
          </p:spPr>
        </p:pic>
        <p:sp>
          <p:nvSpPr>
            <p:cNvPr id="1469" name="Google Shape;1469;g3e33499f370_0_102"/>
            <p:cNvSpPr/>
            <p:nvPr/>
          </p:nvSpPr>
          <p:spPr>
            <a:xfrm>
              <a:off x="-21650" y="5927750"/>
              <a:ext cx="9942000" cy="9087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sp>
        <p:nvSpPr>
          <p:cNvPr id="1470" name="Google Shape;1470;g3e33499f370_0_102"/>
          <p:cNvSpPr txBox="1"/>
          <p:nvPr>
            <p:ph idx="12" type="sldNum"/>
          </p:nvPr>
        </p:nvSpPr>
        <p:spPr>
          <a:xfrm>
            <a:off x="6996113" y="6356350"/>
            <a:ext cx="22290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pic>
        <p:nvPicPr>
          <p:cNvPr id="1471" name="Google Shape;1471;g3e33499f370_0_102"/>
          <p:cNvPicPr preferRelativeResize="0"/>
          <p:nvPr/>
        </p:nvPicPr>
        <p:blipFill rotWithShape="1">
          <a:blip r:embed="rId4">
            <a:alphaModFix/>
          </a:blip>
          <a:srcRect b="0" l="0" r="0" t="0"/>
          <a:stretch/>
        </p:blipFill>
        <p:spPr>
          <a:xfrm>
            <a:off x="218750" y="6052376"/>
            <a:ext cx="1823009" cy="470325"/>
          </a:xfrm>
          <a:prstGeom prst="rect">
            <a:avLst/>
          </a:prstGeom>
          <a:noFill/>
          <a:ln>
            <a:noFill/>
          </a:ln>
        </p:spPr>
      </p:pic>
      <p:pic>
        <p:nvPicPr>
          <p:cNvPr id="1472" name="Google Shape;1472;g3e33499f370_0_102"/>
          <p:cNvPicPr preferRelativeResize="0"/>
          <p:nvPr/>
        </p:nvPicPr>
        <p:blipFill rotWithShape="1">
          <a:blip r:embed="rId5">
            <a:alphaModFix/>
          </a:blip>
          <a:srcRect b="0" l="0" r="0" t="0"/>
          <a:stretch/>
        </p:blipFill>
        <p:spPr>
          <a:xfrm>
            <a:off x="6996125" y="5975242"/>
            <a:ext cx="1811830" cy="624575"/>
          </a:xfrm>
          <a:prstGeom prst="rect">
            <a:avLst/>
          </a:prstGeom>
          <a:noFill/>
          <a:ln>
            <a:noFill/>
          </a:ln>
        </p:spPr>
      </p:pic>
      <p:sp>
        <p:nvSpPr>
          <p:cNvPr id="1473" name="Google Shape;1473;g3e33499f370_0_102"/>
          <p:cNvSpPr/>
          <p:nvPr/>
        </p:nvSpPr>
        <p:spPr>
          <a:xfrm>
            <a:off x="2143350" y="1831500"/>
            <a:ext cx="1540500" cy="694500"/>
          </a:xfrm>
          <a:prstGeom prst="roundRect">
            <a:avLst>
              <a:gd fmla="val 16667" name="adj"/>
            </a:avLst>
          </a:prstGeom>
          <a:solidFill>
            <a:srgbClr val="EA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latin typeface="Calibri"/>
                <a:ea typeface="Calibri"/>
                <a:cs typeface="Calibri"/>
                <a:sym typeface="Calibri"/>
              </a:rPr>
              <a:t>U</a:t>
            </a:r>
            <a:r>
              <a:rPr lang="en-US">
                <a:latin typeface="Calibri"/>
                <a:ea typeface="Calibri"/>
                <a:cs typeface="Calibri"/>
                <a:sym typeface="Calibri"/>
              </a:rPr>
              <a:t>nequal access</a:t>
            </a:r>
            <a:endParaRPr>
              <a:latin typeface="Calibri"/>
              <a:ea typeface="Calibri"/>
              <a:cs typeface="Calibri"/>
              <a:sym typeface="Calibri"/>
            </a:endParaRPr>
          </a:p>
        </p:txBody>
      </p:sp>
      <p:sp>
        <p:nvSpPr>
          <p:cNvPr id="1474" name="Google Shape;1474;g3e33499f370_0_102"/>
          <p:cNvSpPr/>
          <p:nvPr/>
        </p:nvSpPr>
        <p:spPr>
          <a:xfrm>
            <a:off x="2198750" y="3045475"/>
            <a:ext cx="1540500" cy="694500"/>
          </a:xfrm>
          <a:prstGeom prst="roundRect">
            <a:avLst>
              <a:gd fmla="val 16667" name="adj"/>
            </a:avLst>
          </a:prstGeom>
          <a:solidFill>
            <a:srgbClr val="EA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latin typeface="Calibri"/>
                <a:ea typeface="Calibri"/>
                <a:cs typeface="Calibri"/>
                <a:sym typeface="Calibri"/>
              </a:rPr>
              <a:t>Perpetuation of biases and </a:t>
            </a:r>
            <a:r>
              <a:rPr lang="en-US">
                <a:solidFill>
                  <a:schemeClr val="dk1"/>
                </a:solidFill>
                <a:latin typeface="Calibri"/>
                <a:ea typeface="Calibri"/>
                <a:cs typeface="Calibri"/>
                <a:sym typeface="Calibri"/>
              </a:rPr>
              <a:t>favoring zones</a:t>
            </a:r>
            <a:endParaRPr>
              <a:latin typeface="Calibri"/>
              <a:ea typeface="Calibri"/>
              <a:cs typeface="Calibri"/>
              <a:sym typeface="Calibri"/>
            </a:endParaRPr>
          </a:p>
        </p:txBody>
      </p:sp>
      <p:sp>
        <p:nvSpPr>
          <p:cNvPr id="1475" name="Google Shape;1475;g3e33499f370_0_102"/>
          <p:cNvSpPr/>
          <p:nvPr/>
        </p:nvSpPr>
        <p:spPr>
          <a:xfrm>
            <a:off x="2209113" y="4317310"/>
            <a:ext cx="1519800" cy="900900"/>
          </a:xfrm>
          <a:prstGeom prst="roundRect">
            <a:avLst>
              <a:gd fmla="val 16667" name="adj"/>
            </a:avLst>
          </a:prstGeom>
          <a:solidFill>
            <a:srgbClr val="EA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latin typeface="Calibri"/>
                <a:ea typeface="Calibri"/>
                <a:cs typeface="Calibri"/>
                <a:sym typeface="Calibri"/>
              </a:rPr>
              <a:t>Lack of informed consent and risk of legal non-compliance</a:t>
            </a:r>
            <a:endParaRPr>
              <a:latin typeface="Calibri"/>
              <a:ea typeface="Calibri"/>
              <a:cs typeface="Calibri"/>
              <a:sym typeface="Calibri"/>
            </a:endParaRPr>
          </a:p>
        </p:txBody>
      </p:sp>
      <p:cxnSp>
        <p:nvCxnSpPr>
          <p:cNvPr id="1476" name="Google Shape;1476;g3e33499f370_0_102"/>
          <p:cNvCxnSpPr/>
          <p:nvPr/>
        </p:nvCxnSpPr>
        <p:spPr>
          <a:xfrm flipH="1" rot="10800000">
            <a:off x="5749330" y="1037681"/>
            <a:ext cx="5400" cy="4500600"/>
          </a:xfrm>
          <a:prstGeom prst="straightConnector1">
            <a:avLst/>
          </a:prstGeom>
          <a:noFill/>
          <a:ln cap="flat" cmpd="sng" w="19050">
            <a:solidFill>
              <a:schemeClr val="dk2"/>
            </a:solidFill>
            <a:prstDash val="solid"/>
            <a:round/>
            <a:headEnd len="med" w="med" type="diamond"/>
            <a:tailEnd len="med" w="med" type="diamond"/>
          </a:ln>
        </p:spPr>
      </p:cxnSp>
      <p:sp>
        <p:nvSpPr>
          <p:cNvPr id="1477" name="Google Shape;1477;g3e33499f370_0_102"/>
          <p:cNvSpPr txBox="1"/>
          <p:nvPr/>
        </p:nvSpPr>
        <p:spPr>
          <a:xfrm>
            <a:off x="4133525" y="1183500"/>
            <a:ext cx="1143000" cy="538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300">
                <a:solidFill>
                  <a:schemeClr val="dk1"/>
                </a:solidFill>
                <a:latin typeface="Calibri"/>
                <a:ea typeface="Calibri"/>
                <a:cs typeface="Calibri"/>
                <a:sym typeface="Calibri"/>
              </a:rPr>
              <a:t>ACTION</a:t>
            </a:r>
            <a:endParaRPr sz="2300">
              <a:solidFill>
                <a:schemeClr val="dk1"/>
              </a:solidFill>
              <a:latin typeface="Calibri"/>
              <a:ea typeface="Calibri"/>
              <a:cs typeface="Calibri"/>
              <a:sym typeface="Calibri"/>
            </a:endParaRPr>
          </a:p>
        </p:txBody>
      </p:sp>
      <p:sp>
        <p:nvSpPr>
          <p:cNvPr id="1478" name="Google Shape;1478;g3e33499f370_0_102"/>
          <p:cNvSpPr txBox="1"/>
          <p:nvPr/>
        </p:nvSpPr>
        <p:spPr>
          <a:xfrm>
            <a:off x="6582100" y="1037675"/>
            <a:ext cx="1143000" cy="538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2300">
              <a:solidFill>
                <a:schemeClr val="dk1"/>
              </a:solidFill>
              <a:latin typeface="Calibri"/>
              <a:ea typeface="Calibri"/>
              <a:cs typeface="Calibri"/>
              <a:sym typeface="Calibri"/>
            </a:endParaRPr>
          </a:p>
        </p:txBody>
      </p:sp>
      <p:cxnSp>
        <p:nvCxnSpPr>
          <p:cNvPr id="1479" name="Google Shape;1479;g3e33499f370_0_102"/>
          <p:cNvCxnSpPr/>
          <p:nvPr/>
        </p:nvCxnSpPr>
        <p:spPr>
          <a:xfrm flipH="1" rot="10800000">
            <a:off x="3996475" y="1686200"/>
            <a:ext cx="5807400" cy="13500"/>
          </a:xfrm>
          <a:prstGeom prst="straightConnector1">
            <a:avLst/>
          </a:prstGeom>
          <a:noFill/>
          <a:ln cap="flat" cmpd="sng" w="9525">
            <a:solidFill>
              <a:schemeClr val="dk2"/>
            </a:solidFill>
            <a:prstDash val="solid"/>
            <a:round/>
            <a:headEnd len="med" w="med" type="none"/>
            <a:tailEnd len="med" w="med" type="none"/>
          </a:ln>
        </p:spPr>
      </p:cxnSp>
      <p:cxnSp>
        <p:nvCxnSpPr>
          <p:cNvPr id="1480" name="Google Shape;1480;g3e33499f370_0_102"/>
          <p:cNvCxnSpPr/>
          <p:nvPr/>
        </p:nvCxnSpPr>
        <p:spPr>
          <a:xfrm flipH="1" rot="10800000">
            <a:off x="7820201" y="1037681"/>
            <a:ext cx="5400" cy="4500600"/>
          </a:xfrm>
          <a:prstGeom prst="straightConnector1">
            <a:avLst/>
          </a:prstGeom>
          <a:noFill/>
          <a:ln cap="flat" cmpd="sng" w="19050">
            <a:solidFill>
              <a:schemeClr val="dk2"/>
            </a:solidFill>
            <a:prstDash val="solid"/>
            <a:round/>
            <a:headEnd len="med" w="med" type="diamond"/>
            <a:tailEnd len="med" w="med" type="diamond"/>
          </a:ln>
        </p:spPr>
      </p:cxnSp>
      <p:cxnSp>
        <p:nvCxnSpPr>
          <p:cNvPr id="1481" name="Google Shape;1481;g3e33499f370_0_102"/>
          <p:cNvCxnSpPr/>
          <p:nvPr/>
        </p:nvCxnSpPr>
        <p:spPr>
          <a:xfrm>
            <a:off x="3983025" y="2788925"/>
            <a:ext cx="5820900" cy="4500"/>
          </a:xfrm>
          <a:prstGeom prst="straightConnector1">
            <a:avLst/>
          </a:prstGeom>
          <a:noFill/>
          <a:ln cap="flat" cmpd="sng" w="9525">
            <a:solidFill>
              <a:schemeClr val="dk2"/>
            </a:solidFill>
            <a:prstDash val="solid"/>
            <a:round/>
            <a:headEnd len="med" w="med" type="none"/>
            <a:tailEnd len="med" w="med" type="none"/>
          </a:ln>
        </p:spPr>
      </p:cxnSp>
      <p:cxnSp>
        <p:nvCxnSpPr>
          <p:cNvPr id="1482" name="Google Shape;1482;g3e33499f370_0_102"/>
          <p:cNvCxnSpPr/>
          <p:nvPr/>
        </p:nvCxnSpPr>
        <p:spPr>
          <a:xfrm>
            <a:off x="4104050" y="4120175"/>
            <a:ext cx="5700000" cy="9000"/>
          </a:xfrm>
          <a:prstGeom prst="straightConnector1">
            <a:avLst/>
          </a:prstGeom>
          <a:noFill/>
          <a:ln cap="flat" cmpd="sng" w="9525">
            <a:solidFill>
              <a:schemeClr val="dk2"/>
            </a:solidFill>
            <a:prstDash val="solid"/>
            <a:round/>
            <a:headEnd len="med" w="med" type="none"/>
            <a:tailEnd len="med" w="med" type="none"/>
          </a:ln>
        </p:spPr>
      </p:cxnSp>
      <p:sp>
        <p:nvSpPr>
          <p:cNvPr id="1483" name="Google Shape;1483;g3e33499f370_0_102"/>
          <p:cNvSpPr/>
          <p:nvPr/>
        </p:nvSpPr>
        <p:spPr>
          <a:xfrm>
            <a:off x="81550" y="2826475"/>
            <a:ext cx="2064900" cy="11325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latin typeface="Calibri"/>
                <a:ea typeface="Calibri"/>
                <a:cs typeface="Calibri"/>
                <a:sym typeface="Calibri"/>
              </a:rPr>
              <a:t>The calculation of the number of scooters to be transferred to each zone is based on usage annually history</a:t>
            </a:r>
            <a:endParaRPr>
              <a:latin typeface="Calibri"/>
              <a:ea typeface="Calibri"/>
              <a:cs typeface="Calibri"/>
              <a:sym typeface="Calibri"/>
            </a:endParaRPr>
          </a:p>
        </p:txBody>
      </p:sp>
      <p:sp>
        <p:nvSpPr>
          <p:cNvPr id="1484" name="Google Shape;1484;g3e33499f370_0_102"/>
          <p:cNvSpPr txBox="1"/>
          <p:nvPr/>
        </p:nvSpPr>
        <p:spPr>
          <a:xfrm>
            <a:off x="689250" y="1193649"/>
            <a:ext cx="9006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700">
                <a:solidFill>
                  <a:schemeClr val="dk1"/>
                </a:solidFill>
                <a:latin typeface="Calibri"/>
                <a:ea typeface="Calibri"/>
                <a:cs typeface="Calibri"/>
                <a:sym typeface="Calibri"/>
              </a:rPr>
              <a:t>Cause</a:t>
            </a:r>
            <a:endParaRPr b="1" sz="1700">
              <a:solidFill>
                <a:schemeClr val="dk1"/>
              </a:solidFill>
              <a:latin typeface="Calibri"/>
              <a:ea typeface="Calibri"/>
              <a:cs typeface="Calibri"/>
              <a:sym typeface="Calibri"/>
            </a:endParaRPr>
          </a:p>
        </p:txBody>
      </p:sp>
      <p:sp>
        <p:nvSpPr>
          <p:cNvPr id="1485" name="Google Shape;1485;g3e33499f370_0_102"/>
          <p:cNvSpPr txBox="1"/>
          <p:nvPr/>
        </p:nvSpPr>
        <p:spPr>
          <a:xfrm>
            <a:off x="2271237" y="1193646"/>
            <a:ext cx="15405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700">
                <a:solidFill>
                  <a:schemeClr val="dk1"/>
                </a:solidFill>
                <a:latin typeface="Calibri"/>
                <a:ea typeface="Calibri"/>
                <a:cs typeface="Calibri"/>
                <a:sym typeface="Calibri"/>
              </a:rPr>
              <a:t>Consequences</a:t>
            </a:r>
            <a:endParaRPr b="1" sz="1700">
              <a:solidFill>
                <a:schemeClr val="dk1"/>
              </a:solidFill>
              <a:latin typeface="Calibri"/>
              <a:ea typeface="Calibri"/>
              <a:cs typeface="Calibri"/>
              <a:sym typeface="Calibri"/>
            </a:endParaRPr>
          </a:p>
        </p:txBody>
      </p:sp>
      <p:sp>
        <p:nvSpPr>
          <p:cNvPr id="1486" name="Google Shape;1486;g3e33499f370_0_102"/>
          <p:cNvSpPr/>
          <p:nvPr/>
        </p:nvSpPr>
        <p:spPr>
          <a:xfrm>
            <a:off x="81550" y="4259450"/>
            <a:ext cx="2064900" cy="11325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latin typeface="Calibri"/>
                <a:ea typeface="Calibri"/>
                <a:cs typeface="Calibri"/>
                <a:sym typeface="Calibri"/>
              </a:rPr>
              <a:t>Collection of user data (location and usage times) to generate zone demand information</a:t>
            </a:r>
            <a:endParaRPr>
              <a:latin typeface="Calibri"/>
              <a:ea typeface="Calibri"/>
              <a:cs typeface="Calibri"/>
              <a:sym typeface="Calibri"/>
            </a:endParaRPr>
          </a:p>
        </p:txBody>
      </p:sp>
      <p:sp>
        <p:nvSpPr>
          <p:cNvPr id="1487" name="Google Shape;1487;g3e33499f370_0_102"/>
          <p:cNvSpPr txBox="1"/>
          <p:nvPr/>
        </p:nvSpPr>
        <p:spPr>
          <a:xfrm>
            <a:off x="5936538" y="1147450"/>
            <a:ext cx="1540500" cy="538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300">
                <a:solidFill>
                  <a:schemeClr val="dk1"/>
                </a:solidFill>
                <a:latin typeface="Calibri"/>
                <a:ea typeface="Calibri"/>
                <a:cs typeface="Calibri"/>
                <a:sym typeface="Calibri"/>
              </a:rPr>
              <a:t>INFLUENCE</a:t>
            </a:r>
            <a:endParaRPr sz="2300">
              <a:solidFill>
                <a:schemeClr val="dk1"/>
              </a:solidFill>
              <a:latin typeface="Calibri"/>
              <a:ea typeface="Calibri"/>
              <a:cs typeface="Calibri"/>
              <a:sym typeface="Calibri"/>
            </a:endParaRPr>
          </a:p>
        </p:txBody>
      </p:sp>
      <p:sp>
        <p:nvSpPr>
          <p:cNvPr id="1488" name="Google Shape;1488;g3e33499f370_0_102"/>
          <p:cNvSpPr txBox="1"/>
          <p:nvPr/>
        </p:nvSpPr>
        <p:spPr>
          <a:xfrm>
            <a:off x="8137063" y="1183500"/>
            <a:ext cx="1540500" cy="538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300">
                <a:solidFill>
                  <a:schemeClr val="dk1"/>
                </a:solidFill>
                <a:latin typeface="Calibri"/>
                <a:ea typeface="Calibri"/>
                <a:cs typeface="Calibri"/>
                <a:sym typeface="Calibri"/>
              </a:rPr>
              <a:t>MONITOR</a:t>
            </a:r>
            <a:endParaRPr sz="2300">
              <a:solidFill>
                <a:schemeClr val="dk1"/>
              </a:solidFill>
              <a:latin typeface="Calibri"/>
              <a:ea typeface="Calibri"/>
              <a:cs typeface="Calibri"/>
              <a:sym typeface="Calibri"/>
            </a:endParaRPr>
          </a:p>
        </p:txBody>
      </p:sp>
      <p:sp>
        <p:nvSpPr>
          <p:cNvPr id="1489" name="Google Shape;1489;g3e33499f370_0_102"/>
          <p:cNvSpPr/>
          <p:nvPr/>
        </p:nvSpPr>
        <p:spPr>
          <a:xfrm>
            <a:off x="69450" y="1637966"/>
            <a:ext cx="2034000" cy="10149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US">
                <a:solidFill>
                  <a:schemeClr val="dk1"/>
                </a:solidFill>
                <a:latin typeface="Calibri"/>
                <a:ea typeface="Calibri"/>
                <a:cs typeface="Calibri"/>
                <a:sym typeface="Calibri"/>
              </a:rPr>
              <a:t>There is no minimum scooter retention policy to prevent zones from becoming empty after transfers</a:t>
            </a:r>
            <a:endParaRPr>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3" name="Shape 1493"/>
        <p:cNvGrpSpPr/>
        <p:nvPr/>
      </p:nvGrpSpPr>
      <p:grpSpPr>
        <a:xfrm>
          <a:off x="0" y="0"/>
          <a:ext cx="0" cy="0"/>
          <a:chOff x="0" y="0"/>
          <a:chExt cx="0" cy="0"/>
        </a:xfrm>
      </p:grpSpPr>
      <p:sp>
        <p:nvSpPr>
          <p:cNvPr id="1494" name="Google Shape;1494;g3e3a61befe4_0_4286"/>
          <p:cNvSpPr txBox="1"/>
          <p:nvPr>
            <p:ph type="title"/>
          </p:nvPr>
        </p:nvSpPr>
        <p:spPr>
          <a:xfrm>
            <a:off x="101475" y="108450"/>
            <a:ext cx="9635100" cy="6246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1E4E79"/>
              </a:buClr>
              <a:buSzPts val="4000"/>
              <a:buFont typeface="Arial"/>
              <a:buNone/>
            </a:pPr>
            <a:r>
              <a:rPr lang="en-US" sz="2400"/>
              <a:t>Step 3.3: Classification of ethical consequences into Action, Influence, and Monitor</a:t>
            </a:r>
            <a:endParaRPr sz="2400"/>
          </a:p>
        </p:txBody>
      </p:sp>
      <p:grpSp>
        <p:nvGrpSpPr>
          <p:cNvPr id="1495" name="Google Shape;1495;g3e3a61befe4_0_4286"/>
          <p:cNvGrpSpPr/>
          <p:nvPr/>
        </p:nvGrpSpPr>
        <p:grpSpPr>
          <a:xfrm>
            <a:off x="-18000" y="5842891"/>
            <a:ext cx="9942000" cy="1014788"/>
            <a:chOff x="-21650" y="5927750"/>
            <a:chExt cx="9942000" cy="930230"/>
          </a:xfrm>
        </p:grpSpPr>
        <p:sp>
          <p:nvSpPr>
            <p:cNvPr id="1496" name="Google Shape;1496;g3e3a61befe4_0_4286"/>
            <p:cNvSpPr/>
            <p:nvPr/>
          </p:nvSpPr>
          <p:spPr>
            <a:xfrm>
              <a:off x="5239747" y="5949280"/>
              <a:ext cx="4680600" cy="9087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Arial"/>
                  <a:ea typeface="Arial"/>
                  <a:cs typeface="Arial"/>
                  <a:sym typeface="Arial"/>
                </a:rPr>
                <a:t>25th Annual International Conference on Digital Government Research (dg.o 2024)</a:t>
              </a:r>
              <a:endParaRPr b="0" i="0" sz="1800" u="none" cap="none" strike="noStrike">
                <a:solidFill>
                  <a:schemeClr val="lt1"/>
                </a:solidFill>
                <a:latin typeface="Arial"/>
                <a:ea typeface="Arial"/>
                <a:cs typeface="Arial"/>
                <a:sym typeface="Arial"/>
              </a:endParaRPr>
            </a:p>
          </p:txBody>
        </p:sp>
        <p:pic>
          <p:nvPicPr>
            <p:cNvPr id="1497" name="Google Shape;1497;g3e3a61befe4_0_4286"/>
            <p:cNvPicPr preferRelativeResize="0"/>
            <p:nvPr/>
          </p:nvPicPr>
          <p:blipFill rotWithShape="1">
            <a:blip r:embed="rId3">
              <a:alphaModFix/>
            </a:blip>
            <a:srcRect b="-112517" l="-23390" r="23390" t="137700"/>
            <a:stretch/>
          </p:blipFill>
          <p:spPr>
            <a:xfrm>
              <a:off x="0" y="6007596"/>
              <a:ext cx="9920265" cy="792088"/>
            </a:xfrm>
            <a:prstGeom prst="rect">
              <a:avLst/>
            </a:prstGeom>
            <a:noFill/>
            <a:ln>
              <a:noFill/>
            </a:ln>
          </p:spPr>
        </p:pic>
        <p:sp>
          <p:nvSpPr>
            <p:cNvPr id="1498" name="Google Shape;1498;g3e3a61befe4_0_4286"/>
            <p:cNvSpPr/>
            <p:nvPr/>
          </p:nvSpPr>
          <p:spPr>
            <a:xfrm>
              <a:off x="-21650" y="5927750"/>
              <a:ext cx="9942000" cy="9087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sp>
        <p:nvSpPr>
          <p:cNvPr id="1499" name="Google Shape;1499;g3e3a61befe4_0_4286"/>
          <p:cNvSpPr txBox="1"/>
          <p:nvPr>
            <p:ph idx="12" type="sldNum"/>
          </p:nvPr>
        </p:nvSpPr>
        <p:spPr>
          <a:xfrm>
            <a:off x="6996113" y="6356350"/>
            <a:ext cx="22290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pic>
        <p:nvPicPr>
          <p:cNvPr id="1500" name="Google Shape;1500;g3e3a61befe4_0_4286"/>
          <p:cNvPicPr preferRelativeResize="0"/>
          <p:nvPr/>
        </p:nvPicPr>
        <p:blipFill rotWithShape="1">
          <a:blip r:embed="rId4">
            <a:alphaModFix/>
          </a:blip>
          <a:srcRect b="0" l="0" r="0" t="0"/>
          <a:stretch/>
        </p:blipFill>
        <p:spPr>
          <a:xfrm>
            <a:off x="218750" y="6052376"/>
            <a:ext cx="1823009" cy="470325"/>
          </a:xfrm>
          <a:prstGeom prst="rect">
            <a:avLst/>
          </a:prstGeom>
          <a:noFill/>
          <a:ln>
            <a:noFill/>
          </a:ln>
        </p:spPr>
      </p:pic>
      <p:pic>
        <p:nvPicPr>
          <p:cNvPr id="1501" name="Google Shape;1501;g3e3a61befe4_0_4286"/>
          <p:cNvPicPr preferRelativeResize="0"/>
          <p:nvPr/>
        </p:nvPicPr>
        <p:blipFill rotWithShape="1">
          <a:blip r:embed="rId5">
            <a:alphaModFix/>
          </a:blip>
          <a:srcRect b="0" l="0" r="0" t="0"/>
          <a:stretch/>
        </p:blipFill>
        <p:spPr>
          <a:xfrm>
            <a:off x="6996125" y="5975242"/>
            <a:ext cx="1811830" cy="624575"/>
          </a:xfrm>
          <a:prstGeom prst="rect">
            <a:avLst/>
          </a:prstGeom>
          <a:noFill/>
          <a:ln>
            <a:noFill/>
          </a:ln>
        </p:spPr>
      </p:pic>
      <p:sp>
        <p:nvSpPr>
          <p:cNvPr id="1502" name="Google Shape;1502;g3e3a61befe4_0_4286"/>
          <p:cNvSpPr/>
          <p:nvPr/>
        </p:nvSpPr>
        <p:spPr>
          <a:xfrm>
            <a:off x="2143350" y="1831500"/>
            <a:ext cx="1540500" cy="694500"/>
          </a:xfrm>
          <a:prstGeom prst="roundRect">
            <a:avLst>
              <a:gd fmla="val 16667" name="adj"/>
            </a:avLst>
          </a:prstGeom>
          <a:solidFill>
            <a:srgbClr val="EA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latin typeface="Calibri"/>
                <a:ea typeface="Calibri"/>
                <a:cs typeface="Calibri"/>
                <a:sym typeface="Calibri"/>
              </a:rPr>
              <a:t>Unequal access</a:t>
            </a:r>
            <a:endParaRPr>
              <a:latin typeface="Calibri"/>
              <a:ea typeface="Calibri"/>
              <a:cs typeface="Calibri"/>
              <a:sym typeface="Calibri"/>
            </a:endParaRPr>
          </a:p>
        </p:txBody>
      </p:sp>
      <p:sp>
        <p:nvSpPr>
          <p:cNvPr id="1503" name="Google Shape;1503;g3e3a61befe4_0_4286"/>
          <p:cNvSpPr/>
          <p:nvPr/>
        </p:nvSpPr>
        <p:spPr>
          <a:xfrm>
            <a:off x="2198750" y="3045475"/>
            <a:ext cx="1540500" cy="694500"/>
          </a:xfrm>
          <a:prstGeom prst="roundRect">
            <a:avLst>
              <a:gd fmla="val 16667" name="adj"/>
            </a:avLst>
          </a:prstGeom>
          <a:solidFill>
            <a:srgbClr val="EA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latin typeface="Calibri"/>
                <a:ea typeface="Calibri"/>
                <a:cs typeface="Calibri"/>
                <a:sym typeface="Calibri"/>
              </a:rPr>
              <a:t>Perpetuation of biases and </a:t>
            </a:r>
            <a:r>
              <a:rPr lang="en-US">
                <a:solidFill>
                  <a:schemeClr val="dk1"/>
                </a:solidFill>
                <a:latin typeface="Calibri"/>
                <a:ea typeface="Calibri"/>
                <a:cs typeface="Calibri"/>
                <a:sym typeface="Calibri"/>
              </a:rPr>
              <a:t>favoring zones</a:t>
            </a:r>
            <a:endParaRPr>
              <a:latin typeface="Calibri"/>
              <a:ea typeface="Calibri"/>
              <a:cs typeface="Calibri"/>
              <a:sym typeface="Calibri"/>
            </a:endParaRPr>
          </a:p>
        </p:txBody>
      </p:sp>
      <p:sp>
        <p:nvSpPr>
          <p:cNvPr id="1504" name="Google Shape;1504;g3e3a61befe4_0_4286"/>
          <p:cNvSpPr/>
          <p:nvPr/>
        </p:nvSpPr>
        <p:spPr>
          <a:xfrm>
            <a:off x="2209113" y="4317310"/>
            <a:ext cx="1519800" cy="900900"/>
          </a:xfrm>
          <a:prstGeom prst="roundRect">
            <a:avLst>
              <a:gd fmla="val 16667" name="adj"/>
            </a:avLst>
          </a:prstGeom>
          <a:solidFill>
            <a:srgbClr val="EA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latin typeface="Calibri"/>
                <a:ea typeface="Calibri"/>
                <a:cs typeface="Calibri"/>
                <a:sym typeface="Calibri"/>
              </a:rPr>
              <a:t>Lack of informed consent and risk of legal non-compliance</a:t>
            </a:r>
            <a:endParaRPr>
              <a:latin typeface="Calibri"/>
              <a:ea typeface="Calibri"/>
              <a:cs typeface="Calibri"/>
              <a:sym typeface="Calibri"/>
            </a:endParaRPr>
          </a:p>
        </p:txBody>
      </p:sp>
      <p:cxnSp>
        <p:nvCxnSpPr>
          <p:cNvPr id="1505" name="Google Shape;1505;g3e3a61befe4_0_4286"/>
          <p:cNvCxnSpPr/>
          <p:nvPr/>
        </p:nvCxnSpPr>
        <p:spPr>
          <a:xfrm flipH="1" rot="10800000">
            <a:off x="5749330" y="1037681"/>
            <a:ext cx="5400" cy="4500600"/>
          </a:xfrm>
          <a:prstGeom prst="straightConnector1">
            <a:avLst/>
          </a:prstGeom>
          <a:noFill/>
          <a:ln cap="flat" cmpd="sng" w="19050">
            <a:solidFill>
              <a:schemeClr val="dk2"/>
            </a:solidFill>
            <a:prstDash val="solid"/>
            <a:round/>
            <a:headEnd len="med" w="med" type="diamond"/>
            <a:tailEnd len="med" w="med" type="diamond"/>
          </a:ln>
        </p:spPr>
      </p:cxnSp>
      <p:sp>
        <p:nvSpPr>
          <p:cNvPr id="1506" name="Google Shape;1506;g3e3a61befe4_0_4286"/>
          <p:cNvSpPr txBox="1"/>
          <p:nvPr/>
        </p:nvSpPr>
        <p:spPr>
          <a:xfrm>
            <a:off x="4133525" y="1183500"/>
            <a:ext cx="1143000" cy="538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300">
                <a:solidFill>
                  <a:schemeClr val="dk1"/>
                </a:solidFill>
                <a:latin typeface="Calibri"/>
                <a:ea typeface="Calibri"/>
                <a:cs typeface="Calibri"/>
                <a:sym typeface="Calibri"/>
              </a:rPr>
              <a:t>ACTION</a:t>
            </a:r>
            <a:endParaRPr sz="2300">
              <a:solidFill>
                <a:schemeClr val="dk1"/>
              </a:solidFill>
              <a:latin typeface="Calibri"/>
              <a:ea typeface="Calibri"/>
              <a:cs typeface="Calibri"/>
              <a:sym typeface="Calibri"/>
            </a:endParaRPr>
          </a:p>
        </p:txBody>
      </p:sp>
      <p:sp>
        <p:nvSpPr>
          <p:cNvPr id="1507" name="Google Shape;1507;g3e3a61befe4_0_4286"/>
          <p:cNvSpPr txBox="1"/>
          <p:nvPr/>
        </p:nvSpPr>
        <p:spPr>
          <a:xfrm>
            <a:off x="6582100" y="1037675"/>
            <a:ext cx="1143000" cy="538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2300">
              <a:solidFill>
                <a:schemeClr val="dk1"/>
              </a:solidFill>
              <a:latin typeface="Calibri"/>
              <a:ea typeface="Calibri"/>
              <a:cs typeface="Calibri"/>
              <a:sym typeface="Calibri"/>
            </a:endParaRPr>
          </a:p>
        </p:txBody>
      </p:sp>
      <p:cxnSp>
        <p:nvCxnSpPr>
          <p:cNvPr id="1508" name="Google Shape;1508;g3e3a61befe4_0_4286"/>
          <p:cNvCxnSpPr/>
          <p:nvPr/>
        </p:nvCxnSpPr>
        <p:spPr>
          <a:xfrm flipH="1" rot="10800000">
            <a:off x="3996475" y="1686200"/>
            <a:ext cx="5807400" cy="13500"/>
          </a:xfrm>
          <a:prstGeom prst="straightConnector1">
            <a:avLst/>
          </a:prstGeom>
          <a:noFill/>
          <a:ln cap="flat" cmpd="sng" w="9525">
            <a:solidFill>
              <a:schemeClr val="dk2"/>
            </a:solidFill>
            <a:prstDash val="solid"/>
            <a:round/>
            <a:headEnd len="med" w="med" type="none"/>
            <a:tailEnd len="med" w="med" type="none"/>
          </a:ln>
        </p:spPr>
      </p:cxnSp>
      <p:cxnSp>
        <p:nvCxnSpPr>
          <p:cNvPr id="1509" name="Google Shape;1509;g3e3a61befe4_0_4286"/>
          <p:cNvCxnSpPr/>
          <p:nvPr/>
        </p:nvCxnSpPr>
        <p:spPr>
          <a:xfrm flipH="1" rot="10800000">
            <a:off x="7820201" y="1037681"/>
            <a:ext cx="5400" cy="4500600"/>
          </a:xfrm>
          <a:prstGeom prst="straightConnector1">
            <a:avLst/>
          </a:prstGeom>
          <a:noFill/>
          <a:ln cap="flat" cmpd="sng" w="19050">
            <a:solidFill>
              <a:schemeClr val="dk2"/>
            </a:solidFill>
            <a:prstDash val="solid"/>
            <a:round/>
            <a:headEnd len="med" w="med" type="diamond"/>
            <a:tailEnd len="med" w="med" type="diamond"/>
          </a:ln>
        </p:spPr>
      </p:cxnSp>
      <p:cxnSp>
        <p:nvCxnSpPr>
          <p:cNvPr id="1510" name="Google Shape;1510;g3e3a61befe4_0_4286"/>
          <p:cNvCxnSpPr/>
          <p:nvPr/>
        </p:nvCxnSpPr>
        <p:spPr>
          <a:xfrm>
            <a:off x="3983025" y="2788925"/>
            <a:ext cx="5820900" cy="4500"/>
          </a:xfrm>
          <a:prstGeom prst="straightConnector1">
            <a:avLst/>
          </a:prstGeom>
          <a:noFill/>
          <a:ln cap="flat" cmpd="sng" w="9525">
            <a:solidFill>
              <a:schemeClr val="dk2"/>
            </a:solidFill>
            <a:prstDash val="solid"/>
            <a:round/>
            <a:headEnd len="med" w="med" type="none"/>
            <a:tailEnd len="med" w="med" type="none"/>
          </a:ln>
        </p:spPr>
      </p:cxnSp>
      <p:cxnSp>
        <p:nvCxnSpPr>
          <p:cNvPr id="1511" name="Google Shape;1511;g3e3a61befe4_0_4286"/>
          <p:cNvCxnSpPr/>
          <p:nvPr/>
        </p:nvCxnSpPr>
        <p:spPr>
          <a:xfrm>
            <a:off x="4104050" y="4120175"/>
            <a:ext cx="5700000" cy="9000"/>
          </a:xfrm>
          <a:prstGeom prst="straightConnector1">
            <a:avLst/>
          </a:prstGeom>
          <a:noFill/>
          <a:ln cap="flat" cmpd="sng" w="9525">
            <a:solidFill>
              <a:schemeClr val="dk2"/>
            </a:solidFill>
            <a:prstDash val="solid"/>
            <a:round/>
            <a:headEnd len="med" w="med" type="none"/>
            <a:tailEnd len="med" w="med" type="none"/>
          </a:ln>
        </p:spPr>
      </p:cxnSp>
      <p:sp>
        <p:nvSpPr>
          <p:cNvPr id="1512" name="Google Shape;1512;g3e3a61befe4_0_4286"/>
          <p:cNvSpPr/>
          <p:nvPr/>
        </p:nvSpPr>
        <p:spPr>
          <a:xfrm>
            <a:off x="81550" y="2826475"/>
            <a:ext cx="2064900" cy="11325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latin typeface="Calibri"/>
                <a:ea typeface="Calibri"/>
                <a:cs typeface="Calibri"/>
                <a:sym typeface="Calibri"/>
              </a:rPr>
              <a:t>The calculation of the number of scooters to be transferred to each zone is based on usage annually history</a:t>
            </a:r>
            <a:endParaRPr>
              <a:latin typeface="Calibri"/>
              <a:ea typeface="Calibri"/>
              <a:cs typeface="Calibri"/>
              <a:sym typeface="Calibri"/>
            </a:endParaRPr>
          </a:p>
        </p:txBody>
      </p:sp>
      <p:sp>
        <p:nvSpPr>
          <p:cNvPr id="1513" name="Google Shape;1513;g3e3a61befe4_0_4286"/>
          <p:cNvSpPr txBox="1"/>
          <p:nvPr/>
        </p:nvSpPr>
        <p:spPr>
          <a:xfrm>
            <a:off x="689250" y="1193649"/>
            <a:ext cx="9006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700">
                <a:solidFill>
                  <a:schemeClr val="dk1"/>
                </a:solidFill>
                <a:latin typeface="Calibri"/>
                <a:ea typeface="Calibri"/>
                <a:cs typeface="Calibri"/>
                <a:sym typeface="Calibri"/>
              </a:rPr>
              <a:t>Cause</a:t>
            </a:r>
            <a:endParaRPr b="1" sz="1700">
              <a:solidFill>
                <a:schemeClr val="dk1"/>
              </a:solidFill>
              <a:latin typeface="Calibri"/>
              <a:ea typeface="Calibri"/>
              <a:cs typeface="Calibri"/>
              <a:sym typeface="Calibri"/>
            </a:endParaRPr>
          </a:p>
        </p:txBody>
      </p:sp>
      <p:sp>
        <p:nvSpPr>
          <p:cNvPr id="1514" name="Google Shape;1514;g3e3a61befe4_0_4286"/>
          <p:cNvSpPr txBox="1"/>
          <p:nvPr/>
        </p:nvSpPr>
        <p:spPr>
          <a:xfrm>
            <a:off x="2271237" y="1193646"/>
            <a:ext cx="15405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700">
                <a:solidFill>
                  <a:schemeClr val="dk1"/>
                </a:solidFill>
                <a:latin typeface="Calibri"/>
                <a:ea typeface="Calibri"/>
                <a:cs typeface="Calibri"/>
                <a:sym typeface="Calibri"/>
              </a:rPr>
              <a:t>Consequences</a:t>
            </a:r>
            <a:endParaRPr b="1" sz="1700">
              <a:solidFill>
                <a:schemeClr val="dk1"/>
              </a:solidFill>
              <a:latin typeface="Calibri"/>
              <a:ea typeface="Calibri"/>
              <a:cs typeface="Calibri"/>
              <a:sym typeface="Calibri"/>
            </a:endParaRPr>
          </a:p>
        </p:txBody>
      </p:sp>
      <p:sp>
        <p:nvSpPr>
          <p:cNvPr id="1515" name="Google Shape;1515;g3e3a61befe4_0_4286"/>
          <p:cNvSpPr/>
          <p:nvPr/>
        </p:nvSpPr>
        <p:spPr>
          <a:xfrm>
            <a:off x="81550" y="4259450"/>
            <a:ext cx="2064900" cy="11325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latin typeface="Calibri"/>
                <a:ea typeface="Calibri"/>
                <a:cs typeface="Calibri"/>
                <a:sym typeface="Calibri"/>
              </a:rPr>
              <a:t>Collection of user data (location and usage times) to generate zone demand information</a:t>
            </a:r>
            <a:endParaRPr>
              <a:latin typeface="Calibri"/>
              <a:ea typeface="Calibri"/>
              <a:cs typeface="Calibri"/>
              <a:sym typeface="Calibri"/>
            </a:endParaRPr>
          </a:p>
        </p:txBody>
      </p:sp>
      <p:sp>
        <p:nvSpPr>
          <p:cNvPr id="1516" name="Google Shape;1516;g3e3a61befe4_0_4286"/>
          <p:cNvSpPr txBox="1"/>
          <p:nvPr/>
        </p:nvSpPr>
        <p:spPr>
          <a:xfrm>
            <a:off x="5936538" y="1147450"/>
            <a:ext cx="1540500" cy="538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300">
                <a:solidFill>
                  <a:schemeClr val="dk1"/>
                </a:solidFill>
                <a:latin typeface="Calibri"/>
                <a:ea typeface="Calibri"/>
                <a:cs typeface="Calibri"/>
                <a:sym typeface="Calibri"/>
              </a:rPr>
              <a:t>INFLUENCE</a:t>
            </a:r>
            <a:endParaRPr sz="2300">
              <a:solidFill>
                <a:schemeClr val="dk1"/>
              </a:solidFill>
              <a:latin typeface="Calibri"/>
              <a:ea typeface="Calibri"/>
              <a:cs typeface="Calibri"/>
              <a:sym typeface="Calibri"/>
            </a:endParaRPr>
          </a:p>
        </p:txBody>
      </p:sp>
      <p:sp>
        <p:nvSpPr>
          <p:cNvPr id="1517" name="Google Shape;1517;g3e3a61befe4_0_4286"/>
          <p:cNvSpPr txBox="1"/>
          <p:nvPr/>
        </p:nvSpPr>
        <p:spPr>
          <a:xfrm>
            <a:off x="8137063" y="1183500"/>
            <a:ext cx="1540500" cy="538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300">
                <a:solidFill>
                  <a:schemeClr val="dk1"/>
                </a:solidFill>
                <a:latin typeface="Calibri"/>
                <a:ea typeface="Calibri"/>
                <a:cs typeface="Calibri"/>
                <a:sym typeface="Calibri"/>
              </a:rPr>
              <a:t>MONITOR</a:t>
            </a:r>
            <a:endParaRPr sz="2300">
              <a:solidFill>
                <a:schemeClr val="dk1"/>
              </a:solidFill>
              <a:latin typeface="Calibri"/>
              <a:ea typeface="Calibri"/>
              <a:cs typeface="Calibri"/>
              <a:sym typeface="Calibri"/>
            </a:endParaRPr>
          </a:p>
        </p:txBody>
      </p:sp>
      <p:sp>
        <p:nvSpPr>
          <p:cNvPr id="1518" name="Google Shape;1518;g3e3a61befe4_0_4286"/>
          <p:cNvSpPr/>
          <p:nvPr/>
        </p:nvSpPr>
        <p:spPr>
          <a:xfrm>
            <a:off x="69450" y="1637966"/>
            <a:ext cx="2034000" cy="10149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US">
                <a:solidFill>
                  <a:schemeClr val="dk1"/>
                </a:solidFill>
                <a:latin typeface="Calibri"/>
                <a:ea typeface="Calibri"/>
                <a:cs typeface="Calibri"/>
                <a:sym typeface="Calibri"/>
              </a:rPr>
              <a:t>There is no minimum scooter retention policy to prevent zones from becoming empty after transfers</a:t>
            </a:r>
            <a:endParaRPr>
              <a:latin typeface="Calibri"/>
              <a:ea typeface="Calibri"/>
              <a:cs typeface="Calibri"/>
              <a:sym typeface="Calibri"/>
            </a:endParaRPr>
          </a:p>
        </p:txBody>
      </p:sp>
      <p:sp>
        <p:nvSpPr>
          <p:cNvPr id="1519" name="Google Shape;1519;g3e3a61befe4_0_4286"/>
          <p:cNvSpPr txBox="1"/>
          <p:nvPr/>
        </p:nvSpPr>
        <p:spPr>
          <a:xfrm>
            <a:off x="3869181" y="1632582"/>
            <a:ext cx="1823100" cy="1262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solidFill>
                  <a:schemeClr val="dk1"/>
                </a:solidFill>
                <a:latin typeface="Calibri"/>
                <a:ea typeface="Calibri"/>
                <a:cs typeface="Calibri"/>
                <a:sym typeface="Calibri"/>
              </a:rPr>
              <a:t>Define a minimum scooter threshold per zone to avoid complete depletion after transfers</a:t>
            </a:r>
            <a:endParaRPr>
              <a:solidFill>
                <a:schemeClr val="dk1"/>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3" name="Shape 1523"/>
        <p:cNvGrpSpPr/>
        <p:nvPr/>
      </p:nvGrpSpPr>
      <p:grpSpPr>
        <a:xfrm>
          <a:off x="0" y="0"/>
          <a:ext cx="0" cy="0"/>
          <a:chOff x="0" y="0"/>
          <a:chExt cx="0" cy="0"/>
        </a:xfrm>
      </p:grpSpPr>
      <p:sp>
        <p:nvSpPr>
          <p:cNvPr id="1524" name="Google Shape;1524;g3e3a61befe4_0_4220"/>
          <p:cNvSpPr txBox="1"/>
          <p:nvPr>
            <p:ph type="title"/>
          </p:nvPr>
        </p:nvSpPr>
        <p:spPr>
          <a:xfrm>
            <a:off x="101475" y="108450"/>
            <a:ext cx="9635100" cy="6246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1E4E79"/>
              </a:buClr>
              <a:buSzPts val="4000"/>
              <a:buFont typeface="Arial"/>
              <a:buNone/>
            </a:pPr>
            <a:r>
              <a:rPr lang="en-US" sz="2400"/>
              <a:t>Step 3.3: Classification of ethical consequences into Action, Influence, and Monitor</a:t>
            </a:r>
            <a:endParaRPr sz="2400"/>
          </a:p>
        </p:txBody>
      </p:sp>
      <p:grpSp>
        <p:nvGrpSpPr>
          <p:cNvPr id="1525" name="Google Shape;1525;g3e3a61befe4_0_4220"/>
          <p:cNvGrpSpPr/>
          <p:nvPr/>
        </p:nvGrpSpPr>
        <p:grpSpPr>
          <a:xfrm>
            <a:off x="-18000" y="5842891"/>
            <a:ext cx="9942000" cy="1014788"/>
            <a:chOff x="-21650" y="5927750"/>
            <a:chExt cx="9942000" cy="930230"/>
          </a:xfrm>
        </p:grpSpPr>
        <p:sp>
          <p:nvSpPr>
            <p:cNvPr id="1526" name="Google Shape;1526;g3e3a61befe4_0_4220"/>
            <p:cNvSpPr/>
            <p:nvPr/>
          </p:nvSpPr>
          <p:spPr>
            <a:xfrm>
              <a:off x="5239747" y="5949280"/>
              <a:ext cx="4680600" cy="9087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Arial"/>
                  <a:ea typeface="Arial"/>
                  <a:cs typeface="Arial"/>
                  <a:sym typeface="Arial"/>
                </a:rPr>
                <a:t>25th Annual International Conference on Digital Government Research (dg.o 2024)</a:t>
              </a:r>
              <a:endParaRPr b="0" i="0" sz="1800" u="none" cap="none" strike="noStrike">
                <a:solidFill>
                  <a:schemeClr val="lt1"/>
                </a:solidFill>
                <a:latin typeface="Arial"/>
                <a:ea typeface="Arial"/>
                <a:cs typeface="Arial"/>
                <a:sym typeface="Arial"/>
              </a:endParaRPr>
            </a:p>
          </p:txBody>
        </p:sp>
        <p:pic>
          <p:nvPicPr>
            <p:cNvPr id="1527" name="Google Shape;1527;g3e3a61befe4_0_4220"/>
            <p:cNvPicPr preferRelativeResize="0"/>
            <p:nvPr/>
          </p:nvPicPr>
          <p:blipFill rotWithShape="1">
            <a:blip r:embed="rId3">
              <a:alphaModFix/>
            </a:blip>
            <a:srcRect b="-112517" l="-23390" r="23390" t="137700"/>
            <a:stretch/>
          </p:blipFill>
          <p:spPr>
            <a:xfrm>
              <a:off x="0" y="6007596"/>
              <a:ext cx="9920265" cy="792088"/>
            </a:xfrm>
            <a:prstGeom prst="rect">
              <a:avLst/>
            </a:prstGeom>
            <a:noFill/>
            <a:ln>
              <a:noFill/>
            </a:ln>
          </p:spPr>
        </p:pic>
        <p:sp>
          <p:nvSpPr>
            <p:cNvPr id="1528" name="Google Shape;1528;g3e3a61befe4_0_4220"/>
            <p:cNvSpPr/>
            <p:nvPr/>
          </p:nvSpPr>
          <p:spPr>
            <a:xfrm>
              <a:off x="-21650" y="5927750"/>
              <a:ext cx="9942000" cy="9087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sp>
        <p:nvSpPr>
          <p:cNvPr id="1529" name="Google Shape;1529;g3e3a61befe4_0_4220"/>
          <p:cNvSpPr txBox="1"/>
          <p:nvPr>
            <p:ph idx="12" type="sldNum"/>
          </p:nvPr>
        </p:nvSpPr>
        <p:spPr>
          <a:xfrm>
            <a:off x="6996113" y="6356350"/>
            <a:ext cx="22290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pic>
        <p:nvPicPr>
          <p:cNvPr id="1530" name="Google Shape;1530;g3e3a61befe4_0_4220"/>
          <p:cNvPicPr preferRelativeResize="0"/>
          <p:nvPr/>
        </p:nvPicPr>
        <p:blipFill rotWithShape="1">
          <a:blip r:embed="rId4">
            <a:alphaModFix/>
          </a:blip>
          <a:srcRect b="0" l="0" r="0" t="0"/>
          <a:stretch/>
        </p:blipFill>
        <p:spPr>
          <a:xfrm>
            <a:off x="218750" y="6052376"/>
            <a:ext cx="1823009" cy="470325"/>
          </a:xfrm>
          <a:prstGeom prst="rect">
            <a:avLst/>
          </a:prstGeom>
          <a:noFill/>
          <a:ln>
            <a:noFill/>
          </a:ln>
        </p:spPr>
      </p:pic>
      <p:pic>
        <p:nvPicPr>
          <p:cNvPr id="1531" name="Google Shape;1531;g3e3a61befe4_0_4220"/>
          <p:cNvPicPr preferRelativeResize="0"/>
          <p:nvPr/>
        </p:nvPicPr>
        <p:blipFill rotWithShape="1">
          <a:blip r:embed="rId5">
            <a:alphaModFix/>
          </a:blip>
          <a:srcRect b="0" l="0" r="0" t="0"/>
          <a:stretch/>
        </p:blipFill>
        <p:spPr>
          <a:xfrm>
            <a:off x="6996125" y="5975242"/>
            <a:ext cx="1811830" cy="624575"/>
          </a:xfrm>
          <a:prstGeom prst="rect">
            <a:avLst/>
          </a:prstGeom>
          <a:noFill/>
          <a:ln>
            <a:noFill/>
          </a:ln>
        </p:spPr>
      </p:pic>
      <p:sp>
        <p:nvSpPr>
          <p:cNvPr id="1532" name="Google Shape;1532;g3e3a61befe4_0_4220"/>
          <p:cNvSpPr/>
          <p:nvPr/>
        </p:nvSpPr>
        <p:spPr>
          <a:xfrm>
            <a:off x="2143350" y="1831500"/>
            <a:ext cx="1540500" cy="694500"/>
          </a:xfrm>
          <a:prstGeom prst="roundRect">
            <a:avLst>
              <a:gd fmla="val 16667" name="adj"/>
            </a:avLst>
          </a:prstGeom>
          <a:solidFill>
            <a:srgbClr val="EA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latin typeface="Calibri"/>
                <a:ea typeface="Calibri"/>
                <a:cs typeface="Calibri"/>
                <a:sym typeface="Calibri"/>
              </a:rPr>
              <a:t>Unequal access</a:t>
            </a:r>
            <a:endParaRPr>
              <a:latin typeface="Calibri"/>
              <a:ea typeface="Calibri"/>
              <a:cs typeface="Calibri"/>
              <a:sym typeface="Calibri"/>
            </a:endParaRPr>
          </a:p>
        </p:txBody>
      </p:sp>
      <p:sp>
        <p:nvSpPr>
          <p:cNvPr id="1533" name="Google Shape;1533;g3e3a61befe4_0_4220"/>
          <p:cNvSpPr/>
          <p:nvPr/>
        </p:nvSpPr>
        <p:spPr>
          <a:xfrm>
            <a:off x="2198750" y="3045475"/>
            <a:ext cx="1540500" cy="694500"/>
          </a:xfrm>
          <a:prstGeom prst="roundRect">
            <a:avLst>
              <a:gd fmla="val 16667" name="adj"/>
            </a:avLst>
          </a:prstGeom>
          <a:solidFill>
            <a:srgbClr val="EA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latin typeface="Calibri"/>
                <a:ea typeface="Calibri"/>
                <a:cs typeface="Calibri"/>
                <a:sym typeface="Calibri"/>
              </a:rPr>
              <a:t>Perpetuation of biases and </a:t>
            </a:r>
            <a:r>
              <a:rPr lang="en-US">
                <a:solidFill>
                  <a:schemeClr val="dk1"/>
                </a:solidFill>
                <a:latin typeface="Calibri"/>
                <a:ea typeface="Calibri"/>
                <a:cs typeface="Calibri"/>
                <a:sym typeface="Calibri"/>
              </a:rPr>
              <a:t>favoring zones</a:t>
            </a:r>
            <a:endParaRPr>
              <a:latin typeface="Calibri"/>
              <a:ea typeface="Calibri"/>
              <a:cs typeface="Calibri"/>
              <a:sym typeface="Calibri"/>
            </a:endParaRPr>
          </a:p>
        </p:txBody>
      </p:sp>
      <p:sp>
        <p:nvSpPr>
          <p:cNvPr id="1534" name="Google Shape;1534;g3e3a61befe4_0_4220"/>
          <p:cNvSpPr/>
          <p:nvPr/>
        </p:nvSpPr>
        <p:spPr>
          <a:xfrm>
            <a:off x="2209113" y="4317310"/>
            <a:ext cx="1519800" cy="900900"/>
          </a:xfrm>
          <a:prstGeom prst="roundRect">
            <a:avLst>
              <a:gd fmla="val 16667" name="adj"/>
            </a:avLst>
          </a:prstGeom>
          <a:solidFill>
            <a:srgbClr val="EA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latin typeface="Calibri"/>
                <a:ea typeface="Calibri"/>
                <a:cs typeface="Calibri"/>
                <a:sym typeface="Calibri"/>
              </a:rPr>
              <a:t>Lack of informed consent and risk of legal non-compliance</a:t>
            </a:r>
            <a:endParaRPr>
              <a:latin typeface="Calibri"/>
              <a:ea typeface="Calibri"/>
              <a:cs typeface="Calibri"/>
              <a:sym typeface="Calibri"/>
            </a:endParaRPr>
          </a:p>
        </p:txBody>
      </p:sp>
      <p:cxnSp>
        <p:nvCxnSpPr>
          <p:cNvPr id="1535" name="Google Shape;1535;g3e3a61befe4_0_4220"/>
          <p:cNvCxnSpPr/>
          <p:nvPr/>
        </p:nvCxnSpPr>
        <p:spPr>
          <a:xfrm flipH="1" rot="10800000">
            <a:off x="5749330" y="1037681"/>
            <a:ext cx="5400" cy="4500600"/>
          </a:xfrm>
          <a:prstGeom prst="straightConnector1">
            <a:avLst/>
          </a:prstGeom>
          <a:noFill/>
          <a:ln cap="flat" cmpd="sng" w="19050">
            <a:solidFill>
              <a:schemeClr val="dk2"/>
            </a:solidFill>
            <a:prstDash val="solid"/>
            <a:round/>
            <a:headEnd len="med" w="med" type="diamond"/>
            <a:tailEnd len="med" w="med" type="diamond"/>
          </a:ln>
        </p:spPr>
      </p:cxnSp>
      <p:sp>
        <p:nvSpPr>
          <p:cNvPr id="1536" name="Google Shape;1536;g3e3a61befe4_0_4220"/>
          <p:cNvSpPr txBox="1"/>
          <p:nvPr/>
        </p:nvSpPr>
        <p:spPr>
          <a:xfrm>
            <a:off x="4133525" y="1183500"/>
            <a:ext cx="1143000" cy="538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300">
                <a:solidFill>
                  <a:schemeClr val="dk1"/>
                </a:solidFill>
                <a:latin typeface="Calibri"/>
                <a:ea typeface="Calibri"/>
                <a:cs typeface="Calibri"/>
                <a:sym typeface="Calibri"/>
              </a:rPr>
              <a:t>ACTION</a:t>
            </a:r>
            <a:endParaRPr sz="2300">
              <a:solidFill>
                <a:schemeClr val="dk1"/>
              </a:solidFill>
              <a:latin typeface="Calibri"/>
              <a:ea typeface="Calibri"/>
              <a:cs typeface="Calibri"/>
              <a:sym typeface="Calibri"/>
            </a:endParaRPr>
          </a:p>
        </p:txBody>
      </p:sp>
      <p:sp>
        <p:nvSpPr>
          <p:cNvPr id="1537" name="Google Shape;1537;g3e3a61befe4_0_4220"/>
          <p:cNvSpPr txBox="1"/>
          <p:nvPr/>
        </p:nvSpPr>
        <p:spPr>
          <a:xfrm>
            <a:off x="6582100" y="1037675"/>
            <a:ext cx="1143000" cy="538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2300">
              <a:solidFill>
                <a:schemeClr val="dk1"/>
              </a:solidFill>
              <a:latin typeface="Calibri"/>
              <a:ea typeface="Calibri"/>
              <a:cs typeface="Calibri"/>
              <a:sym typeface="Calibri"/>
            </a:endParaRPr>
          </a:p>
        </p:txBody>
      </p:sp>
      <p:cxnSp>
        <p:nvCxnSpPr>
          <p:cNvPr id="1538" name="Google Shape;1538;g3e3a61befe4_0_4220"/>
          <p:cNvCxnSpPr/>
          <p:nvPr/>
        </p:nvCxnSpPr>
        <p:spPr>
          <a:xfrm flipH="1" rot="10800000">
            <a:off x="3996475" y="1686200"/>
            <a:ext cx="5807400" cy="13500"/>
          </a:xfrm>
          <a:prstGeom prst="straightConnector1">
            <a:avLst/>
          </a:prstGeom>
          <a:noFill/>
          <a:ln cap="flat" cmpd="sng" w="9525">
            <a:solidFill>
              <a:schemeClr val="dk2"/>
            </a:solidFill>
            <a:prstDash val="solid"/>
            <a:round/>
            <a:headEnd len="med" w="med" type="none"/>
            <a:tailEnd len="med" w="med" type="none"/>
          </a:ln>
        </p:spPr>
      </p:cxnSp>
      <p:cxnSp>
        <p:nvCxnSpPr>
          <p:cNvPr id="1539" name="Google Shape;1539;g3e3a61befe4_0_4220"/>
          <p:cNvCxnSpPr/>
          <p:nvPr/>
        </p:nvCxnSpPr>
        <p:spPr>
          <a:xfrm flipH="1" rot="10800000">
            <a:off x="7820201" y="1037681"/>
            <a:ext cx="5400" cy="4500600"/>
          </a:xfrm>
          <a:prstGeom prst="straightConnector1">
            <a:avLst/>
          </a:prstGeom>
          <a:noFill/>
          <a:ln cap="flat" cmpd="sng" w="19050">
            <a:solidFill>
              <a:schemeClr val="dk2"/>
            </a:solidFill>
            <a:prstDash val="solid"/>
            <a:round/>
            <a:headEnd len="med" w="med" type="diamond"/>
            <a:tailEnd len="med" w="med" type="diamond"/>
          </a:ln>
        </p:spPr>
      </p:cxnSp>
      <p:cxnSp>
        <p:nvCxnSpPr>
          <p:cNvPr id="1540" name="Google Shape;1540;g3e3a61befe4_0_4220"/>
          <p:cNvCxnSpPr/>
          <p:nvPr/>
        </p:nvCxnSpPr>
        <p:spPr>
          <a:xfrm>
            <a:off x="3983025" y="2788925"/>
            <a:ext cx="5820900" cy="4500"/>
          </a:xfrm>
          <a:prstGeom prst="straightConnector1">
            <a:avLst/>
          </a:prstGeom>
          <a:noFill/>
          <a:ln cap="flat" cmpd="sng" w="9525">
            <a:solidFill>
              <a:schemeClr val="dk2"/>
            </a:solidFill>
            <a:prstDash val="solid"/>
            <a:round/>
            <a:headEnd len="med" w="med" type="none"/>
            <a:tailEnd len="med" w="med" type="none"/>
          </a:ln>
        </p:spPr>
      </p:cxnSp>
      <p:cxnSp>
        <p:nvCxnSpPr>
          <p:cNvPr id="1541" name="Google Shape;1541;g3e3a61befe4_0_4220"/>
          <p:cNvCxnSpPr/>
          <p:nvPr/>
        </p:nvCxnSpPr>
        <p:spPr>
          <a:xfrm>
            <a:off x="4104050" y="4120175"/>
            <a:ext cx="5700000" cy="9000"/>
          </a:xfrm>
          <a:prstGeom prst="straightConnector1">
            <a:avLst/>
          </a:prstGeom>
          <a:noFill/>
          <a:ln cap="flat" cmpd="sng" w="9525">
            <a:solidFill>
              <a:schemeClr val="dk2"/>
            </a:solidFill>
            <a:prstDash val="solid"/>
            <a:round/>
            <a:headEnd len="med" w="med" type="none"/>
            <a:tailEnd len="med" w="med" type="none"/>
          </a:ln>
        </p:spPr>
      </p:cxnSp>
      <p:sp>
        <p:nvSpPr>
          <p:cNvPr id="1542" name="Google Shape;1542;g3e3a61befe4_0_4220"/>
          <p:cNvSpPr/>
          <p:nvPr/>
        </p:nvSpPr>
        <p:spPr>
          <a:xfrm>
            <a:off x="81550" y="2826475"/>
            <a:ext cx="2064900" cy="11325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latin typeface="Calibri"/>
                <a:ea typeface="Calibri"/>
                <a:cs typeface="Calibri"/>
                <a:sym typeface="Calibri"/>
              </a:rPr>
              <a:t>The calculation of the number of scooters to be transferred to each zone is based on usage annually history</a:t>
            </a:r>
            <a:endParaRPr>
              <a:latin typeface="Calibri"/>
              <a:ea typeface="Calibri"/>
              <a:cs typeface="Calibri"/>
              <a:sym typeface="Calibri"/>
            </a:endParaRPr>
          </a:p>
        </p:txBody>
      </p:sp>
      <p:sp>
        <p:nvSpPr>
          <p:cNvPr id="1543" name="Google Shape;1543;g3e3a61befe4_0_4220"/>
          <p:cNvSpPr txBox="1"/>
          <p:nvPr/>
        </p:nvSpPr>
        <p:spPr>
          <a:xfrm>
            <a:off x="689250" y="1193649"/>
            <a:ext cx="9006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700">
                <a:solidFill>
                  <a:schemeClr val="dk1"/>
                </a:solidFill>
                <a:latin typeface="Calibri"/>
                <a:ea typeface="Calibri"/>
                <a:cs typeface="Calibri"/>
                <a:sym typeface="Calibri"/>
              </a:rPr>
              <a:t>Cause</a:t>
            </a:r>
            <a:endParaRPr b="1" sz="1700">
              <a:solidFill>
                <a:schemeClr val="dk1"/>
              </a:solidFill>
              <a:latin typeface="Calibri"/>
              <a:ea typeface="Calibri"/>
              <a:cs typeface="Calibri"/>
              <a:sym typeface="Calibri"/>
            </a:endParaRPr>
          </a:p>
        </p:txBody>
      </p:sp>
      <p:sp>
        <p:nvSpPr>
          <p:cNvPr id="1544" name="Google Shape;1544;g3e3a61befe4_0_4220"/>
          <p:cNvSpPr txBox="1"/>
          <p:nvPr/>
        </p:nvSpPr>
        <p:spPr>
          <a:xfrm>
            <a:off x="2271237" y="1193646"/>
            <a:ext cx="15405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700">
                <a:solidFill>
                  <a:schemeClr val="dk1"/>
                </a:solidFill>
                <a:latin typeface="Calibri"/>
                <a:ea typeface="Calibri"/>
                <a:cs typeface="Calibri"/>
                <a:sym typeface="Calibri"/>
              </a:rPr>
              <a:t>Consequences</a:t>
            </a:r>
            <a:endParaRPr b="1" sz="1700">
              <a:solidFill>
                <a:schemeClr val="dk1"/>
              </a:solidFill>
              <a:latin typeface="Calibri"/>
              <a:ea typeface="Calibri"/>
              <a:cs typeface="Calibri"/>
              <a:sym typeface="Calibri"/>
            </a:endParaRPr>
          </a:p>
        </p:txBody>
      </p:sp>
      <p:sp>
        <p:nvSpPr>
          <p:cNvPr id="1545" name="Google Shape;1545;g3e3a61befe4_0_4220"/>
          <p:cNvSpPr/>
          <p:nvPr/>
        </p:nvSpPr>
        <p:spPr>
          <a:xfrm>
            <a:off x="81550" y="4259450"/>
            <a:ext cx="2064900" cy="11325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latin typeface="Calibri"/>
                <a:ea typeface="Calibri"/>
                <a:cs typeface="Calibri"/>
                <a:sym typeface="Calibri"/>
              </a:rPr>
              <a:t>Collection of user data (location and usage times) to generate zone demand information</a:t>
            </a:r>
            <a:endParaRPr>
              <a:latin typeface="Calibri"/>
              <a:ea typeface="Calibri"/>
              <a:cs typeface="Calibri"/>
              <a:sym typeface="Calibri"/>
            </a:endParaRPr>
          </a:p>
        </p:txBody>
      </p:sp>
      <p:sp>
        <p:nvSpPr>
          <p:cNvPr id="1546" name="Google Shape;1546;g3e3a61befe4_0_4220"/>
          <p:cNvSpPr txBox="1"/>
          <p:nvPr/>
        </p:nvSpPr>
        <p:spPr>
          <a:xfrm>
            <a:off x="5936538" y="1147450"/>
            <a:ext cx="1540500" cy="538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300">
                <a:solidFill>
                  <a:schemeClr val="dk1"/>
                </a:solidFill>
                <a:latin typeface="Calibri"/>
                <a:ea typeface="Calibri"/>
                <a:cs typeface="Calibri"/>
                <a:sym typeface="Calibri"/>
              </a:rPr>
              <a:t>INFLUENCE</a:t>
            </a:r>
            <a:endParaRPr sz="2300">
              <a:solidFill>
                <a:schemeClr val="dk1"/>
              </a:solidFill>
              <a:latin typeface="Calibri"/>
              <a:ea typeface="Calibri"/>
              <a:cs typeface="Calibri"/>
              <a:sym typeface="Calibri"/>
            </a:endParaRPr>
          </a:p>
        </p:txBody>
      </p:sp>
      <p:sp>
        <p:nvSpPr>
          <p:cNvPr id="1547" name="Google Shape;1547;g3e3a61befe4_0_4220"/>
          <p:cNvSpPr txBox="1"/>
          <p:nvPr/>
        </p:nvSpPr>
        <p:spPr>
          <a:xfrm>
            <a:off x="8137063" y="1183500"/>
            <a:ext cx="1540500" cy="538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300">
                <a:solidFill>
                  <a:schemeClr val="dk1"/>
                </a:solidFill>
                <a:latin typeface="Calibri"/>
                <a:ea typeface="Calibri"/>
                <a:cs typeface="Calibri"/>
                <a:sym typeface="Calibri"/>
              </a:rPr>
              <a:t>MONITOR</a:t>
            </a:r>
            <a:endParaRPr sz="2300">
              <a:solidFill>
                <a:schemeClr val="dk1"/>
              </a:solidFill>
              <a:latin typeface="Calibri"/>
              <a:ea typeface="Calibri"/>
              <a:cs typeface="Calibri"/>
              <a:sym typeface="Calibri"/>
            </a:endParaRPr>
          </a:p>
        </p:txBody>
      </p:sp>
      <p:sp>
        <p:nvSpPr>
          <p:cNvPr id="1548" name="Google Shape;1548;g3e3a61befe4_0_4220"/>
          <p:cNvSpPr txBox="1"/>
          <p:nvPr/>
        </p:nvSpPr>
        <p:spPr>
          <a:xfrm>
            <a:off x="8017135" y="1753493"/>
            <a:ext cx="17589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solidFill>
                  <a:schemeClr val="dk1"/>
                </a:solidFill>
                <a:latin typeface="Calibri"/>
                <a:ea typeface="Calibri"/>
                <a:cs typeface="Calibri"/>
                <a:sym typeface="Calibri"/>
              </a:rPr>
              <a:t>Continuously monitor whether all zones are receiving adequate numbers of scooters.</a:t>
            </a:r>
            <a:endParaRPr>
              <a:solidFill>
                <a:schemeClr val="dk1"/>
              </a:solidFill>
              <a:latin typeface="Calibri"/>
              <a:ea typeface="Calibri"/>
              <a:cs typeface="Calibri"/>
              <a:sym typeface="Calibri"/>
            </a:endParaRPr>
          </a:p>
        </p:txBody>
      </p:sp>
      <p:sp>
        <p:nvSpPr>
          <p:cNvPr id="1549" name="Google Shape;1549;g3e3a61befe4_0_4220"/>
          <p:cNvSpPr/>
          <p:nvPr/>
        </p:nvSpPr>
        <p:spPr>
          <a:xfrm>
            <a:off x="69450" y="1637966"/>
            <a:ext cx="2034000" cy="10149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US">
                <a:solidFill>
                  <a:schemeClr val="dk1"/>
                </a:solidFill>
                <a:latin typeface="Calibri"/>
                <a:ea typeface="Calibri"/>
                <a:cs typeface="Calibri"/>
                <a:sym typeface="Calibri"/>
              </a:rPr>
              <a:t>There is no minimum scooter retention policy to prevent zones from becoming empty after transfers</a:t>
            </a:r>
            <a:endParaRPr>
              <a:latin typeface="Calibri"/>
              <a:ea typeface="Calibri"/>
              <a:cs typeface="Calibri"/>
              <a:sym typeface="Calibri"/>
            </a:endParaRPr>
          </a:p>
        </p:txBody>
      </p:sp>
      <p:sp>
        <p:nvSpPr>
          <p:cNvPr id="1550" name="Google Shape;1550;g3e3a61befe4_0_4220"/>
          <p:cNvSpPr txBox="1"/>
          <p:nvPr/>
        </p:nvSpPr>
        <p:spPr>
          <a:xfrm>
            <a:off x="3869181" y="1632582"/>
            <a:ext cx="1823100" cy="1262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solidFill>
                  <a:schemeClr val="dk1"/>
                </a:solidFill>
                <a:latin typeface="Calibri"/>
                <a:ea typeface="Calibri"/>
                <a:cs typeface="Calibri"/>
                <a:sym typeface="Calibri"/>
              </a:rPr>
              <a:t>Define a minimum scooter threshold per zone to avoid complete depletion after transfers</a:t>
            </a:r>
            <a:endParaRPr>
              <a:solidFill>
                <a:schemeClr val="dk1"/>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4" name="Shape 1554"/>
        <p:cNvGrpSpPr/>
        <p:nvPr/>
      </p:nvGrpSpPr>
      <p:grpSpPr>
        <a:xfrm>
          <a:off x="0" y="0"/>
          <a:ext cx="0" cy="0"/>
          <a:chOff x="0" y="0"/>
          <a:chExt cx="0" cy="0"/>
        </a:xfrm>
      </p:grpSpPr>
      <p:sp>
        <p:nvSpPr>
          <p:cNvPr id="1555" name="Google Shape;1555;g3e3a61befe4_0_4253"/>
          <p:cNvSpPr txBox="1"/>
          <p:nvPr>
            <p:ph type="title"/>
          </p:nvPr>
        </p:nvSpPr>
        <p:spPr>
          <a:xfrm>
            <a:off x="101475" y="108450"/>
            <a:ext cx="9635100" cy="6246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1E4E79"/>
              </a:buClr>
              <a:buSzPts val="4000"/>
              <a:buFont typeface="Arial"/>
              <a:buNone/>
            </a:pPr>
            <a:r>
              <a:rPr lang="en-US" sz="2400"/>
              <a:t>Step 3.3: Classification of ethical consequences into Action, Influence, and Monitor</a:t>
            </a:r>
            <a:endParaRPr sz="2400"/>
          </a:p>
        </p:txBody>
      </p:sp>
      <p:grpSp>
        <p:nvGrpSpPr>
          <p:cNvPr id="1556" name="Google Shape;1556;g3e3a61befe4_0_4253"/>
          <p:cNvGrpSpPr/>
          <p:nvPr/>
        </p:nvGrpSpPr>
        <p:grpSpPr>
          <a:xfrm>
            <a:off x="-18000" y="5842891"/>
            <a:ext cx="9942000" cy="1014788"/>
            <a:chOff x="-21650" y="5927750"/>
            <a:chExt cx="9942000" cy="930230"/>
          </a:xfrm>
        </p:grpSpPr>
        <p:sp>
          <p:nvSpPr>
            <p:cNvPr id="1557" name="Google Shape;1557;g3e3a61befe4_0_4253"/>
            <p:cNvSpPr/>
            <p:nvPr/>
          </p:nvSpPr>
          <p:spPr>
            <a:xfrm>
              <a:off x="5239747" y="5949280"/>
              <a:ext cx="4680600" cy="9087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Arial"/>
                  <a:ea typeface="Arial"/>
                  <a:cs typeface="Arial"/>
                  <a:sym typeface="Arial"/>
                </a:rPr>
                <a:t>25th Annual International Conference on Digital Government Research (dg.o 2024)</a:t>
              </a:r>
              <a:endParaRPr b="0" i="0" sz="1800" u="none" cap="none" strike="noStrike">
                <a:solidFill>
                  <a:schemeClr val="lt1"/>
                </a:solidFill>
                <a:latin typeface="Arial"/>
                <a:ea typeface="Arial"/>
                <a:cs typeface="Arial"/>
                <a:sym typeface="Arial"/>
              </a:endParaRPr>
            </a:p>
          </p:txBody>
        </p:sp>
        <p:pic>
          <p:nvPicPr>
            <p:cNvPr id="1558" name="Google Shape;1558;g3e3a61befe4_0_4253"/>
            <p:cNvPicPr preferRelativeResize="0"/>
            <p:nvPr/>
          </p:nvPicPr>
          <p:blipFill rotWithShape="1">
            <a:blip r:embed="rId3">
              <a:alphaModFix/>
            </a:blip>
            <a:srcRect b="-112517" l="-23390" r="23390" t="137700"/>
            <a:stretch/>
          </p:blipFill>
          <p:spPr>
            <a:xfrm>
              <a:off x="0" y="6007596"/>
              <a:ext cx="9920265" cy="792088"/>
            </a:xfrm>
            <a:prstGeom prst="rect">
              <a:avLst/>
            </a:prstGeom>
            <a:noFill/>
            <a:ln>
              <a:noFill/>
            </a:ln>
          </p:spPr>
        </p:pic>
        <p:sp>
          <p:nvSpPr>
            <p:cNvPr id="1559" name="Google Shape;1559;g3e3a61befe4_0_4253"/>
            <p:cNvSpPr/>
            <p:nvPr/>
          </p:nvSpPr>
          <p:spPr>
            <a:xfrm>
              <a:off x="-21650" y="5927750"/>
              <a:ext cx="9942000" cy="9087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sp>
        <p:nvSpPr>
          <p:cNvPr id="1560" name="Google Shape;1560;g3e3a61befe4_0_4253"/>
          <p:cNvSpPr txBox="1"/>
          <p:nvPr>
            <p:ph idx="12" type="sldNum"/>
          </p:nvPr>
        </p:nvSpPr>
        <p:spPr>
          <a:xfrm>
            <a:off x="6996113" y="6356350"/>
            <a:ext cx="22290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pic>
        <p:nvPicPr>
          <p:cNvPr id="1561" name="Google Shape;1561;g3e3a61befe4_0_4253"/>
          <p:cNvPicPr preferRelativeResize="0"/>
          <p:nvPr/>
        </p:nvPicPr>
        <p:blipFill rotWithShape="1">
          <a:blip r:embed="rId4">
            <a:alphaModFix/>
          </a:blip>
          <a:srcRect b="0" l="0" r="0" t="0"/>
          <a:stretch/>
        </p:blipFill>
        <p:spPr>
          <a:xfrm>
            <a:off x="218750" y="6052376"/>
            <a:ext cx="1823009" cy="470325"/>
          </a:xfrm>
          <a:prstGeom prst="rect">
            <a:avLst/>
          </a:prstGeom>
          <a:noFill/>
          <a:ln>
            <a:noFill/>
          </a:ln>
        </p:spPr>
      </p:pic>
      <p:pic>
        <p:nvPicPr>
          <p:cNvPr id="1562" name="Google Shape;1562;g3e3a61befe4_0_4253"/>
          <p:cNvPicPr preferRelativeResize="0"/>
          <p:nvPr/>
        </p:nvPicPr>
        <p:blipFill rotWithShape="1">
          <a:blip r:embed="rId5">
            <a:alphaModFix/>
          </a:blip>
          <a:srcRect b="0" l="0" r="0" t="0"/>
          <a:stretch/>
        </p:blipFill>
        <p:spPr>
          <a:xfrm>
            <a:off x="6996125" y="5975242"/>
            <a:ext cx="1811830" cy="624575"/>
          </a:xfrm>
          <a:prstGeom prst="rect">
            <a:avLst/>
          </a:prstGeom>
          <a:noFill/>
          <a:ln>
            <a:noFill/>
          </a:ln>
        </p:spPr>
      </p:pic>
      <p:sp>
        <p:nvSpPr>
          <p:cNvPr id="1563" name="Google Shape;1563;g3e3a61befe4_0_4253"/>
          <p:cNvSpPr/>
          <p:nvPr/>
        </p:nvSpPr>
        <p:spPr>
          <a:xfrm>
            <a:off x="2143350" y="1831500"/>
            <a:ext cx="1540500" cy="694500"/>
          </a:xfrm>
          <a:prstGeom prst="roundRect">
            <a:avLst>
              <a:gd fmla="val 16667" name="adj"/>
            </a:avLst>
          </a:prstGeom>
          <a:solidFill>
            <a:srgbClr val="EA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latin typeface="Calibri"/>
                <a:ea typeface="Calibri"/>
                <a:cs typeface="Calibri"/>
                <a:sym typeface="Calibri"/>
              </a:rPr>
              <a:t>Unequal access</a:t>
            </a:r>
            <a:endParaRPr>
              <a:latin typeface="Calibri"/>
              <a:ea typeface="Calibri"/>
              <a:cs typeface="Calibri"/>
              <a:sym typeface="Calibri"/>
            </a:endParaRPr>
          </a:p>
        </p:txBody>
      </p:sp>
      <p:sp>
        <p:nvSpPr>
          <p:cNvPr id="1564" name="Google Shape;1564;g3e3a61befe4_0_4253"/>
          <p:cNvSpPr/>
          <p:nvPr/>
        </p:nvSpPr>
        <p:spPr>
          <a:xfrm>
            <a:off x="2198750" y="3045475"/>
            <a:ext cx="1540500" cy="694500"/>
          </a:xfrm>
          <a:prstGeom prst="roundRect">
            <a:avLst>
              <a:gd fmla="val 16667" name="adj"/>
            </a:avLst>
          </a:prstGeom>
          <a:solidFill>
            <a:srgbClr val="EA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latin typeface="Calibri"/>
                <a:ea typeface="Calibri"/>
                <a:cs typeface="Calibri"/>
                <a:sym typeface="Calibri"/>
              </a:rPr>
              <a:t>Perpetuation of biases and </a:t>
            </a:r>
            <a:r>
              <a:rPr lang="en-US">
                <a:solidFill>
                  <a:schemeClr val="dk1"/>
                </a:solidFill>
                <a:latin typeface="Calibri"/>
                <a:ea typeface="Calibri"/>
                <a:cs typeface="Calibri"/>
                <a:sym typeface="Calibri"/>
              </a:rPr>
              <a:t>favoring zones</a:t>
            </a:r>
            <a:endParaRPr>
              <a:latin typeface="Calibri"/>
              <a:ea typeface="Calibri"/>
              <a:cs typeface="Calibri"/>
              <a:sym typeface="Calibri"/>
            </a:endParaRPr>
          </a:p>
        </p:txBody>
      </p:sp>
      <p:sp>
        <p:nvSpPr>
          <p:cNvPr id="1565" name="Google Shape;1565;g3e3a61befe4_0_4253"/>
          <p:cNvSpPr/>
          <p:nvPr/>
        </p:nvSpPr>
        <p:spPr>
          <a:xfrm>
            <a:off x="2209113" y="4317310"/>
            <a:ext cx="1519800" cy="900900"/>
          </a:xfrm>
          <a:prstGeom prst="roundRect">
            <a:avLst>
              <a:gd fmla="val 16667" name="adj"/>
            </a:avLst>
          </a:prstGeom>
          <a:solidFill>
            <a:srgbClr val="EA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latin typeface="Calibri"/>
                <a:ea typeface="Calibri"/>
                <a:cs typeface="Calibri"/>
                <a:sym typeface="Calibri"/>
              </a:rPr>
              <a:t>Lack of informed consent and risk of legal non-compliance</a:t>
            </a:r>
            <a:endParaRPr>
              <a:latin typeface="Calibri"/>
              <a:ea typeface="Calibri"/>
              <a:cs typeface="Calibri"/>
              <a:sym typeface="Calibri"/>
            </a:endParaRPr>
          </a:p>
        </p:txBody>
      </p:sp>
      <p:cxnSp>
        <p:nvCxnSpPr>
          <p:cNvPr id="1566" name="Google Shape;1566;g3e3a61befe4_0_4253"/>
          <p:cNvCxnSpPr/>
          <p:nvPr/>
        </p:nvCxnSpPr>
        <p:spPr>
          <a:xfrm flipH="1" rot="10800000">
            <a:off x="5749330" y="1037681"/>
            <a:ext cx="5400" cy="4500600"/>
          </a:xfrm>
          <a:prstGeom prst="straightConnector1">
            <a:avLst/>
          </a:prstGeom>
          <a:noFill/>
          <a:ln cap="flat" cmpd="sng" w="19050">
            <a:solidFill>
              <a:schemeClr val="dk2"/>
            </a:solidFill>
            <a:prstDash val="solid"/>
            <a:round/>
            <a:headEnd len="med" w="med" type="diamond"/>
            <a:tailEnd len="med" w="med" type="diamond"/>
          </a:ln>
        </p:spPr>
      </p:cxnSp>
      <p:sp>
        <p:nvSpPr>
          <p:cNvPr id="1567" name="Google Shape;1567;g3e3a61befe4_0_4253"/>
          <p:cNvSpPr txBox="1"/>
          <p:nvPr/>
        </p:nvSpPr>
        <p:spPr>
          <a:xfrm>
            <a:off x="4133525" y="1183500"/>
            <a:ext cx="1143000" cy="538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300">
                <a:solidFill>
                  <a:schemeClr val="dk1"/>
                </a:solidFill>
                <a:latin typeface="Calibri"/>
                <a:ea typeface="Calibri"/>
                <a:cs typeface="Calibri"/>
                <a:sym typeface="Calibri"/>
              </a:rPr>
              <a:t>ACTION</a:t>
            </a:r>
            <a:endParaRPr sz="2300">
              <a:solidFill>
                <a:schemeClr val="dk1"/>
              </a:solidFill>
              <a:latin typeface="Calibri"/>
              <a:ea typeface="Calibri"/>
              <a:cs typeface="Calibri"/>
              <a:sym typeface="Calibri"/>
            </a:endParaRPr>
          </a:p>
        </p:txBody>
      </p:sp>
      <p:sp>
        <p:nvSpPr>
          <p:cNvPr id="1568" name="Google Shape;1568;g3e3a61befe4_0_4253"/>
          <p:cNvSpPr txBox="1"/>
          <p:nvPr/>
        </p:nvSpPr>
        <p:spPr>
          <a:xfrm>
            <a:off x="6582100" y="1037675"/>
            <a:ext cx="1143000" cy="538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2300">
              <a:solidFill>
                <a:schemeClr val="dk1"/>
              </a:solidFill>
              <a:latin typeface="Calibri"/>
              <a:ea typeface="Calibri"/>
              <a:cs typeface="Calibri"/>
              <a:sym typeface="Calibri"/>
            </a:endParaRPr>
          </a:p>
        </p:txBody>
      </p:sp>
      <p:cxnSp>
        <p:nvCxnSpPr>
          <p:cNvPr id="1569" name="Google Shape;1569;g3e3a61befe4_0_4253"/>
          <p:cNvCxnSpPr/>
          <p:nvPr/>
        </p:nvCxnSpPr>
        <p:spPr>
          <a:xfrm flipH="1" rot="10800000">
            <a:off x="3996475" y="1686200"/>
            <a:ext cx="5807400" cy="13500"/>
          </a:xfrm>
          <a:prstGeom prst="straightConnector1">
            <a:avLst/>
          </a:prstGeom>
          <a:noFill/>
          <a:ln cap="flat" cmpd="sng" w="9525">
            <a:solidFill>
              <a:schemeClr val="dk2"/>
            </a:solidFill>
            <a:prstDash val="solid"/>
            <a:round/>
            <a:headEnd len="med" w="med" type="none"/>
            <a:tailEnd len="med" w="med" type="none"/>
          </a:ln>
        </p:spPr>
      </p:cxnSp>
      <p:cxnSp>
        <p:nvCxnSpPr>
          <p:cNvPr id="1570" name="Google Shape;1570;g3e3a61befe4_0_4253"/>
          <p:cNvCxnSpPr/>
          <p:nvPr/>
        </p:nvCxnSpPr>
        <p:spPr>
          <a:xfrm flipH="1" rot="10800000">
            <a:off x="7820201" y="1037681"/>
            <a:ext cx="5400" cy="4500600"/>
          </a:xfrm>
          <a:prstGeom prst="straightConnector1">
            <a:avLst/>
          </a:prstGeom>
          <a:noFill/>
          <a:ln cap="flat" cmpd="sng" w="19050">
            <a:solidFill>
              <a:schemeClr val="dk2"/>
            </a:solidFill>
            <a:prstDash val="solid"/>
            <a:round/>
            <a:headEnd len="med" w="med" type="diamond"/>
            <a:tailEnd len="med" w="med" type="diamond"/>
          </a:ln>
        </p:spPr>
      </p:cxnSp>
      <p:cxnSp>
        <p:nvCxnSpPr>
          <p:cNvPr id="1571" name="Google Shape;1571;g3e3a61befe4_0_4253"/>
          <p:cNvCxnSpPr/>
          <p:nvPr/>
        </p:nvCxnSpPr>
        <p:spPr>
          <a:xfrm>
            <a:off x="3983025" y="2788925"/>
            <a:ext cx="5820900" cy="4500"/>
          </a:xfrm>
          <a:prstGeom prst="straightConnector1">
            <a:avLst/>
          </a:prstGeom>
          <a:noFill/>
          <a:ln cap="flat" cmpd="sng" w="9525">
            <a:solidFill>
              <a:schemeClr val="dk2"/>
            </a:solidFill>
            <a:prstDash val="solid"/>
            <a:round/>
            <a:headEnd len="med" w="med" type="none"/>
            <a:tailEnd len="med" w="med" type="none"/>
          </a:ln>
        </p:spPr>
      </p:cxnSp>
      <p:cxnSp>
        <p:nvCxnSpPr>
          <p:cNvPr id="1572" name="Google Shape;1572;g3e3a61befe4_0_4253"/>
          <p:cNvCxnSpPr/>
          <p:nvPr/>
        </p:nvCxnSpPr>
        <p:spPr>
          <a:xfrm>
            <a:off x="4104050" y="4120175"/>
            <a:ext cx="5700000" cy="9000"/>
          </a:xfrm>
          <a:prstGeom prst="straightConnector1">
            <a:avLst/>
          </a:prstGeom>
          <a:noFill/>
          <a:ln cap="flat" cmpd="sng" w="9525">
            <a:solidFill>
              <a:schemeClr val="dk2"/>
            </a:solidFill>
            <a:prstDash val="solid"/>
            <a:round/>
            <a:headEnd len="med" w="med" type="none"/>
            <a:tailEnd len="med" w="med" type="none"/>
          </a:ln>
        </p:spPr>
      </p:cxnSp>
      <p:sp>
        <p:nvSpPr>
          <p:cNvPr id="1573" name="Google Shape;1573;g3e3a61befe4_0_4253"/>
          <p:cNvSpPr/>
          <p:nvPr/>
        </p:nvSpPr>
        <p:spPr>
          <a:xfrm>
            <a:off x="81550" y="2826475"/>
            <a:ext cx="2064900" cy="11325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latin typeface="Calibri"/>
                <a:ea typeface="Calibri"/>
                <a:cs typeface="Calibri"/>
                <a:sym typeface="Calibri"/>
              </a:rPr>
              <a:t>The calculation of the number of scooters to be transferred to each zone is based on usage annually history</a:t>
            </a:r>
            <a:endParaRPr>
              <a:latin typeface="Calibri"/>
              <a:ea typeface="Calibri"/>
              <a:cs typeface="Calibri"/>
              <a:sym typeface="Calibri"/>
            </a:endParaRPr>
          </a:p>
        </p:txBody>
      </p:sp>
      <p:sp>
        <p:nvSpPr>
          <p:cNvPr id="1574" name="Google Shape;1574;g3e3a61befe4_0_4253"/>
          <p:cNvSpPr txBox="1"/>
          <p:nvPr/>
        </p:nvSpPr>
        <p:spPr>
          <a:xfrm>
            <a:off x="689250" y="1193649"/>
            <a:ext cx="9006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700">
                <a:solidFill>
                  <a:schemeClr val="dk1"/>
                </a:solidFill>
                <a:latin typeface="Calibri"/>
                <a:ea typeface="Calibri"/>
                <a:cs typeface="Calibri"/>
                <a:sym typeface="Calibri"/>
              </a:rPr>
              <a:t>Cause</a:t>
            </a:r>
            <a:endParaRPr b="1" sz="1700">
              <a:solidFill>
                <a:schemeClr val="dk1"/>
              </a:solidFill>
              <a:latin typeface="Calibri"/>
              <a:ea typeface="Calibri"/>
              <a:cs typeface="Calibri"/>
              <a:sym typeface="Calibri"/>
            </a:endParaRPr>
          </a:p>
        </p:txBody>
      </p:sp>
      <p:sp>
        <p:nvSpPr>
          <p:cNvPr id="1575" name="Google Shape;1575;g3e3a61befe4_0_4253"/>
          <p:cNvSpPr txBox="1"/>
          <p:nvPr/>
        </p:nvSpPr>
        <p:spPr>
          <a:xfrm>
            <a:off x="2271237" y="1193646"/>
            <a:ext cx="15405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700">
                <a:solidFill>
                  <a:schemeClr val="dk1"/>
                </a:solidFill>
                <a:latin typeface="Calibri"/>
                <a:ea typeface="Calibri"/>
                <a:cs typeface="Calibri"/>
                <a:sym typeface="Calibri"/>
              </a:rPr>
              <a:t>Consequences</a:t>
            </a:r>
            <a:endParaRPr b="1" sz="1700">
              <a:solidFill>
                <a:schemeClr val="dk1"/>
              </a:solidFill>
              <a:latin typeface="Calibri"/>
              <a:ea typeface="Calibri"/>
              <a:cs typeface="Calibri"/>
              <a:sym typeface="Calibri"/>
            </a:endParaRPr>
          </a:p>
        </p:txBody>
      </p:sp>
      <p:sp>
        <p:nvSpPr>
          <p:cNvPr id="1576" name="Google Shape;1576;g3e3a61befe4_0_4253"/>
          <p:cNvSpPr/>
          <p:nvPr/>
        </p:nvSpPr>
        <p:spPr>
          <a:xfrm>
            <a:off x="81550" y="4259450"/>
            <a:ext cx="2064900" cy="11325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latin typeface="Calibri"/>
                <a:ea typeface="Calibri"/>
                <a:cs typeface="Calibri"/>
                <a:sym typeface="Calibri"/>
              </a:rPr>
              <a:t>Collection of user data (location and usage times) to generate zone demand information</a:t>
            </a:r>
            <a:endParaRPr>
              <a:latin typeface="Calibri"/>
              <a:ea typeface="Calibri"/>
              <a:cs typeface="Calibri"/>
              <a:sym typeface="Calibri"/>
            </a:endParaRPr>
          </a:p>
        </p:txBody>
      </p:sp>
      <p:sp>
        <p:nvSpPr>
          <p:cNvPr id="1577" name="Google Shape;1577;g3e3a61befe4_0_4253"/>
          <p:cNvSpPr txBox="1"/>
          <p:nvPr/>
        </p:nvSpPr>
        <p:spPr>
          <a:xfrm>
            <a:off x="5936538" y="1147450"/>
            <a:ext cx="1540500" cy="538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300">
                <a:solidFill>
                  <a:schemeClr val="dk1"/>
                </a:solidFill>
                <a:latin typeface="Calibri"/>
                <a:ea typeface="Calibri"/>
                <a:cs typeface="Calibri"/>
                <a:sym typeface="Calibri"/>
              </a:rPr>
              <a:t>INFLUENCE</a:t>
            </a:r>
            <a:endParaRPr sz="2300">
              <a:solidFill>
                <a:schemeClr val="dk1"/>
              </a:solidFill>
              <a:latin typeface="Calibri"/>
              <a:ea typeface="Calibri"/>
              <a:cs typeface="Calibri"/>
              <a:sym typeface="Calibri"/>
            </a:endParaRPr>
          </a:p>
        </p:txBody>
      </p:sp>
      <p:sp>
        <p:nvSpPr>
          <p:cNvPr id="1578" name="Google Shape;1578;g3e3a61befe4_0_4253"/>
          <p:cNvSpPr txBox="1"/>
          <p:nvPr/>
        </p:nvSpPr>
        <p:spPr>
          <a:xfrm>
            <a:off x="8137063" y="1183500"/>
            <a:ext cx="1540500" cy="538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300">
                <a:solidFill>
                  <a:schemeClr val="dk1"/>
                </a:solidFill>
                <a:latin typeface="Calibri"/>
                <a:ea typeface="Calibri"/>
                <a:cs typeface="Calibri"/>
                <a:sym typeface="Calibri"/>
              </a:rPr>
              <a:t>MONITOR</a:t>
            </a:r>
            <a:endParaRPr sz="2300">
              <a:solidFill>
                <a:schemeClr val="dk1"/>
              </a:solidFill>
              <a:latin typeface="Calibri"/>
              <a:ea typeface="Calibri"/>
              <a:cs typeface="Calibri"/>
              <a:sym typeface="Calibri"/>
            </a:endParaRPr>
          </a:p>
        </p:txBody>
      </p:sp>
      <p:sp>
        <p:nvSpPr>
          <p:cNvPr id="1579" name="Google Shape;1579;g3e3a61befe4_0_4253"/>
          <p:cNvSpPr txBox="1"/>
          <p:nvPr/>
        </p:nvSpPr>
        <p:spPr>
          <a:xfrm>
            <a:off x="8017135" y="1753493"/>
            <a:ext cx="17589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solidFill>
                  <a:schemeClr val="dk1"/>
                </a:solidFill>
                <a:latin typeface="Calibri"/>
                <a:ea typeface="Calibri"/>
                <a:cs typeface="Calibri"/>
                <a:sym typeface="Calibri"/>
              </a:rPr>
              <a:t>Continuously monitor whether all zones are receiving adequate numbers of scooters.</a:t>
            </a:r>
            <a:endParaRPr>
              <a:solidFill>
                <a:schemeClr val="dk1"/>
              </a:solidFill>
              <a:latin typeface="Calibri"/>
              <a:ea typeface="Calibri"/>
              <a:cs typeface="Calibri"/>
              <a:sym typeface="Calibri"/>
            </a:endParaRPr>
          </a:p>
        </p:txBody>
      </p:sp>
      <p:sp>
        <p:nvSpPr>
          <p:cNvPr id="1580" name="Google Shape;1580;g3e3a61befe4_0_4253"/>
          <p:cNvSpPr txBox="1"/>
          <p:nvPr/>
        </p:nvSpPr>
        <p:spPr>
          <a:xfrm>
            <a:off x="3791575" y="2760449"/>
            <a:ext cx="2034000" cy="1391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n-US">
                <a:solidFill>
                  <a:schemeClr val="dk1"/>
                </a:solidFill>
                <a:latin typeface="Calibri"/>
                <a:ea typeface="Calibri"/>
                <a:cs typeface="Calibri"/>
                <a:sym typeface="Calibri"/>
              </a:rPr>
              <a:t>Consider repressed demand and monthly demand when calculating scooter distribution among zones</a:t>
            </a:r>
            <a:endParaRPr>
              <a:solidFill>
                <a:schemeClr val="dk1"/>
              </a:solidFill>
              <a:latin typeface="Calibri"/>
              <a:ea typeface="Calibri"/>
              <a:cs typeface="Calibri"/>
              <a:sym typeface="Calibri"/>
            </a:endParaRPr>
          </a:p>
        </p:txBody>
      </p:sp>
      <p:sp>
        <p:nvSpPr>
          <p:cNvPr id="1581" name="Google Shape;1581;g3e3a61befe4_0_4253"/>
          <p:cNvSpPr/>
          <p:nvPr/>
        </p:nvSpPr>
        <p:spPr>
          <a:xfrm>
            <a:off x="69450" y="1637966"/>
            <a:ext cx="2034000" cy="10149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US">
                <a:solidFill>
                  <a:schemeClr val="dk1"/>
                </a:solidFill>
                <a:latin typeface="Calibri"/>
                <a:ea typeface="Calibri"/>
                <a:cs typeface="Calibri"/>
                <a:sym typeface="Calibri"/>
              </a:rPr>
              <a:t>There is no minimum scooter retention policy to prevent zones from becoming empty after transfers</a:t>
            </a:r>
            <a:endParaRPr>
              <a:latin typeface="Calibri"/>
              <a:ea typeface="Calibri"/>
              <a:cs typeface="Calibri"/>
              <a:sym typeface="Calibri"/>
            </a:endParaRPr>
          </a:p>
        </p:txBody>
      </p:sp>
      <p:sp>
        <p:nvSpPr>
          <p:cNvPr id="1582" name="Google Shape;1582;g3e3a61befe4_0_4253"/>
          <p:cNvSpPr txBox="1"/>
          <p:nvPr/>
        </p:nvSpPr>
        <p:spPr>
          <a:xfrm>
            <a:off x="3869181" y="1632582"/>
            <a:ext cx="1823100" cy="1262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solidFill>
                  <a:schemeClr val="dk1"/>
                </a:solidFill>
                <a:latin typeface="Calibri"/>
                <a:ea typeface="Calibri"/>
                <a:cs typeface="Calibri"/>
                <a:sym typeface="Calibri"/>
              </a:rPr>
              <a:t>Define a minimum scooter threshold per zone to avoid complete depletion after transfers</a:t>
            </a:r>
            <a:endParaRPr>
              <a:solidFill>
                <a:schemeClr val="dk1"/>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6" name="Shape 1586"/>
        <p:cNvGrpSpPr/>
        <p:nvPr/>
      </p:nvGrpSpPr>
      <p:grpSpPr>
        <a:xfrm>
          <a:off x="0" y="0"/>
          <a:ext cx="0" cy="0"/>
          <a:chOff x="0" y="0"/>
          <a:chExt cx="0" cy="0"/>
        </a:xfrm>
      </p:grpSpPr>
      <p:sp>
        <p:nvSpPr>
          <p:cNvPr id="1587" name="Google Shape;1587;g3e3a61befe4_0_4316"/>
          <p:cNvSpPr txBox="1"/>
          <p:nvPr>
            <p:ph type="title"/>
          </p:nvPr>
        </p:nvSpPr>
        <p:spPr>
          <a:xfrm>
            <a:off x="101475" y="108450"/>
            <a:ext cx="9635100" cy="6246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1E4E79"/>
              </a:buClr>
              <a:buSzPts val="4000"/>
              <a:buFont typeface="Arial"/>
              <a:buNone/>
            </a:pPr>
            <a:r>
              <a:rPr lang="en-US" sz="2400"/>
              <a:t>Step 3.3: Classification of ethical consequences into Action, Influence, and Monitor</a:t>
            </a:r>
            <a:endParaRPr sz="2400"/>
          </a:p>
        </p:txBody>
      </p:sp>
      <p:grpSp>
        <p:nvGrpSpPr>
          <p:cNvPr id="1588" name="Google Shape;1588;g3e3a61befe4_0_4316"/>
          <p:cNvGrpSpPr/>
          <p:nvPr/>
        </p:nvGrpSpPr>
        <p:grpSpPr>
          <a:xfrm>
            <a:off x="-18000" y="5842891"/>
            <a:ext cx="9942000" cy="1014788"/>
            <a:chOff x="-21650" y="5927750"/>
            <a:chExt cx="9942000" cy="930230"/>
          </a:xfrm>
        </p:grpSpPr>
        <p:sp>
          <p:nvSpPr>
            <p:cNvPr id="1589" name="Google Shape;1589;g3e3a61befe4_0_4316"/>
            <p:cNvSpPr/>
            <p:nvPr/>
          </p:nvSpPr>
          <p:spPr>
            <a:xfrm>
              <a:off x="5239747" y="5949280"/>
              <a:ext cx="4680600" cy="9087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Arial"/>
                  <a:ea typeface="Arial"/>
                  <a:cs typeface="Arial"/>
                  <a:sym typeface="Arial"/>
                </a:rPr>
                <a:t>25th Annual International Conference on Digital Government Research (dg.o 2024)</a:t>
              </a:r>
              <a:endParaRPr b="0" i="0" sz="1800" u="none" cap="none" strike="noStrike">
                <a:solidFill>
                  <a:schemeClr val="lt1"/>
                </a:solidFill>
                <a:latin typeface="Arial"/>
                <a:ea typeface="Arial"/>
                <a:cs typeface="Arial"/>
                <a:sym typeface="Arial"/>
              </a:endParaRPr>
            </a:p>
          </p:txBody>
        </p:sp>
        <p:pic>
          <p:nvPicPr>
            <p:cNvPr id="1590" name="Google Shape;1590;g3e3a61befe4_0_4316"/>
            <p:cNvPicPr preferRelativeResize="0"/>
            <p:nvPr/>
          </p:nvPicPr>
          <p:blipFill rotWithShape="1">
            <a:blip r:embed="rId3">
              <a:alphaModFix/>
            </a:blip>
            <a:srcRect b="-112517" l="-23390" r="23390" t="137700"/>
            <a:stretch/>
          </p:blipFill>
          <p:spPr>
            <a:xfrm>
              <a:off x="0" y="6007596"/>
              <a:ext cx="9920265" cy="792088"/>
            </a:xfrm>
            <a:prstGeom prst="rect">
              <a:avLst/>
            </a:prstGeom>
            <a:noFill/>
            <a:ln>
              <a:noFill/>
            </a:ln>
          </p:spPr>
        </p:pic>
        <p:sp>
          <p:nvSpPr>
            <p:cNvPr id="1591" name="Google Shape;1591;g3e3a61befe4_0_4316"/>
            <p:cNvSpPr/>
            <p:nvPr/>
          </p:nvSpPr>
          <p:spPr>
            <a:xfrm>
              <a:off x="-21650" y="5927750"/>
              <a:ext cx="9942000" cy="9087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sp>
        <p:nvSpPr>
          <p:cNvPr id="1592" name="Google Shape;1592;g3e3a61befe4_0_4316"/>
          <p:cNvSpPr txBox="1"/>
          <p:nvPr>
            <p:ph idx="12" type="sldNum"/>
          </p:nvPr>
        </p:nvSpPr>
        <p:spPr>
          <a:xfrm>
            <a:off x="6996113" y="6356350"/>
            <a:ext cx="22290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pic>
        <p:nvPicPr>
          <p:cNvPr id="1593" name="Google Shape;1593;g3e3a61befe4_0_4316"/>
          <p:cNvPicPr preferRelativeResize="0"/>
          <p:nvPr/>
        </p:nvPicPr>
        <p:blipFill rotWithShape="1">
          <a:blip r:embed="rId4">
            <a:alphaModFix/>
          </a:blip>
          <a:srcRect b="0" l="0" r="0" t="0"/>
          <a:stretch/>
        </p:blipFill>
        <p:spPr>
          <a:xfrm>
            <a:off x="218750" y="6052376"/>
            <a:ext cx="1823009" cy="470325"/>
          </a:xfrm>
          <a:prstGeom prst="rect">
            <a:avLst/>
          </a:prstGeom>
          <a:noFill/>
          <a:ln>
            <a:noFill/>
          </a:ln>
        </p:spPr>
      </p:pic>
      <p:pic>
        <p:nvPicPr>
          <p:cNvPr id="1594" name="Google Shape;1594;g3e3a61befe4_0_4316"/>
          <p:cNvPicPr preferRelativeResize="0"/>
          <p:nvPr/>
        </p:nvPicPr>
        <p:blipFill rotWithShape="1">
          <a:blip r:embed="rId5">
            <a:alphaModFix/>
          </a:blip>
          <a:srcRect b="0" l="0" r="0" t="0"/>
          <a:stretch/>
        </p:blipFill>
        <p:spPr>
          <a:xfrm>
            <a:off x="6996125" y="5975242"/>
            <a:ext cx="1811830" cy="624575"/>
          </a:xfrm>
          <a:prstGeom prst="rect">
            <a:avLst/>
          </a:prstGeom>
          <a:noFill/>
          <a:ln>
            <a:noFill/>
          </a:ln>
        </p:spPr>
      </p:pic>
      <p:sp>
        <p:nvSpPr>
          <p:cNvPr id="1595" name="Google Shape;1595;g3e3a61befe4_0_4316"/>
          <p:cNvSpPr/>
          <p:nvPr/>
        </p:nvSpPr>
        <p:spPr>
          <a:xfrm>
            <a:off x="2143350" y="1831500"/>
            <a:ext cx="1540500" cy="694500"/>
          </a:xfrm>
          <a:prstGeom prst="roundRect">
            <a:avLst>
              <a:gd fmla="val 16667" name="adj"/>
            </a:avLst>
          </a:prstGeom>
          <a:solidFill>
            <a:srgbClr val="EA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latin typeface="Calibri"/>
                <a:ea typeface="Calibri"/>
                <a:cs typeface="Calibri"/>
                <a:sym typeface="Calibri"/>
              </a:rPr>
              <a:t>Unequal access</a:t>
            </a:r>
            <a:endParaRPr>
              <a:latin typeface="Calibri"/>
              <a:ea typeface="Calibri"/>
              <a:cs typeface="Calibri"/>
              <a:sym typeface="Calibri"/>
            </a:endParaRPr>
          </a:p>
        </p:txBody>
      </p:sp>
      <p:sp>
        <p:nvSpPr>
          <p:cNvPr id="1596" name="Google Shape;1596;g3e3a61befe4_0_4316"/>
          <p:cNvSpPr/>
          <p:nvPr/>
        </p:nvSpPr>
        <p:spPr>
          <a:xfrm>
            <a:off x="2198750" y="3045475"/>
            <a:ext cx="1540500" cy="694500"/>
          </a:xfrm>
          <a:prstGeom prst="roundRect">
            <a:avLst>
              <a:gd fmla="val 16667" name="adj"/>
            </a:avLst>
          </a:prstGeom>
          <a:solidFill>
            <a:srgbClr val="EA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latin typeface="Calibri"/>
                <a:ea typeface="Calibri"/>
                <a:cs typeface="Calibri"/>
                <a:sym typeface="Calibri"/>
              </a:rPr>
              <a:t>Perpetuation of biases and </a:t>
            </a:r>
            <a:r>
              <a:rPr lang="en-US">
                <a:solidFill>
                  <a:schemeClr val="dk1"/>
                </a:solidFill>
                <a:latin typeface="Calibri"/>
                <a:ea typeface="Calibri"/>
                <a:cs typeface="Calibri"/>
                <a:sym typeface="Calibri"/>
              </a:rPr>
              <a:t>favoring zones</a:t>
            </a:r>
            <a:endParaRPr>
              <a:latin typeface="Calibri"/>
              <a:ea typeface="Calibri"/>
              <a:cs typeface="Calibri"/>
              <a:sym typeface="Calibri"/>
            </a:endParaRPr>
          </a:p>
        </p:txBody>
      </p:sp>
      <p:sp>
        <p:nvSpPr>
          <p:cNvPr id="1597" name="Google Shape;1597;g3e3a61befe4_0_4316"/>
          <p:cNvSpPr/>
          <p:nvPr/>
        </p:nvSpPr>
        <p:spPr>
          <a:xfrm>
            <a:off x="2209113" y="4317310"/>
            <a:ext cx="1519800" cy="900900"/>
          </a:xfrm>
          <a:prstGeom prst="roundRect">
            <a:avLst>
              <a:gd fmla="val 16667" name="adj"/>
            </a:avLst>
          </a:prstGeom>
          <a:solidFill>
            <a:srgbClr val="EA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latin typeface="Calibri"/>
                <a:ea typeface="Calibri"/>
                <a:cs typeface="Calibri"/>
                <a:sym typeface="Calibri"/>
              </a:rPr>
              <a:t>Lack of informed consent and risk of legal non-compliance</a:t>
            </a:r>
            <a:endParaRPr>
              <a:latin typeface="Calibri"/>
              <a:ea typeface="Calibri"/>
              <a:cs typeface="Calibri"/>
              <a:sym typeface="Calibri"/>
            </a:endParaRPr>
          </a:p>
        </p:txBody>
      </p:sp>
      <p:cxnSp>
        <p:nvCxnSpPr>
          <p:cNvPr id="1598" name="Google Shape;1598;g3e3a61befe4_0_4316"/>
          <p:cNvCxnSpPr/>
          <p:nvPr/>
        </p:nvCxnSpPr>
        <p:spPr>
          <a:xfrm flipH="1" rot="10800000">
            <a:off x="5749330" y="1037681"/>
            <a:ext cx="5400" cy="4500600"/>
          </a:xfrm>
          <a:prstGeom prst="straightConnector1">
            <a:avLst/>
          </a:prstGeom>
          <a:noFill/>
          <a:ln cap="flat" cmpd="sng" w="19050">
            <a:solidFill>
              <a:schemeClr val="dk2"/>
            </a:solidFill>
            <a:prstDash val="solid"/>
            <a:round/>
            <a:headEnd len="med" w="med" type="diamond"/>
            <a:tailEnd len="med" w="med" type="diamond"/>
          </a:ln>
        </p:spPr>
      </p:cxnSp>
      <p:sp>
        <p:nvSpPr>
          <p:cNvPr id="1599" name="Google Shape;1599;g3e3a61befe4_0_4316"/>
          <p:cNvSpPr txBox="1"/>
          <p:nvPr/>
        </p:nvSpPr>
        <p:spPr>
          <a:xfrm>
            <a:off x="4133525" y="1183500"/>
            <a:ext cx="1143000" cy="538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300">
                <a:solidFill>
                  <a:schemeClr val="dk1"/>
                </a:solidFill>
                <a:latin typeface="Calibri"/>
                <a:ea typeface="Calibri"/>
                <a:cs typeface="Calibri"/>
                <a:sym typeface="Calibri"/>
              </a:rPr>
              <a:t>ACTION</a:t>
            </a:r>
            <a:endParaRPr sz="2300">
              <a:solidFill>
                <a:schemeClr val="dk1"/>
              </a:solidFill>
              <a:latin typeface="Calibri"/>
              <a:ea typeface="Calibri"/>
              <a:cs typeface="Calibri"/>
              <a:sym typeface="Calibri"/>
            </a:endParaRPr>
          </a:p>
        </p:txBody>
      </p:sp>
      <p:sp>
        <p:nvSpPr>
          <p:cNvPr id="1600" name="Google Shape;1600;g3e3a61befe4_0_4316"/>
          <p:cNvSpPr txBox="1"/>
          <p:nvPr/>
        </p:nvSpPr>
        <p:spPr>
          <a:xfrm>
            <a:off x="6582100" y="1037675"/>
            <a:ext cx="1143000" cy="538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2300">
              <a:solidFill>
                <a:schemeClr val="dk1"/>
              </a:solidFill>
              <a:latin typeface="Calibri"/>
              <a:ea typeface="Calibri"/>
              <a:cs typeface="Calibri"/>
              <a:sym typeface="Calibri"/>
            </a:endParaRPr>
          </a:p>
        </p:txBody>
      </p:sp>
      <p:cxnSp>
        <p:nvCxnSpPr>
          <p:cNvPr id="1601" name="Google Shape;1601;g3e3a61befe4_0_4316"/>
          <p:cNvCxnSpPr/>
          <p:nvPr/>
        </p:nvCxnSpPr>
        <p:spPr>
          <a:xfrm flipH="1" rot="10800000">
            <a:off x="3996475" y="1686200"/>
            <a:ext cx="5807400" cy="13500"/>
          </a:xfrm>
          <a:prstGeom prst="straightConnector1">
            <a:avLst/>
          </a:prstGeom>
          <a:noFill/>
          <a:ln cap="flat" cmpd="sng" w="9525">
            <a:solidFill>
              <a:schemeClr val="dk2"/>
            </a:solidFill>
            <a:prstDash val="solid"/>
            <a:round/>
            <a:headEnd len="med" w="med" type="none"/>
            <a:tailEnd len="med" w="med" type="none"/>
          </a:ln>
        </p:spPr>
      </p:cxnSp>
      <p:cxnSp>
        <p:nvCxnSpPr>
          <p:cNvPr id="1602" name="Google Shape;1602;g3e3a61befe4_0_4316"/>
          <p:cNvCxnSpPr/>
          <p:nvPr/>
        </p:nvCxnSpPr>
        <p:spPr>
          <a:xfrm flipH="1" rot="10800000">
            <a:off x="7820201" y="1037681"/>
            <a:ext cx="5400" cy="4500600"/>
          </a:xfrm>
          <a:prstGeom prst="straightConnector1">
            <a:avLst/>
          </a:prstGeom>
          <a:noFill/>
          <a:ln cap="flat" cmpd="sng" w="19050">
            <a:solidFill>
              <a:schemeClr val="dk2"/>
            </a:solidFill>
            <a:prstDash val="solid"/>
            <a:round/>
            <a:headEnd len="med" w="med" type="diamond"/>
            <a:tailEnd len="med" w="med" type="diamond"/>
          </a:ln>
        </p:spPr>
      </p:cxnSp>
      <p:cxnSp>
        <p:nvCxnSpPr>
          <p:cNvPr id="1603" name="Google Shape;1603;g3e3a61befe4_0_4316"/>
          <p:cNvCxnSpPr/>
          <p:nvPr/>
        </p:nvCxnSpPr>
        <p:spPr>
          <a:xfrm>
            <a:off x="3983025" y="2788925"/>
            <a:ext cx="5820900" cy="4500"/>
          </a:xfrm>
          <a:prstGeom prst="straightConnector1">
            <a:avLst/>
          </a:prstGeom>
          <a:noFill/>
          <a:ln cap="flat" cmpd="sng" w="9525">
            <a:solidFill>
              <a:schemeClr val="dk2"/>
            </a:solidFill>
            <a:prstDash val="solid"/>
            <a:round/>
            <a:headEnd len="med" w="med" type="none"/>
            <a:tailEnd len="med" w="med" type="none"/>
          </a:ln>
        </p:spPr>
      </p:cxnSp>
      <p:cxnSp>
        <p:nvCxnSpPr>
          <p:cNvPr id="1604" name="Google Shape;1604;g3e3a61befe4_0_4316"/>
          <p:cNvCxnSpPr/>
          <p:nvPr/>
        </p:nvCxnSpPr>
        <p:spPr>
          <a:xfrm>
            <a:off x="4104050" y="4120175"/>
            <a:ext cx="5700000" cy="9000"/>
          </a:xfrm>
          <a:prstGeom prst="straightConnector1">
            <a:avLst/>
          </a:prstGeom>
          <a:noFill/>
          <a:ln cap="flat" cmpd="sng" w="9525">
            <a:solidFill>
              <a:schemeClr val="dk2"/>
            </a:solidFill>
            <a:prstDash val="solid"/>
            <a:round/>
            <a:headEnd len="med" w="med" type="none"/>
            <a:tailEnd len="med" w="med" type="none"/>
          </a:ln>
        </p:spPr>
      </p:cxnSp>
      <p:sp>
        <p:nvSpPr>
          <p:cNvPr id="1605" name="Google Shape;1605;g3e3a61befe4_0_4316"/>
          <p:cNvSpPr/>
          <p:nvPr/>
        </p:nvSpPr>
        <p:spPr>
          <a:xfrm>
            <a:off x="81550" y="2826475"/>
            <a:ext cx="2064900" cy="11325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latin typeface="Calibri"/>
                <a:ea typeface="Calibri"/>
                <a:cs typeface="Calibri"/>
                <a:sym typeface="Calibri"/>
              </a:rPr>
              <a:t>The calculation of the number of scooters to be transferred to each zone is based on usage annually history</a:t>
            </a:r>
            <a:endParaRPr>
              <a:latin typeface="Calibri"/>
              <a:ea typeface="Calibri"/>
              <a:cs typeface="Calibri"/>
              <a:sym typeface="Calibri"/>
            </a:endParaRPr>
          </a:p>
        </p:txBody>
      </p:sp>
      <p:sp>
        <p:nvSpPr>
          <p:cNvPr id="1606" name="Google Shape;1606;g3e3a61befe4_0_4316"/>
          <p:cNvSpPr txBox="1"/>
          <p:nvPr/>
        </p:nvSpPr>
        <p:spPr>
          <a:xfrm>
            <a:off x="689250" y="1193649"/>
            <a:ext cx="9006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700">
                <a:solidFill>
                  <a:schemeClr val="dk1"/>
                </a:solidFill>
                <a:latin typeface="Calibri"/>
                <a:ea typeface="Calibri"/>
                <a:cs typeface="Calibri"/>
                <a:sym typeface="Calibri"/>
              </a:rPr>
              <a:t>Cause</a:t>
            </a:r>
            <a:endParaRPr b="1" sz="1700">
              <a:solidFill>
                <a:schemeClr val="dk1"/>
              </a:solidFill>
              <a:latin typeface="Calibri"/>
              <a:ea typeface="Calibri"/>
              <a:cs typeface="Calibri"/>
              <a:sym typeface="Calibri"/>
            </a:endParaRPr>
          </a:p>
        </p:txBody>
      </p:sp>
      <p:sp>
        <p:nvSpPr>
          <p:cNvPr id="1607" name="Google Shape;1607;g3e3a61befe4_0_4316"/>
          <p:cNvSpPr txBox="1"/>
          <p:nvPr/>
        </p:nvSpPr>
        <p:spPr>
          <a:xfrm>
            <a:off x="2271237" y="1193646"/>
            <a:ext cx="15405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700">
                <a:solidFill>
                  <a:schemeClr val="dk1"/>
                </a:solidFill>
                <a:latin typeface="Calibri"/>
                <a:ea typeface="Calibri"/>
                <a:cs typeface="Calibri"/>
                <a:sym typeface="Calibri"/>
              </a:rPr>
              <a:t>Consequences</a:t>
            </a:r>
            <a:endParaRPr b="1" sz="1700">
              <a:solidFill>
                <a:schemeClr val="dk1"/>
              </a:solidFill>
              <a:latin typeface="Calibri"/>
              <a:ea typeface="Calibri"/>
              <a:cs typeface="Calibri"/>
              <a:sym typeface="Calibri"/>
            </a:endParaRPr>
          </a:p>
        </p:txBody>
      </p:sp>
      <p:sp>
        <p:nvSpPr>
          <p:cNvPr id="1608" name="Google Shape;1608;g3e3a61befe4_0_4316"/>
          <p:cNvSpPr/>
          <p:nvPr/>
        </p:nvSpPr>
        <p:spPr>
          <a:xfrm>
            <a:off x="81550" y="4259450"/>
            <a:ext cx="2064900" cy="11325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latin typeface="Calibri"/>
                <a:ea typeface="Calibri"/>
                <a:cs typeface="Calibri"/>
                <a:sym typeface="Calibri"/>
              </a:rPr>
              <a:t>Collection of user data (location and usage times) to generate zone demand information</a:t>
            </a:r>
            <a:endParaRPr>
              <a:latin typeface="Calibri"/>
              <a:ea typeface="Calibri"/>
              <a:cs typeface="Calibri"/>
              <a:sym typeface="Calibri"/>
            </a:endParaRPr>
          </a:p>
        </p:txBody>
      </p:sp>
      <p:sp>
        <p:nvSpPr>
          <p:cNvPr id="1609" name="Google Shape;1609;g3e3a61befe4_0_4316"/>
          <p:cNvSpPr txBox="1"/>
          <p:nvPr/>
        </p:nvSpPr>
        <p:spPr>
          <a:xfrm>
            <a:off x="5936538" y="1147450"/>
            <a:ext cx="1540500" cy="538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300">
                <a:solidFill>
                  <a:schemeClr val="dk1"/>
                </a:solidFill>
                <a:latin typeface="Calibri"/>
                <a:ea typeface="Calibri"/>
                <a:cs typeface="Calibri"/>
                <a:sym typeface="Calibri"/>
              </a:rPr>
              <a:t>INFLUENCE</a:t>
            </a:r>
            <a:endParaRPr sz="2300">
              <a:solidFill>
                <a:schemeClr val="dk1"/>
              </a:solidFill>
              <a:latin typeface="Calibri"/>
              <a:ea typeface="Calibri"/>
              <a:cs typeface="Calibri"/>
              <a:sym typeface="Calibri"/>
            </a:endParaRPr>
          </a:p>
        </p:txBody>
      </p:sp>
      <p:sp>
        <p:nvSpPr>
          <p:cNvPr id="1610" name="Google Shape;1610;g3e3a61befe4_0_4316"/>
          <p:cNvSpPr txBox="1"/>
          <p:nvPr/>
        </p:nvSpPr>
        <p:spPr>
          <a:xfrm>
            <a:off x="8137063" y="1183500"/>
            <a:ext cx="1540500" cy="538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300">
                <a:solidFill>
                  <a:schemeClr val="dk1"/>
                </a:solidFill>
                <a:latin typeface="Calibri"/>
                <a:ea typeface="Calibri"/>
                <a:cs typeface="Calibri"/>
                <a:sym typeface="Calibri"/>
              </a:rPr>
              <a:t>MONITOR</a:t>
            </a:r>
            <a:endParaRPr sz="2300">
              <a:solidFill>
                <a:schemeClr val="dk1"/>
              </a:solidFill>
              <a:latin typeface="Calibri"/>
              <a:ea typeface="Calibri"/>
              <a:cs typeface="Calibri"/>
              <a:sym typeface="Calibri"/>
            </a:endParaRPr>
          </a:p>
        </p:txBody>
      </p:sp>
      <p:sp>
        <p:nvSpPr>
          <p:cNvPr id="1611" name="Google Shape;1611;g3e3a61befe4_0_4316"/>
          <p:cNvSpPr txBox="1"/>
          <p:nvPr/>
        </p:nvSpPr>
        <p:spPr>
          <a:xfrm>
            <a:off x="8017135" y="1753493"/>
            <a:ext cx="17589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solidFill>
                  <a:schemeClr val="dk1"/>
                </a:solidFill>
                <a:latin typeface="Calibri"/>
                <a:ea typeface="Calibri"/>
                <a:cs typeface="Calibri"/>
                <a:sym typeface="Calibri"/>
              </a:rPr>
              <a:t>Continuously monitor whether all zones are receiving adequate numbers of scooters.</a:t>
            </a:r>
            <a:endParaRPr>
              <a:solidFill>
                <a:schemeClr val="dk1"/>
              </a:solidFill>
              <a:latin typeface="Calibri"/>
              <a:ea typeface="Calibri"/>
              <a:cs typeface="Calibri"/>
              <a:sym typeface="Calibri"/>
            </a:endParaRPr>
          </a:p>
        </p:txBody>
      </p:sp>
      <p:sp>
        <p:nvSpPr>
          <p:cNvPr id="1612" name="Google Shape;1612;g3e3a61befe4_0_4316"/>
          <p:cNvSpPr txBox="1"/>
          <p:nvPr/>
        </p:nvSpPr>
        <p:spPr>
          <a:xfrm>
            <a:off x="3791575" y="2760449"/>
            <a:ext cx="2034000" cy="1391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n-US">
                <a:solidFill>
                  <a:schemeClr val="dk1"/>
                </a:solidFill>
                <a:latin typeface="Calibri"/>
                <a:ea typeface="Calibri"/>
                <a:cs typeface="Calibri"/>
                <a:sym typeface="Calibri"/>
              </a:rPr>
              <a:t>Consider repressed demand and monthly demand when calculating scooter distribution among zones</a:t>
            </a:r>
            <a:endParaRPr>
              <a:solidFill>
                <a:schemeClr val="dk1"/>
              </a:solidFill>
              <a:latin typeface="Calibri"/>
              <a:ea typeface="Calibri"/>
              <a:cs typeface="Calibri"/>
              <a:sym typeface="Calibri"/>
            </a:endParaRPr>
          </a:p>
        </p:txBody>
      </p:sp>
      <p:sp>
        <p:nvSpPr>
          <p:cNvPr id="1613" name="Google Shape;1613;g3e3a61befe4_0_4316"/>
          <p:cNvSpPr txBox="1"/>
          <p:nvPr/>
        </p:nvSpPr>
        <p:spPr>
          <a:xfrm>
            <a:off x="3811725" y="4076250"/>
            <a:ext cx="2034000" cy="1477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solidFill>
                  <a:schemeClr val="dk1"/>
                </a:solidFill>
                <a:latin typeface="Calibri"/>
                <a:ea typeface="Calibri"/>
                <a:cs typeface="Calibri"/>
                <a:sym typeface="Calibri"/>
              </a:rPr>
              <a:t>Adjust the app’s consent request to explicitly inform users about the types of data collected and their intended purposes.</a:t>
            </a:r>
            <a:endParaRPr>
              <a:solidFill>
                <a:schemeClr val="dk1"/>
              </a:solidFill>
              <a:latin typeface="Calibri"/>
              <a:ea typeface="Calibri"/>
              <a:cs typeface="Calibri"/>
              <a:sym typeface="Calibri"/>
            </a:endParaRPr>
          </a:p>
        </p:txBody>
      </p:sp>
      <p:sp>
        <p:nvSpPr>
          <p:cNvPr id="1614" name="Google Shape;1614;g3e3a61befe4_0_4316"/>
          <p:cNvSpPr/>
          <p:nvPr/>
        </p:nvSpPr>
        <p:spPr>
          <a:xfrm>
            <a:off x="69450" y="1637966"/>
            <a:ext cx="2034000" cy="10149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US">
                <a:solidFill>
                  <a:schemeClr val="dk1"/>
                </a:solidFill>
                <a:latin typeface="Calibri"/>
                <a:ea typeface="Calibri"/>
                <a:cs typeface="Calibri"/>
                <a:sym typeface="Calibri"/>
              </a:rPr>
              <a:t>There is no minimum scooter retention policy to prevent zones from becoming empty after transfers</a:t>
            </a:r>
            <a:endParaRPr>
              <a:latin typeface="Calibri"/>
              <a:ea typeface="Calibri"/>
              <a:cs typeface="Calibri"/>
              <a:sym typeface="Calibri"/>
            </a:endParaRPr>
          </a:p>
        </p:txBody>
      </p:sp>
      <p:sp>
        <p:nvSpPr>
          <p:cNvPr id="1615" name="Google Shape;1615;g3e3a61befe4_0_4316"/>
          <p:cNvSpPr txBox="1"/>
          <p:nvPr/>
        </p:nvSpPr>
        <p:spPr>
          <a:xfrm>
            <a:off x="3869181" y="1632582"/>
            <a:ext cx="1823100" cy="1262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solidFill>
                  <a:schemeClr val="dk1"/>
                </a:solidFill>
                <a:latin typeface="Calibri"/>
                <a:ea typeface="Calibri"/>
                <a:cs typeface="Calibri"/>
                <a:sym typeface="Calibri"/>
              </a:rPr>
              <a:t>Define a minimum scooter threshold per zone to avoid complete depletion after transfers</a:t>
            </a:r>
            <a:endParaRPr>
              <a:solidFill>
                <a:schemeClr val="dk1"/>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9" name="Shape 1619"/>
        <p:cNvGrpSpPr/>
        <p:nvPr/>
      </p:nvGrpSpPr>
      <p:grpSpPr>
        <a:xfrm>
          <a:off x="0" y="0"/>
          <a:ext cx="0" cy="0"/>
          <a:chOff x="0" y="0"/>
          <a:chExt cx="0" cy="0"/>
        </a:xfrm>
      </p:grpSpPr>
      <p:sp>
        <p:nvSpPr>
          <p:cNvPr id="1620" name="Google Shape;1620;g3e3a61befe4_0_4349"/>
          <p:cNvSpPr txBox="1"/>
          <p:nvPr>
            <p:ph type="title"/>
          </p:nvPr>
        </p:nvSpPr>
        <p:spPr>
          <a:xfrm>
            <a:off x="101475" y="108450"/>
            <a:ext cx="9635100" cy="6246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1E4E79"/>
              </a:buClr>
              <a:buSzPts val="4000"/>
              <a:buFont typeface="Arial"/>
              <a:buNone/>
            </a:pPr>
            <a:r>
              <a:rPr lang="en-US" sz="2400"/>
              <a:t>Step 3.3: Classification of ethical consequences into Action, Influence, and Monitor</a:t>
            </a:r>
            <a:endParaRPr sz="2400"/>
          </a:p>
        </p:txBody>
      </p:sp>
      <p:grpSp>
        <p:nvGrpSpPr>
          <p:cNvPr id="1621" name="Google Shape;1621;g3e3a61befe4_0_4349"/>
          <p:cNvGrpSpPr/>
          <p:nvPr/>
        </p:nvGrpSpPr>
        <p:grpSpPr>
          <a:xfrm>
            <a:off x="-18000" y="5842891"/>
            <a:ext cx="9942000" cy="1014788"/>
            <a:chOff x="-21650" y="5927750"/>
            <a:chExt cx="9942000" cy="930230"/>
          </a:xfrm>
        </p:grpSpPr>
        <p:sp>
          <p:nvSpPr>
            <p:cNvPr id="1622" name="Google Shape;1622;g3e3a61befe4_0_4349"/>
            <p:cNvSpPr/>
            <p:nvPr/>
          </p:nvSpPr>
          <p:spPr>
            <a:xfrm>
              <a:off x="5239747" y="5949280"/>
              <a:ext cx="4680600" cy="9087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Arial"/>
                  <a:ea typeface="Arial"/>
                  <a:cs typeface="Arial"/>
                  <a:sym typeface="Arial"/>
                </a:rPr>
                <a:t>25th Annual International Conference on Digital Government Research (dg.o 2024)</a:t>
              </a:r>
              <a:endParaRPr b="0" i="0" sz="1800" u="none" cap="none" strike="noStrike">
                <a:solidFill>
                  <a:schemeClr val="lt1"/>
                </a:solidFill>
                <a:latin typeface="Arial"/>
                <a:ea typeface="Arial"/>
                <a:cs typeface="Arial"/>
                <a:sym typeface="Arial"/>
              </a:endParaRPr>
            </a:p>
          </p:txBody>
        </p:sp>
        <p:pic>
          <p:nvPicPr>
            <p:cNvPr id="1623" name="Google Shape;1623;g3e3a61befe4_0_4349"/>
            <p:cNvPicPr preferRelativeResize="0"/>
            <p:nvPr/>
          </p:nvPicPr>
          <p:blipFill rotWithShape="1">
            <a:blip r:embed="rId3">
              <a:alphaModFix/>
            </a:blip>
            <a:srcRect b="-112517" l="-23390" r="23390" t="137700"/>
            <a:stretch/>
          </p:blipFill>
          <p:spPr>
            <a:xfrm>
              <a:off x="0" y="6007596"/>
              <a:ext cx="9920265" cy="792088"/>
            </a:xfrm>
            <a:prstGeom prst="rect">
              <a:avLst/>
            </a:prstGeom>
            <a:noFill/>
            <a:ln>
              <a:noFill/>
            </a:ln>
          </p:spPr>
        </p:pic>
        <p:sp>
          <p:nvSpPr>
            <p:cNvPr id="1624" name="Google Shape;1624;g3e3a61befe4_0_4349"/>
            <p:cNvSpPr/>
            <p:nvPr/>
          </p:nvSpPr>
          <p:spPr>
            <a:xfrm>
              <a:off x="-21650" y="5927750"/>
              <a:ext cx="9942000" cy="9087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sp>
        <p:nvSpPr>
          <p:cNvPr id="1625" name="Google Shape;1625;g3e3a61befe4_0_4349"/>
          <p:cNvSpPr txBox="1"/>
          <p:nvPr>
            <p:ph idx="12" type="sldNum"/>
          </p:nvPr>
        </p:nvSpPr>
        <p:spPr>
          <a:xfrm>
            <a:off x="6996113" y="6356350"/>
            <a:ext cx="22290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pic>
        <p:nvPicPr>
          <p:cNvPr id="1626" name="Google Shape;1626;g3e3a61befe4_0_4349"/>
          <p:cNvPicPr preferRelativeResize="0"/>
          <p:nvPr/>
        </p:nvPicPr>
        <p:blipFill rotWithShape="1">
          <a:blip r:embed="rId4">
            <a:alphaModFix/>
          </a:blip>
          <a:srcRect b="0" l="0" r="0" t="0"/>
          <a:stretch/>
        </p:blipFill>
        <p:spPr>
          <a:xfrm>
            <a:off x="218750" y="6052376"/>
            <a:ext cx="1823009" cy="470325"/>
          </a:xfrm>
          <a:prstGeom prst="rect">
            <a:avLst/>
          </a:prstGeom>
          <a:noFill/>
          <a:ln>
            <a:noFill/>
          </a:ln>
        </p:spPr>
      </p:pic>
      <p:pic>
        <p:nvPicPr>
          <p:cNvPr id="1627" name="Google Shape;1627;g3e3a61befe4_0_4349"/>
          <p:cNvPicPr preferRelativeResize="0"/>
          <p:nvPr/>
        </p:nvPicPr>
        <p:blipFill rotWithShape="1">
          <a:blip r:embed="rId5">
            <a:alphaModFix/>
          </a:blip>
          <a:srcRect b="0" l="0" r="0" t="0"/>
          <a:stretch/>
        </p:blipFill>
        <p:spPr>
          <a:xfrm>
            <a:off x="6996125" y="5975242"/>
            <a:ext cx="1811830" cy="624575"/>
          </a:xfrm>
          <a:prstGeom prst="rect">
            <a:avLst/>
          </a:prstGeom>
          <a:noFill/>
          <a:ln>
            <a:noFill/>
          </a:ln>
        </p:spPr>
      </p:pic>
      <p:sp>
        <p:nvSpPr>
          <p:cNvPr id="1628" name="Google Shape;1628;g3e3a61befe4_0_4349"/>
          <p:cNvSpPr/>
          <p:nvPr/>
        </p:nvSpPr>
        <p:spPr>
          <a:xfrm>
            <a:off x="2143350" y="1831500"/>
            <a:ext cx="1540500" cy="694500"/>
          </a:xfrm>
          <a:prstGeom prst="roundRect">
            <a:avLst>
              <a:gd fmla="val 16667" name="adj"/>
            </a:avLst>
          </a:prstGeom>
          <a:solidFill>
            <a:srgbClr val="EA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latin typeface="Calibri"/>
                <a:ea typeface="Calibri"/>
                <a:cs typeface="Calibri"/>
                <a:sym typeface="Calibri"/>
              </a:rPr>
              <a:t>Unequal access</a:t>
            </a:r>
            <a:endParaRPr>
              <a:latin typeface="Calibri"/>
              <a:ea typeface="Calibri"/>
              <a:cs typeface="Calibri"/>
              <a:sym typeface="Calibri"/>
            </a:endParaRPr>
          </a:p>
        </p:txBody>
      </p:sp>
      <p:sp>
        <p:nvSpPr>
          <p:cNvPr id="1629" name="Google Shape;1629;g3e3a61befe4_0_4349"/>
          <p:cNvSpPr/>
          <p:nvPr/>
        </p:nvSpPr>
        <p:spPr>
          <a:xfrm>
            <a:off x="2198750" y="3045475"/>
            <a:ext cx="1540500" cy="694500"/>
          </a:xfrm>
          <a:prstGeom prst="roundRect">
            <a:avLst>
              <a:gd fmla="val 16667" name="adj"/>
            </a:avLst>
          </a:prstGeom>
          <a:solidFill>
            <a:srgbClr val="EA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latin typeface="Calibri"/>
                <a:ea typeface="Calibri"/>
                <a:cs typeface="Calibri"/>
                <a:sym typeface="Calibri"/>
              </a:rPr>
              <a:t>Perpetuation of biases and </a:t>
            </a:r>
            <a:r>
              <a:rPr lang="en-US">
                <a:solidFill>
                  <a:schemeClr val="dk1"/>
                </a:solidFill>
                <a:latin typeface="Calibri"/>
                <a:ea typeface="Calibri"/>
                <a:cs typeface="Calibri"/>
                <a:sym typeface="Calibri"/>
              </a:rPr>
              <a:t>favoring zones</a:t>
            </a:r>
            <a:endParaRPr>
              <a:latin typeface="Calibri"/>
              <a:ea typeface="Calibri"/>
              <a:cs typeface="Calibri"/>
              <a:sym typeface="Calibri"/>
            </a:endParaRPr>
          </a:p>
        </p:txBody>
      </p:sp>
      <p:sp>
        <p:nvSpPr>
          <p:cNvPr id="1630" name="Google Shape;1630;g3e3a61befe4_0_4349"/>
          <p:cNvSpPr/>
          <p:nvPr/>
        </p:nvSpPr>
        <p:spPr>
          <a:xfrm>
            <a:off x="2209113" y="4317310"/>
            <a:ext cx="1519800" cy="900900"/>
          </a:xfrm>
          <a:prstGeom prst="roundRect">
            <a:avLst>
              <a:gd fmla="val 16667" name="adj"/>
            </a:avLst>
          </a:prstGeom>
          <a:solidFill>
            <a:srgbClr val="EA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latin typeface="Calibri"/>
                <a:ea typeface="Calibri"/>
                <a:cs typeface="Calibri"/>
                <a:sym typeface="Calibri"/>
              </a:rPr>
              <a:t>Lack of informed consent and risk of legal non-compliance</a:t>
            </a:r>
            <a:endParaRPr>
              <a:latin typeface="Calibri"/>
              <a:ea typeface="Calibri"/>
              <a:cs typeface="Calibri"/>
              <a:sym typeface="Calibri"/>
            </a:endParaRPr>
          </a:p>
        </p:txBody>
      </p:sp>
      <p:cxnSp>
        <p:nvCxnSpPr>
          <p:cNvPr id="1631" name="Google Shape;1631;g3e3a61befe4_0_4349"/>
          <p:cNvCxnSpPr/>
          <p:nvPr/>
        </p:nvCxnSpPr>
        <p:spPr>
          <a:xfrm flipH="1" rot="10800000">
            <a:off x="5749330" y="1037681"/>
            <a:ext cx="5400" cy="4500600"/>
          </a:xfrm>
          <a:prstGeom prst="straightConnector1">
            <a:avLst/>
          </a:prstGeom>
          <a:noFill/>
          <a:ln cap="flat" cmpd="sng" w="19050">
            <a:solidFill>
              <a:schemeClr val="dk2"/>
            </a:solidFill>
            <a:prstDash val="solid"/>
            <a:round/>
            <a:headEnd len="med" w="med" type="diamond"/>
            <a:tailEnd len="med" w="med" type="diamond"/>
          </a:ln>
        </p:spPr>
      </p:cxnSp>
      <p:sp>
        <p:nvSpPr>
          <p:cNvPr id="1632" name="Google Shape;1632;g3e3a61befe4_0_4349"/>
          <p:cNvSpPr txBox="1"/>
          <p:nvPr/>
        </p:nvSpPr>
        <p:spPr>
          <a:xfrm>
            <a:off x="4133525" y="1183500"/>
            <a:ext cx="1143000" cy="538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300">
                <a:solidFill>
                  <a:schemeClr val="dk1"/>
                </a:solidFill>
                <a:latin typeface="Calibri"/>
                <a:ea typeface="Calibri"/>
                <a:cs typeface="Calibri"/>
                <a:sym typeface="Calibri"/>
              </a:rPr>
              <a:t>ACTION</a:t>
            </a:r>
            <a:endParaRPr sz="2300">
              <a:solidFill>
                <a:schemeClr val="dk1"/>
              </a:solidFill>
              <a:latin typeface="Calibri"/>
              <a:ea typeface="Calibri"/>
              <a:cs typeface="Calibri"/>
              <a:sym typeface="Calibri"/>
            </a:endParaRPr>
          </a:p>
        </p:txBody>
      </p:sp>
      <p:sp>
        <p:nvSpPr>
          <p:cNvPr id="1633" name="Google Shape;1633;g3e3a61befe4_0_4349"/>
          <p:cNvSpPr txBox="1"/>
          <p:nvPr/>
        </p:nvSpPr>
        <p:spPr>
          <a:xfrm>
            <a:off x="6582100" y="1037675"/>
            <a:ext cx="1143000" cy="538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2300">
              <a:solidFill>
                <a:schemeClr val="dk1"/>
              </a:solidFill>
              <a:latin typeface="Calibri"/>
              <a:ea typeface="Calibri"/>
              <a:cs typeface="Calibri"/>
              <a:sym typeface="Calibri"/>
            </a:endParaRPr>
          </a:p>
        </p:txBody>
      </p:sp>
      <p:cxnSp>
        <p:nvCxnSpPr>
          <p:cNvPr id="1634" name="Google Shape;1634;g3e3a61befe4_0_4349"/>
          <p:cNvCxnSpPr/>
          <p:nvPr/>
        </p:nvCxnSpPr>
        <p:spPr>
          <a:xfrm flipH="1" rot="10800000">
            <a:off x="3996475" y="1686200"/>
            <a:ext cx="5807400" cy="13500"/>
          </a:xfrm>
          <a:prstGeom prst="straightConnector1">
            <a:avLst/>
          </a:prstGeom>
          <a:noFill/>
          <a:ln cap="flat" cmpd="sng" w="9525">
            <a:solidFill>
              <a:schemeClr val="dk2"/>
            </a:solidFill>
            <a:prstDash val="solid"/>
            <a:round/>
            <a:headEnd len="med" w="med" type="none"/>
            <a:tailEnd len="med" w="med" type="none"/>
          </a:ln>
        </p:spPr>
      </p:cxnSp>
      <p:cxnSp>
        <p:nvCxnSpPr>
          <p:cNvPr id="1635" name="Google Shape;1635;g3e3a61befe4_0_4349"/>
          <p:cNvCxnSpPr/>
          <p:nvPr/>
        </p:nvCxnSpPr>
        <p:spPr>
          <a:xfrm flipH="1" rot="10800000">
            <a:off x="7820201" y="1037681"/>
            <a:ext cx="5400" cy="4500600"/>
          </a:xfrm>
          <a:prstGeom prst="straightConnector1">
            <a:avLst/>
          </a:prstGeom>
          <a:noFill/>
          <a:ln cap="flat" cmpd="sng" w="19050">
            <a:solidFill>
              <a:schemeClr val="dk2"/>
            </a:solidFill>
            <a:prstDash val="solid"/>
            <a:round/>
            <a:headEnd len="med" w="med" type="diamond"/>
            <a:tailEnd len="med" w="med" type="diamond"/>
          </a:ln>
        </p:spPr>
      </p:cxnSp>
      <p:cxnSp>
        <p:nvCxnSpPr>
          <p:cNvPr id="1636" name="Google Shape;1636;g3e3a61befe4_0_4349"/>
          <p:cNvCxnSpPr/>
          <p:nvPr/>
        </p:nvCxnSpPr>
        <p:spPr>
          <a:xfrm>
            <a:off x="3983025" y="2788925"/>
            <a:ext cx="5820900" cy="4500"/>
          </a:xfrm>
          <a:prstGeom prst="straightConnector1">
            <a:avLst/>
          </a:prstGeom>
          <a:noFill/>
          <a:ln cap="flat" cmpd="sng" w="9525">
            <a:solidFill>
              <a:schemeClr val="dk2"/>
            </a:solidFill>
            <a:prstDash val="solid"/>
            <a:round/>
            <a:headEnd len="med" w="med" type="none"/>
            <a:tailEnd len="med" w="med" type="none"/>
          </a:ln>
        </p:spPr>
      </p:cxnSp>
      <p:cxnSp>
        <p:nvCxnSpPr>
          <p:cNvPr id="1637" name="Google Shape;1637;g3e3a61befe4_0_4349"/>
          <p:cNvCxnSpPr/>
          <p:nvPr/>
        </p:nvCxnSpPr>
        <p:spPr>
          <a:xfrm>
            <a:off x="4104050" y="4120175"/>
            <a:ext cx="5700000" cy="9000"/>
          </a:xfrm>
          <a:prstGeom prst="straightConnector1">
            <a:avLst/>
          </a:prstGeom>
          <a:noFill/>
          <a:ln cap="flat" cmpd="sng" w="9525">
            <a:solidFill>
              <a:schemeClr val="dk2"/>
            </a:solidFill>
            <a:prstDash val="solid"/>
            <a:round/>
            <a:headEnd len="med" w="med" type="none"/>
            <a:tailEnd len="med" w="med" type="none"/>
          </a:ln>
        </p:spPr>
      </p:cxnSp>
      <p:sp>
        <p:nvSpPr>
          <p:cNvPr id="1638" name="Google Shape;1638;g3e3a61befe4_0_4349"/>
          <p:cNvSpPr/>
          <p:nvPr/>
        </p:nvSpPr>
        <p:spPr>
          <a:xfrm>
            <a:off x="81550" y="2826475"/>
            <a:ext cx="2064900" cy="11325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latin typeface="Calibri"/>
                <a:ea typeface="Calibri"/>
                <a:cs typeface="Calibri"/>
                <a:sym typeface="Calibri"/>
              </a:rPr>
              <a:t>The calculation of the number of scooters to be transferred to each zone is based on usage annually history</a:t>
            </a:r>
            <a:endParaRPr>
              <a:latin typeface="Calibri"/>
              <a:ea typeface="Calibri"/>
              <a:cs typeface="Calibri"/>
              <a:sym typeface="Calibri"/>
            </a:endParaRPr>
          </a:p>
        </p:txBody>
      </p:sp>
      <p:sp>
        <p:nvSpPr>
          <p:cNvPr id="1639" name="Google Shape;1639;g3e3a61befe4_0_4349"/>
          <p:cNvSpPr txBox="1"/>
          <p:nvPr/>
        </p:nvSpPr>
        <p:spPr>
          <a:xfrm>
            <a:off x="689250" y="1193649"/>
            <a:ext cx="9006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700">
                <a:solidFill>
                  <a:schemeClr val="dk1"/>
                </a:solidFill>
                <a:latin typeface="Calibri"/>
                <a:ea typeface="Calibri"/>
                <a:cs typeface="Calibri"/>
                <a:sym typeface="Calibri"/>
              </a:rPr>
              <a:t>Cause</a:t>
            </a:r>
            <a:endParaRPr b="1" sz="1700">
              <a:solidFill>
                <a:schemeClr val="dk1"/>
              </a:solidFill>
              <a:latin typeface="Calibri"/>
              <a:ea typeface="Calibri"/>
              <a:cs typeface="Calibri"/>
              <a:sym typeface="Calibri"/>
            </a:endParaRPr>
          </a:p>
        </p:txBody>
      </p:sp>
      <p:sp>
        <p:nvSpPr>
          <p:cNvPr id="1640" name="Google Shape;1640;g3e3a61befe4_0_4349"/>
          <p:cNvSpPr txBox="1"/>
          <p:nvPr/>
        </p:nvSpPr>
        <p:spPr>
          <a:xfrm>
            <a:off x="2271237" y="1193646"/>
            <a:ext cx="15405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700">
                <a:solidFill>
                  <a:schemeClr val="dk1"/>
                </a:solidFill>
                <a:latin typeface="Calibri"/>
                <a:ea typeface="Calibri"/>
                <a:cs typeface="Calibri"/>
                <a:sym typeface="Calibri"/>
              </a:rPr>
              <a:t>Consequences</a:t>
            </a:r>
            <a:endParaRPr b="1" sz="1700">
              <a:solidFill>
                <a:schemeClr val="dk1"/>
              </a:solidFill>
              <a:latin typeface="Calibri"/>
              <a:ea typeface="Calibri"/>
              <a:cs typeface="Calibri"/>
              <a:sym typeface="Calibri"/>
            </a:endParaRPr>
          </a:p>
        </p:txBody>
      </p:sp>
      <p:sp>
        <p:nvSpPr>
          <p:cNvPr id="1641" name="Google Shape;1641;g3e3a61befe4_0_4349"/>
          <p:cNvSpPr/>
          <p:nvPr/>
        </p:nvSpPr>
        <p:spPr>
          <a:xfrm>
            <a:off x="81550" y="4259450"/>
            <a:ext cx="2064900" cy="11325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latin typeface="Calibri"/>
                <a:ea typeface="Calibri"/>
                <a:cs typeface="Calibri"/>
                <a:sym typeface="Calibri"/>
              </a:rPr>
              <a:t>Collection of user data (location and usage times) to generate zone demand information</a:t>
            </a:r>
            <a:endParaRPr>
              <a:latin typeface="Calibri"/>
              <a:ea typeface="Calibri"/>
              <a:cs typeface="Calibri"/>
              <a:sym typeface="Calibri"/>
            </a:endParaRPr>
          </a:p>
        </p:txBody>
      </p:sp>
      <p:sp>
        <p:nvSpPr>
          <p:cNvPr id="1642" name="Google Shape;1642;g3e3a61befe4_0_4349"/>
          <p:cNvSpPr txBox="1"/>
          <p:nvPr/>
        </p:nvSpPr>
        <p:spPr>
          <a:xfrm>
            <a:off x="5936538" y="1147450"/>
            <a:ext cx="1540500" cy="538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300">
                <a:solidFill>
                  <a:schemeClr val="dk1"/>
                </a:solidFill>
                <a:latin typeface="Calibri"/>
                <a:ea typeface="Calibri"/>
                <a:cs typeface="Calibri"/>
                <a:sym typeface="Calibri"/>
              </a:rPr>
              <a:t>INFLUENCE</a:t>
            </a:r>
            <a:endParaRPr sz="2300">
              <a:solidFill>
                <a:schemeClr val="dk1"/>
              </a:solidFill>
              <a:latin typeface="Calibri"/>
              <a:ea typeface="Calibri"/>
              <a:cs typeface="Calibri"/>
              <a:sym typeface="Calibri"/>
            </a:endParaRPr>
          </a:p>
        </p:txBody>
      </p:sp>
      <p:sp>
        <p:nvSpPr>
          <p:cNvPr id="1643" name="Google Shape;1643;g3e3a61befe4_0_4349"/>
          <p:cNvSpPr txBox="1"/>
          <p:nvPr/>
        </p:nvSpPr>
        <p:spPr>
          <a:xfrm>
            <a:off x="8137063" y="1183500"/>
            <a:ext cx="1540500" cy="538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300">
                <a:solidFill>
                  <a:schemeClr val="dk1"/>
                </a:solidFill>
                <a:latin typeface="Calibri"/>
                <a:ea typeface="Calibri"/>
                <a:cs typeface="Calibri"/>
                <a:sym typeface="Calibri"/>
              </a:rPr>
              <a:t>MONITOR</a:t>
            </a:r>
            <a:endParaRPr sz="2300">
              <a:solidFill>
                <a:schemeClr val="dk1"/>
              </a:solidFill>
              <a:latin typeface="Calibri"/>
              <a:ea typeface="Calibri"/>
              <a:cs typeface="Calibri"/>
              <a:sym typeface="Calibri"/>
            </a:endParaRPr>
          </a:p>
        </p:txBody>
      </p:sp>
      <p:sp>
        <p:nvSpPr>
          <p:cNvPr id="1644" name="Google Shape;1644;g3e3a61befe4_0_4349"/>
          <p:cNvSpPr txBox="1"/>
          <p:nvPr/>
        </p:nvSpPr>
        <p:spPr>
          <a:xfrm>
            <a:off x="8017135" y="1753493"/>
            <a:ext cx="17589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solidFill>
                  <a:schemeClr val="dk1"/>
                </a:solidFill>
                <a:latin typeface="Calibri"/>
                <a:ea typeface="Calibri"/>
                <a:cs typeface="Calibri"/>
                <a:sym typeface="Calibri"/>
              </a:rPr>
              <a:t>Continuously monitor whether all zones are receiving adequate numbers of scooters.</a:t>
            </a:r>
            <a:endParaRPr>
              <a:solidFill>
                <a:schemeClr val="dk1"/>
              </a:solidFill>
              <a:latin typeface="Calibri"/>
              <a:ea typeface="Calibri"/>
              <a:cs typeface="Calibri"/>
              <a:sym typeface="Calibri"/>
            </a:endParaRPr>
          </a:p>
        </p:txBody>
      </p:sp>
      <p:sp>
        <p:nvSpPr>
          <p:cNvPr id="1645" name="Google Shape;1645;g3e3a61befe4_0_4349"/>
          <p:cNvSpPr txBox="1"/>
          <p:nvPr/>
        </p:nvSpPr>
        <p:spPr>
          <a:xfrm>
            <a:off x="3791575" y="2760449"/>
            <a:ext cx="2034000" cy="1391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n-US">
                <a:solidFill>
                  <a:schemeClr val="dk1"/>
                </a:solidFill>
                <a:latin typeface="Calibri"/>
                <a:ea typeface="Calibri"/>
                <a:cs typeface="Calibri"/>
                <a:sym typeface="Calibri"/>
              </a:rPr>
              <a:t>Consider repressed demand and monthly demand when calculating scooter distribution among zones</a:t>
            </a:r>
            <a:endParaRPr>
              <a:solidFill>
                <a:schemeClr val="dk1"/>
              </a:solidFill>
              <a:latin typeface="Calibri"/>
              <a:ea typeface="Calibri"/>
              <a:cs typeface="Calibri"/>
              <a:sym typeface="Calibri"/>
            </a:endParaRPr>
          </a:p>
        </p:txBody>
      </p:sp>
      <p:sp>
        <p:nvSpPr>
          <p:cNvPr id="1646" name="Google Shape;1646;g3e3a61befe4_0_4349"/>
          <p:cNvSpPr txBox="1"/>
          <p:nvPr/>
        </p:nvSpPr>
        <p:spPr>
          <a:xfrm>
            <a:off x="3811725" y="4076250"/>
            <a:ext cx="2034000" cy="1477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solidFill>
                  <a:schemeClr val="dk1"/>
                </a:solidFill>
                <a:latin typeface="Calibri"/>
                <a:ea typeface="Calibri"/>
                <a:cs typeface="Calibri"/>
                <a:sym typeface="Calibri"/>
              </a:rPr>
              <a:t>Adjust the app’s consent request to explicitly inform users about the types of data collected and their intended purposes.</a:t>
            </a:r>
            <a:endParaRPr>
              <a:solidFill>
                <a:schemeClr val="dk1"/>
              </a:solidFill>
              <a:latin typeface="Calibri"/>
              <a:ea typeface="Calibri"/>
              <a:cs typeface="Calibri"/>
              <a:sym typeface="Calibri"/>
            </a:endParaRPr>
          </a:p>
        </p:txBody>
      </p:sp>
      <p:sp>
        <p:nvSpPr>
          <p:cNvPr id="1647" name="Google Shape;1647;g3e3a61befe4_0_4349"/>
          <p:cNvSpPr txBox="1"/>
          <p:nvPr/>
        </p:nvSpPr>
        <p:spPr>
          <a:xfrm>
            <a:off x="5908013" y="4291650"/>
            <a:ext cx="17589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solidFill>
                  <a:schemeClr val="dk1"/>
                </a:solidFill>
                <a:latin typeface="Calibri"/>
                <a:ea typeface="Calibri"/>
                <a:cs typeface="Calibri"/>
                <a:sym typeface="Calibri"/>
              </a:rPr>
              <a:t>Adjust organizational guidelines to ensure clear consent mechanisms</a:t>
            </a:r>
            <a:endParaRPr>
              <a:solidFill>
                <a:schemeClr val="dk1"/>
              </a:solidFill>
              <a:latin typeface="Calibri"/>
              <a:ea typeface="Calibri"/>
              <a:cs typeface="Calibri"/>
              <a:sym typeface="Calibri"/>
            </a:endParaRPr>
          </a:p>
        </p:txBody>
      </p:sp>
      <p:sp>
        <p:nvSpPr>
          <p:cNvPr id="1648" name="Google Shape;1648;g3e3a61befe4_0_4349"/>
          <p:cNvSpPr/>
          <p:nvPr/>
        </p:nvSpPr>
        <p:spPr>
          <a:xfrm>
            <a:off x="69450" y="1637966"/>
            <a:ext cx="2034000" cy="10149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US">
                <a:solidFill>
                  <a:schemeClr val="dk1"/>
                </a:solidFill>
                <a:latin typeface="Calibri"/>
                <a:ea typeface="Calibri"/>
                <a:cs typeface="Calibri"/>
                <a:sym typeface="Calibri"/>
              </a:rPr>
              <a:t>There is no minimum scooter retention policy to prevent zones from becoming empty after transfers</a:t>
            </a:r>
            <a:endParaRPr>
              <a:latin typeface="Calibri"/>
              <a:ea typeface="Calibri"/>
              <a:cs typeface="Calibri"/>
              <a:sym typeface="Calibri"/>
            </a:endParaRPr>
          </a:p>
        </p:txBody>
      </p:sp>
      <p:sp>
        <p:nvSpPr>
          <p:cNvPr id="1649" name="Google Shape;1649;g3e3a61befe4_0_4349"/>
          <p:cNvSpPr txBox="1"/>
          <p:nvPr/>
        </p:nvSpPr>
        <p:spPr>
          <a:xfrm>
            <a:off x="3869181" y="1632582"/>
            <a:ext cx="1823100" cy="1262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solidFill>
                  <a:schemeClr val="dk1"/>
                </a:solidFill>
                <a:latin typeface="Calibri"/>
                <a:ea typeface="Calibri"/>
                <a:cs typeface="Calibri"/>
                <a:sym typeface="Calibri"/>
              </a:rPr>
              <a:t>Define a minimum scooter threshold per zone to avoid complete depletion after transfers</a:t>
            </a:r>
            <a:endParaRPr>
              <a:solidFill>
                <a:schemeClr val="dk1"/>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3" name="Shape 1653"/>
        <p:cNvGrpSpPr/>
        <p:nvPr/>
      </p:nvGrpSpPr>
      <p:grpSpPr>
        <a:xfrm>
          <a:off x="0" y="0"/>
          <a:ext cx="0" cy="0"/>
          <a:chOff x="0" y="0"/>
          <a:chExt cx="0" cy="0"/>
        </a:xfrm>
      </p:grpSpPr>
      <p:sp>
        <p:nvSpPr>
          <p:cNvPr id="1654" name="Google Shape;1654;g3e33499f370_0_231"/>
          <p:cNvSpPr txBox="1"/>
          <p:nvPr>
            <p:ph type="title"/>
          </p:nvPr>
        </p:nvSpPr>
        <p:spPr>
          <a:xfrm>
            <a:off x="101475" y="108450"/>
            <a:ext cx="9635100" cy="6246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1E4E79"/>
              </a:buClr>
              <a:buSzPts val="4000"/>
              <a:buFont typeface="Arial"/>
              <a:buNone/>
            </a:pPr>
            <a:r>
              <a:rPr lang="en-US" sz="2400"/>
              <a:t>Step 3.4: </a:t>
            </a:r>
            <a:r>
              <a:rPr lang="en-US" sz="2400"/>
              <a:t>Creation or Modification of Use Cases</a:t>
            </a:r>
            <a:endParaRPr sz="2400"/>
          </a:p>
        </p:txBody>
      </p:sp>
      <p:grpSp>
        <p:nvGrpSpPr>
          <p:cNvPr id="1655" name="Google Shape;1655;g3e33499f370_0_231"/>
          <p:cNvGrpSpPr/>
          <p:nvPr/>
        </p:nvGrpSpPr>
        <p:grpSpPr>
          <a:xfrm>
            <a:off x="-18000" y="5842891"/>
            <a:ext cx="9942000" cy="1014788"/>
            <a:chOff x="-21650" y="5927750"/>
            <a:chExt cx="9942000" cy="930230"/>
          </a:xfrm>
        </p:grpSpPr>
        <p:sp>
          <p:nvSpPr>
            <p:cNvPr id="1656" name="Google Shape;1656;g3e33499f370_0_231"/>
            <p:cNvSpPr/>
            <p:nvPr/>
          </p:nvSpPr>
          <p:spPr>
            <a:xfrm>
              <a:off x="5239747" y="5949280"/>
              <a:ext cx="4680600" cy="9087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Arial"/>
                  <a:ea typeface="Arial"/>
                  <a:cs typeface="Arial"/>
                  <a:sym typeface="Arial"/>
                </a:rPr>
                <a:t>25th Annual International Conference on Digital Government Research (dg.o 2024)</a:t>
              </a:r>
              <a:endParaRPr b="0" i="0" sz="1800" u="none" cap="none" strike="noStrike">
                <a:solidFill>
                  <a:schemeClr val="lt1"/>
                </a:solidFill>
                <a:latin typeface="Arial"/>
                <a:ea typeface="Arial"/>
                <a:cs typeface="Arial"/>
                <a:sym typeface="Arial"/>
              </a:endParaRPr>
            </a:p>
          </p:txBody>
        </p:sp>
        <p:pic>
          <p:nvPicPr>
            <p:cNvPr id="1657" name="Google Shape;1657;g3e33499f370_0_231"/>
            <p:cNvPicPr preferRelativeResize="0"/>
            <p:nvPr/>
          </p:nvPicPr>
          <p:blipFill rotWithShape="1">
            <a:blip r:embed="rId3">
              <a:alphaModFix/>
            </a:blip>
            <a:srcRect b="-112517" l="-23390" r="23390" t="137700"/>
            <a:stretch/>
          </p:blipFill>
          <p:spPr>
            <a:xfrm>
              <a:off x="0" y="6007596"/>
              <a:ext cx="9920265" cy="792088"/>
            </a:xfrm>
            <a:prstGeom prst="rect">
              <a:avLst/>
            </a:prstGeom>
            <a:noFill/>
            <a:ln>
              <a:noFill/>
            </a:ln>
          </p:spPr>
        </p:pic>
        <p:sp>
          <p:nvSpPr>
            <p:cNvPr id="1658" name="Google Shape;1658;g3e33499f370_0_231"/>
            <p:cNvSpPr/>
            <p:nvPr/>
          </p:nvSpPr>
          <p:spPr>
            <a:xfrm>
              <a:off x="-21650" y="5927750"/>
              <a:ext cx="9942000" cy="9087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sp>
        <p:nvSpPr>
          <p:cNvPr id="1659" name="Google Shape;1659;g3e33499f370_0_231"/>
          <p:cNvSpPr txBox="1"/>
          <p:nvPr>
            <p:ph idx="12" type="sldNum"/>
          </p:nvPr>
        </p:nvSpPr>
        <p:spPr>
          <a:xfrm>
            <a:off x="6996113" y="6356350"/>
            <a:ext cx="22290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pic>
        <p:nvPicPr>
          <p:cNvPr id="1660" name="Google Shape;1660;g3e33499f370_0_231"/>
          <p:cNvPicPr preferRelativeResize="0"/>
          <p:nvPr/>
        </p:nvPicPr>
        <p:blipFill rotWithShape="1">
          <a:blip r:embed="rId4">
            <a:alphaModFix/>
          </a:blip>
          <a:srcRect b="0" l="0" r="0" t="0"/>
          <a:stretch/>
        </p:blipFill>
        <p:spPr>
          <a:xfrm>
            <a:off x="218750" y="6052376"/>
            <a:ext cx="1823009" cy="470325"/>
          </a:xfrm>
          <a:prstGeom prst="rect">
            <a:avLst/>
          </a:prstGeom>
          <a:noFill/>
          <a:ln>
            <a:noFill/>
          </a:ln>
        </p:spPr>
      </p:pic>
      <p:pic>
        <p:nvPicPr>
          <p:cNvPr id="1661" name="Google Shape;1661;g3e33499f370_0_231"/>
          <p:cNvPicPr preferRelativeResize="0"/>
          <p:nvPr/>
        </p:nvPicPr>
        <p:blipFill rotWithShape="1">
          <a:blip r:embed="rId5">
            <a:alphaModFix/>
          </a:blip>
          <a:srcRect b="0" l="0" r="0" t="0"/>
          <a:stretch/>
        </p:blipFill>
        <p:spPr>
          <a:xfrm>
            <a:off x="6996125" y="5975242"/>
            <a:ext cx="1811830" cy="624575"/>
          </a:xfrm>
          <a:prstGeom prst="rect">
            <a:avLst/>
          </a:prstGeom>
          <a:noFill/>
          <a:ln>
            <a:noFill/>
          </a:ln>
        </p:spPr>
      </p:pic>
      <p:sp>
        <p:nvSpPr>
          <p:cNvPr id="1662" name="Google Shape;1662;g3e33499f370_0_231"/>
          <p:cNvSpPr txBox="1"/>
          <p:nvPr/>
        </p:nvSpPr>
        <p:spPr>
          <a:xfrm>
            <a:off x="1056175" y="1176888"/>
            <a:ext cx="1143000" cy="538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300">
                <a:solidFill>
                  <a:schemeClr val="dk1"/>
                </a:solidFill>
                <a:latin typeface="Calibri"/>
                <a:ea typeface="Calibri"/>
                <a:cs typeface="Calibri"/>
                <a:sym typeface="Calibri"/>
              </a:rPr>
              <a:t>ACTION</a:t>
            </a:r>
            <a:endParaRPr sz="2300">
              <a:solidFill>
                <a:schemeClr val="dk1"/>
              </a:solidFill>
              <a:latin typeface="Calibri"/>
              <a:ea typeface="Calibri"/>
              <a:cs typeface="Calibri"/>
              <a:sym typeface="Calibri"/>
            </a:endParaRPr>
          </a:p>
        </p:txBody>
      </p:sp>
      <p:graphicFrame>
        <p:nvGraphicFramePr>
          <p:cNvPr id="1663" name="Google Shape;1663;g3e33499f370_0_231"/>
          <p:cNvGraphicFramePr/>
          <p:nvPr/>
        </p:nvGraphicFramePr>
        <p:xfrm>
          <a:off x="403988" y="1715700"/>
          <a:ext cx="3000000" cy="3000000"/>
        </p:xfrm>
        <a:graphic>
          <a:graphicData uri="http://schemas.openxmlformats.org/drawingml/2006/table">
            <a:tbl>
              <a:tblPr>
                <a:noFill/>
                <a:tableStyleId>{2736B423-FCC7-43BB-9A58-3EA48F6894B7}</a:tableStyleId>
              </a:tblPr>
              <a:tblGrid>
                <a:gridCol w="2447350"/>
              </a:tblGrid>
              <a:tr h="381000">
                <a:tc>
                  <a:txBody>
                    <a:bodyPr/>
                    <a:lstStyle/>
                    <a:p>
                      <a:pPr indent="0" lvl="0" marL="0" rtl="0" algn="l">
                        <a:spcBef>
                          <a:spcPts val="0"/>
                        </a:spcBef>
                        <a:spcAft>
                          <a:spcPts val="0"/>
                        </a:spcAft>
                        <a:buNone/>
                      </a:pPr>
                      <a:r>
                        <a:rPr lang="en-US">
                          <a:solidFill>
                            <a:schemeClr val="dk1"/>
                          </a:solidFill>
                          <a:latin typeface="Calibri"/>
                          <a:ea typeface="Calibri"/>
                          <a:cs typeface="Calibri"/>
                          <a:sym typeface="Calibri"/>
                        </a:rPr>
                        <a:t>1. Define a minimum scooter threshold per zone to avoid complete depletion after transfers</a:t>
                      </a:r>
                      <a:endParaRPr/>
                    </a:p>
                  </a:txBody>
                  <a:tcPr marT="91425" marB="91425" marR="91425" marL="91425"/>
                </a:tc>
              </a:tr>
              <a:tr h="381000">
                <a:tc>
                  <a:txBody>
                    <a:bodyPr/>
                    <a:lstStyle/>
                    <a:p>
                      <a:pPr indent="0" lvl="0" marL="0" rtl="0" algn="l">
                        <a:spcBef>
                          <a:spcPts val="0"/>
                        </a:spcBef>
                        <a:spcAft>
                          <a:spcPts val="0"/>
                        </a:spcAft>
                        <a:buClr>
                          <a:schemeClr val="dk1"/>
                        </a:buClr>
                        <a:buSzPts val="1100"/>
                        <a:buFont typeface="Arial"/>
                        <a:buNone/>
                      </a:pPr>
                      <a:r>
                        <a:rPr lang="en-US">
                          <a:solidFill>
                            <a:schemeClr val="dk1"/>
                          </a:solidFill>
                          <a:latin typeface="Calibri"/>
                          <a:ea typeface="Calibri"/>
                          <a:cs typeface="Calibri"/>
                          <a:sym typeface="Calibri"/>
                        </a:rPr>
                        <a:t>2.</a:t>
                      </a:r>
                      <a:r>
                        <a:rPr lang="en-US">
                          <a:solidFill>
                            <a:schemeClr val="dk1"/>
                          </a:solidFill>
                          <a:latin typeface="Calibri"/>
                          <a:ea typeface="Calibri"/>
                          <a:cs typeface="Calibri"/>
                          <a:sym typeface="Calibri"/>
                        </a:rPr>
                        <a:t> Consider repressed demand and monthly demand when calculating scooter distribution among zones</a:t>
                      </a:r>
                      <a:endParaRPr/>
                    </a:p>
                  </a:txBody>
                  <a:tcPr marT="91425" marB="91425" marR="91425" marL="91425"/>
                </a:tc>
              </a:tr>
              <a:tr h="381000">
                <a:tc>
                  <a:txBody>
                    <a:bodyPr/>
                    <a:lstStyle/>
                    <a:p>
                      <a:pPr indent="0" lvl="0" marL="0" rtl="0" algn="l">
                        <a:spcBef>
                          <a:spcPts val="0"/>
                        </a:spcBef>
                        <a:spcAft>
                          <a:spcPts val="0"/>
                        </a:spcAft>
                        <a:buClr>
                          <a:schemeClr val="dk1"/>
                        </a:buClr>
                        <a:buSzPts val="1100"/>
                        <a:buFont typeface="Arial"/>
                        <a:buNone/>
                      </a:pPr>
                      <a:r>
                        <a:rPr lang="en-US">
                          <a:solidFill>
                            <a:schemeClr val="dk1"/>
                          </a:solidFill>
                          <a:latin typeface="Calibri"/>
                          <a:ea typeface="Calibri"/>
                          <a:cs typeface="Calibri"/>
                          <a:sym typeface="Calibri"/>
                        </a:rPr>
                        <a:t>3. </a:t>
                      </a:r>
                      <a:r>
                        <a:rPr lang="en-US">
                          <a:solidFill>
                            <a:schemeClr val="dk1"/>
                          </a:solidFill>
                          <a:latin typeface="Calibri"/>
                          <a:ea typeface="Calibri"/>
                          <a:cs typeface="Calibri"/>
                          <a:sym typeface="Calibri"/>
                        </a:rPr>
                        <a:t>Adjust the app’s consent request to explicitly inform users about the types of data collected and their intended purposes.</a:t>
                      </a:r>
                      <a:endParaRPr/>
                    </a:p>
                  </a:txBody>
                  <a:tcPr marT="91425" marB="91425" marR="91425" marL="91425"/>
                </a:tc>
              </a:tr>
            </a:tbl>
          </a:graphicData>
        </a:graphic>
      </p:graphicFrame>
    </p:spTree>
  </p:cSld>
  <p:clrMapOvr>
    <a:masterClrMapping/>
  </p:clrMapOvr>
  <mc:AlternateContent>
    <mc:Choice Requires="p14">
      <p:transition spd="slow" p14:dur="700">
        <p:fade/>
      </p:transition>
    </mc:Choice>
    <mc:Fallback>
      <p:transition spd="slow">
        <p:fade/>
      </p:transition>
    </mc:Fallback>
  </mc:AlternateContent>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7" name="Shape 1667"/>
        <p:cNvGrpSpPr/>
        <p:nvPr/>
      </p:nvGrpSpPr>
      <p:grpSpPr>
        <a:xfrm>
          <a:off x="0" y="0"/>
          <a:ext cx="0" cy="0"/>
          <a:chOff x="0" y="0"/>
          <a:chExt cx="0" cy="0"/>
        </a:xfrm>
      </p:grpSpPr>
      <p:sp>
        <p:nvSpPr>
          <p:cNvPr id="1668" name="Google Shape;1668;g3e3a61befe4_0_4404"/>
          <p:cNvSpPr txBox="1"/>
          <p:nvPr>
            <p:ph type="title"/>
          </p:nvPr>
        </p:nvSpPr>
        <p:spPr>
          <a:xfrm>
            <a:off x="101475" y="108450"/>
            <a:ext cx="9635100" cy="6246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1E4E79"/>
              </a:buClr>
              <a:buSzPts val="4000"/>
              <a:buFont typeface="Arial"/>
              <a:buNone/>
            </a:pPr>
            <a:r>
              <a:rPr lang="en-US" sz="2400"/>
              <a:t>Step 3.4: Creation or Modification of Use Cases</a:t>
            </a:r>
            <a:endParaRPr sz="2400"/>
          </a:p>
        </p:txBody>
      </p:sp>
      <p:grpSp>
        <p:nvGrpSpPr>
          <p:cNvPr id="1669" name="Google Shape;1669;g3e3a61befe4_0_4404"/>
          <p:cNvGrpSpPr/>
          <p:nvPr/>
        </p:nvGrpSpPr>
        <p:grpSpPr>
          <a:xfrm>
            <a:off x="-18000" y="5842891"/>
            <a:ext cx="9942000" cy="1014788"/>
            <a:chOff x="-21650" y="5927750"/>
            <a:chExt cx="9942000" cy="930230"/>
          </a:xfrm>
        </p:grpSpPr>
        <p:sp>
          <p:nvSpPr>
            <p:cNvPr id="1670" name="Google Shape;1670;g3e3a61befe4_0_4404"/>
            <p:cNvSpPr/>
            <p:nvPr/>
          </p:nvSpPr>
          <p:spPr>
            <a:xfrm>
              <a:off x="5239747" y="5949280"/>
              <a:ext cx="4680600" cy="9087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Arial"/>
                  <a:ea typeface="Arial"/>
                  <a:cs typeface="Arial"/>
                  <a:sym typeface="Arial"/>
                </a:rPr>
                <a:t>25th Annual International Conference on Digital Government Research (dg.o 2024)</a:t>
              </a:r>
              <a:endParaRPr b="0" i="0" sz="1800" u="none" cap="none" strike="noStrike">
                <a:solidFill>
                  <a:schemeClr val="lt1"/>
                </a:solidFill>
                <a:latin typeface="Arial"/>
                <a:ea typeface="Arial"/>
                <a:cs typeface="Arial"/>
                <a:sym typeface="Arial"/>
              </a:endParaRPr>
            </a:p>
          </p:txBody>
        </p:sp>
        <p:pic>
          <p:nvPicPr>
            <p:cNvPr id="1671" name="Google Shape;1671;g3e3a61befe4_0_4404"/>
            <p:cNvPicPr preferRelativeResize="0"/>
            <p:nvPr/>
          </p:nvPicPr>
          <p:blipFill rotWithShape="1">
            <a:blip r:embed="rId3">
              <a:alphaModFix/>
            </a:blip>
            <a:srcRect b="-112517" l="-23390" r="23390" t="137700"/>
            <a:stretch/>
          </p:blipFill>
          <p:spPr>
            <a:xfrm>
              <a:off x="0" y="6007596"/>
              <a:ext cx="9920265" cy="792088"/>
            </a:xfrm>
            <a:prstGeom prst="rect">
              <a:avLst/>
            </a:prstGeom>
            <a:noFill/>
            <a:ln>
              <a:noFill/>
            </a:ln>
          </p:spPr>
        </p:pic>
        <p:sp>
          <p:nvSpPr>
            <p:cNvPr id="1672" name="Google Shape;1672;g3e3a61befe4_0_4404"/>
            <p:cNvSpPr/>
            <p:nvPr/>
          </p:nvSpPr>
          <p:spPr>
            <a:xfrm>
              <a:off x="-21650" y="5927750"/>
              <a:ext cx="9942000" cy="9087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sp>
        <p:nvSpPr>
          <p:cNvPr id="1673" name="Google Shape;1673;g3e3a61befe4_0_4404"/>
          <p:cNvSpPr txBox="1"/>
          <p:nvPr>
            <p:ph idx="12" type="sldNum"/>
          </p:nvPr>
        </p:nvSpPr>
        <p:spPr>
          <a:xfrm>
            <a:off x="6996113" y="6356350"/>
            <a:ext cx="22290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pic>
        <p:nvPicPr>
          <p:cNvPr id="1674" name="Google Shape;1674;g3e3a61befe4_0_4404"/>
          <p:cNvPicPr preferRelativeResize="0"/>
          <p:nvPr/>
        </p:nvPicPr>
        <p:blipFill rotWithShape="1">
          <a:blip r:embed="rId4">
            <a:alphaModFix/>
          </a:blip>
          <a:srcRect b="0" l="0" r="0" t="0"/>
          <a:stretch/>
        </p:blipFill>
        <p:spPr>
          <a:xfrm>
            <a:off x="218750" y="6052376"/>
            <a:ext cx="1823009" cy="470325"/>
          </a:xfrm>
          <a:prstGeom prst="rect">
            <a:avLst/>
          </a:prstGeom>
          <a:noFill/>
          <a:ln>
            <a:noFill/>
          </a:ln>
        </p:spPr>
      </p:pic>
      <p:pic>
        <p:nvPicPr>
          <p:cNvPr id="1675" name="Google Shape;1675;g3e3a61befe4_0_4404"/>
          <p:cNvPicPr preferRelativeResize="0"/>
          <p:nvPr/>
        </p:nvPicPr>
        <p:blipFill rotWithShape="1">
          <a:blip r:embed="rId5">
            <a:alphaModFix/>
          </a:blip>
          <a:srcRect b="0" l="0" r="0" t="0"/>
          <a:stretch/>
        </p:blipFill>
        <p:spPr>
          <a:xfrm>
            <a:off x="6996125" y="5975242"/>
            <a:ext cx="1811830" cy="624575"/>
          </a:xfrm>
          <a:prstGeom prst="rect">
            <a:avLst/>
          </a:prstGeom>
          <a:noFill/>
          <a:ln>
            <a:noFill/>
          </a:ln>
        </p:spPr>
      </p:pic>
      <p:sp>
        <p:nvSpPr>
          <p:cNvPr id="1676" name="Google Shape;1676;g3e3a61befe4_0_4404"/>
          <p:cNvSpPr txBox="1"/>
          <p:nvPr/>
        </p:nvSpPr>
        <p:spPr>
          <a:xfrm>
            <a:off x="1056175" y="1176888"/>
            <a:ext cx="1143000" cy="538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300">
                <a:solidFill>
                  <a:schemeClr val="dk1"/>
                </a:solidFill>
                <a:latin typeface="Calibri"/>
                <a:ea typeface="Calibri"/>
                <a:cs typeface="Calibri"/>
                <a:sym typeface="Calibri"/>
              </a:rPr>
              <a:t>ACTION</a:t>
            </a:r>
            <a:endParaRPr sz="2300">
              <a:solidFill>
                <a:schemeClr val="dk1"/>
              </a:solidFill>
              <a:latin typeface="Calibri"/>
              <a:ea typeface="Calibri"/>
              <a:cs typeface="Calibri"/>
              <a:sym typeface="Calibri"/>
            </a:endParaRPr>
          </a:p>
        </p:txBody>
      </p:sp>
      <p:sp>
        <p:nvSpPr>
          <p:cNvPr id="1677" name="Google Shape;1677;g3e3a61befe4_0_4404"/>
          <p:cNvSpPr txBox="1"/>
          <p:nvPr/>
        </p:nvSpPr>
        <p:spPr>
          <a:xfrm>
            <a:off x="3100025" y="1968285"/>
            <a:ext cx="6668100" cy="615600"/>
          </a:xfrm>
          <a:prstGeom prst="rect">
            <a:avLst/>
          </a:prstGeom>
          <a:noFill/>
          <a:ln>
            <a:noFill/>
          </a:ln>
        </p:spPr>
        <p:txBody>
          <a:bodyPr anchorCtr="0" anchor="t" bIns="91425" lIns="91425" spcFirstLastPara="1" rIns="91425" wrap="square" tIns="91425">
            <a:spAutoFit/>
          </a:bodyPr>
          <a:lstStyle/>
          <a:p>
            <a:pPr indent="0" lvl="0" marL="0" rtl="0" algn="just">
              <a:spcBef>
                <a:spcPts val="1200"/>
              </a:spcBef>
              <a:spcAft>
                <a:spcPts val="1200"/>
              </a:spcAft>
              <a:buNone/>
            </a:pPr>
            <a:r>
              <a:rPr lang="en-US">
                <a:solidFill>
                  <a:schemeClr val="dk1"/>
                </a:solidFill>
              </a:rPr>
              <a:t>If so, it transfers available scooters from the identified zone to a priority zone while maintaining a minimum scooter threshold in the source zone.</a:t>
            </a:r>
            <a:endParaRPr b="1" sz="1700"/>
          </a:p>
        </p:txBody>
      </p:sp>
      <p:sp>
        <p:nvSpPr>
          <p:cNvPr id="1678" name="Google Shape;1678;g3e3a61befe4_0_4404"/>
          <p:cNvSpPr txBox="1"/>
          <p:nvPr/>
        </p:nvSpPr>
        <p:spPr>
          <a:xfrm>
            <a:off x="3100018" y="1715700"/>
            <a:ext cx="75303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800">
                <a:solidFill>
                  <a:schemeClr val="dk1"/>
                </a:solidFill>
                <a:latin typeface="Calibri"/>
                <a:ea typeface="Calibri"/>
                <a:cs typeface="Calibri"/>
                <a:sym typeface="Calibri"/>
              </a:rPr>
              <a:t>Adjusting the description of the current requirement</a:t>
            </a:r>
            <a:endParaRPr b="1" sz="2800">
              <a:solidFill>
                <a:schemeClr val="dk1"/>
              </a:solidFill>
              <a:latin typeface="Calibri"/>
              <a:ea typeface="Calibri"/>
              <a:cs typeface="Calibri"/>
              <a:sym typeface="Calibri"/>
            </a:endParaRPr>
          </a:p>
        </p:txBody>
      </p:sp>
      <p:graphicFrame>
        <p:nvGraphicFramePr>
          <p:cNvPr id="1679" name="Google Shape;1679;g3e3a61befe4_0_4404"/>
          <p:cNvGraphicFramePr/>
          <p:nvPr/>
        </p:nvGraphicFramePr>
        <p:xfrm>
          <a:off x="403988" y="1715700"/>
          <a:ext cx="3000000" cy="3000000"/>
        </p:xfrm>
        <a:graphic>
          <a:graphicData uri="http://schemas.openxmlformats.org/drawingml/2006/table">
            <a:tbl>
              <a:tblPr>
                <a:noFill/>
                <a:tableStyleId>{2736B423-FCC7-43BB-9A58-3EA48F6894B7}</a:tableStyleId>
              </a:tblPr>
              <a:tblGrid>
                <a:gridCol w="2447350"/>
              </a:tblGrid>
              <a:tr h="381000">
                <a:tc>
                  <a:txBody>
                    <a:bodyPr/>
                    <a:lstStyle/>
                    <a:p>
                      <a:pPr indent="0" lvl="0" marL="0" rtl="0" algn="l">
                        <a:spcBef>
                          <a:spcPts val="0"/>
                        </a:spcBef>
                        <a:spcAft>
                          <a:spcPts val="0"/>
                        </a:spcAft>
                        <a:buNone/>
                      </a:pPr>
                      <a:r>
                        <a:rPr lang="en-US">
                          <a:solidFill>
                            <a:schemeClr val="dk1"/>
                          </a:solidFill>
                          <a:latin typeface="Calibri"/>
                          <a:ea typeface="Calibri"/>
                          <a:cs typeface="Calibri"/>
                          <a:sym typeface="Calibri"/>
                        </a:rPr>
                        <a:t>1. Define a minimum scooter threshold per zone to avoid complete depletion after transfers</a:t>
                      </a:r>
                      <a:endParaRPr/>
                    </a:p>
                  </a:txBody>
                  <a:tcPr marT="91425" marB="91425" marR="91425" marL="91425"/>
                </a:tc>
              </a:tr>
              <a:tr h="381000">
                <a:tc>
                  <a:txBody>
                    <a:bodyPr/>
                    <a:lstStyle/>
                    <a:p>
                      <a:pPr indent="0" lvl="0" marL="0" rtl="0" algn="l">
                        <a:spcBef>
                          <a:spcPts val="0"/>
                        </a:spcBef>
                        <a:spcAft>
                          <a:spcPts val="0"/>
                        </a:spcAft>
                        <a:buClr>
                          <a:schemeClr val="dk1"/>
                        </a:buClr>
                        <a:buSzPts val="1100"/>
                        <a:buFont typeface="Arial"/>
                        <a:buNone/>
                      </a:pPr>
                      <a:r>
                        <a:rPr lang="en-US">
                          <a:solidFill>
                            <a:schemeClr val="dk1"/>
                          </a:solidFill>
                          <a:latin typeface="Calibri"/>
                          <a:ea typeface="Calibri"/>
                          <a:cs typeface="Calibri"/>
                          <a:sym typeface="Calibri"/>
                        </a:rPr>
                        <a:t>2. Consider repressed demand and monthly demand when calculating scooter distribution among zones</a:t>
                      </a:r>
                      <a:endParaRPr/>
                    </a:p>
                  </a:txBody>
                  <a:tcPr marT="91425" marB="91425" marR="91425" marL="91425"/>
                </a:tc>
              </a:tr>
              <a:tr h="381000">
                <a:tc>
                  <a:txBody>
                    <a:bodyPr/>
                    <a:lstStyle/>
                    <a:p>
                      <a:pPr indent="0" lvl="0" marL="0" rtl="0" algn="l">
                        <a:spcBef>
                          <a:spcPts val="0"/>
                        </a:spcBef>
                        <a:spcAft>
                          <a:spcPts val="0"/>
                        </a:spcAft>
                        <a:buClr>
                          <a:schemeClr val="dk1"/>
                        </a:buClr>
                        <a:buSzPts val="1100"/>
                        <a:buFont typeface="Arial"/>
                        <a:buNone/>
                      </a:pPr>
                      <a:r>
                        <a:rPr lang="en-US">
                          <a:solidFill>
                            <a:schemeClr val="dk1"/>
                          </a:solidFill>
                          <a:latin typeface="Calibri"/>
                          <a:ea typeface="Calibri"/>
                          <a:cs typeface="Calibri"/>
                          <a:sym typeface="Calibri"/>
                        </a:rPr>
                        <a:t>3. Adjust the app’s consent request to explicitly inform users about the types of data collected and their intended purposes.</a:t>
                      </a:r>
                      <a:endParaRPr/>
                    </a:p>
                  </a:txBody>
                  <a:tcPr marT="91425" marB="91425" marR="91425" marL="91425"/>
                </a:tc>
              </a:tr>
            </a:tbl>
          </a:graphicData>
        </a:graphic>
      </p:graphicFrame>
    </p:spTree>
  </p:cSld>
  <p:clrMapOvr>
    <a:masterClrMapping/>
  </p:clrMapOvr>
  <mc:AlternateContent>
    <mc:Choice Requires="p14">
      <p:transition spd="slow" p14:dur="700">
        <p:fade/>
      </p:transition>
    </mc:Choice>
    <mc:Fallback>
      <p:transition spd="slow">
        <p:fade/>
      </p:transition>
    </mc:Fallback>
  </mc:AlternateContent>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3" name="Shape 1683"/>
        <p:cNvGrpSpPr/>
        <p:nvPr/>
      </p:nvGrpSpPr>
      <p:grpSpPr>
        <a:xfrm>
          <a:off x="0" y="0"/>
          <a:ext cx="0" cy="0"/>
          <a:chOff x="0" y="0"/>
          <a:chExt cx="0" cy="0"/>
        </a:xfrm>
      </p:grpSpPr>
      <p:sp>
        <p:nvSpPr>
          <p:cNvPr id="1684" name="Google Shape;1684;g3e3a61befe4_0_4383"/>
          <p:cNvSpPr txBox="1"/>
          <p:nvPr>
            <p:ph type="title"/>
          </p:nvPr>
        </p:nvSpPr>
        <p:spPr>
          <a:xfrm>
            <a:off x="101475" y="108450"/>
            <a:ext cx="9635100" cy="6246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1E4E79"/>
              </a:buClr>
              <a:buSzPts val="4000"/>
              <a:buFont typeface="Arial"/>
              <a:buNone/>
            </a:pPr>
            <a:r>
              <a:rPr lang="en-US" sz="2400"/>
              <a:t>Step 3.4: Creation or Modification of Use Cases</a:t>
            </a:r>
            <a:endParaRPr sz="2400"/>
          </a:p>
        </p:txBody>
      </p:sp>
      <p:grpSp>
        <p:nvGrpSpPr>
          <p:cNvPr id="1685" name="Google Shape;1685;g3e3a61befe4_0_4383"/>
          <p:cNvGrpSpPr/>
          <p:nvPr/>
        </p:nvGrpSpPr>
        <p:grpSpPr>
          <a:xfrm>
            <a:off x="-18000" y="5842891"/>
            <a:ext cx="9942000" cy="1014788"/>
            <a:chOff x="-21650" y="5927750"/>
            <a:chExt cx="9942000" cy="930230"/>
          </a:xfrm>
        </p:grpSpPr>
        <p:sp>
          <p:nvSpPr>
            <p:cNvPr id="1686" name="Google Shape;1686;g3e3a61befe4_0_4383"/>
            <p:cNvSpPr/>
            <p:nvPr/>
          </p:nvSpPr>
          <p:spPr>
            <a:xfrm>
              <a:off x="5239747" y="5949280"/>
              <a:ext cx="4680600" cy="9087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Arial"/>
                  <a:ea typeface="Arial"/>
                  <a:cs typeface="Arial"/>
                  <a:sym typeface="Arial"/>
                </a:rPr>
                <a:t>25th Annual International Conference on Digital Government Research (dg.o 2024)</a:t>
              </a:r>
              <a:endParaRPr b="0" i="0" sz="1800" u="none" cap="none" strike="noStrike">
                <a:solidFill>
                  <a:schemeClr val="lt1"/>
                </a:solidFill>
                <a:latin typeface="Arial"/>
                <a:ea typeface="Arial"/>
                <a:cs typeface="Arial"/>
                <a:sym typeface="Arial"/>
              </a:endParaRPr>
            </a:p>
          </p:txBody>
        </p:sp>
        <p:pic>
          <p:nvPicPr>
            <p:cNvPr id="1687" name="Google Shape;1687;g3e3a61befe4_0_4383"/>
            <p:cNvPicPr preferRelativeResize="0"/>
            <p:nvPr/>
          </p:nvPicPr>
          <p:blipFill rotWithShape="1">
            <a:blip r:embed="rId3">
              <a:alphaModFix/>
            </a:blip>
            <a:srcRect b="-112517" l="-23390" r="23390" t="137700"/>
            <a:stretch/>
          </p:blipFill>
          <p:spPr>
            <a:xfrm>
              <a:off x="0" y="6007596"/>
              <a:ext cx="9920265" cy="792088"/>
            </a:xfrm>
            <a:prstGeom prst="rect">
              <a:avLst/>
            </a:prstGeom>
            <a:noFill/>
            <a:ln>
              <a:noFill/>
            </a:ln>
          </p:spPr>
        </p:pic>
        <p:sp>
          <p:nvSpPr>
            <p:cNvPr id="1688" name="Google Shape;1688;g3e3a61befe4_0_4383"/>
            <p:cNvSpPr/>
            <p:nvPr/>
          </p:nvSpPr>
          <p:spPr>
            <a:xfrm>
              <a:off x="-21650" y="5927750"/>
              <a:ext cx="9942000" cy="9087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sp>
        <p:nvSpPr>
          <p:cNvPr id="1689" name="Google Shape;1689;g3e3a61befe4_0_4383"/>
          <p:cNvSpPr txBox="1"/>
          <p:nvPr>
            <p:ph idx="12" type="sldNum"/>
          </p:nvPr>
        </p:nvSpPr>
        <p:spPr>
          <a:xfrm>
            <a:off x="6996113" y="6356350"/>
            <a:ext cx="22290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pic>
        <p:nvPicPr>
          <p:cNvPr id="1690" name="Google Shape;1690;g3e3a61befe4_0_4383"/>
          <p:cNvPicPr preferRelativeResize="0"/>
          <p:nvPr/>
        </p:nvPicPr>
        <p:blipFill rotWithShape="1">
          <a:blip r:embed="rId4">
            <a:alphaModFix/>
          </a:blip>
          <a:srcRect b="0" l="0" r="0" t="0"/>
          <a:stretch/>
        </p:blipFill>
        <p:spPr>
          <a:xfrm>
            <a:off x="218750" y="6052376"/>
            <a:ext cx="1823009" cy="470325"/>
          </a:xfrm>
          <a:prstGeom prst="rect">
            <a:avLst/>
          </a:prstGeom>
          <a:noFill/>
          <a:ln>
            <a:noFill/>
          </a:ln>
        </p:spPr>
      </p:pic>
      <p:pic>
        <p:nvPicPr>
          <p:cNvPr id="1691" name="Google Shape;1691;g3e3a61befe4_0_4383"/>
          <p:cNvPicPr preferRelativeResize="0"/>
          <p:nvPr/>
        </p:nvPicPr>
        <p:blipFill rotWithShape="1">
          <a:blip r:embed="rId5">
            <a:alphaModFix/>
          </a:blip>
          <a:srcRect b="0" l="0" r="0" t="0"/>
          <a:stretch/>
        </p:blipFill>
        <p:spPr>
          <a:xfrm>
            <a:off x="6996125" y="5975242"/>
            <a:ext cx="1811830" cy="624575"/>
          </a:xfrm>
          <a:prstGeom prst="rect">
            <a:avLst/>
          </a:prstGeom>
          <a:noFill/>
          <a:ln>
            <a:noFill/>
          </a:ln>
        </p:spPr>
      </p:pic>
      <p:sp>
        <p:nvSpPr>
          <p:cNvPr id="1692" name="Google Shape;1692;g3e3a61befe4_0_4383"/>
          <p:cNvSpPr txBox="1"/>
          <p:nvPr/>
        </p:nvSpPr>
        <p:spPr>
          <a:xfrm>
            <a:off x="1056175" y="1176888"/>
            <a:ext cx="1143000" cy="538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300">
                <a:solidFill>
                  <a:schemeClr val="dk1"/>
                </a:solidFill>
                <a:latin typeface="Calibri"/>
                <a:ea typeface="Calibri"/>
                <a:cs typeface="Calibri"/>
                <a:sym typeface="Calibri"/>
              </a:rPr>
              <a:t>ACTION</a:t>
            </a:r>
            <a:endParaRPr sz="2300">
              <a:solidFill>
                <a:schemeClr val="dk1"/>
              </a:solidFill>
              <a:latin typeface="Calibri"/>
              <a:ea typeface="Calibri"/>
              <a:cs typeface="Calibri"/>
              <a:sym typeface="Calibri"/>
            </a:endParaRPr>
          </a:p>
        </p:txBody>
      </p:sp>
      <p:sp>
        <p:nvSpPr>
          <p:cNvPr id="1693" name="Google Shape;1693;g3e3a61befe4_0_4383"/>
          <p:cNvSpPr txBox="1"/>
          <p:nvPr/>
        </p:nvSpPr>
        <p:spPr>
          <a:xfrm>
            <a:off x="3100025" y="1968285"/>
            <a:ext cx="6668100" cy="615600"/>
          </a:xfrm>
          <a:prstGeom prst="rect">
            <a:avLst/>
          </a:prstGeom>
          <a:noFill/>
          <a:ln>
            <a:noFill/>
          </a:ln>
        </p:spPr>
        <p:txBody>
          <a:bodyPr anchorCtr="0" anchor="t" bIns="91425" lIns="91425" spcFirstLastPara="1" rIns="91425" wrap="square" tIns="91425">
            <a:spAutoFit/>
          </a:bodyPr>
          <a:lstStyle/>
          <a:p>
            <a:pPr indent="0" lvl="0" marL="0" rtl="0" algn="just">
              <a:spcBef>
                <a:spcPts val="1200"/>
              </a:spcBef>
              <a:spcAft>
                <a:spcPts val="1200"/>
              </a:spcAft>
              <a:buNone/>
            </a:pPr>
            <a:r>
              <a:rPr lang="en-US">
                <a:solidFill>
                  <a:schemeClr val="dk1"/>
                </a:solidFill>
              </a:rPr>
              <a:t>If so, it transfers available scooters from the identified zone to a priority zone while maintaining a minimum scooter threshold in the source zone.</a:t>
            </a:r>
            <a:endParaRPr b="1" sz="1700"/>
          </a:p>
        </p:txBody>
      </p:sp>
      <p:sp>
        <p:nvSpPr>
          <p:cNvPr id="1694" name="Google Shape;1694;g3e3a61befe4_0_4383"/>
          <p:cNvSpPr txBox="1"/>
          <p:nvPr/>
        </p:nvSpPr>
        <p:spPr>
          <a:xfrm>
            <a:off x="3100018" y="1715700"/>
            <a:ext cx="75303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800">
                <a:solidFill>
                  <a:schemeClr val="dk1"/>
                </a:solidFill>
                <a:latin typeface="Calibri"/>
                <a:ea typeface="Calibri"/>
                <a:cs typeface="Calibri"/>
                <a:sym typeface="Calibri"/>
              </a:rPr>
              <a:t>Adjusting the description of the current requirement</a:t>
            </a:r>
            <a:endParaRPr b="1" sz="2800">
              <a:solidFill>
                <a:schemeClr val="dk1"/>
              </a:solidFill>
              <a:latin typeface="Calibri"/>
              <a:ea typeface="Calibri"/>
              <a:cs typeface="Calibri"/>
              <a:sym typeface="Calibri"/>
            </a:endParaRPr>
          </a:p>
        </p:txBody>
      </p:sp>
      <p:graphicFrame>
        <p:nvGraphicFramePr>
          <p:cNvPr id="1695" name="Google Shape;1695;g3e3a61befe4_0_4383"/>
          <p:cNvGraphicFramePr/>
          <p:nvPr/>
        </p:nvGraphicFramePr>
        <p:xfrm>
          <a:off x="403988" y="1715700"/>
          <a:ext cx="3000000" cy="3000000"/>
        </p:xfrm>
        <a:graphic>
          <a:graphicData uri="http://schemas.openxmlformats.org/drawingml/2006/table">
            <a:tbl>
              <a:tblPr>
                <a:noFill/>
                <a:tableStyleId>{2736B423-FCC7-43BB-9A58-3EA48F6894B7}</a:tableStyleId>
              </a:tblPr>
              <a:tblGrid>
                <a:gridCol w="2447350"/>
              </a:tblGrid>
              <a:tr h="381000">
                <a:tc>
                  <a:txBody>
                    <a:bodyPr/>
                    <a:lstStyle/>
                    <a:p>
                      <a:pPr indent="0" lvl="0" marL="0" rtl="0" algn="l">
                        <a:spcBef>
                          <a:spcPts val="0"/>
                        </a:spcBef>
                        <a:spcAft>
                          <a:spcPts val="0"/>
                        </a:spcAft>
                        <a:buNone/>
                      </a:pPr>
                      <a:r>
                        <a:rPr lang="en-US">
                          <a:solidFill>
                            <a:schemeClr val="dk1"/>
                          </a:solidFill>
                          <a:latin typeface="Calibri"/>
                          <a:ea typeface="Calibri"/>
                          <a:cs typeface="Calibri"/>
                          <a:sym typeface="Calibri"/>
                        </a:rPr>
                        <a:t>1. Define a minimum scooter threshold per zone to avoid complete depletion after transfers</a:t>
                      </a:r>
                      <a:endParaRPr/>
                    </a:p>
                  </a:txBody>
                  <a:tcPr marT="91425" marB="91425" marR="91425" marL="91425"/>
                </a:tc>
              </a:tr>
              <a:tr h="381000">
                <a:tc>
                  <a:txBody>
                    <a:bodyPr/>
                    <a:lstStyle/>
                    <a:p>
                      <a:pPr indent="0" lvl="0" marL="0" rtl="0" algn="l">
                        <a:spcBef>
                          <a:spcPts val="0"/>
                        </a:spcBef>
                        <a:spcAft>
                          <a:spcPts val="0"/>
                        </a:spcAft>
                        <a:buClr>
                          <a:schemeClr val="dk1"/>
                        </a:buClr>
                        <a:buSzPts val="1100"/>
                        <a:buFont typeface="Arial"/>
                        <a:buNone/>
                      </a:pPr>
                      <a:r>
                        <a:rPr lang="en-US">
                          <a:solidFill>
                            <a:schemeClr val="dk1"/>
                          </a:solidFill>
                          <a:latin typeface="Calibri"/>
                          <a:ea typeface="Calibri"/>
                          <a:cs typeface="Calibri"/>
                          <a:sym typeface="Calibri"/>
                        </a:rPr>
                        <a:t>2. Consider repressed demand and monthly demand when calculating scooter distribution among zones</a:t>
                      </a:r>
                      <a:endParaRPr/>
                    </a:p>
                  </a:txBody>
                  <a:tcPr marT="91425" marB="91425" marR="91425" marL="91425"/>
                </a:tc>
              </a:tr>
              <a:tr h="381000">
                <a:tc>
                  <a:txBody>
                    <a:bodyPr/>
                    <a:lstStyle/>
                    <a:p>
                      <a:pPr indent="0" lvl="0" marL="0" rtl="0" algn="l">
                        <a:spcBef>
                          <a:spcPts val="0"/>
                        </a:spcBef>
                        <a:spcAft>
                          <a:spcPts val="0"/>
                        </a:spcAft>
                        <a:buClr>
                          <a:schemeClr val="dk1"/>
                        </a:buClr>
                        <a:buSzPts val="1100"/>
                        <a:buFont typeface="Arial"/>
                        <a:buNone/>
                      </a:pPr>
                      <a:r>
                        <a:rPr lang="en-US">
                          <a:solidFill>
                            <a:schemeClr val="dk1"/>
                          </a:solidFill>
                          <a:latin typeface="Calibri"/>
                          <a:ea typeface="Calibri"/>
                          <a:cs typeface="Calibri"/>
                          <a:sym typeface="Calibri"/>
                        </a:rPr>
                        <a:t>3. Adjust the app’s consent request to explicitly inform users about the types of data collected and their intended purposes.</a:t>
                      </a:r>
                      <a:endParaRPr/>
                    </a:p>
                  </a:txBody>
                  <a:tcPr marT="91425" marB="91425" marR="91425" marL="91425"/>
                </a:tc>
              </a:tr>
            </a:tbl>
          </a:graphicData>
        </a:graphic>
      </p:graphicFrame>
      <p:sp>
        <p:nvSpPr>
          <p:cNvPr id="1696" name="Google Shape;1696;g3e3a61befe4_0_4383"/>
          <p:cNvSpPr txBox="1"/>
          <p:nvPr/>
        </p:nvSpPr>
        <p:spPr>
          <a:xfrm>
            <a:off x="3091054" y="3132301"/>
            <a:ext cx="6668100" cy="615600"/>
          </a:xfrm>
          <a:prstGeom prst="rect">
            <a:avLst/>
          </a:prstGeom>
          <a:noFill/>
          <a:ln>
            <a:noFill/>
          </a:ln>
        </p:spPr>
        <p:txBody>
          <a:bodyPr anchorCtr="0" anchor="t" bIns="91425" lIns="91425" spcFirstLastPara="1" rIns="91425" wrap="square" tIns="91425">
            <a:spAutoFit/>
          </a:bodyPr>
          <a:lstStyle/>
          <a:p>
            <a:pPr indent="0" lvl="0" marL="0" rtl="0" algn="just">
              <a:spcBef>
                <a:spcPts val="1200"/>
              </a:spcBef>
              <a:spcAft>
                <a:spcPts val="1200"/>
              </a:spcAft>
              <a:buNone/>
            </a:pPr>
            <a:r>
              <a:rPr lang="en-US">
                <a:solidFill>
                  <a:schemeClr val="dk1"/>
                </a:solidFill>
              </a:rPr>
              <a:t>The Distribution Agent calculates the number of scooters to be transferred to each zone based on the zone’s </a:t>
            </a:r>
            <a:r>
              <a:rPr b="1" lang="en-US">
                <a:solidFill>
                  <a:schemeClr val="dk1"/>
                </a:solidFill>
              </a:rPr>
              <a:t>monthly</a:t>
            </a:r>
            <a:r>
              <a:rPr lang="en-US">
                <a:solidFill>
                  <a:schemeClr val="dk1"/>
                </a:solidFill>
              </a:rPr>
              <a:t> usage history and r</a:t>
            </a:r>
            <a:r>
              <a:rPr b="1" lang="en-US">
                <a:solidFill>
                  <a:schemeClr val="dk1"/>
                </a:solidFill>
              </a:rPr>
              <a:t>epressed demand.</a:t>
            </a:r>
            <a:endParaRPr b="1" sz="1700"/>
          </a:p>
        </p:txBody>
      </p:sp>
      <p:sp>
        <p:nvSpPr>
          <p:cNvPr id="1697" name="Google Shape;1697;g3e3a61befe4_0_4383"/>
          <p:cNvSpPr txBox="1"/>
          <p:nvPr/>
        </p:nvSpPr>
        <p:spPr>
          <a:xfrm>
            <a:off x="3091050" y="2839375"/>
            <a:ext cx="66681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800">
                <a:solidFill>
                  <a:schemeClr val="dk1"/>
                </a:solidFill>
                <a:latin typeface="Calibri"/>
                <a:ea typeface="Calibri"/>
                <a:cs typeface="Calibri"/>
                <a:sym typeface="Calibri"/>
              </a:rPr>
              <a:t>Adjusting the description of the current requirement</a:t>
            </a:r>
            <a:endParaRPr b="1" sz="2800">
              <a:solidFill>
                <a:schemeClr val="dk1"/>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1" name="Shape 1701"/>
        <p:cNvGrpSpPr/>
        <p:nvPr/>
      </p:nvGrpSpPr>
      <p:grpSpPr>
        <a:xfrm>
          <a:off x="0" y="0"/>
          <a:ext cx="0" cy="0"/>
          <a:chOff x="0" y="0"/>
          <a:chExt cx="0" cy="0"/>
        </a:xfrm>
      </p:grpSpPr>
      <p:sp>
        <p:nvSpPr>
          <p:cNvPr id="1702" name="Google Shape;1702;g3e3a61befe4_0_4425"/>
          <p:cNvSpPr txBox="1"/>
          <p:nvPr>
            <p:ph type="title"/>
          </p:nvPr>
        </p:nvSpPr>
        <p:spPr>
          <a:xfrm>
            <a:off x="101475" y="108450"/>
            <a:ext cx="9635100" cy="6246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1E4E79"/>
              </a:buClr>
              <a:buSzPts val="4000"/>
              <a:buFont typeface="Arial"/>
              <a:buNone/>
            </a:pPr>
            <a:r>
              <a:rPr lang="en-US" sz="2400"/>
              <a:t>Step 3.4: Creation or Modification of Use Cases</a:t>
            </a:r>
            <a:endParaRPr sz="2400"/>
          </a:p>
        </p:txBody>
      </p:sp>
      <p:grpSp>
        <p:nvGrpSpPr>
          <p:cNvPr id="1703" name="Google Shape;1703;g3e3a61befe4_0_4425"/>
          <p:cNvGrpSpPr/>
          <p:nvPr/>
        </p:nvGrpSpPr>
        <p:grpSpPr>
          <a:xfrm>
            <a:off x="-18000" y="5842891"/>
            <a:ext cx="9942000" cy="1014788"/>
            <a:chOff x="-21650" y="5927750"/>
            <a:chExt cx="9942000" cy="930230"/>
          </a:xfrm>
        </p:grpSpPr>
        <p:sp>
          <p:nvSpPr>
            <p:cNvPr id="1704" name="Google Shape;1704;g3e3a61befe4_0_4425"/>
            <p:cNvSpPr/>
            <p:nvPr/>
          </p:nvSpPr>
          <p:spPr>
            <a:xfrm>
              <a:off x="5239747" y="5949280"/>
              <a:ext cx="4680600" cy="9087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Arial"/>
                  <a:ea typeface="Arial"/>
                  <a:cs typeface="Arial"/>
                  <a:sym typeface="Arial"/>
                </a:rPr>
                <a:t>25th Annual International Conference on Digital Government Research (dg.o 2024)</a:t>
              </a:r>
              <a:endParaRPr b="0" i="0" sz="1800" u="none" cap="none" strike="noStrike">
                <a:solidFill>
                  <a:schemeClr val="lt1"/>
                </a:solidFill>
                <a:latin typeface="Arial"/>
                <a:ea typeface="Arial"/>
                <a:cs typeface="Arial"/>
                <a:sym typeface="Arial"/>
              </a:endParaRPr>
            </a:p>
          </p:txBody>
        </p:sp>
        <p:pic>
          <p:nvPicPr>
            <p:cNvPr id="1705" name="Google Shape;1705;g3e3a61befe4_0_4425"/>
            <p:cNvPicPr preferRelativeResize="0"/>
            <p:nvPr/>
          </p:nvPicPr>
          <p:blipFill rotWithShape="1">
            <a:blip r:embed="rId3">
              <a:alphaModFix/>
            </a:blip>
            <a:srcRect b="-112517" l="-23390" r="23390" t="137700"/>
            <a:stretch/>
          </p:blipFill>
          <p:spPr>
            <a:xfrm>
              <a:off x="0" y="6007596"/>
              <a:ext cx="9920265" cy="792088"/>
            </a:xfrm>
            <a:prstGeom prst="rect">
              <a:avLst/>
            </a:prstGeom>
            <a:noFill/>
            <a:ln>
              <a:noFill/>
            </a:ln>
          </p:spPr>
        </p:pic>
        <p:sp>
          <p:nvSpPr>
            <p:cNvPr id="1706" name="Google Shape;1706;g3e3a61befe4_0_4425"/>
            <p:cNvSpPr/>
            <p:nvPr/>
          </p:nvSpPr>
          <p:spPr>
            <a:xfrm>
              <a:off x="-21650" y="5927750"/>
              <a:ext cx="9942000" cy="9087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sp>
        <p:nvSpPr>
          <p:cNvPr id="1707" name="Google Shape;1707;g3e3a61befe4_0_4425"/>
          <p:cNvSpPr txBox="1"/>
          <p:nvPr>
            <p:ph idx="12" type="sldNum"/>
          </p:nvPr>
        </p:nvSpPr>
        <p:spPr>
          <a:xfrm>
            <a:off x="6996113" y="6356350"/>
            <a:ext cx="22290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pic>
        <p:nvPicPr>
          <p:cNvPr id="1708" name="Google Shape;1708;g3e3a61befe4_0_4425"/>
          <p:cNvPicPr preferRelativeResize="0"/>
          <p:nvPr/>
        </p:nvPicPr>
        <p:blipFill rotWithShape="1">
          <a:blip r:embed="rId4">
            <a:alphaModFix/>
          </a:blip>
          <a:srcRect b="0" l="0" r="0" t="0"/>
          <a:stretch/>
        </p:blipFill>
        <p:spPr>
          <a:xfrm>
            <a:off x="218750" y="6052376"/>
            <a:ext cx="1823009" cy="470325"/>
          </a:xfrm>
          <a:prstGeom prst="rect">
            <a:avLst/>
          </a:prstGeom>
          <a:noFill/>
          <a:ln>
            <a:noFill/>
          </a:ln>
        </p:spPr>
      </p:pic>
      <p:pic>
        <p:nvPicPr>
          <p:cNvPr id="1709" name="Google Shape;1709;g3e3a61befe4_0_4425"/>
          <p:cNvPicPr preferRelativeResize="0"/>
          <p:nvPr/>
        </p:nvPicPr>
        <p:blipFill rotWithShape="1">
          <a:blip r:embed="rId5">
            <a:alphaModFix/>
          </a:blip>
          <a:srcRect b="0" l="0" r="0" t="0"/>
          <a:stretch/>
        </p:blipFill>
        <p:spPr>
          <a:xfrm>
            <a:off x="6996125" y="5975242"/>
            <a:ext cx="1811830" cy="624575"/>
          </a:xfrm>
          <a:prstGeom prst="rect">
            <a:avLst/>
          </a:prstGeom>
          <a:noFill/>
          <a:ln>
            <a:noFill/>
          </a:ln>
        </p:spPr>
      </p:pic>
      <p:sp>
        <p:nvSpPr>
          <p:cNvPr id="1710" name="Google Shape;1710;g3e3a61befe4_0_4425"/>
          <p:cNvSpPr txBox="1"/>
          <p:nvPr/>
        </p:nvSpPr>
        <p:spPr>
          <a:xfrm>
            <a:off x="1056175" y="1176888"/>
            <a:ext cx="1143000" cy="538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300">
                <a:solidFill>
                  <a:schemeClr val="dk1"/>
                </a:solidFill>
                <a:latin typeface="Calibri"/>
                <a:ea typeface="Calibri"/>
                <a:cs typeface="Calibri"/>
                <a:sym typeface="Calibri"/>
              </a:rPr>
              <a:t>ACTION</a:t>
            </a:r>
            <a:endParaRPr sz="2300">
              <a:solidFill>
                <a:schemeClr val="dk1"/>
              </a:solidFill>
              <a:latin typeface="Calibri"/>
              <a:ea typeface="Calibri"/>
              <a:cs typeface="Calibri"/>
              <a:sym typeface="Calibri"/>
            </a:endParaRPr>
          </a:p>
        </p:txBody>
      </p:sp>
      <p:sp>
        <p:nvSpPr>
          <p:cNvPr id="1711" name="Google Shape;1711;g3e3a61befe4_0_4425"/>
          <p:cNvSpPr txBox="1"/>
          <p:nvPr/>
        </p:nvSpPr>
        <p:spPr>
          <a:xfrm>
            <a:off x="3100025" y="1968285"/>
            <a:ext cx="6668100" cy="615600"/>
          </a:xfrm>
          <a:prstGeom prst="rect">
            <a:avLst/>
          </a:prstGeom>
          <a:noFill/>
          <a:ln>
            <a:noFill/>
          </a:ln>
        </p:spPr>
        <p:txBody>
          <a:bodyPr anchorCtr="0" anchor="t" bIns="91425" lIns="91425" spcFirstLastPara="1" rIns="91425" wrap="square" tIns="91425">
            <a:spAutoFit/>
          </a:bodyPr>
          <a:lstStyle/>
          <a:p>
            <a:pPr indent="0" lvl="0" marL="0" rtl="0" algn="just">
              <a:spcBef>
                <a:spcPts val="1200"/>
              </a:spcBef>
              <a:spcAft>
                <a:spcPts val="1200"/>
              </a:spcAft>
              <a:buNone/>
            </a:pPr>
            <a:r>
              <a:rPr lang="en-US">
                <a:solidFill>
                  <a:schemeClr val="dk1"/>
                </a:solidFill>
              </a:rPr>
              <a:t>If so, it transfers available scooters from the identified zone to a priority zone while maintaining a minimum scooter threshold in the source zone.</a:t>
            </a:r>
            <a:endParaRPr b="1" sz="1700"/>
          </a:p>
        </p:txBody>
      </p:sp>
      <p:sp>
        <p:nvSpPr>
          <p:cNvPr id="1712" name="Google Shape;1712;g3e3a61befe4_0_4425"/>
          <p:cNvSpPr txBox="1"/>
          <p:nvPr/>
        </p:nvSpPr>
        <p:spPr>
          <a:xfrm>
            <a:off x="3100018" y="1715700"/>
            <a:ext cx="75303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800">
                <a:solidFill>
                  <a:schemeClr val="dk1"/>
                </a:solidFill>
                <a:latin typeface="Calibri"/>
                <a:ea typeface="Calibri"/>
                <a:cs typeface="Calibri"/>
                <a:sym typeface="Calibri"/>
              </a:rPr>
              <a:t>Adjusting the description of the current requirement</a:t>
            </a:r>
            <a:endParaRPr b="1" sz="2800">
              <a:solidFill>
                <a:schemeClr val="dk1"/>
              </a:solidFill>
              <a:latin typeface="Calibri"/>
              <a:ea typeface="Calibri"/>
              <a:cs typeface="Calibri"/>
              <a:sym typeface="Calibri"/>
            </a:endParaRPr>
          </a:p>
        </p:txBody>
      </p:sp>
      <p:pic>
        <p:nvPicPr>
          <p:cNvPr id="1713" name="Google Shape;1713;g3e3a61befe4_0_4425"/>
          <p:cNvPicPr preferRelativeResize="0"/>
          <p:nvPr/>
        </p:nvPicPr>
        <p:blipFill>
          <a:blip r:embed="rId6">
            <a:alphaModFix/>
          </a:blip>
          <a:stretch>
            <a:fillRect/>
          </a:stretch>
        </p:blipFill>
        <p:spPr>
          <a:xfrm>
            <a:off x="7695775" y="3747400"/>
            <a:ext cx="1884673" cy="1701712"/>
          </a:xfrm>
          <a:prstGeom prst="rect">
            <a:avLst/>
          </a:prstGeom>
          <a:noFill/>
          <a:ln>
            <a:noFill/>
          </a:ln>
        </p:spPr>
      </p:pic>
      <p:sp>
        <p:nvSpPr>
          <p:cNvPr id="1714" name="Google Shape;1714;g3e3a61befe4_0_4425"/>
          <p:cNvSpPr txBox="1"/>
          <p:nvPr/>
        </p:nvSpPr>
        <p:spPr>
          <a:xfrm>
            <a:off x="3146650" y="4290462"/>
            <a:ext cx="3675600" cy="615600"/>
          </a:xfrm>
          <a:prstGeom prst="rect">
            <a:avLst/>
          </a:prstGeom>
          <a:noFill/>
          <a:ln>
            <a:noFill/>
          </a:ln>
        </p:spPr>
        <p:txBody>
          <a:bodyPr anchorCtr="0" anchor="t" bIns="91425" lIns="91425" spcFirstLastPara="1" rIns="91425" wrap="square" tIns="91425">
            <a:spAutoFit/>
          </a:bodyPr>
          <a:lstStyle/>
          <a:p>
            <a:pPr indent="0" lvl="0" marL="0" rtl="0" algn="just">
              <a:spcBef>
                <a:spcPts val="1200"/>
              </a:spcBef>
              <a:spcAft>
                <a:spcPts val="1200"/>
              </a:spcAft>
              <a:buNone/>
            </a:pPr>
            <a:r>
              <a:rPr lang="en-US">
                <a:solidFill>
                  <a:schemeClr val="dk1"/>
                </a:solidFill>
              </a:rPr>
              <a:t>A new requirement will be created and added to the development backlog.</a:t>
            </a:r>
            <a:endParaRPr sz="1700"/>
          </a:p>
        </p:txBody>
      </p:sp>
      <p:sp>
        <p:nvSpPr>
          <p:cNvPr id="1715" name="Google Shape;1715;g3e3a61befe4_0_4425"/>
          <p:cNvSpPr txBox="1"/>
          <p:nvPr/>
        </p:nvSpPr>
        <p:spPr>
          <a:xfrm>
            <a:off x="3100022" y="3967076"/>
            <a:ext cx="3834000" cy="461700"/>
          </a:xfrm>
          <a:prstGeom prst="rect">
            <a:avLst/>
          </a:prstGeom>
          <a:noFill/>
          <a:ln>
            <a:noFill/>
          </a:ln>
        </p:spPr>
        <p:txBody>
          <a:bodyPr anchorCtr="0" anchor="t" bIns="91425" lIns="91425" spcFirstLastPara="1" rIns="91425" wrap="square" tIns="91425">
            <a:spAutoFit/>
          </a:bodyPr>
          <a:lstStyle/>
          <a:p>
            <a:pPr indent="0" lvl="0" marL="0" rtl="0" algn="just">
              <a:spcBef>
                <a:spcPts val="1200"/>
              </a:spcBef>
              <a:spcAft>
                <a:spcPts val="1200"/>
              </a:spcAft>
              <a:buClr>
                <a:schemeClr val="dk1"/>
              </a:buClr>
              <a:buSzPts val="1100"/>
              <a:buFont typeface="Arial"/>
              <a:buNone/>
            </a:pPr>
            <a:r>
              <a:rPr b="1" lang="en-US" sz="1800">
                <a:solidFill>
                  <a:schemeClr val="dk1"/>
                </a:solidFill>
                <a:latin typeface="Calibri"/>
                <a:ea typeface="Calibri"/>
                <a:cs typeface="Calibri"/>
                <a:sym typeface="Calibri"/>
              </a:rPr>
              <a:t>New requirement</a:t>
            </a:r>
            <a:endParaRPr b="1" sz="3200">
              <a:solidFill>
                <a:schemeClr val="dk1"/>
              </a:solidFill>
              <a:latin typeface="Calibri"/>
              <a:ea typeface="Calibri"/>
              <a:cs typeface="Calibri"/>
              <a:sym typeface="Calibri"/>
            </a:endParaRPr>
          </a:p>
        </p:txBody>
      </p:sp>
      <p:graphicFrame>
        <p:nvGraphicFramePr>
          <p:cNvPr id="1716" name="Google Shape;1716;g3e3a61befe4_0_4425"/>
          <p:cNvGraphicFramePr/>
          <p:nvPr/>
        </p:nvGraphicFramePr>
        <p:xfrm>
          <a:off x="403988" y="1715700"/>
          <a:ext cx="3000000" cy="3000000"/>
        </p:xfrm>
        <a:graphic>
          <a:graphicData uri="http://schemas.openxmlformats.org/drawingml/2006/table">
            <a:tbl>
              <a:tblPr>
                <a:noFill/>
                <a:tableStyleId>{2736B423-FCC7-43BB-9A58-3EA48F6894B7}</a:tableStyleId>
              </a:tblPr>
              <a:tblGrid>
                <a:gridCol w="2447350"/>
              </a:tblGrid>
              <a:tr h="381000">
                <a:tc>
                  <a:txBody>
                    <a:bodyPr/>
                    <a:lstStyle/>
                    <a:p>
                      <a:pPr indent="0" lvl="0" marL="0" rtl="0" algn="l">
                        <a:spcBef>
                          <a:spcPts val="0"/>
                        </a:spcBef>
                        <a:spcAft>
                          <a:spcPts val="0"/>
                        </a:spcAft>
                        <a:buNone/>
                      </a:pPr>
                      <a:r>
                        <a:rPr lang="en-US">
                          <a:solidFill>
                            <a:schemeClr val="dk1"/>
                          </a:solidFill>
                          <a:latin typeface="Calibri"/>
                          <a:ea typeface="Calibri"/>
                          <a:cs typeface="Calibri"/>
                          <a:sym typeface="Calibri"/>
                        </a:rPr>
                        <a:t>1. Define a minimum scooter threshold per zone to avoid complete depletion after transfers</a:t>
                      </a:r>
                      <a:endParaRPr/>
                    </a:p>
                  </a:txBody>
                  <a:tcPr marT="91425" marB="91425" marR="91425" marL="91425"/>
                </a:tc>
              </a:tr>
              <a:tr h="381000">
                <a:tc>
                  <a:txBody>
                    <a:bodyPr/>
                    <a:lstStyle/>
                    <a:p>
                      <a:pPr indent="0" lvl="0" marL="0" rtl="0" algn="l">
                        <a:spcBef>
                          <a:spcPts val="0"/>
                        </a:spcBef>
                        <a:spcAft>
                          <a:spcPts val="0"/>
                        </a:spcAft>
                        <a:buClr>
                          <a:schemeClr val="dk1"/>
                        </a:buClr>
                        <a:buSzPts val="1100"/>
                        <a:buFont typeface="Arial"/>
                        <a:buNone/>
                      </a:pPr>
                      <a:r>
                        <a:rPr lang="en-US">
                          <a:solidFill>
                            <a:schemeClr val="dk1"/>
                          </a:solidFill>
                          <a:latin typeface="Calibri"/>
                          <a:ea typeface="Calibri"/>
                          <a:cs typeface="Calibri"/>
                          <a:sym typeface="Calibri"/>
                        </a:rPr>
                        <a:t>2. Consider repressed demand and monthly demand when calculating scooter distribution among zones</a:t>
                      </a:r>
                      <a:endParaRPr/>
                    </a:p>
                  </a:txBody>
                  <a:tcPr marT="91425" marB="91425" marR="91425" marL="91425"/>
                </a:tc>
              </a:tr>
              <a:tr h="381000">
                <a:tc>
                  <a:txBody>
                    <a:bodyPr/>
                    <a:lstStyle/>
                    <a:p>
                      <a:pPr indent="0" lvl="0" marL="0" rtl="0" algn="l">
                        <a:spcBef>
                          <a:spcPts val="0"/>
                        </a:spcBef>
                        <a:spcAft>
                          <a:spcPts val="0"/>
                        </a:spcAft>
                        <a:buClr>
                          <a:schemeClr val="dk1"/>
                        </a:buClr>
                        <a:buSzPts val="1100"/>
                        <a:buFont typeface="Arial"/>
                        <a:buNone/>
                      </a:pPr>
                      <a:r>
                        <a:rPr lang="en-US">
                          <a:solidFill>
                            <a:schemeClr val="dk1"/>
                          </a:solidFill>
                          <a:latin typeface="Calibri"/>
                          <a:ea typeface="Calibri"/>
                          <a:cs typeface="Calibri"/>
                          <a:sym typeface="Calibri"/>
                        </a:rPr>
                        <a:t>3. Adjust the app’s consent request to explicitly inform users about the types of data collected and their intended purposes.</a:t>
                      </a:r>
                      <a:endParaRPr/>
                    </a:p>
                  </a:txBody>
                  <a:tcPr marT="91425" marB="91425" marR="91425" marL="91425"/>
                </a:tc>
              </a:tr>
            </a:tbl>
          </a:graphicData>
        </a:graphic>
      </p:graphicFrame>
      <p:sp>
        <p:nvSpPr>
          <p:cNvPr id="1717" name="Google Shape;1717;g3e3a61befe4_0_4425"/>
          <p:cNvSpPr/>
          <p:nvPr/>
        </p:nvSpPr>
        <p:spPr>
          <a:xfrm>
            <a:off x="7039200" y="4315600"/>
            <a:ext cx="551400" cy="4704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718" name="Google Shape;1718;g3e3a61befe4_0_4425"/>
          <p:cNvSpPr txBox="1"/>
          <p:nvPr/>
        </p:nvSpPr>
        <p:spPr>
          <a:xfrm>
            <a:off x="3091054" y="3132301"/>
            <a:ext cx="6668100" cy="615600"/>
          </a:xfrm>
          <a:prstGeom prst="rect">
            <a:avLst/>
          </a:prstGeom>
          <a:noFill/>
          <a:ln>
            <a:noFill/>
          </a:ln>
        </p:spPr>
        <p:txBody>
          <a:bodyPr anchorCtr="0" anchor="t" bIns="91425" lIns="91425" spcFirstLastPara="1" rIns="91425" wrap="square" tIns="91425">
            <a:spAutoFit/>
          </a:bodyPr>
          <a:lstStyle/>
          <a:p>
            <a:pPr indent="0" lvl="0" marL="0" rtl="0" algn="just">
              <a:spcBef>
                <a:spcPts val="1200"/>
              </a:spcBef>
              <a:spcAft>
                <a:spcPts val="1200"/>
              </a:spcAft>
              <a:buNone/>
            </a:pPr>
            <a:r>
              <a:rPr lang="en-US">
                <a:solidFill>
                  <a:schemeClr val="dk1"/>
                </a:solidFill>
              </a:rPr>
              <a:t>The Distribution Agent calculates the number of scooters to be transferred to each zone based on the zone’s </a:t>
            </a:r>
            <a:r>
              <a:rPr b="1" lang="en-US">
                <a:solidFill>
                  <a:schemeClr val="dk1"/>
                </a:solidFill>
              </a:rPr>
              <a:t>monthly</a:t>
            </a:r>
            <a:r>
              <a:rPr lang="en-US">
                <a:solidFill>
                  <a:schemeClr val="dk1"/>
                </a:solidFill>
              </a:rPr>
              <a:t> usage history and r</a:t>
            </a:r>
            <a:r>
              <a:rPr b="1" lang="en-US">
                <a:solidFill>
                  <a:schemeClr val="dk1"/>
                </a:solidFill>
              </a:rPr>
              <a:t>epressed demand.</a:t>
            </a:r>
            <a:endParaRPr b="1" sz="1700"/>
          </a:p>
        </p:txBody>
      </p:sp>
      <p:sp>
        <p:nvSpPr>
          <p:cNvPr id="1719" name="Google Shape;1719;g3e3a61befe4_0_4425"/>
          <p:cNvSpPr txBox="1"/>
          <p:nvPr/>
        </p:nvSpPr>
        <p:spPr>
          <a:xfrm>
            <a:off x="3091050" y="2839375"/>
            <a:ext cx="66681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800">
                <a:solidFill>
                  <a:schemeClr val="dk1"/>
                </a:solidFill>
                <a:latin typeface="Calibri"/>
                <a:ea typeface="Calibri"/>
                <a:cs typeface="Calibri"/>
                <a:sym typeface="Calibri"/>
              </a:rPr>
              <a:t>Adjusting the description of the current requirement</a:t>
            </a:r>
            <a:endParaRPr b="1" sz="2800">
              <a:solidFill>
                <a:schemeClr val="dk1"/>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3" name="Shape 1723"/>
        <p:cNvGrpSpPr/>
        <p:nvPr/>
      </p:nvGrpSpPr>
      <p:grpSpPr>
        <a:xfrm>
          <a:off x="0" y="0"/>
          <a:ext cx="0" cy="0"/>
          <a:chOff x="0" y="0"/>
          <a:chExt cx="0" cy="0"/>
        </a:xfrm>
      </p:grpSpPr>
      <p:sp>
        <p:nvSpPr>
          <p:cNvPr id="1724" name="Google Shape;1724;g3e3a61befe4_0_4447"/>
          <p:cNvSpPr txBox="1"/>
          <p:nvPr>
            <p:ph type="title"/>
          </p:nvPr>
        </p:nvSpPr>
        <p:spPr>
          <a:xfrm>
            <a:off x="101475" y="108450"/>
            <a:ext cx="9635100" cy="6246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1E4E79"/>
              </a:buClr>
              <a:buSzPts val="4000"/>
              <a:buFont typeface="Arial"/>
              <a:buNone/>
            </a:pPr>
            <a:r>
              <a:rPr lang="en-US" sz="2400"/>
              <a:t>Step 3.4: Creation or Modification of Use Cases</a:t>
            </a:r>
            <a:endParaRPr sz="2400"/>
          </a:p>
        </p:txBody>
      </p:sp>
      <p:grpSp>
        <p:nvGrpSpPr>
          <p:cNvPr id="1725" name="Google Shape;1725;g3e3a61befe4_0_4447"/>
          <p:cNvGrpSpPr/>
          <p:nvPr/>
        </p:nvGrpSpPr>
        <p:grpSpPr>
          <a:xfrm>
            <a:off x="-18000" y="5842891"/>
            <a:ext cx="9942000" cy="1014788"/>
            <a:chOff x="-21650" y="5927750"/>
            <a:chExt cx="9942000" cy="930230"/>
          </a:xfrm>
        </p:grpSpPr>
        <p:sp>
          <p:nvSpPr>
            <p:cNvPr id="1726" name="Google Shape;1726;g3e3a61befe4_0_4447"/>
            <p:cNvSpPr/>
            <p:nvPr/>
          </p:nvSpPr>
          <p:spPr>
            <a:xfrm>
              <a:off x="5239747" y="5949280"/>
              <a:ext cx="4680600" cy="9087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Arial"/>
                  <a:ea typeface="Arial"/>
                  <a:cs typeface="Arial"/>
                  <a:sym typeface="Arial"/>
                </a:rPr>
                <a:t>25th Annual International Conference on Digital Government Research (dg.o 2024)</a:t>
              </a:r>
              <a:endParaRPr b="0" i="0" sz="1800" u="none" cap="none" strike="noStrike">
                <a:solidFill>
                  <a:schemeClr val="lt1"/>
                </a:solidFill>
                <a:latin typeface="Arial"/>
                <a:ea typeface="Arial"/>
                <a:cs typeface="Arial"/>
                <a:sym typeface="Arial"/>
              </a:endParaRPr>
            </a:p>
          </p:txBody>
        </p:sp>
        <p:pic>
          <p:nvPicPr>
            <p:cNvPr id="1727" name="Google Shape;1727;g3e3a61befe4_0_4447"/>
            <p:cNvPicPr preferRelativeResize="0"/>
            <p:nvPr/>
          </p:nvPicPr>
          <p:blipFill rotWithShape="1">
            <a:blip r:embed="rId3">
              <a:alphaModFix/>
            </a:blip>
            <a:srcRect b="-112517" l="-23390" r="23390" t="137700"/>
            <a:stretch/>
          </p:blipFill>
          <p:spPr>
            <a:xfrm>
              <a:off x="0" y="6007596"/>
              <a:ext cx="9920265" cy="792088"/>
            </a:xfrm>
            <a:prstGeom prst="rect">
              <a:avLst/>
            </a:prstGeom>
            <a:noFill/>
            <a:ln>
              <a:noFill/>
            </a:ln>
          </p:spPr>
        </p:pic>
        <p:sp>
          <p:nvSpPr>
            <p:cNvPr id="1728" name="Google Shape;1728;g3e3a61befe4_0_4447"/>
            <p:cNvSpPr/>
            <p:nvPr/>
          </p:nvSpPr>
          <p:spPr>
            <a:xfrm>
              <a:off x="-21650" y="5927750"/>
              <a:ext cx="9942000" cy="9087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sp>
        <p:nvSpPr>
          <p:cNvPr id="1729" name="Google Shape;1729;g3e3a61befe4_0_4447"/>
          <p:cNvSpPr txBox="1"/>
          <p:nvPr>
            <p:ph idx="12" type="sldNum"/>
          </p:nvPr>
        </p:nvSpPr>
        <p:spPr>
          <a:xfrm>
            <a:off x="6996113" y="6356350"/>
            <a:ext cx="22290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pic>
        <p:nvPicPr>
          <p:cNvPr id="1730" name="Google Shape;1730;g3e3a61befe4_0_4447"/>
          <p:cNvPicPr preferRelativeResize="0"/>
          <p:nvPr/>
        </p:nvPicPr>
        <p:blipFill rotWithShape="1">
          <a:blip r:embed="rId4">
            <a:alphaModFix/>
          </a:blip>
          <a:srcRect b="0" l="0" r="0" t="0"/>
          <a:stretch/>
        </p:blipFill>
        <p:spPr>
          <a:xfrm>
            <a:off x="218750" y="6052376"/>
            <a:ext cx="1823009" cy="470325"/>
          </a:xfrm>
          <a:prstGeom prst="rect">
            <a:avLst/>
          </a:prstGeom>
          <a:noFill/>
          <a:ln>
            <a:noFill/>
          </a:ln>
        </p:spPr>
      </p:pic>
      <p:pic>
        <p:nvPicPr>
          <p:cNvPr id="1731" name="Google Shape;1731;g3e3a61befe4_0_4447"/>
          <p:cNvPicPr preferRelativeResize="0"/>
          <p:nvPr/>
        </p:nvPicPr>
        <p:blipFill rotWithShape="1">
          <a:blip r:embed="rId5">
            <a:alphaModFix/>
          </a:blip>
          <a:srcRect b="0" l="0" r="0" t="0"/>
          <a:stretch/>
        </p:blipFill>
        <p:spPr>
          <a:xfrm>
            <a:off x="6996125" y="5975242"/>
            <a:ext cx="1811830" cy="624575"/>
          </a:xfrm>
          <a:prstGeom prst="rect">
            <a:avLst/>
          </a:prstGeom>
          <a:noFill/>
          <a:ln>
            <a:noFill/>
          </a:ln>
        </p:spPr>
      </p:pic>
      <p:sp>
        <p:nvSpPr>
          <p:cNvPr id="1732" name="Google Shape;1732;g3e3a61befe4_0_4447"/>
          <p:cNvSpPr txBox="1"/>
          <p:nvPr/>
        </p:nvSpPr>
        <p:spPr>
          <a:xfrm>
            <a:off x="1056175" y="1176888"/>
            <a:ext cx="1143000" cy="538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300">
                <a:solidFill>
                  <a:schemeClr val="dk1"/>
                </a:solidFill>
                <a:latin typeface="Calibri"/>
                <a:ea typeface="Calibri"/>
                <a:cs typeface="Calibri"/>
                <a:sym typeface="Calibri"/>
              </a:rPr>
              <a:t>ACTION</a:t>
            </a:r>
            <a:endParaRPr sz="2300">
              <a:solidFill>
                <a:schemeClr val="dk1"/>
              </a:solidFill>
              <a:latin typeface="Calibri"/>
              <a:ea typeface="Calibri"/>
              <a:cs typeface="Calibri"/>
              <a:sym typeface="Calibri"/>
            </a:endParaRPr>
          </a:p>
        </p:txBody>
      </p:sp>
      <p:sp>
        <p:nvSpPr>
          <p:cNvPr id="1733" name="Google Shape;1733;g3e3a61befe4_0_4447"/>
          <p:cNvSpPr txBox="1"/>
          <p:nvPr/>
        </p:nvSpPr>
        <p:spPr>
          <a:xfrm>
            <a:off x="3100025" y="1968285"/>
            <a:ext cx="6668100" cy="615600"/>
          </a:xfrm>
          <a:prstGeom prst="rect">
            <a:avLst/>
          </a:prstGeom>
          <a:noFill/>
          <a:ln>
            <a:noFill/>
          </a:ln>
        </p:spPr>
        <p:txBody>
          <a:bodyPr anchorCtr="0" anchor="t" bIns="91425" lIns="91425" spcFirstLastPara="1" rIns="91425" wrap="square" tIns="91425">
            <a:spAutoFit/>
          </a:bodyPr>
          <a:lstStyle/>
          <a:p>
            <a:pPr indent="0" lvl="0" marL="0" rtl="0" algn="just">
              <a:spcBef>
                <a:spcPts val="1200"/>
              </a:spcBef>
              <a:spcAft>
                <a:spcPts val="1200"/>
              </a:spcAft>
              <a:buNone/>
            </a:pPr>
            <a:r>
              <a:rPr lang="en-US">
                <a:solidFill>
                  <a:schemeClr val="dk1"/>
                </a:solidFill>
              </a:rPr>
              <a:t>If so, it transfers available scooters from the identified zone to a priority zone while maintaining a minimum scooter threshold in the source zone.</a:t>
            </a:r>
            <a:endParaRPr b="1" sz="1700"/>
          </a:p>
        </p:txBody>
      </p:sp>
      <p:sp>
        <p:nvSpPr>
          <p:cNvPr id="1734" name="Google Shape;1734;g3e3a61befe4_0_4447"/>
          <p:cNvSpPr txBox="1"/>
          <p:nvPr/>
        </p:nvSpPr>
        <p:spPr>
          <a:xfrm>
            <a:off x="3100018" y="1715700"/>
            <a:ext cx="75303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800">
                <a:solidFill>
                  <a:schemeClr val="dk1"/>
                </a:solidFill>
                <a:latin typeface="Calibri"/>
                <a:ea typeface="Calibri"/>
                <a:cs typeface="Calibri"/>
                <a:sym typeface="Calibri"/>
              </a:rPr>
              <a:t>Adjusting the description of the current requirement</a:t>
            </a:r>
            <a:endParaRPr b="1" sz="2800">
              <a:solidFill>
                <a:schemeClr val="dk1"/>
              </a:solidFill>
              <a:latin typeface="Calibri"/>
              <a:ea typeface="Calibri"/>
              <a:cs typeface="Calibri"/>
              <a:sym typeface="Calibri"/>
            </a:endParaRPr>
          </a:p>
        </p:txBody>
      </p:sp>
      <p:pic>
        <p:nvPicPr>
          <p:cNvPr id="1735" name="Google Shape;1735;g3e3a61befe4_0_4447"/>
          <p:cNvPicPr preferRelativeResize="0"/>
          <p:nvPr/>
        </p:nvPicPr>
        <p:blipFill>
          <a:blip r:embed="rId6">
            <a:alphaModFix/>
          </a:blip>
          <a:stretch>
            <a:fillRect/>
          </a:stretch>
        </p:blipFill>
        <p:spPr>
          <a:xfrm>
            <a:off x="7695775" y="3747400"/>
            <a:ext cx="1884673" cy="1701712"/>
          </a:xfrm>
          <a:prstGeom prst="rect">
            <a:avLst/>
          </a:prstGeom>
          <a:noFill/>
          <a:ln>
            <a:noFill/>
          </a:ln>
        </p:spPr>
      </p:pic>
      <p:sp>
        <p:nvSpPr>
          <p:cNvPr id="1736" name="Google Shape;1736;g3e3a61befe4_0_4447"/>
          <p:cNvSpPr txBox="1"/>
          <p:nvPr/>
        </p:nvSpPr>
        <p:spPr>
          <a:xfrm>
            <a:off x="3146650" y="4290462"/>
            <a:ext cx="3675600" cy="615600"/>
          </a:xfrm>
          <a:prstGeom prst="rect">
            <a:avLst/>
          </a:prstGeom>
          <a:noFill/>
          <a:ln>
            <a:noFill/>
          </a:ln>
        </p:spPr>
        <p:txBody>
          <a:bodyPr anchorCtr="0" anchor="t" bIns="91425" lIns="91425" spcFirstLastPara="1" rIns="91425" wrap="square" tIns="91425">
            <a:spAutoFit/>
          </a:bodyPr>
          <a:lstStyle/>
          <a:p>
            <a:pPr indent="0" lvl="0" marL="0" rtl="0" algn="just">
              <a:spcBef>
                <a:spcPts val="1200"/>
              </a:spcBef>
              <a:spcAft>
                <a:spcPts val="1200"/>
              </a:spcAft>
              <a:buNone/>
            </a:pPr>
            <a:r>
              <a:rPr lang="en-US">
                <a:solidFill>
                  <a:schemeClr val="dk1"/>
                </a:solidFill>
              </a:rPr>
              <a:t>A new requirement will be created and added to the development backlog.</a:t>
            </a:r>
            <a:endParaRPr sz="1700"/>
          </a:p>
        </p:txBody>
      </p:sp>
      <p:sp>
        <p:nvSpPr>
          <p:cNvPr id="1737" name="Google Shape;1737;g3e3a61befe4_0_4447"/>
          <p:cNvSpPr txBox="1"/>
          <p:nvPr/>
        </p:nvSpPr>
        <p:spPr>
          <a:xfrm>
            <a:off x="3100022" y="3967076"/>
            <a:ext cx="3834000" cy="461700"/>
          </a:xfrm>
          <a:prstGeom prst="rect">
            <a:avLst/>
          </a:prstGeom>
          <a:noFill/>
          <a:ln>
            <a:noFill/>
          </a:ln>
        </p:spPr>
        <p:txBody>
          <a:bodyPr anchorCtr="0" anchor="t" bIns="91425" lIns="91425" spcFirstLastPara="1" rIns="91425" wrap="square" tIns="91425">
            <a:spAutoFit/>
          </a:bodyPr>
          <a:lstStyle/>
          <a:p>
            <a:pPr indent="0" lvl="0" marL="0" rtl="0" algn="just">
              <a:spcBef>
                <a:spcPts val="1200"/>
              </a:spcBef>
              <a:spcAft>
                <a:spcPts val="1200"/>
              </a:spcAft>
              <a:buClr>
                <a:schemeClr val="dk1"/>
              </a:buClr>
              <a:buSzPts val="1100"/>
              <a:buFont typeface="Arial"/>
              <a:buNone/>
            </a:pPr>
            <a:r>
              <a:rPr b="1" lang="en-US" sz="1800">
                <a:solidFill>
                  <a:schemeClr val="dk1"/>
                </a:solidFill>
                <a:latin typeface="Calibri"/>
                <a:ea typeface="Calibri"/>
                <a:cs typeface="Calibri"/>
                <a:sym typeface="Calibri"/>
              </a:rPr>
              <a:t>New requirement</a:t>
            </a:r>
            <a:endParaRPr b="1" sz="3200">
              <a:solidFill>
                <a:schemeClr val="dk1"/>
              </a:solidFill>
              <a:latin typeface="Calibri"/>
              <a:ea typeface="Calibri"/>
              <a:cs typeface="Calibri"/>
              <a:sym typeface="Calibri"/>
            </a:endParaRPr>
          </a:p>
        </p:txBody>
      </p:sp>
      <p:graphicFrame>
        <p:nvGraphicFramePr>
          <p:cNvPr id="1738" name="Google Shape;1738;g3e3a61befe4_0_4447"/>
          <p:cNvGraphicFramePr/>
          <p:nvPr/>
        </p:nvGraphicFramePr>
        <p:xfrm>
          <a:off x="403988" y="1715700"/>
          <a:ext cx="3000000" cy="3000000"/>
        </p:xfrm>
        <a:graphic>
          <a:graphicData uri="http://schemas.openxmlformats.org/drawingml/2006/table">
            <a:tbl>
              <a:tblPr>
                <a:noFill/>
                <a:tableStyleId>{2736B423-FCC7-43BB-9A58-3EA48F6894B7}</a:tableStyleId>
              </a:tblPr>
              <a:tblGrid>
                <a:gridCol w="2447350"/>
              </a:tblGrid>
              <a:tr h="381000">
                <a:tc>
                  <a:txBody>
                    <a:bodyPr/>
                    <a:lstStyle/>
                    <a:p>
                      <a:pPr indent="0" lvl="0" marL="0" rtl="0" algn="l">
                        <a:spcBef>
                          <a:spcPts val="0"/>
                        </a:spcBef>
                        <a:spcAft>
                          <a:spcPts val="0"/>
                        </a:spcAft>
                        <a:buNone/>
                      </a:pPr>
                      <a:r>
                        <a:rPr lang="en-US">
                          <a:solidFill>
                            <a:schemeClr val="dk1"/>
                          </a:solidFill>
                          <a:latin typeface="Calibri"/>
                          <a:ea typeface="Calibri"/>
                          <a:cs typeface="Calibri"/>
                          <a:sym typeface="Calibri"/>
                        </a:rPr>
                        <a:t>1. Define a minimum scooter threshold per zone to avoid complete depletion after transfers</a:t>
                      </a:r>
                      <a:endParaRPr/>
                    </a:p>
                  </a:txBody>
                  <a:tcPr marT="91425" marB="91425" marR="91425" marL="91425"/>
                </a:tc>
              </a:tr>
              <a:tr h="381000">
                <a:tc>
                  <a:txBody>
                    <a:bodyPr/>
                    <a:lstStyle/>
                    <a:p>
                      <a:pPr indent="0" lvl="0" marL="0" rtl="0" algn="l">
                        <a:spcBef>
                          <a:spcPts val="0"/>
                        </a:spcBef>
                        <a:spcAft>
                          <a:spcPts val="0"/>
                        </a:spcAft>
                        <a:buClr>
                          <a:schemeClr val="dk1"/>
                        </a:buClr>
                        <a:buSzPts val="1100"/>
                        <a:buFont typeface="Arial"/>
                        <a:buNone/>
                      </a:pPr>
                      <a:r>
                        <a:rPr lang="en-US">
                          <a:solidFill>
                            <a:schemeClr val="dk1"/>
                          </a:solidFill>
                          <a:latin typeface="Calibri"/>
                          <a:ea typeface="Calibri"/>
                          <a:cs typeface="Calibri"/>
                          <a:sym typeface="Calibri"/>
                        </a:rPr>
                        <a:t>2. Consider repressed demand and monthly demand when calculating scooter distribution among zones</a:t>
                      </a:r>
                      <a:endParaRPr/>
                    </a:p>
                  </a:txBody>
                  <a:tcPr marT="91425" marB="91425" marR="91425" marL="91425"/>
                </a:tc>
              </a:tr>
              <a:tr h="381000">
                <a:tc>
                  <a:txBody>
                    <a:bodyPr/>
                    <a:lstStyle/>
                    <a:p>
                      <a:pPr indent="0" lvl="0" marL="0" rtl="0" algn="l">
                        <a:spcBef>
                          <a:spcPts val="0"/>
                        </a:spcBef>
                        <a:spcAft>
                          <a:spcPts val="0"/>
                        </a:spcAft>
                        <a:buClr>
                          <a:schemeClr val="dk1"/>
                        </a:buClr>
                        <a:buSzPts val="1100"/>
                        <a:buFont typeface="Arial"/>
                        <a:buNone/>
                      </a:pPr>
                      <a:r>
                        <a:rPr lang="en-US">
                          <a:solidFill>
                            <a:schemeClr val="dk1"/>
                          </a:solidFill>
                          <a:latin typeface="Calibri"/>
                          <a:ea typeface="Calibri"/>
                          <a:cs typeface="Calibri"/>
                          <a:sym typeface="Calibri"/>
                        </a:rPr>
                        <a:t>3. Adjust the app’s consent request to explicitly inform users about the types of data collected and their intended purposes.</a:t>
                      </a:r>
                      <a:endParaRPr/>
                    </a:p>
                  </a:txBody>
                  <a:tcPr marT="91425" marB="91425" marR="91425" marL="91425"/>
                </a:tc>
              </a:tr>
            </a:tbl>
          </a:graphicData>
        </a:graphic>
      </p:graphicFrame>
      <p:sp>
        <p:nvSpPr>
          <p:cNvPr id="1739" name="Google Shape;1739;g3e3a61befe4_0_4447"/>
          <p:cNvSpPr/>
          <p:nvPr/>
        </p:nvSpPr>
        <p:spPr>
          <a:xfrm>
            <a:off x="7039200" y="4315600"/>
            <a:ext cx="551400" cy="4704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740" name="Google Shape;1740;g3e3a61befe4_0_4447"/>
          <p:cNvSpPr txBox="1"/>
          <p:nvPr/>
        </p:nvSpPr>
        <p:spPr>
          <a:xfrm>
            <a:off x="3091054" y="3132301"/>
            <a:ext cx="6668100" cy="615600"/>
          </a:xfrm>
          <a:prstGeom prst="rect">
            <a:avLst/>
          </a:prstGeom>
          <a:noFill/>
          <a:ln>
            <a:noFill/>
          </a:ln>
        </p:spPr>
        <p:txBody>
          <a:bodyPr anchorCtr="0" anchor="t" bIns="91425" lIns="91425" spcFirstLastPara="1" rIns="91425" wrap="square" tIns="91425">
            <a:spAutoFit/>
          </a:bodyPr>
          <a:lstStyle/>
          <a:p>
            <a:pPr indent="0" lvl="0" marL="0" rtl="0" algn="just">
              <a:spcBef>
                <a:spcPts val="1200"/>
              </a:spcBef>
              <a:spcAft>
                <a:spcPts val="1200"/>
              </a:spcAft>
              <a:buNone/>
            </a:pPr>
            <a:r>
              <a:rPr lang="en-US">
                <a:solidFill>
                  <a:schemeClr val="dk1"/>
                </a:solidFill>
              </a:rPr>
              <a:t>The Distribution Agent calculates the number of scooters to be transferred to each zone based on the zone’s </a:t>
            </a:r>
            <a:r>
              <a:rPr b="1" lang="en-US">
                <a:solidFill>
                  <a:schemeClr val="dk1"/>
                </a:solidFill>
              </a:rPr>
              <a:t>monthly</a:t>
            </a:r>
            <a:r>
              <a:rPr lang="en-US">
                <a:solidFill>
                  <a:schemeClr val="dk1"/>
                </a:solidFill>
              </a:rPr>
              <a:t> usage history and r</a:t>
            </a:r>
            <a:r>
              <a:rPr b="1" lang="en-US">
                <a:solidFill>
                  <a:schemeClr val="dk1"/>
                </a:solidFill>
              </a:rPr>
              <a:t>epressed demand.</a:t>
            </a:r>
            <a:endParaRPr b="1" sz="1700"/>
          </a:p>
        </p:txBody>
      </p:sp>
      <p:sp>
        <p:nvSpPr>
          <p:cNvPr id="1741" name="Google Shape;1741;g3e3a61befe4_0_4447"/>
          <p:cNvSpPr txBox="1"/>
          <p:nvPr/>
        </p:nvSpPr>
        <p:spPr>
          <a:xfrm>
            <a:off x="3091050" y="2839375"/>
            <a:ext cx="66681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800">
                <a:solidFill>
                  <a:schemeClr val="dk1"/>
                </a:solidFill>
                <a:latin typeface="Calibri"/>
                <a:ea typeface="Calibri"/>
                <a:cs typeface="Calibri"/>
                <a:sym typeface="Calibri"/>
              </a:rPr>
              <a:t>Adjusting the description of the current requirement</a:t>
            </a:r>
            <a:endParaRPr b="1" sz="2800">
              <a:solidFill>
                <a:schemeClr val="dk1"/>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5" name="Shape 1745"/>
        <p:cNvGrpSpPr/>
        <p:nvPr/>
      </p:nvGrpSpPr>
      <p:grpSpPr>
        <a:xfrm>
          <a:off x="0" y="0"/>
          <a:ext cx="0" cy="0"/>
          <a:chOff x="0" y="0"/>
          <a:chExt cx="0" cy="0"/>
        </a:xfrm>
      </p:grpSpPr>
      <p:sp>
        <p:nvSpPr>
          <p:cNvPr id="1746" name="Google Shape;1746;g3e3a61befe4_0_4469"/>
          <p:cNvSpPr txBox="1"/>
          <p:nvPr>
            <p:ph type="title"/>
          </p:nvPr>
        </p:nvSpPr>
        <p:spPr>
          <a:xfrm>
            <a:off x="166900" y="280350"/>
            <a:ext cx="9635100" cy="6246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1E4E79"/>
              </a:buClr>
              <a:buSzPts val="4000"/>
              <a:buFont typeface="Arial"/>
              <a:buNone/>
            </a:pPr>
            <a:r>
              <a:rPr lang="en-US" sz="2400"/>
              <a:t>7. Dissemination of a Survey to Gather Initial Impressions of the Proposed Method</a:t>
            </a:r>
            <a:endParaRPr sz="2400"/>
          </a:p>
        </p:txBody>
      </p:sp>
      <p:grpSp>
        <p:nvGrpSpPr>
          <p:cNvPr id="1747" name="Google Shape;1747;g3e3a61befe4_0_4469"/>
          <p:cNvGrpSpPr/>
          <p:nvPr/>
        </p:nvGrpSpPr>
        <p:grpSpPr>
          <a:xfrm>
            <a:off x="-18000" y="5842891"/>
            <a:ext cx="9942000" cy="1014788"/>
            <a:chOff x="-21650" y="5927750"/>
            <a:chExt cx="9942000" cy="930230"/>
          </a:xfrm>
        </p:grpSpPr>
        <p:sp>
          <p:nvSpPr>
            <p:cNvPr id="1748" name="Google Shape;1748;g3e3a61befe4_0_4469"/>
            <p:cNvSpPr/>
            <p:nvPr/>
          </p:nvSpPr>
          <p:spPr>
            <a:xfrm>
              <a:off x="5239747" y="5949280"/>
              <a:ext cx="4680600" cy="9087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Arial"/>
                  <a:ea typeface="Arial"/>
                  <a:cs typeface="Arial"/>
                  <a:sym typeface="Arial"/>
                </a:rPr>
                <a:t>25th Annual International Conference on Digital Government Research (dg.o 2024)</a:t>
              </a:r>
              <a:endParaRPr b="0" i="0" sz="1800" u="none" cap="none" strike="noStrike">
                <a:solidFill>
                  <a:schemeClr val="lt1"/>
                </a:solidFill>
                <a:latin typeface="Arial"/>
                <a:ea typeface="Arial"/>
                <a:cs typeface="Arial"/>
                <a:sym typeface="Arial"/>
              </a:endParaRPr>
            </a:p>
          </p:txBody>
        </p:sp>
        <p:pic>
          <p:nvPicPr>
            <p:cNvPr id="1749" name="Google Shape;1749;g3e3a61befe4_0_4469"/>
            <p:cNvPicPr preferRelativeResize="0"/>
            <p:nvPr/>
          </p:nvPicPr>
          <p:blipFill rotWithShape="1">
            <a:blip r:embed="rId3">
              <a:alphaModFix/>
            </a:blip>
            <a:srcRect b="-112517" l="-23390" r="23390" t="137700"/>
            <a:stretch/>
          </p:blipFill>
          <p:spPr>
            <a:xfrm>
              <a:off x="0" y="6007596"/>
              <a:ext cx="9920265" cy="792088"/>
            </a:xfrm>
            <a:prstGeom prst="rect">
              <a:avLst/>
            </a:prstGeom>
            <a:noFill/>
            <a:ln>
              <a:noFill/>
            </a:ln>
          </p:spPr>
        </p:pic>
        <p:sp>
          <p:nvSpPr>
            <p:cNvPr id="1750" name="Google Shape;1750;g3e3a61befe4_0_4469"/>
            <p:cNvSpPr/>
            <p:nvPr/>
          </p:nvSpPr>
          <p:spPr>
            <a:xfrm>
              <a:off x="-21650" y="5927750"/>
              <a:ext cx="9942000" cy="9087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sp>
        <p:nvSpPr>
          <p:cNvPr id="1751" name="Google Shape;1751;g3e3a61befe4_0_4469"/>
          <p:cNvSpPr txBox="1"/>
          <p:nvPr>
            <p:ph idx="12" type="sldNum"/>
          </p:nvPr>
        </p:nvSpPr>
        <p:spPr>
          <a:xfrm>
            <a:off x="6996113" y="6356350"/>
            <a:ext cx="22290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pic>
        <p:nvPicPr>
          <p:cNvPr id="1752" name="Google Shape;1752;g3e3a61befe4_0_4469"/>
          <p:cNvPicPr preferRelativeResize="0"/>
          <p:nvPr/>
        </p:nvPicPr>
        <p:blipFill rotWithShape="1">
          <a:blip r:embed="rId4">
            <a:alphaModFix/>
          </a:blip>
          <a:srcRect b="0" l="0" r="0" t="0"/>
          <a:stretch/>
        </p:blipFill>
        <p:spPr>
          <a:xfrm>
            <a:off x="218750" y="6052376"/>
            <a:ext cx="1823009" cy="470325"/>
          </a:xfrm>
          <a:prstGeom prst="rect">
            <a:avLst/>
          </a:prstGeom>
          <a:noFill/>
          <a:ln>
            <a:noFill/>
          </a:ln>
        </p:spPr>
      </p:pic>
      <p:pic>
        <p:nvPicPr>
          <p:cNvPr id="1753" name="Google Shape;1753;g3e3a61befe4_0_4469"/>
          <p:cNvPicPr preferRelativeResize="0"/>
          <p:nvPr/>
        </p:nvPicPr>
        <p:blipFill rotWithShape="1">
          <a:blip r:embed="rId5">
            <a:alphaModFix/>
          </a:blip>
          <a:srcRect b="0" l="0" r="0" t="0"/>
          <a:stretch/>
        </p:blipFill>
        <p:spPr>
          <a:xfrm>
            <a:off x="6996125" y="5975242"/>
            <a:ext cx="1811830" cy="624575"/>
          </a:xfrm>
          <a:prstGeom prst="rect">
            <a:avLst/>
          </a:prstGeom>
          <a:noFill/>
          <a:ln>
            <a:noFill/>
          </a:ln>
        </p:spPr>
      </p:pic>
      <p:grpSp>
        <p:nvGrpSpPr>
          <p:cNvPr id="1754" name="Google Shape;1754;g3e3a61befe4_0_4469"/>
          <p:cNvGrpSpPr/>
          <p:nvPr/>
        </p:nvGrpSpPr>
        <p:grpSpPr>
          <a:xfrm>
            <a:off x="762000" y="1333500"/>
            <a:ext cx="8382000" cy="3238500"/>
            <a:chOff x="762000" y="1333500"/>
            <a:chExt cx="8382000" cy="3238500"/>
          </a:xfrm>
        </p:grpSpPr>
        <p:sp>
          <p:nvSpPr>
            <p:cNvPr id="1755" name="Google Shape;1755;g3e3a61befe4_0_4469"/>
            <p:cNvSpPr/>
            <p:nvPr/>
          </p:nvSpPr>
          <p:spPr>
            <a:xfrm>
              <a:off x="762000" y="1333500"/>
              <a:ext cx="8382000" cy="3238500"/>
            </a:xfrm>
            <a:prstGeom prst="roundRect">
              <a:avLst>
                <a:gd fmla="val 4411" name="adj"/>
              </a:avLst>
            </a:prstGeom>
            <a:solidFill>
              <a:srgbClr val="FFFFFF">
                <a:alpha val="89999"/>
              </a:srgbClr>
            </a:solidFill>
            <a:ln cap="flat" cmpd="sng" w="19050">
              <a:solidFill>
                <a:srgbClr val="1E4E79"/>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1756" name="Google Shape;1756;g3e3a61befe4_0_4469"/>
            <p:cNvGrpSpPr/>
            <p:nvPr/>
          </p:nvGrpSpPr>
          <p:grpSpPr>
            <a:xfrm>
              <a:off x="1047750" y="1619250"/>
              <a:ext cx="571500" cy="615315"/>
              <a:chOff x="1047750" y="1619250"/>
              <a:chExt cx="571500" cy="615315"/>
            </a:xfrm>
          </p:grpSpPr>
          <p:sp>
            <p:nvSpPr>
              <p:cNvPr id="1757" name="Google Shape;1757;g3e3a61befe4_0_4469"/>
              <p:cNvSpPr/>
              <p:nvPr/>
            </p:nvSpPr>
            <p:spPr>
              <a:xfrm>
                <a:off x="1047750" y="1619250"/>
                <a:ext cx="571500" cy="571500"/>
              </a:xfrm>
              <a:prstGeom prst="roundRect">
                <a:avLst>
                  <a:gd fmla="val 50000" name="adj"/>
                </a:avLst>
              </a:prstGeom>
              <a:solidFill>
                <a:srgbClr val="1E4E7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58" name="Google Shape;1758;g3e3a61befe4_0_4469"/>
              <p:cNvSpPr txBox="1"/>
              <p:nvPr/>
            </p:nvSpPr>
            <p:spPr>
              <a:xfrm>
                <a:off x="1047750" y="1663065"/>
                <a:ext cx="571500" cy="571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3000">
                    <a:solidFill>
                      <a:srgbClr val="FFFFFF"/>
                    </a:solidFill>
                    <a:latin typeface="Material Icons"/>
                    <a:ea typeface="Material Icons"/>
                    <a:cs typeface="Material Icons"/>
                    <a:sym typeface="Material Icons"/>
                  </a:rPr>
                  <a:t>assignment</a:t>
                </a:r>
                <a:endParaRPr sz="3000">
                  <a:solidFill>
                    <a:srgbClr val="FFFFFF"/>
                  </a:solidFill>
                  <a:latin typeface="Material Icons"/>
                  <a:ea typeface="Material Icons"/>
                  <a:cs typeface="Material Icons"/>
                  <a:sym typeface="Material Icons"/>
                </a:endParaRPr>
              </a:p>
            </p:txBody>
          </p:sp>
        </p:grpSp>
        <p:sp>
          <p:nvSpPr>
            <p:cNvPr id="1759" name="Google Shape;1759;g3e3a61befe4_0_4469"/>
            <p:cNvSpPr txBox="1"/>
            <p:nvPr/>
          </p:nvSpPr>
          <p:spPr>
            <a:xfrm>
              <a:off x="1809750" y="1619250"/>
              <a:ext cx="6953400" cy="2667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800">
                  <a:solidFill>
                    <a:srgbClr val="1E4E79"/>
                  </a:solidFill>
                  <a:latin typeface="Arial"/>
                  <a:ea typeface="Arial"/>
                  <a:cs typeface="Arial"/>
                  <a:sym typeface="Arial"/>
                </a:rPr>
                <a:t>Your input is valuable!</a:t>
              </a:r>
              <a:endParaRPr b="1" sz="1800">
                <a:solidFill>
                  <a:srgbClr val="1E4E79"/>
                </a:solidFill>
                <a:latin typeface="Arial"/>
                <a:ea typeface="Arial"/>
                <a:cs typeface="Arial"/>
                <a:sym typeface="Arial"/>
              </a:endParaRPr>
            </a:p>
            <a:p>
              <a:pPr indent="0" lvl="0" marL="0" rtl="0" algn="l">
                <a:spcBef>
                  <a:spcPts val="1500"/>
                </a:spcBef>
                <a:spcAft>
                  <a:spcPts val="0"/>
                </a:spcAft>
                <a:buNone/>
              </a:pPr>
              <a:r>
                <a:rPr lang="en-US" sz="1600">
                  <a:solidFill>
                    <a:srgbClr val="000000"/>
                  </a:solidFill>
                  <a:latin typeface="Arial"/>
                  <a:ea typeface="Arial"/>
                  <a:cs typeface="Arial"/>
                  <a:sym typeface="Arial"/>
                </a:rPr>
                <a:t>We are conducting a survey to gather initial impressions about the proposed method for identifying and addressing negative ethical consequences in AI-based or software systems.</a:t>
              </a:r>
              <a:endParaRPr sz="1600">
                <a:solidFill>
                  <a:srgbClr val="000000"/>
                </a:solidFill>
                <a:latin typeface="Arial"/>
                <a:ea typeface="Arial"/>
                <a:cs typeface="Arial"/>
                <a:sym typeface="Arial"/>
              </a:endParaRPr>
            </a:p>
            <a:p>
              <a:pPr indent="0" lvl="0" marL="0" rtl="0" algn="l">
                <a:spcBef>
                  <a:spcPts val="1125"/>
                </a:spcBef>
                <a:spcAft>
                  <a:spcPts val="0"/>
                </a:spcAft>
                <a:buNone/>
              </a:pPr>
              <a:r>
                <a:rPr lang="en-US" sz="1600">
                  <a:solidFill>
                    <a:srgbClr val="000000"/>
                  </a:solidFill>
                  <a:latin typeface="Arial"/>
                  <a:ea typeface="Arial"/>
                  <a:cs typeface="Arial"/>
                  <a:sym typeface="Arial"/>
                </a:rPr>
                <a:t>The questionnaire is brief, and your responses will be used exclusively for academic and research purposes.</a:t>
              </a:r>
              <a:endParaRPr sz="1600">
                <a:solidFill>
                  <a:srgbClr val="000000"/>
                </a:solidFill>
                <a:latin typeface="Arial"/>
                <a:ea typeface="Arial"/>
                <a:cs typeface="Arial"/>
                <a:sym typeface="Arial"/>
              </a:endParaRPr>
            </a:p>
            <a:p>
              <a:pPr indent="0" lvl="0" marL="0" rtl="0" algn="l">
                <a:spcBef>
                  <a:spcPts val="1125"/>
                </a:spcBef>
                <a:spcAft>
                  <a:spcPts val="0"/>
                </a:spcAft>
                <a:buNone/>
              </a:pPr>
              <a:r>
                <a:rPr b="1" lang="en-US" sz="1600">
                  <a:solidFill>
                    <a:srgbClr val="000000"/>
                  </a:solidFill>
                  <a:latin typeface="Arial"/>
                  <a:ea typeface="Arial"/>
                  <a:cs typeface="Arial"/>
                  <a:sym typeface="Arial"/>
                </a:rPr>
                <a:t>We appreciate your participation!</a:t>
              </a:r>
              <a:endParaRPr b="1" sz="1600">
                <a:solidFill>
                  <a:srgbClr val="000000"/>
                </a:solidFill>
                <a:latin typeface="Arial"/>
                <a:ea typeface="Arial"/>
                <a:cs typeface="Arial"/>
                <a:sym typeface="Arial"/>
              </a:endParaRPr>
            </a:p>
          </p:txBody>
        </p:sp>
      </p:grpSp>
      <p:sp>
        <p:nvSpPr>
          <p:cNvPr id="1760" name="Google Shape;1760;g3e3a61befe4_0_4469"/>
          <p:cNvSpPr txBox="1"/>
          <p:nvPr/>
        </p:nvSpPr>
        <p:spPr>
          <a:xfrm>
            <a:off x="3512375" y="5000550"/>
            <a:ext cx="27000" cy="20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800">
              <a:solidFill>
                <a:schemeClr val="dk1"/>
              </a:solidFill>
              <a:latin typeface="Calibri"/>
              <a:ea typeface="Calibri"/>
              <a:cs typeface="Calibri"/>
              <a:sym typeface="Calibri"/>
            </a:endParaRPr>
          </a:p>
        </p:txBody>
      </p:sp>
      <p:sp>
        <p:nvSpPr>
          <p:cNvPr id="1761" name="Google Shape;1761;g3e3a61befe4_0_4469"/>
          <p:cNvSpPr txBox="1"/>
          <p:nvPr/>
        </p:nvSpPr>
        <p:spPr>
          <a:xfrm>
            <a:off x="2041750" y="4919000"/>
            <a:ext cx="6499800" cy="57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700"/>
              <a:t>Participation link: </a:t>
            </a:r>
            <a:r>
              <a:rPr lang="en-US" sz="2000" u="sng">
                <a:solidFill>
                  <a:schemeClr val="hlink"/>
                </a:solidFill>
                <a:latin typeface="Calibri"/>
                <a:ea typeface="Calibri"/>
                <a:cs typeface="Calibri"/>
                <a:sym typeface="Calibri"/>
                <a:hlinkClick r:id="rId6"/>
              </a:rPr>
              <a:t>https://forms.gle/vFJEkox4tcVCETt39</a:t>
            </a:r>
            <a:endParaRPr sz="2000">
              <a:solidFill>
                <a:schemeClr val="dk1"/>
              </a:solidFill>
              <a:latin typeface="Calibri"/>
              <a:ea typeface="Calibri"/>
              <a:cs typeface="Calibri"/>
              <a:sym typeface="Calibri"/>
            </a:endParaRPr>
          </a:p>
          <a:p>
            <a:pPr indent="0" lvl="0" marL="0" rtl="0" algn="l">
              <a:spcBef>
                <a:spcPts val="0"/>
              </a:spcBef>
              <a:spcAft>
                <a:spcPts val="0"/>
              </a:spcAft>
              <a:buNone/>
            </a:pPr>
            <a:r>
              <a:t/>
            </a:r>
            <a:endParaRPr sz="2000">
              <a:solidFill>
                <a:schemeClr val="dk1"/>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5" name="Shape 1765"/>
        <p:cNvGrpSpPr/>
        <p:nvPr/>
      </p:nvGrpSpPr>
      <p:grpSpPr>
        <a:xfrm>
          <a:off x="0" y="0"/>
          <a:ext cx="0" cy="0"/>
          <a:chOff x="0" y="0"/>
          <a:chExt cx="0" cy="0"/>
        </a:xfrm>
      </p:grpSpPr>
      <p:grpSp>
        <p:nvGrpSpPr>
          <p:cNvPr id="1766" name="Google Shape;1766;g3e387427cbb_128_611"/>
          <p:cNvGrpSpPr/>
          <p:nvPr/>
        </p:nvGrpSpPr>
        <p:grpSpPr>
          <a:xfrm>
            <a:off x="-18000" y="5842892"/>
            <a:ext cx="9942000" cy="1014788"/>
            <a:chOff x="-21650" y="5927750"/>
            <a:chExt cx="9942000" cy="930230"/>
          </a:xfrm>
        </p:grpSpPr>
        <p:sp>
          <p:nvSpPr>
            <p:cNvPr id="1767" name="Google Shape;1767;g3e387427cbb_128_611"/>
            <p:cNvSpPr/>
            <p:nvPr/>
          </p:nvSpPr>
          <p:spPr>
            <a:xfrm>
              <a:off x="5239747" y="5949280"/>
              <a:ext cx="4680600" cy="9087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Arial"/>
                  <a:ea typeface="Arial"/>
                  <a:cs typeface="Arial"/>
                  <a:sym typeface="Arial"/>
                </a:rPr>
                <a:t>25th Annual International Conference on Digital Government Research (dg.o 2024)</a:t>
              </a:r>
              <a:endParaRPr b="0" i="0" sz="1800" u="none" cap="none" strike="noStrike">
                <a:solidFill>
                  <a:schemeClr val="lt1"/>
                </a:solidFill>
                <a:latin typeface="Arial"/>
                <a:ea typeface="Arial"/>
                <a:cs typeface="Arial"/>
                <a:sym typeface="Arial"/>
              </a:endParaRPr>
            </a:p>
          </p:txBody>
        </p:sp>
        <p:pic>
          <p:nvPicPr>
            <p:cNvPr id="1768" name="Google Shape;1768;g3e387427cbb_128_611"/>
            <p:cNvPicPr preferRelativeResize="0"/>
            <p:nvPr/>
          </p:nvPicPr>
          <p:blipFill rotWithShape="1">
            <a:blip r:embed="rId3">
              <a:alphaModFix/>
            </a:blip>
            <a:srcRect b="-112533" l="-23390" r="23390" t="137710"/>
            <a:stretch/>
          </p:blipFill>
          <p:spPr>
            <a:xfrm>
              <a:off x="0" y="6007596"/>
              <a:ext cx="9920265" cy="792088"/>
            </a:xfrm>
            <a:prstGeom prst="rect">
              <a:avLst/>
            </a:prstGeom>
            <a:noFill/>
            <a:ln>
              <a:noFill/>
            </a:ln>
          </p:spPr>
        </p:pic>
        <p:sp>
          <p:nvSpPr>
            <p:cNvPr id="1769" name="Google Shape;1769;g3e387427cbb_128_611"/>
            <p:cNvSpPr/>
            <p:nvPr/>
          </p:nvSpPr>
          <p:spPr>
            <a:xfrm>
              <a:off x="-21650" y="5927750"/>
              <a:ext cx="9942000" cy="9087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pic>
        <p:nvPicPr>
          <p:cNvPr id="1770" name="Google Shape;1770;g3e387427cbb_128_611"/>
          <p:cNvPicPr preferRelativeResize="0"/>
          <p:nvPr/>
        </p:nvPicPr>
        <p:blipFill rotWithShape="1">
          <a:blip r:embed="rId4">
            <a:alphaModFix/>
          </a:blip>
          <a:srcRect b="0" l="0" r="0" t="0"/>
          <a:stretch/>
        </p:blipFill>
        <p:spPr>
          <a:xfrm>
            <a:off x="218750" y="6052376"/>
            <a:ext cx="1823009" cy="470325"/>
          </a:xfrm>
          <a:prstGeom prst="rect">
            <a:avLst/>
          </a:prstGeom>
          <a:noFill/>
          <a:ln>
            <a:noFill/>
          </a:ln>
        </p:spPr>
      </p:pic>
      <p:pic>
        <p:nvPicPr>
          <p:cNvPr id="1771" name="Google Shape;1771;g3e387427cbb_128_611"/>
          <p:cNvPicPr preferRelativeResize="0"/>
          <p:nvPr/>
        </p:nvPicPr>
        <p:blipFill rotWithShape="1">
          <a:blip r:embed="rId5">
            <a:alphaModFix/>
          </a:blip>
          <a:srcRect b="0" l="0" r="0" t="0"/>
          <a:stretch/>
        </p:blipFill>
        <p:spPr>
          <a:xfrm>
            <a:off x="8015000" y="6038017"/>
            <a:ext cx="1811830" cy="624575"/>
          </a:xfrm>
          <a:prstGeom prst="rect">
            <a:avLst/>
          </a:prstGeom>
          <a:noFill/>
          <a:ln>
            <a:noFill/>
          </a:ln>
        </p:spPr>
      </p:pic>
      <p:sp>
        <p:nvSpPr>
          <p:cNvPr id="1772" name="Google Shape;1772;g3e387427cbb_128_611"/>
          <p:cNvSpPr txBox="1"/>
          <p:nvPr>
            <p:ph type="title"/>
          </p:nvPr>
        </p:nvSpPr>
        <p:spPr>
          <a:xfrm>
            <a:off x="41075" y="196650"/>
            <a:ext cx="10035600" cy="6936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1E4E79"/>
              </a:buClr>
              <a:buSzPts val="4000"/>
              <a:buFont typeface="Arial"/>
              <a:buNone/>
            </a:pPr>
            <a:r>
              <a:rPr lang="en-US" sz="2650"/>
              <a:t>Bibliography</a:t>
            </a:r>
            <a:endParaRPr sz="2650"/>
          </a:p>
        </p:txBody>
      </p:sp>
      <p:sp>
        <p:nvSpPr>
          <p:cNvPr id="1773" name="Google Shape;1773;g3e387427cbb_128_611"/>
          <p:cNvSpPr txBox="1"/>
          <p:nvPr/>
        </p:nvSpPr>
        <p:spPr>
          <a:xfrm>
            <a:off x="100950" y="757475"/>
            <a:ext cx="9704100" cy="8642700"/>
          </a:xfrm>
          <a:prstGeom prst="rect">
            <a:avLst/>
          </a:prstGeom>
          <a:noFill/>
          <a:ln>
            <a:noFill/>
          </a:ln>
        </p:spPr>
        <p:txBody>
          <a:bodyPr anchorCtr="0" anchor="t" bIns="91425" lIns="91425" spcFirstLastPara="1" rIns="91425" wrap="square" tIns="91425">
            <a:spAutoFit/>
          </a:bodyPr>
          <a:lstStyle/>
          <a:p>
            <a:pPr indent="-304800" lvl="0" marL="457200" marR="0" rtl="0" algn="just">
              <a:lnSpc>
                <a:spcPct val="100000"/>
              </a:lnSpc>
              <a:spcBef>
                <a:spcPts val="0"/>
              </a:spcBef>
              <a:spcAft>
                <a:spcPts val="0"/>
              </a:spcAft>
              <a:buSzPts val="1200"/>
              <a:buFont typeface="Arial"/>
              <a:buAutoNum type="arabicPeriod"/>
            </a:pPr>
            <a:r>
              <a:rPr b="0" i="0" lang="en-US" sz="1200" u="none" cap="none" strike="noStrike">
                <a:solidFill>
                  <a:srgbClr val="000000"/>
                </a:solidFill>
                <a:latin typeface="Arial"/>
                <a:ea typeface="Arial"/>
                <a:cs typeface="Arial"/>
                <a:sym typeface="Arial"/>
              </a:rPr>
              <a:t>COMMISSION, European Union. Ethics Guidelines for Trustworthy AI. [S. l.: s. n.], jun. 2018. Accessed on April 23, 2025. Disponível em: &lt;</a:t>
            </a:r>
            <a:r>
              <a:rPr b="0" i="0" lang="en-US" sz="1200" u="sng" cap="none" strike="noStrike">
                <a:solidFill>
                  <a:schemeClr val="hlink"/>
                </a:solidFill>
                <a:latin typeface="Arial"/>
                <a:ea typeface="Arial"/>
                <a:cs typeface="Arial"/>
                <a:sym typeface="Arial"/>
                <a:hlinkClick r:id="rId6"/>
              </a:rPr>
              <a:t>https://digital</a:t>
            </a:r>
            <a:r>
              <a:rPr b="0" i="0" lang="en-US" sz="1200" u="sng" cap="none" strike="noStrike">
                <a:solidFill>
                  <a:schemeClr val="hlink"/>
                </a:solidFill>
                <a:latin typeface="Arial"/>
                <a:ea typeface="Arial"/>
                <a:cs typeface="Arial"/>
                <a:sym typeface="Arial"/>
                <a:hlinkClick r:id="rId7"/>
              </a:rPr>
              <a:t>strategy.ec.europa.eu/en/library/ethics-guidelines-trustworthy-ai</a:t>
            </a:r>
            <a:r>
              <a:rPr b="0" i="0" lang="en-US" sz="1200" u="none" cap="none" strike="noStrike">
                <a:solidFill>
                  <a:srgbClr val="000000"/>
                </a:solidFill>
                <a:latin typeface="Arial"/>
                <a:ea typeface="Arial"/>
                <a:cs typeface="Arial"/>
                <a:sym typeface="Arial"/>
              </a:rPr>
              <a:t>&gt;.</a:t>
            </a:r>
            <a:endParaRPr b="0" i="0" sz="1200" u="none" cap="none" strike="noStrike">
              <a:solidFill>
                <a:srgbClr val="000000"/>
              </a:solidFill>
              <a:latin typeface="Arial"/>
              <a:ea typeface="Arial"/>
              <a:cs typeface="Arial"/>
              <a:sym typeface="Arial"/>
            </a:endParaRPr>
          </a:p>
          <a:p>
            <a:pPr indent="0" lvl="0" marL="914400" marR="0" rtl="0" algn="just">
              <a:lnSpc>
                <a:spcPct val="100000"/>
              </a:lnSpc>
              <a:spcBef>
                <a:spcPts val="0"/>
              </a:spcBef>
              <a:spcAft>
                <a:spcPts val="0"/>
              </a:spcAft>
              <a:buNone/>
            </a:pPr>
            <a:r>
              <a:t/>
            </a:r>
            <a:endParaRPr b="0" i="0" sz="1200" u="none" cap="none" strike="noStrike">
              <a:solidFill>
                <a:srgbClr val="000000"/>
              </a:solidFill>
              <a:latin typeface="Arial"/>
              <a:ea typeface="Arial"/>
              <a:cs typeface="Arial"/>
              <a:sym typeface="Arial"/>
            </a:endParaRPr>
          </a:p>
          <a:p>
            <a:pPr indent="-304800" lvl="0" marL="457200" marR="0" rtl="0" algn="just">
              <a:lnSpc>
                <a:spcPct val="100000"/>
              </a:lnSpc>
              <a:spcBef>
                <a:spcPts val="0"/>
              </a:spcBef>
              <a:spcAft>
                <a:spcPts val="0"/>
              </a:spcAft>
              <a:buSzPts val="1200"/>
              <a:buFont typeface="Arial"/>
              <a:buAutoNum type="arabicPeriod"/>
            </a:pPr>
            <a:r>
              <a:rPr b="0" i="0" lang="en-US" sz="1200" u="none" cap="none" strike="noStrike">
                <a:solidFill>
                  <a:srgbClr val="000000"/>
                </a:solidFill>
                <a:latin typeface="Arial"/>
                <a:ea typeface="Arial"/>
                <a:cs typeface="Arial"/>
                <a:sym typeface="Arial"/>
              </a:rPr>
              <a:t>UNESCO. Recommendation on the Ethics of Artificial Intelligence. [S. l.: s. n.], nov. 2021. Accessed on April 23, 2025. Disponível em: </a:t>
            </a:r>
            <a:r>
              <a:rPr b="0" i="0" lang="en-US" sz="1200" u="sng" cap="none" strike="noStrike">
                <a:solidFill>
                  <a:schemeClr val="hlink"/>
                </a:solidFill>
                <a:latin typeface="Arial"/>
                <a:ea typeface="Arial"/>
                <a:cs typeface="Arial"/>
                <a:sym typeface="Arial"/>
                <a:hlinkClick r:id="rId8"/>
              </a:rPr>
              <a:t>&lt;https://unesdoc.unesco.org/ark:/48223/pf0000381137.locale=en&gt;</a:t>
            </a:r>
            <a:endParaRPr b="0" i="0" sz="1200" u="none" cap="none" strike="noStrike">
              <a:solidFill>
                <a:srgbClr val="000000"/>
              </a:solidFill>
              <a:latin typeface="Arial"/>
              <a:ea typeface="Arial"/>
              <a:cs typeface="Arial"/>
              <a:sym typeface="Arial"/>
            </a:endParaRPr>
          </a:p>
          <a:p>
            <a:pPr indent="0" lvl="0" marL="914400" marR="0" rtl="0" algn="just">
              <a:lnSpc>
                <a:spcPct val="100000"/>
              </a:lnSpc>
              <a:spcBef>
                <a:spcPts val="0"/>
              </a:spcBef>
              <a:spcAft>
                <a:spcPts val="0"/>
              </a:spcAft>
              <a:buNone/>
            </a:pPr>
            <a:r>
              <a:t/>
            </a:r>
            <a:endParaRPr b="0" i="0" sz="1200" u="none" cap="none" strike="noStrike">
              <a:solidFill>
                <a:srgbClr val="000000"/>
              </a:solidFill>
              <a:latin typeface="Arial"/>
              <a:ea typeface="Arial"/>
              <a:cs typeface="Arial"/>
              <a:sym typeface="Arial"/>
            </a:endParaRPr>
          </a:p>
          <a:p>
            <a:pPr indent="-304800" lvl="0" marL="457200" marR="0" rtl="0" algn="just">
              <a:lnSpc>
                <a:spcPct val="100000"/>
              </a:lnSpc>
              <a:spcBef>
                <a:spcPts val="0"/>
              </a:spcBef>
              <a:spcAft>
                <a:spcPts val="0"/>
              </a:spcAft>
              <a:buClr>
                <a:srgbClr val="000000"/>
              </a:buClr>
              <a:buSzPts val="1200"/>
              <a:buFont typeface="Arial"/>
              <a:buAutoNum type="arabicPeriod"/>
            </a:pPr>
            <a:r>
              <a:rPr b="0" i="0" lang="en-US" sz="1200" u="none" cap="none" strike="noStrike">
                <a:solidFill>
                  <a:srgbClr val="000000"/>
                </a:solidFill>
                <a:latin typeface="Arial"/>
                <a:ea typeface="Arial"/>
                <a:cs typeface="Arial"/>
                <a:sym typeface="Arial"/>
              </a:rPr>
              <a:t>IKIDID, Abdelouafi; EL, Fazziki Abdelaziz; SADGAL, Mohamed. Internet of things and agent-based system to improve water use efficiency in collective irrigation. Computer Science and Information Systems, v. 20, n. 1, p. 405–421, 2023</a:t>
            </a:r>
            <a:endParaRPr b="0" i="0" sz="1200" u="none" cap="none" strike="noStrike">
              <a:solidFill>
                <a:srgbClr val="000000"/>
              </a:solidFill>
              <a:latin typeface="Arial"/>
              <a:ea typeface="Arial"/>
              <a:cs typeface="Arial"/>
              <a:sym typeface="Arial"/>
            </a:endParaRPr>
          </a:p>
          <a:p>
            <a:pPr indent="0" lvl="0" marL="457200" marR="0" rtl="0" algn="just">
              <a:lnSpc>
                <a:spcPct val="100000"/>
              </a:lnSpc>
              <a:spcBef>
                <a:spcPts val="0"/>
              </a:spcBef>
              <a:spcAft>
                <a:spcPts val="0"/>
              </a:spcAft>
              <a:buNone/>
            </a:pPr>
            <a:r>
              <a:t/>
            </a:r>
            <a:endParaRPr b="0" i="0" sz="1200" u="none" cap="none" strike="noStrike">
              <a:solidFill>
                <a:srgbClr val="000000"/>
              </a:solidFill>
              <a:latin typeface="Arial"/>
              <a:ea typeface="Arial"/>
              <a:cs typeface="Arial"/>
              <a:sym typeface="Arial"/>
            </a:endParaRPr>
          </a:p>
          <a:p>
            <a:pPr indent="-304800" lvl="0" marL="457200" marR="0" rtl="0" algn="just">
              <a:lnSpc>
                <a:spcPct val="100000"/>
              </a:lnSpc>
              <a:spcBef>
                <a:spcPts val="0"/>
              </a:spcBef>
              <a:spcAft>
                <a:spcPts val="0"/>
              </a:spcAft>
              <a:buClr>
                <a:srgbClr val="000000"/>
              </a:buClr>
              <a:buSzPts val="1200"/>
              <a:buFont typeface="Arial"/>
              <a:buAutoNum type="arabicPeriod"/>
            </a:pPr>
            <a:r>
              <a:rPr b="0" i="0" lang="en-US" sz="1200" u="none" cap="none" strike="noStrike">
                <a:solidFill>
                  <a:srgbClr val="000000"/>
                </a:solidFill>
                <a:latin typeface="Arial"/>
                <a:ea typeface="Arial"/>
                <a:cs typeface="Arial"/>
                <a:sym typeface="Arial"/>
              </a:rPr>
              <a:t>GUO, Jiaying; CHENG, Long; WANG, Shen. CoTV: Cooperative control for traffic light signals and connected autonomous vehicles using deep reinforcement learning. IEEE Transactions on Intelligent Transportation Systems, IEEE, v. 24, n. 10, p. 10501–10512, 2023.</a:t>
            </a:r>
            <a:endParaRPr b="0" i="0" sz="1200" u="none" cap="none" strike="noStrike">
              <a:solidFill>
                <a:srgbClr val="000000"/>
              </a:solidFill>
              <a:latin typeface="Arial"/>
              <a:ea typeface="Arial"/>
              <a:cs typeface="Arial"/>
              <a:sym typeface="Arial"/>
            </a:endParaRPr>
          </a:p>
          <a:p>
            <a:pPr indent="0" lvl="0" marL="457200" marR="0" rtl="0" algn="just">
              <a:lnSpc>
                <a:spcPct val="100000"/>
              </a:lnSpc>
              <a:spcBef>
                <a:spcPts val="0"/>
              </a:spcBef>
              <a:spcAft>
                <a:spcPts val="0"/>
              </a:spcAft>
              <a:buNone/>
            </a:pPr>
            <a:r>
              <a:t/>
            </a:r>
            <a:endParaRPr sz="1200"/>
          </a:p>
          <a:p>
            <a:pPr indent="-304800" lvl="0" marL="457200" marR="0" rtl="0" algn="just">
              <a:lnSpc>
                <a:spcPct val="100000"/>
              </a:lnSpc>
              <a:spcBef>
                <a:spcPts val="0"/>
              </a:spcBef>
              <a:spcAft>
                <a:spcPts val="0"/>
              </a:spcAft>
              <a:buClr>
                <a:srgbClr val="000000"/>
              </a:buClr>
              <a:buSzPts val="1200"/>
              <a:buFont typeface="Arial"/>
              <a:buAutoNum type="arabicPeriod"/>
            </a:pPr>
            <a:r>
              <a:rPr b="0" i="0" lang="en-US" sz="1200" u="none" cap="none" strike="noStrike">
                <a:solidFill>
                  <a:srgbClr val="000000"/>
                </a:solidFill>
                <a:latin typeface="Arial"/>
                <a:ea typeface="Arial"/>
                <a:cs typeface="Arial"/>
                <a:sym typeface="Arial"/>
              </a:rPr>
              <a:t>GUO, Yida; ZHANG, Cheng. Real-time Railway Transit Management Based on Multi-Agent System (MAS). In: IOP PUBLISHING, 1. JOURNAL of Physics: Conference Series. [S. l.: s. n.], 2021. v. 1828, p. 012045.</a:t>
            </a:r>
            <a:endParaRPr b="0" i="0" sz="1200" u="none" cap="none" strike="noStrike">
              <a:solidFill>
                <a:srgbClr val="000000"/>
              </a:solidFill>
              <a:latin typeface="Arial"/>
              <a:ea typeface="Arial"/>
              <a:cs typeface="Arial"/>
              <a:sym typeface="Arial"/>
            </a:endParaRPr>
          </a:p>
          <a:p>
            <a:pPr indent="0" lvl="0" marL="914400" marR="0" rtl="0" algn="just">
              <a:lnSpc>
                <a:spcPct val="100000"/>
              </a:lnSpc>
              <a:spcBef>
                <a:spcPts val="0"/>
              </a:spcBef>
              <a:spcAft>
                <a:spcPts val="0"/>
              </a:spcAft>
              <a:buNone/>
            </a:pPr>
            <a:r>
              <a:t/>
            </a:r>
            <a:endParaRPr b="0" i="0" sz="1200" u="none" cap="none" strike="noStrike">
              <a:solidFill>
                <a:schemeClr val="dk1"/>
              </a:solidFill>
              <a:latin typeface="Arial"/>
              <a:ea typeface="Arial"/>
              <a:cs typeface="Arial"/>
              <a:sym typeface="Arial"/>
            </a:endParaRPr>
          </a:p>
          <a:p>
            <a:pPr indent="-304800" lvl="0" marL="457200" marR="0" rtl="0" algn="just">
              <a:lnSpc>
                <a:spcPct val="100000"/>
              </a:lnSpc>
              <a:spcBef>
                <a:spcPts val="0"/>
              </a:spcBef>
              <a:spcAft>
                <a:spcPts val="0"/>
              </a:spcAft>
              <a:buClr>
                <a:schemeClr val="dk1"/>
              </a:buClr>
              <a:buSzPts val="1200"/>
              <a:buFont typeface="Arial"/>
              <a:buAutoNum type="arabicPeriod"/>
            </a:pPr>
            <a:r>
              <a:rPr b="0" i="0" lang="en-US" sz="1200" u="none" cap="none" strike="noStrike">
                <a:solidFill>
                  <a:schemeClr val="dk1"/>
                </a:solidFill>
                <a:latin typeface="Arial"/>
                <a:ea typeface="Arial"/>
                <a:cs typeface="Arial"/>
                <a:sym typeface="Arial"/>
              </a:rPr>
              <a:t>COINTE, Nicolas; BONNET, Grégory; BOISSIER, Olivier. Ethics-based cooperation in multi-agent systems. In: ADVANCES in Social Simulation: Looking in the Mirror. [S. l.: s. n.], 2020. P. 101–116</a:t>
            </a:r>
            <a:endParaRPr b="0" i="0" sz="1200" u="none" cap="none" strike="noStrike">
              <a:solidFill>
                <a:schemeClr val="dk1"/>
              </a:solidFill>
              <a:latin typeface="Arial"/>
              <a:ea typeface="Arial"/>
              <a:cs typeface="Arial"/>
              <a:sym typeface="Arial"/>
            </a:endParaRPr>
          </a:p>
          <a:p>
            <a:pPr indent="0" lvl="0" marL="914400" marR="0" rtl="0" algn="just">
              <a:lnSpc>
                <a:spcPct val="100000"/>
              </a:lnSpc>
              <a:spcBef>
                <a:spcPts val="0"/>
              </a:spcBef>
              <a:spcAft>
                <a:spcPts val="0"/>
              </a:spcAft>
              <a:buNone/>
            </a:pPr>
            <a:r>
              <a:t/>
            </a:r>
            <a:endParaRPr b="0" i="0" sz="1200" u="none" cap="none" strike="noStrike">
              <a:solidFill>
                <a:schemeClr val="dk1"/>
              </a:solidFill>
              <a:latin typeface="Arial"/>
              <a:ea typeface="Arial"/>
              <a:cs typeface="Arial"/>
              <a:sym typeface="Arial"/>
            </a:endParaRPr>
          </a:p>
          <a:p>
            <a:pPr indent="-304800" lvl="0" marL="457200" marR="0" rtl="0" algn="just">
              <a:lnSpc>
                <a:spcPct val="100000"/>
              </a:lnSpc>
              <a:spcBef>
                <a:spcPts val="0"/>
              </a:spcBef>
              <a:spcAft>
                <a:spcPts val="0"/>
              </a:spcAft>
              <a:buClr>
                <a:schemeClr val="dk1"/>
              </a:buClr>
              <a:buSzPts val="1200"/>
              <a:buFont typeface="Arial"/>
              <a:buAutoNum type="arabicPeriod"/>
            </a:pPr>
            <a:r>
              <a:rPr b="0" i="0" lang="en-US" sz="1200" u="none" cap="none" strike="noStrike">
                <a:solidFill>
                  <a:schemeClr val="dk1"/>
                </a:solidFill>
                <a:latin typeface="Arial"/>
                <a:ea typeface="Arial"/>
                <a:cs typeface="Arial"/>
                <a:sym typeface="Arial"/>
              </a:rPr>
              <a:t>PRIYADARSHANA, HVV et al. Developing multi-agent based micro-grid management system in jade. In: IEEE. 2019 2nd International Conference on Power and Embedded Drive Control (ICPEDC). [S. l.: s. n.], 2019. P. 552–556</a:t>
            </a:r>
            <a:endParaRPr b="0" i="0" sz="1200" u="none" cap="none" strike="noStrike">
              <a:solidFill>
                <a:schemeClr val="dk1"/>
              </a:solidFill>
              <a:latin typeface="Arial"/>
              <a:ea typeface="Arial"/>
              <a:cs typeface="Arial"/>
              <a:sym typeface="Arial"/>
            </a:endParaRPr>
          </a:p>
          <a:p>
            <a:pPr indent="0" lvl="0" marL="914400" marR="0" rtl="0" algn="just">
              <a:lnSpc>
                <a:spcPct val="100000"/>
              </a:lnSpc>
              <a:spcBef>
                <a:spcPts val="0"/>
              </a:spcBef>
              <a:spcAft>
                <a:spcPts val="0"/>
              </a:spcAft>
              <a:buNone/>
            </a:pPr>
            <a:r>
              <a:t/>
            </a:r>
            <a:endParaRPr b="0" i="0" sz="1200" u="none" cap="none" strike="noStrike">
              <a:solidFill>
                <a:srgbClr val="000000"/>
              </a:solidFill>
              <a:latin typeface="Arial"/>
              <a:ea typeface="Arial"/>
              <a:cs typeface="Arial"/>
              <a:sym typeface="Arial"/>
            </a:endParaRPr>
          </a:p>
          <a:p>
            <a:pPr indent="-304800" lvl="0" marL="457200" marR="0" rtl="0" algn="just">
              <a:lnSpc>
                <a:spcPct val="100000"/>
              </a:lnSpc>
              <a:spcBef>
                <a:spcPts val="0"/>
              </a:spcBef>
              <a:spcAft>
                <a:spcPts val="0"/>
              </a:spcAft>
              <a:buClr>
                <a:schemeClr val="dk1"/>
              </a:buClr>
              <a:buSzPts val="1200"/>
              <a:buFont typeface="Arial"/>
              <a:buAutoNum type="arabicPeriod"/>
            </a:pPr>
            <a:r>
              <a:rPr b="0" i="0" lang="en-US" sz="1200" u="none" cap="none" strike="noStrike">
                <a:solidFill>
                  <a:schemeClr val="dk1"/>
                </a:solidFill>
                <a:latin typeface="Arial"/>
                <a:ea typeface="Arial"/>
                <a:cs typeface="Arial"/>
                <a:sym typeface="Arial"/>
              </a:rPr>
              <a:t>CARDOSO, Rafael C; FERRANDO, Angelo; DENNIS, Louise A et al. Implementing ethical governors in BDI. In: SPRINGER. INTERNATIONAL Workshop on Engineering Multi-Agent Systems. [S. l.: s. n.], 2021. P. 22–41.</a:t>
            </a:r>
            <a:endParaRPr b="0" i="0" sz="1200" u="none" cap="none" strike="noStrike">
              <a:solidFill>
                <a:schemeClr val="dk1"/>
              </a:solidFill>
              <a:latin typeface="Arial"/>
              <a:ea typeface="Arial"/>
              <a:cs typeface="Arial"/>
              <a:sym typeface="Arial"/>
            </a:endParaRPr>
          </a:p>
          <a:p>
            <a:pPr indent="0" lvl="0" marL="457200" marR="0" rtl="0" algn="just">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Arial"/>
              <a:ea typeface="Arial"/>
              <a:cs typeface="Arial"/>
              <a:sym typeface="Arial"/>
            </a:endParaRPr>
          </a:p>
          <a:p>
            <a:pPr indent="0" lvl="0" marL="457200" marR="0" rtl="0" algn="just">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Arial"/>
              <a:ea typeface="Arial"/>
              <a:cs typeface="Arial"/>
              <a:sym typeface="Arial"/>
            </a:endParaRPr>
          </a:p>
          <a:p>
            <a:pPr indent="0" lvl="0" marL="457200" marR="0" rtl="0" algn="just">
              <a:lnSpc>
                <a:spcPct val="100000"/>
              </a:lnSpc>
              <a:spcBef>
                <a:spcPts val="0"/>
              </a:spcBef>
              <a:spcAft>
                <a:spcPts val="0"/>
              </a:spcAft>
              <a:buClr>
                <a:srgbClr val="000000"/>
              </a:buClr>
              <a:buSzPts val="1550"/>
              <a:buFont typeface="Arial"/>
              <a:buNone/>
            </a:pPr>
            <a:r>
              <a:t/>
            </a:r>
            <a:endParaRPr b="0" i="0" sz="1550" u="none" cap="none" strike="noStrike">
              <a:solidFill>
                <a:srgbClr val="000000"/>
              </a:solidFill>
              <a:latin typeface="Arial"/>
              <a:ea typeface="Arial"/>
              <a:cs typeface="Arial"/>
              <a:sym typeface="Arial"/>
            </a:endParaRPr>
          </a:p>
          <a:p>
            <a:pPr indent="457200" lvl="0" marL="0" marR="0" rtl="0" algn="l">
              <a:lnSpc>
                <a:spcPct val="100000"/>
              </a:lnSpc>
              <a:spcBef>
                <a:spcPts val="0"/>
              </a:spcBef>
              <a:spcAft>
                <a:spcPts val="0"/>
              </a:spcAft>
              <a:buClr>
                <a:schemeClr val="dk1"/>
              </a:buClr>
              <a:buSzPts val="1100"/>
              <a:buFont typeface="Arial"/>
              <a:buNone/>
            </a:pPr>
            <a:r>
              <a:t/>
            </a:r>
            <a:endParaRPr b="0" i="0" sz="185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50"/>
              <a:buFont typeface="Arial"/>
              <a:buNone/>
            </a:pPr>
            <a:r>
              <a:t/>
            </a:r>
            <a:endParaRPr b="0" i="0" sz="185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50"/>
              <a:buFont typeface="Arial"/>
              <a:buNone/>
            </a:pPr>
            <a:r>
              <a:t/>
            </a:r>
            <a:endParaRPr b="0" i="0" sz="185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50"/>
              <a:buFont typeface="Arial"/>
              <a:buNone/>
            </a:pPr>
            <a:r>
              <a:t/>
            </a:r>
            <a:endParaRPr b="0" i="0" sz="185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50"/>
              <a:buFont typeface="Arial"/>
              <a:buNone/>
            </a:pPr>
            <a:r>
              <a:t/>
            </a:r>
            <a:endParaRPr b="0" i="0" sz="185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50"/>
              <a:buFont typeface="Arial"/>
              <a:buNone/>
            </a:pPr>
            <a:r>
              <a:t/>
            </a:r>
            <a:endParaRPr b="0" i="0" sz="185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50"/>
              <a:buFont typeface="Arial"/>
              <a:buNone/>
            </a:pPr>
            <a:r>
              <a:t/>
            </a:r>
            <a:endParaRPr b="0" i="0" sz="185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50"/>
              <a:buFont typeface="Arial"/>
              <a:buNone/>
            </a:pPr>
            <a:r>
              <a:t/>
            </a:r>
            <a:endParaRPr b="0" i="0" sz="185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50"/>
              <a:buFont typeface="Arial"/>
              <a:buNone/>
            </a:pPr>
            <a:r>
              <a:t/>
            </a:r>
            <a:endParaRPr b="0" i="0" sz="185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50"/>
              <a:buFont typeface="Arial"/>
              <a:buNone/>
            </a:pPr>
            <a:r>
              <a:t/>
            </a:r>
            <a:endParaRPr b="0" i="0" sz="185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50"/>
              <a:buFont typeface="Arial"/>
              <a:buNone/>
            </a:pPr>
            <a:r>
              <a:t/>
            </a:r>
            <a:endParaRPr b="0" i="0" sz="185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50"/>
              <a:buFont typeface="Arial"/>
              <a:buNone/>
            </a:pPr>
            <a:r>
              <a:t/>
            </a:r>
            <a:endParaRPr b="0" i="0" sz="185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7" name="Shape 1777"/>
        <p:cNvGrpSpPr/>
        <p:nvPr/>
      </p:nvGrpSpPr>
      <p:grpSpPr>
        <a:xfrm>
          <a:off x="0" y="0"/>
          <a:ext cx="0" cy="0"/>
          <a:chOff x="0" y="0"/>
          <a:chExt cx="0" cy="0"/>
        </a:xfrm>
      </p:grpSpPr>
      <p:grpSp>
        <p:nvGrpSpPr>
          <p:cNvPr id="1778" name="Google Shape;1778;g3e387427cbb_128_622"/>
          <p:cNvGrpSpPr/>
          <p:nvPr/>
        </p:nvGrpSpPr>
        <p:grpSpPr>
          <a:xfrm>
            <a:off x="-18000" y="5842892"/>
            <a:ext cx="9942000" cy="1014788"/>
            <a:chOff x="-21650" y="5927750"/>
            <a:chExt cx="9942000" cy="930230"/>
          </a:xfrm>
        </p:grpSpPr>
        <p:sp>
          <p:nvSpPr>
            <p:cNvPr id="1779" name="Google Shape;1779;g3e387427cbb_128_622"/>
            <p:cNvSpPr/>
            <p:nvPr/>
          </p:nvSpPr>
          <p:spPr>
            <a:xfrm>
              <a:off x="5239747" y="5949280"/>
              <a:ext cx="4680600" cy="9087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Arial"/>
                  <a:ea typeface="Arial"/>
                  <a:cs typeface="Arial"/>
                  <a:sym typeface="Arial"/>
                </a:rPr>
                <a:t>25th Annual International Conference on Digital Government Research (dg.o 2024)</a:t>
              </a:r>
              <a:endParaRPr b="0" i="0" sz="1800" u="none" cap="none" strike="noStrike">
                <a:solidFill>
                  <a:schemeClr val="lt1"/>
                </a:solidFill>
                <a:latin typeface="Arial"/>
                <a:ea typeface="Arial"/>
                <a:cs typeface="Arial"/>
                <a:sym typeface="Arial"/>
              </a:endParaRPr>
            </a:p>
          </p:txBody>
        </p:sp>
        <p:pic>
          <p:nvPicPr>
            <p:cNvPr id="1780" name="Google Shape;1780;g3e387427cbb_128_622"/>
            <p:cNvPicPr preferRelativeResize="0"/>
            <p:nvPr/>
          </p:nvPicPr>
          <p:blipFill rotWithShape="1">
            <a:blip r:embed="rId3">
              <a:alphaModFix/>
            </a:blip>
            <a:srcRect b="-112533" l="-23390" r="23390" t="137710"/>
            <a:stretch/>
          </p:blipFill>
          <p:spPr>
            <a:xfrm>
              <a:off x="0" y="6007596"/>
              <a:ext cx="9920265" cy="792088"/>
            </a:xfrm>
            <a:prstGeom prst="rect">
              <a:avLst/>
            </a:prstGeom>
            <a:noFill/>
            <a:ln>
              <a:noFill/>
            </a:ln>
          </p:spPr>
        </p:pic>
        <p:sp>
          <p:nvSpPr>
            <p:cNvPr id="1781" name="Google Shape;1781;g3e387427cbb_128_622"/>
            <p:cNvSpPr/>
            <p:nvPr/>
          </p:nvSpPr>
          <p:spPr>
            <a:xfrm>
              <a:off x="-21650" y="5927750"/>
              <a:ext cx="9942000" cy="9087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pic>
        <p:nvPicPr>
          <p:cNvPr id="1782" name="Google Shape;1782;g3e387427cbb_128_622"/>
          <p:cNvPicPr preferRelativeResize="0"/>
          <p:nvPr/>
        </p:nvPicPr>
        <p:blipFill rotWithShape="1">
          <a:blip r:embed="rId4">
            <a:alphaModFix/>
          </a:blip>
          <a:srcRect b="0" l="0" r="0" t="0"/>
          <a:stretch/>
        </p:blipFill>
        <p:spPr>
          <a:xfrm>
            <a:off x="218750" y="6052376"/>
            <a:ext cx="1823009" cy="470325"/>
          </a:xfrm>
          <a:prstGeom prst="rect">
            <a:avLst/>
          </a:prstGeom>
          <a:noFill/>
          <a:ln>
            <a:noFill/>
          </a:ln>
        </p:spPr>
      </p:pic>
      <p:pic>
        <p:nvPicPr>
          <p:cNvPr id="1783" name="Google Shape;1783;g3e387427cbb_128_622"/>
          <p:cNvPicPr preferRelativeResize="0"/>
          <p:nvPr/>
        </p:nvPicPr>
        <p:blipFill rotWithShape="1">
          <a:blip r:embed="rId5">
            <a:alphaModFix/>
          </a:blip>
          <a:srcRect b="0" l="0" r="0" t="0"/>
          <a:stretch/>
        </p:blipFill>
        <p:spPr>
          <a:xfrm>
            <a:off x="8015000" y="6038017"/>
            <a:ext cx="1811830" cy="624575"/>
          </a:xfrm>
          <a:prstGeom prst="rect">
            <a:avLst/>
          </a:prstGeom>
          <a:noFill/>
          <a:ln>
            <a:noFill/>
          </a:ln>
        </p:spPr>
      </p:pic>
      <p:sp>
        <p:nvSpPr>
          <p:cNvPr id="1784" name="Google Shape;1784;g3e387427cbb_128_622"/>
          <p:cNvSpPr txBox="1"/>
          <p:nvPr>
            <p:ph type="title"/>
          </p:nvPr>
        </p:nvSpPr>
        <p:spPr>
          <a:xfrm>
            <a:off x="41075" y="196650"/>
            <a:ext cx="10035600" cy="6936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1E4E79"/>
              </a:buClr>
              <a:buSzPts val="4000"/>
              <a:buFont typeface="Arial"/>
              <a:buNone/>
            </a:pPr>
            <a:r>
              <a:rPr lang="en-US" sz="2650"/>
              <a:t>Bibliography</a:t>
            </a:r>
            <a:endParaRPr sz="2650"/>
          </a:p>
        </p:txBody>
      </p:sp>
      <p:sp>
        <p:nvSpPr>
          <p:cNvPr id="1785" name="Google Shape;1785;g3e387427cbb_128_622"/>
          <p:cNvSpPr txBox="1"/>
          <p:nvPr/>
        </p:nvSpPr>
        <p:spPr>
          <a:xfrm>
            <a:off x="100950" y="757475"/>
            <a:ext cx="9704100" cy="10674600"/>
          </a:xfrm>
          <a:prstGeom prst="rect">
            <a:avLst/>
          </a:prstGeom>
          <a:noFill/>
          <a:ln>
            <a:noFill/>
          </a:ln>
        </p:spPr>
        <p:txBody>
          <a:bodyPr anchorCtr="0" anchor="t" bIns="91425" lIns="91425" spcFirstLastPara="1" rIns="91425" wrap="square" tIns="91425">
            <a:spAutoFit/>
          </a:bodyPr>
          <a:lstStyle/>
          <a:p>
            <a:pPr indent="-304800" lvl="0" marL="457200" marR="0" rtl="0" algn="just">
              <a:lnSpc>
                <a:spcPct val="100000"/>
              </a:lnSpc>
              <a:spcBef>
                <a:spcPts val="0"/>
              </a:spcBef>
              <a:spcAft>
                <a:spcPts val="0"/>
              </a:spcAft>
              <a:buClr>
                <a:schemeClr val="dk1"/>
              </a:buClr>
              <a:buSzPts val="1200"/>
              <a:buFont typeface="Arial"/>
              <a:buAutoNum type="arabicPeriod" startAt="9"/>
            </a:pPr>
            <a:r>
              <a:rPr b="0" i="0" lang="en-US" sz="1200" u="none" cap="none" strike="noStrike">
                <a:solidFill>
                  <a:schemeClr val="dk1"/>
                </a:solidFill>
                <a:latin typeface="Arial"/>
                <a:ea typeface="Arial"/>
                <a:cs typeface="Arial"/>
                <a:sym typeface="Arial"/>
              </a:rPr>
              <a:t>DI MARTINO, Beniamino; ESPOSITO, Antonio; COLUCCI CANTE, Luigi. Multi agents simulation of justice trials to support control management and reduction of civil trials duration. Journal of Ambient Intelligence and Humanized Computing, Springer, v. 14, n. 4, p. 3645–3657, 2023.</a:t>
            </a:r>
            <a:endParaRPr b="0" i="0" sz="1200" u="none" cap="none" strike="noStrike">
              <a:solidFill>
                <a:schemeClr val="dk1"/>
              </a:solidFill>
              <a:latin typeface="Arial"/>
              <a:ea typeface="Arial"/>
              <a:cs typeface="Arial"/>
              <a:sym typeface="Arial"/>
            </a:endParaRPr>
          </a:p>
          <a:p>
            <a:pPr indent="0" lvl="0" marL="914400" marR="0" rtl="0" algn="just">
              <a:lnSpc>
                <a:spcPct val="100000"/>
              </a:lnSpc>
              <a:spcBef>
                <a:spcPts val="0"/>
              </a:spcBef>
              <a:spcAft>
                <a:spcPts val="0"/>
              </a:spcAft>
              <a:buNone/>
            </a:pPr>
            <a:r>
              <a:t/>
            </a:r>
            <a:endParaRPr b="0" i="0" sz="1200" u="none" cap="none" strike="noStrike">
              <a:solidFill>
                <a:schemeClr val="dk1"/>
              </a:solidFill>
              <a:latin typeface="Arial"/>
              <a:ea typeface="Arial"/>
              <a:cs typeface="Arial"/>
              <a:sym typeface="Arial"/>
            </a:endParaRPr>
          </a:p>
          <a:p>
            <a:pPr indent="-304800" lvl="0" marL="457200" marR="0" rtl="0" algn="just">
              <a:lnSpc>
                <a:spcPct val="100000"/>
              </a:lnSpc>
              <a:spcBef>
                <a:spcPts val="0"/>
              </a:spcBef>
              <a:spcAft>
                <a:spcPts val="0"/>
              </a:spcAft>
              <a:buClr>
                <a:schemeClr val="dk1"/>
              </a:buClr>
              <a:buSzPts val="1200"/>
              <a:buFont typeface="Arial"/>
              <a:buAutoNum type="arabicPeriod" startAt="9"/>
            </a:pPr>
            <a:r>
              <a:rPr b="0" i="0" lang="en-US" sz="1200" u="none" cap="none" strike="noStrike">
                <a:solidFill>
                  <a:schemeClr val="dk1"/>
                </a:solidFill>
                <a:latin typeface="Arial"/>
                <a:ea typeface="Arial"/>
                <a:cs typeface="Arial"/>
                <a:sym typeface="Arial"/>
              </a:rPr>
              <a:t>EUROPEAN PARLIAMENT AND OF THE COUNCIL. General Data Protection Regulation (GDPR)). [S. l.: s. n.], abr. 2016. Official Journal of the European Union. Accessed on April 23, 2025. Disponível em: &lt;https://eur-lex.europa.eu/eli/reg/2016/679/oj&gt;.</a:t>
            </a:r>
            <a:endParaRPr b="0" i="0" sz="1200" u="none" cap="none" strike="noStrike">
              <a:solidFill>
                <a:schemeClr val="dk1"/>
              </a:solidFill>
              <a:latin typeface="Arial"/>
              <a:ea typeface="Arial"/>
              <a:cs typeface="Arial"/>
              <a:sym typeface="Arial"/>
            </a:endParaRPr>
          </a:p>
          <a:p>
            <a:pPr indent="0" lvl="0" marL="914400" marR="0" rtl="0" algn="just">
              <a:lnSpc>
                <a:spcPct val="100000"/>
              </a:lnSpc>
              <a:spcBef>
                <a:spcPts val="0"/>
              </a:spcBef>
              <a:spcAft>
                <a:spcPts val="0"/>
              </a:spcAft>
              <a:buNone/>
            </a:pPr>
            <a:r>
              <a:t/>
            </a:r>
            <a:endParaRPr b="0" i="0" sz="1200" u="none" cap="none" strike="noStrike">
              <a:solidFill>
                <a:schemeClr val="dk1"/>
              </a:solidFill>
              <a:latin typeface="Arial"/>
              <a:ea typeface="Arial"/>
              <a:cs typeface="Arial"/>
              <a:sym typeface="Arial"/>
            </a:endParaRPr>
          </a:p>
          <a:p>
            <a:pPr indent="-304800" lvl="0" marL="457200" marR="0" rtl="0" algn="just">
              <a:lnSpc>
                <a:spcPct val="100000"/>
              </a:lnSpc>
              <a:spcBef>
                <a:spcPts val="0"/>
              </a:spcBef>
              <a:spcAft>
                <a:spcPts val="0"/>
              </a:spcAft>
              <a:buClr>
                <a:schemeClr val="dk1"/>
              </a:buClr>
              <a:buSzPts val="1200"/>
              <a:buFont typeface="Arial"/>
              <a:buAutoNum type="arabicPeriod" startAt="9"/>
            </a:pPr>
            <a:r>
              <a:rPr b="0" i="0" lang="en-US" sz="1200" u="none" cap="none" strike="noStrike">
                <a:solidFill>
                  <a:schemeClr val="dk1"/>
                </a:solidFill>
                <a:latin typeface="Arial"/>
                <a:ea typeface="Arial"/>
                <a:cs typeface="Arial"/>
                <a:sym typeface="Arial"/>
              </a:rPr>
              <a:t>YAZDANPANAH, Vahid; DASTANI, Mehdi et al. Multiagent task coordination as task allocation plus task responsibility. In: SPRINGER. MULTI-AGENT Systems and Agreement Technologies: 17th European Conference, EUMAS 2020, and 7th International Conference, AT 2020, Thessaloniki, Greece, September 14-15, 2020, Revised Selected Papers 17. [S. l.: s. n.], 2020. P. 571–588.</a:t>
            </a:r>
            <a:endParaRPr b="0" i="0" sz="1200" u="none" cap="none" strike="noStrike">
              <a:solidFill>
                <a:schemeClr val="dk1"/>
              </a:solidFill>
              <a:latin typeface="Arial"/>
              <a:ea typeface="Arial"/>
              <a:cs typeface="Arial"/>
              <a:sym typeface="Arial"/>
            </a:endParaRPr>
          </a:p>
          <a:p>
            <a:pPr indent="0" lvl="0" marL="914400" marR="0" rtl="0" algn="just">
              <a:lnSpc>
                <a:spcPct val="100000"/>
              </a:lnSpc>
              <a:spcBef>
                <a:spcPts val="0"/>
              </a:spcBef>
              <a:spcAft>
                <a:spcPts val="0"/>
              </a:spcAft>
              <a:buNone/>
            </a:pPr>
            <a:r>
              <a:t/>
            </a:r>
            <a:endParaRPr b="0" i="0" sz="1200" u="none" cap="none" strike="noStrike">
              <a:solidFill>
                <a:schemeClr val="dk1"/>
              </a:solidFill>
              <a:latin typeface="Arial"/>
              <a:ea typeface="Arial"/>
              <a:cs typeface="Arial"/>
              <a:sym typeface="Arial"/>
            </a:endParaRPr>
          </a:p>
          <a:p>
            <a:pPr indent="-304800" lvl="0" marL="457200" marR="0" rtl="0" algn="just">
              <a:lnSpc>
                <a:spcPct val="100000"/>
              </a:lnSpc>
              <a:spcBef>
                <a:spcPts val="0"/>
              </a:spcBef>
              <a:spcAft>
                <a:spcPts val="0"/>
              </a:spcAft>
              <a:buClr>
                <a:schemeClr val="dk1"/>
              </a:buClr>
              <a:buSzPts val="1200"/>
              <a:buFont typeface="Arial"/>
              <a:buAutoNum type="arabicPeriod" startAt="9"/>
            </a:pPr>
            <a:r>
              <a:rPr b="0" i="0" lang="en-US" sz="1200" u="none" cap="none" strike="noStrike">
                <a:solidFill>
                  <a:schemeClr val="dk1"/>
                </a:solidFill>
                <a:latin typeface="Arial"/>
                <a:ea typeface="Arial"/>
                <a:cs typeface="Arial"/>
                <a:sym typeface="Arial"/>
              </a:rPr>
              <a:t>DIGNUM, Virginia. Responsible artificial intelligence: how to develop and use AI in a responsible way. [S. l.]: Springer, 2019. v. 2156.</a:t>
            </a:r>
            <a:endParaRPr b="0" i="0" sz="1200" u="none" cap="none" strike="noStrike">
              <a:solidFill>
                <a:schemeClr val="dk1"/>
              </a:solidFill>
              <a:latin typeface="Arial"/>
              <a:ea typeface="Arial"/>
              <a:cs typeface="Arial"/>
              <a:sym typeface="Arial"/>
            </a:endParaRPr>
          </a:p>
          <a:p>
            <a:pPr indent="0" lvl="0" marL="914400" marR="0" rtl="0" algn="just">
              <a:lnSpc>
                <a:spcPct val="100000"/>
              </a:lnSpc>
              <a:spcBef>
                <a:spcPts val="0"/>
              </a:spcBef>
              <a:spcAft>
                <a:spcPts val="0"/>
              </a:spcAft>
              <a:buNone/>
            </a:pPr>
            <a:r>
              <a:t/>
            </a:r>
            <a:endParaRPr b="0" i="0" sz="1200" u="none" cap="none" strike="noStrike">
              <a:solidFill>
                <a:schemeClr val="dk1"/>
              </a:solidFill>
              <a:latin typeface="Arial"/>
              <a:ea typeface="Arial"/>
              <a:cs typeface="Arial"/>
              <a:sym typeface="Arial"/>
            </a:endParaRPr>
          </a:p>
          <a:p>
            <a:pPr indent="-304800" lvl="0" marL="457200" marR="0" rtl="0" algn="just">
              <a:lnSpc>
                <a:spcPct val="100000"/>
              </a:lnSpc>
              <a:spcBef>
                <a:spcPts val="0"/>
              </a:spcBef>
              <a:spcAft>
                <a:spcPts val="0"/>
              </a:spcAft>
              <a:buClr>
                <a:schemeClr val="dk1"/>
              </a:buClr>
              <a:buSzPts val="1200"/>
              <a:buFont typeface="Arial"/>
              <a:buAutoNum type="arabicPeriod" startAt="9"/>
            </a:pPr>
            <a:r>
              <a:rPr b="0" i="0" lang="en-US" sz="1200" u="none" cap="none" strike="noStrike">
                <a:solidFill>
                  <a:schemeClr val="dk1"/>
                </a:solidFill>
                <a:latin typeface="Arial"/>
                <a:ea typeface="Arial"/>
                <a:cs typeface="Arial"/>
                <a:sym typeface="Arial"/>
              </a:rPr>
              <a:t>CARDOSO, Paulo Henrique; CORREIA, Fernando et al. A Normative Multiagent Approach to Represent Data Regulation Concerns. In: ICAART (1). [S. l.: s. n.], 2023. P. 330–337.</a:t>
            </a:r>
            <a:endParaRPr b="0" i="0" sz="1200" u="none" cap="none" strike="noStrike">
              <a:solidFill>
                <a:schemeClr val="dk1"/>
              </a:solidFill>
              <a:latin typeface="Arial"/>
              <a:ea typeface="Arial"/>
              <a:cs typeface="Arial"/>
              <a:sym typeface="Arial"/>
            </a:endParaRPr>
          </a:p>
          <a:p>
            <a:pPr indent="0" lvl="0" marL="457200" marR="0" rtl="0" algn="just">
              <a:lnSpc>
                <a:spcPct val="100000"/>
              </a:lnSpc>
              <a:spcBef>
                <a:spcPts val="0"/>
              </a:spcBef>
              <a:spcAft>
                <a:spcPts val="0"/>
              </a:spcAft>
              <a:buNone/>
            </a:pPr>
            <a:r>
              <a:t/>
            </a:r>
            <a:endParaRPr sz="1200">
              <a:solidFill>
                <a:schemeClr val="dk1"/>
              </a:solidFill>
            </a:endParaRPr>
          </a:p>
          <a:p>
            <a:pPr indent="-304800" lvl="0" marL="457200" marR="0" rtl="0" algn="just">
              <a:lnSpc>
                <a:spcPct val="100000"/>
              </a:lnSpc>
              <a:spcBef>
                <a:spcPts val="0"/>
              </a:spcBef>
              <a:spcAft>
                <a:spcPts val="0"/>
              </a:spcAft>
              <a:buClr>
                <a:schemeClr val="dk1"/>
              </a:buClr>
              <a:buSzPts val="1200"/>
              <a:buFont typeface="Arial"/>
              <a:buAutoNum type="arabicPeriod" startAt="9"/>
            </a:pPr>
            <a:r>
              <a:rPr b="0" i="0" lang="en-US" sz="1200" u="none" cap="none" strike="noStrike">
                <a:solidFill>
                  <a:schemeClr val="dk1"/>
                </a:solidFill>
                <a:latin typeface="Arial"/>
                <a:ea typeface="Arial"/>
                <a:cs typeface="Arial"/>
                <a:sym typeface="Arial"/>
              </a:rPr>
              <a:t>ARHADI, Farzaneh; JENNINGS, Nicholas R. A faithful mechanism for incremental multi-agent agreement problems with self-interested and privacy-preserving agents. SN Computer Science, Springer, v. 2, n. 4, p. 272, 2021</a:t>
            </a:r>
            <a:endParaRPr b="0" i="0" sz="1200" u="none" cap="none" strike="noStrike">
              <a:solidFill>
                <a:schemeClr val="dk1"/>
              </a:solidFill>
              <a:latin typeface="Arial"/>
              <a:ea typeface="Arial"/>
              <a:cs typeface="Arial"/>
              <a:sym typeface="Arial"/>
            </a:endParaRPr>
          </a:p>
          <a:p>
            <a:pPr indent="0" lvl="0" marL="914400" marR="0" rtl="0" algn="just">
              <a:lnSpc>
                <a:spcPct val="100000"/>
              </a:lnSpc>
              <a:spcBef>
                <a:spcPts val="0"/>
              </a:spcBef>
              <a:spcAft>
                <a:spcPts val="0"/>
              </a:spcAft>
              <a:buNone/>
            </a:pPr>
            <a:r>
              <a:t/>
            </a:r>
            <a:endParaRPr b="0" i="0" sz="1200" u="none" cap="none" strike="noStrike">
              <a:solidFill>
                <a:schemeClr val="dk1"/>
              </a:solidFill>
              <a:latin typeface="Arial"/>
              <a:ea typeface="Arial"/>
              <a:cs typeface="Arial"/>
              <a:sym typeface="Arial"/>
            </a:endParaRPr>
          </a:p>
          <a:p>
            <a:pPr indent="-304800" lvl="0" marL="457200" marR="0" rtl="0" algn="just">
              <a:lnSpc>
                <a:spcPct val="100000"/>
              </a:lnSpc>
              <a:spcBef>
                <a:spcPts val="0"/>
              </a:spcBef>
              <a:spcAft>
                <a:spcPts val="0"/>
              </a:spcAft>
              <a:buClr>
                <a:schemeClr val="dk1"/>
              </a:buClr>
              <a:buSzPts val="1200"/>
              <a:buFont typeface="Arial"/>
              <a:buAutoNum type="arabicPeriod" startAt="9"/>
            </a:pPr>
            <a:r>
              <a:rPr b="0" i="0" lang="en-US" sz="1200" u="none" cap="none" strike="noStrike">
                <a:solidFill>
                  <a:schemeClr val="dk1"/>
                </a:solidFill>
                <a:latin typeface="Arial"/>
                <a:ea typeface="Arial"/>
                <a:cs typeface="Arial"/>
                <a:sym typeface="Arial"/>
              </a:rPr>
              <a:t>XIE, Shangyu et al. Privacy preserving distributed energy trading. In: IEEE. 2020 IEEE 40th International Conference on Distributed Computing Systems (ICDCS). [S. l.: s. n.], 2020. P. 322–332.</a:t>
            </a:r>
            <a:endParaRPr b="0" i="0" sz="1200" u="none" cap="none" strike="noStrike">
              <a:solidFill>
                <a:schemeClr val="dk1"/>
              </a:solidFill>
              <a:latin typeface="Arial"/>
              <a:ea typeface="Arial"/>
              <a:cs typeface="Arial"/>
              <a:sym typeface="Arial"/>
            </a:endParaRPr>
          </a:p>
          <a:p>
            <a:pPr indent="0" lvl="0" marL="914400" marR="0" rtl="0" algn="just">
              <a:lnSpc>
                <a:spcPct val="100000"/>
              </a:lnSpc>
              <a:spcBef>
                <a:spcPts val="0"/>
              </a:spcBef>
              <a:spcAft>
                <a:spcPts val="0"/>
              </a:spcAft>
              <a:buNone/>
            </a:pPr>
            <a:r>
              <a:t/>
            </a:r>
            <a:endParaRPr b="0" i="0" sz="1200" u="none" cap="none" strike="noStrike">
              <a:solidFill>
                <a:schemeClr val="dk1"/>
              </a:solidFill>
              <a:latin typeface="Arial"/>
              <a:ea typeface="Arial"/>
              <a:cs typeface="Arial"/>
              <a:sym typeface="Arial"/>
            </a:endParaRPr>
          </a:p>
          <a:p>
            <a:pPr indent="-304800" lvl="0" marL="457200" marR="0" rtl="0" algn="just">
              <a:lnSpc>
                <a:spcPct val="100000"/>
              </a:lnSpc>
              <a:spcBef>
                <a:spcPts val="0"/>
              </a:spcBef>
              <a:spcAft>
                <a:spcPts val="0"/>
              </a:spcAft>
              <a:buClr>
                <a:schemeClr val="dk1"/>
              </a:buClr>
              <a:buSzPts val="1200"/>
              <a:buFont typeface="Arial"/>
              <a:buAutoNum type="arabicPeriod" startAt="9"/>
            </a:pPr>
            <a:r>
              <a:rPr b="0" i="0" lang="en-US" sz="1200" u="none" cap="none" strike="noStrike">
                <a:solidFill>
                  <a:schemeClr val="dk1"/>
                </a:solidFill>
                <a:latin typeface="Arial"/>
                <a:ea typeface="Arial"/>
                <a:cs typeface="Arial"/>
                <a:sym typeface="Arial"/>
              </a:rPr>
              <a:t>YAZDANPANAH, Vahid; STEIN, Sebastian et al. Applying strategic reasoning for accountability ascription in multiagent teams, 2021.</a:t>
            </a:r>
            <a:endParaRPr b="0" i="0" sz="1200" u="none" cap="none" strike="noStrike">
              <a:solidFill>
                <a:schemeClr val="dk1"/>
              </a:solidFill>
              <a:latin typeface="Arial"/>
              <a:ea typeface="Arial"/>
              <a:cs typeface="Arial"/>
              <a:sym typeface="Arial"/>
            </a:endParaRPr>
          </a:p>
          <a:p>
            <a:pPr indent="0" lvl="0" marL="914400" marR="0" rtl="0" algn="just">
              <a:lnSpc>
                <a:spcPct val="100000"/>
              </a:lnSpc>
              <a:spcBef>
                <a:spcPts val="0"/>
              </a:spcBef>
              <a:spcAft>
                <a:spcPts val="0"/>
              </a:spcAft>
              <a:buNone/>
            </a:pPr>
            <a:r>
              <a:t/>
            </a:r>
            <a:endParaRPr b="0" i="0" sz="1200" u="none" cap="none" strike="noStrike">
              <a:solidFill>
                <a:schemeClr val="dk1"/>
              </a:solidFill>
              <a:latin typeface="Arial"/>
              <a:ea typeface="Arial"/>
              <a:cs typeface="Arial"/>
              <a:sym typeface="Arial"/>
            </a:endParaRPr>
          </a:p>
          <a:p>
            <a:pPr indent="-304800" lvl="0" marL="457200" marR="0" rtl="0" algn="just">
              <a:lnSpc>
                <a:spcPct val="100000"/>
              </a:lnSpc>
              <a:spcBef>
                <a:spcPts val="0"/>
              </a:spcBef>
              <a:spcAft>
                <a:spcPts val="0"/>
              </a:spcAft>
              <a:buClr>
                <a:schemeClr val="dk1"/>
              </a:buClr>
              <a:buSzPts val="1200"/>
              <a:buFont typeface="Arial"/>
              <a:buAutoNum type="arabicPeriod" startAt="9"/>
            </a:pPr>
            <a:r>
              <a:rPr b="0" i="0" lang="en-US" sz="1200" u="none" cap="none" strike="noStrike">
                <a:solidFill>
                  <a:schemeClr val="dk1"/>
                </a:solidFill>
                <a:latin typeface="Arial"/>
                <a:ea typeface="Arial"/>
                <a:cs typeface="Arial"/>
                <a:sym typeface="Arial"/>
              </a:rPr>
              <a:t>YAZDANPANAH, Vahid; DASTANI, Mehdi et al. Multiagent task coordination as task allocation plus task responsibility. In: SPRINGER. MULTI-AGENT Systems and Agreement Technologies: 17th European Conference, EUMAS 2020, and 7th International Conference, AT 2020, Thessaloniki, Greece, September 14-15, 2020, Revised Selected Papers 17. [S. l.: s. n.], 2020. P. 571–588.</a:t>
            </a:r>
            <a:endParaRPr b="0" i="0" sz="1200" u="none" cap="none" strike="noStrike">
              <a:solidFill>
                <a:schemeClr val="dk1"/>
              </a:solidFill>
              <a:latin typeface="Arial"/>
              <a:ea typeface="Arial"/>
              <a:cs typeface="Arial"/>
              <a:sym typeface="Arial"/>
            </a:endParaRPr>
          </a:p>
          <a:p>
            <a:pPr indent="0" lvl="0" marL="457200" marR="0" rtl="0" algn="just">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Arial"/>
              <a:ea typeface="Arial"/>
              <a:cs typeface="Arial"/>
              <a:sym typeface="Arial"/>
            </a:endParaRPr>
          </a:p>
          <a:p>
            <a:pPr indent="0" lvl="0" marL="457200" marR="0" rtl="0" algn="just">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Arial"/>
              <a:ea typeface="Arial"/>
              <a:cs typeface="Arial"/>
              <a:sym typeface="Arial"/>
            </a:endParaRPr>
          </a:p>
          <a:p>
            <a:pPr indent="0" lvl="0" marL="457200" marR="0" rtl="0" algn="just">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Arial"/>
              <a:ea typeface="Arial"/>
              <a:cs typeface="Arial"/>
              <a:sym typeface="Arial"/>
            </a:endParaRPr>
          </a:p>
          <a:p>
            <a:pPr indent="0" lvl="0" marL="457200" marR="0" rtl="0" algn="just">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Arial"/>
              <a:ea typeface="Arial"/>
              <a:cs typeface="Arial"/>
              <a:sym typeface="Arial"/>
            </a:endParaRPr>
          </a:p>
          <a:p>
            <a:pPr indent="0" lvl="0" marL="457200" marR="0" rtl="0" algn="just">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Arial"/>
              <a:ea typeface="Arial"/>
              <a:cs typeface="Arial"/>
              <a:sym typeface="Arial"/>
            </a:endParaRPr>
          </a:p>
          <a:p>
            <a:pPr indent="0" lvl="0" marL="457200" marR="0" rtl="0" algn="just">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Arial"/>
              <a:ea typeface="Arial"/>
              <a:cs typeface="Arial"/>
              <a:sym typeface="Arial"/>
            </a:endParaRPr>
          </a:p>
          <a:p>
            <a:pPr indent="0" lvl="0" marL="457200" marR="0" rtl="0" algn="just">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1100"/>
              <a:buFont typeface="Arial"/>
              <a:buNone/>
            </a:pPr>
            <a:r>
              <a:t/>
            </a:r>
            <a:endParaRPr b="0" i="0" sz="12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a:p>
            <a:pPr indent="0" lvl="0" marL="457200" marR="0" rtl="0" algn="just">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Arial"/>
              <a:ea typeface="Arial"/>
              <a:cs typeface="Arial"/>
              <a:sym typeface="Arial"/>
            </a:endParaRPr>
          </a:p>
          <a:p>
            <a:pPr indent="0" lvl="0" marL="457200" marR="0" rtl="0" algn="just">
              <a:lnSpc>
                <a:spcPct val="100000"/>
              </a:lnSpc>
              <a:spcBef>
                <a:spcPts val="0"/>
              </a:spcBef>
              <a:spcAft>
                <a:spcPts val="0"/>
              </a:spcAft>
              <a:buClr>
                <a:srgbClr val="000000"/>
              </a:buClr>
              <a:buSzPts val="1550"/>
              <a:buFont typeface="Arial"/>
              <a:buNone/>
            </a:pPr>
            <a:r>
              <a:t/>
            </a:r>
            <a:endParaRPr b="0" i="0" sz="1550" u="none" cap="none" strike="noStrike">
              <a:solidFill>
                <a:srgbClr val="000000"/>
              </a:solidFill>
              <a:latin typeface="Arial"/>
              <a:ea typeface="Arial"/>
              <a:cs typeface="Arial"/>
              <a:sym typeface="Arial"/>
            </a:endParaRPr>
          </a:p>
          <a:p>
            <a:pPr indent="457200" lvl="0" marL="0" marR="0" rtl="0" algn="l">
              <a:lnSpc>
                <a:spcPct val="100000"/>
              </a:lnSpc>
              <a:spcBef>
                <a:spcPts val="0"/>
              </a:spcBef>
              <a:spcAft>
                <a:spcPts val="0"/>
              </a:spcAft>
              <a:buClr>
                <a:srgbClr val="000000"/>
              </a:buClr>
              <a:buSzPts val="1850"/>
              <a:buFont typeface="Arial"/>
              <a:buNone/>
            </a:pPr>
            <a:r>
              <a:t/>
            </a:r>
            <a:endParaRPr b="0" i="0" sz="185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50"/>
              <a:buFont typeface="Arial"/>
              <a:buNone/>
            </a:pPr>
            <a:r>
              <a:t/>
            </a:r>
            <a:endParaRPr b="0" i="0" sz="185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50"/>
              <a:buFont typeface="Arial"/>
              <a:buNone/>
            </a:pPr>
            <a:r>
              <a:t/>
            </a:r>
            <a:endParaRPr b="0" i="0" sz="185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50"/>
              <a:buFont typeface="Arial"/>
              <a:buNone/>
            </a:pPr>
            <a:r>
              <a:t/>
            </a:r>
            <a:endParaRPr b="0" i="0" sz="185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50"/>
              <a:buFont typeface="Arial"/>
              <a:buNone/>
            </a:pPr>
            <a:r>
              <a:t/>
            </a:r>
            <a:endParaRPr b="0" i="0" sz="185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50"/>
              <a:buFont typeface="Arial"/>
              <a:buNone/>
            </a:pPr>
            <a:r>
              <a:t/>
            </a:r>
            <a:endParaRPr b="0" i="0" sz="185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50"/>
              <a:buFont typeface="Arial"/>
              <a:buNone/>
            </a:pPr>
            <a:r>
              <a:t/>
            </a:r>
            <a:endParaRPr b="0" i="0" sz="185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50"/>
              <a:buFont typeface="Arial"/>
              <a:buNone/>
            </a:pPr>
            <a:r>
              <a:t/>
            </a:r>
            <a:endParaRPr b="0" i="0" sz="185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50"/>
              <a:buFont typeface="Arial"/>
              <a:buNone/>
            </a:pPr>
            <a:r>
              <a:t/>
            </a:r>
            <a:endParaRPr b="0" i="0" sz="185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50"/>
              <a:buFont typeface="Arial"/>
              <a:buNone/>
            </a:pPr>
            <a:r>
              <a:t/>
            </a:r>
            <a:endParaRPr b="0" i="0" sz="185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50"/>
              <a:buFont typeface="Arial"/>
              <a:buNone/>
            </a:pPr>
            <a:r>
              <a:t/>
            </a:r>
            <a:endParaRPr b="0" i="0" sz="185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50"/>
              <a:buFont typeface="Arial"/>
              <a:buNone/>
            </a:pPr>
            <a:r>
              <a:t/>
            </a:r>
            <a:endParaRPr b="0" i="0" sz="185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9" name="Shape 1789"/>
        <p:cNvGrpSpPr/>
        <p:nvPr/>
      </p:nvGrpSpPr>
      <p:grpSpPr>
        <a:xfrm>
          <a:off x="0" y="0"/>
          <a:ext cx="0" cy="0"/>
          <a:chOff x="0" y="0"/>
          <a:chExt cx="0" cy="0"/>
        </a:xfrm>
      </p:grpSpPr>
      <p:grpSp>
        <p:nvGrpSpPr>
          <p:cNvPr id="1790" name="Google Shape;1790;g3e387427cbb_136_603"/>
          <p:cNvGrpSpPr/>
          <p:nvPr/>
        </p:nvGrpSpPr>
        <p:grpSpPr>
          <a:xfrm>
            <a:off x="-18000" y="5842892"/>
            <a:ext cx="9942000" cy="1014788"/>
            <a:chOff x="-21650" y="5927750"/>
            <a:chExt cx="9942000" cy="930230"/>
          </a:xfrm>
        </p:grpSpPr>
        <p:sp>
          <p:nvSpPr>
            <p:cNvPr id="1791" name="Google Shape;1791;g3e387427cbb_136_603"/>
            <p:cNvSpPr/>
            <p:nvPr/>
          </p:nvSpPr>
          <p:spPr>
            <a:xfrm>
              <a:off x="5239747" y="5949280"/>
              <a:ext cx="4680600" cy="9087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Arial"/>
                  <a:ea typeface="Arial"/>
                  <a:cs typeface="Arial"/>
                  <a:sym typeface="Arial"/>
                </a:rPr>
                <a:t>25th Annual International Conference on Digital Government Research (dg.o 2024)</a:t>
              </a:r>
              <a:endParaRPr b="0" i="0" sz="1800" u="none" cap="none" strike="noStrike">
                <a:solidFill>
                  <a:schemeClr val="lt1"/>
                </a:solidFill>
                <a:latin typeface="Arial"/>
                <a:ea typeface="Arial"/>
                <a:cs typeface="Arial"/>
                <a:sym typeface="Arial"/>
              </a:endParaRPr>
            </a:p>
          </p:txBody>
        </p:sp>
        <p:pic>
          <p:nvPicPr>
            <p:cNvPr id="1792" name="Google Shape;1792;g3e387427cbb_136_603"/>
            <p:cNvPicPr preferRelativeResize="0"/>
            <p:nvPr/>
          </p:nvPicPr>
          <p:blipFill rotWithShape="1">
            <a:blip r:embed="rId3">
              <a:alphaModFix/>
            </a:blip>
            <a:srcRect b="-112533" l="-23390" r="23390" t="137710"/>
            <a:stretch/>
          </p:blipFill>
          <p:spPr>
            <a:xfrm>
              <a:off x="0" y="6007596"/>
              <a:ext cx="9920265" cy="792088"/>
            </a:xfrm>
            <a:prstGeom prst="rect">
              <a:avLst/>
            </a:prstGeom>
            <a:noFill/>
            <a:ln>
              <a:noFill/>
            </a:ln>
          </p:spPr>
        </p:pic>
        <p:sp>
          <p:nvSpPr>
            <p:cNvPr id="1793" name="Google Shape;1793;g3e387427cbb_136_603"/>
            <p:cNvSpPr/>
            <p:nvPr/>
          </p:nvSpPr>
          <p:spPr>
            <a:xfrm>
              <a:off x="-21650" y="5927750"/>
              <a:ext cx="9942000" cy="9087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pic>
        <p:nvPicPr>
          <p:cNvPr id="1794" name="Google Shape;1794;g3e387427cbb_136_603"/>
          <p:cNvPicPr preferRelativeResize="0"/>
          <p:nvPr/>
        </p:nvPicPr>
        <p:blipFill rotWithShape="1">
          <a:blip r:embed="rId4">
            <a:alphaModFix/>
          </a:blip>
          <a:srcRect b="0" l="0" r="0" t="0"/>
          <a:stretch/>
        </p:blipFill>
        <p:spPr>
          <a:xfrm>
            <a:off x="218750" y="6052376"/>
            <a:ext cx="1823009" cy="470325"/>
          </a:xfrm>
          <a:prstGeom prst="rect">
            <a:avLst/>
          </a:prstGeom>
          <a:noFill/>
          <a:ln>
            <a:noFill/>
          </a:ln>
        </p:spPr>
      </p:pic>
      <p:pic>
        <p:nvPicPr>
          <p:cNvPr id="1795" name="Google Shape;1795;g3e387427cbb_136_603"/>
          <p:cNvPicPr preferRelativeResize="0"/>
          <p:nvPr/>
        </p:nvPicPr>
        <p:blipFill rotWithShape="1">
          <a:blip r:embed="rId5">
            <a:alphaModFix/>
          </a:blip>
          <a:srcRect b="0" l="0" r="0" t="0"/>
          <a:stretch/>
        </p:blipFill>
        <p:spPr>
          <a:xfrm>
            <a:off x="8015000" y="6038017"/>
            <a:ext cx="1811830" cy="624575"/>
          </a:xfrm>
          <a:prstGeom prst="rect">
            <a:avLst/>
          </a:prstGeom>
          <a:noFill/>
          <a:ln>
            <a:noFill/>
          </a:ln>
        </p:spPr>
      </p:pic>
      <p:sp>
        <p:nvSpPr>
          <p:cNvPr id="1796" name="Google Shape;1796;g3e387427cbb_136_603"/>
          <p:cNvSpPr txBox="1"/>
          <p:nvPr>
            <p:ph type="title"/>
          </p:nvPr>
        </p:nvSpPr>
        <p:spPr>
          <a:xfrm>
            <a:off x="41075" y="196650"/>
            <a:ext cx="10035600" cy="6936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1E4E79"/>
              </a:buClr>
              <a:buSzPts val="4000"/>
              <a:buFont typeface="Arial"/>
              <a:buNone/>
            </a:pPr>
            <a:r>
              <a:rPr lang="en-US" sz="2650"/>
              <a:t>Bibliography</a:t>
            </a:r>
            <a:endParaRPr sz="2650"/>
          </a:p>
        </p:txBody>
      </p:sp>
      <p:sp>
        <p:nvSpPr>
          <p:cNvPr id="1797" name="Google Shape;1797;g3e387427cbb_136_603"/>
          <p:cNvSpPr txBox="1"/>
          <p:nvPr/>
        </p:nvSpPr>
        <p:spPr>
          <a:xfrm>
            <a:off x="100950" y="757475"/>
            <a:ext cx="9583500" cy="42099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None/>
            </a:pPr>
            <a:r>
              <a:rPr lang="en-US" sz="1200">
                <a:solidFill>
                  <a:srgbClr val="222222"/>
                </a:solidFill>
                <a:highlight>
                  <a:srgbClr val="FFFFFF"/>
                </a:highlight>
              </a:rPr>
              <a:t>18. Asimov, Isaac. "Three laws of robotics." </a:t>
            </a:r>
            <a:r>
              <a:rPr i="1" lang="en-US" sz="1200">
                <a:solidFill>
                  <a:srgbClr val="222222"/>
                </a:solidFill>
                <a:highlight>
                  <a:srgbClr val="FFFFFF"/>
                </a:highlight>
              </a:rPr>
              <a:t>Asimov, I. Runaround</a:t>
            </a:r>
            <a:r>
              <a:rPr lang="en-US" sz="1200">
                <a:solidFill>
                  <a:srgbClr val="222222"/>
                </a:solidFill>
                <a:highlight>
                  <a:srgbClr val="FFFFFF"/>
                </a:highlight>
              </a:rPr>
              <a:t> 2.3 (1941</a:t>
            </a:r>
            <a:r>
              <a:rPr lang="en-US" sz="1200">
                <a:solidFill>
                  <a:schemeClr val="dk1"/>
                </a:solidFill>
              </a:rPr>
              <a:t>).</a:t>
            </a:r>
            <a:endParaRPr b="0" i="0" sz="1200" u="none" cap="none" strike="noStrike">
              <a:solidFill>
                <a:srgbClr val="000000"/>
              </a:solidFill>
              <a:latin typeface="Arial"/>
              <a:ea typeface="Arial"/>
              <a:cs typeface="Arial"/>
              <a:sym typeface="Arial"/>
            </a:endParaRPr>
          </a:p>
          <a:p>
            <a:pPr indent="0" lvl="0" marL="457200" marR="0" rtl="0" algn="just">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Arial"/>
              <a:ea typeface="Arial"/>
              <a:cs typeface="Arial"/>
              <a:sym typeface="Arial"/>
            </a:endParaRPr>
          </a:p>
          <a:p>
            <a:pPr indent="0" lvl="0" marL="457200" marR="0" rtl="0" algn="just">
              <a:lnSpc>
                <a:spcPct val="100000"/>
              </a:lnSpc>
              <a:spcBef>
                <a:spcPts val="0"/>
              </a:spcBef>
              <a:spcAft>
                <a:spcPts val="0"/>
              </a:spcAft>
              <a:buClr>
                <a:srgbClr val="000000"/>
              </a:buClr>
              <a:buSzPts val="1550"/>
              <a:buFont typeface="Arial"/>
              <a:buNone/>
            </a:pPr>
            <a:r>
              <a:t/>
            </a:r>
            <a:endParaRPr b="0" i="0" sz="1550" u="none" cap="none" strike="noStrike">
              <a:solidFill>
                <a:srgbClr val="000000"/>
              </a:solidFill>
              <a:latin typeface="Arial"/>
              <a:ea typeface="Arial"/>
              <a:cs typeface="Arial"/>
              <a:sym typeface="Arial"/>
            </a:endParaRPr>
          </a:p>
          <a:p>
            <a:pPr indent="457200" lvl="0" marL="0" marR="0" rtl="0" algn="l">
              <a:lnSpc>
                <a:spcPct val="100000"/>
              </a:lnSpc>
              <a:spcBef>
                <a:spcPts val="0"/>
              </a:spcBef>
              <a:spcAft>
                <a:spcPts val="0"/>
              </a:spcAft>
              <a:buClr>
                <a:srgbClr val="000000"/>
              </a:buClr>
              <a:buSzPts val="1850"/>
              <a:buFont typeface="Arial"/>
              <a:buNone/>
            </a:pPr>
            <a:r>
              <a:t/>
            </a:r>
            <a:endParaRPr b="0" i="0" sz="185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50"/>
              <a:buFont typeface="Arial"/>
              <a:buNone/>
            </a:pPr>
            <a:r>
              <a:t/>
            </a:r>
            <a:endParaRPr b="0" i="0" sz="185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50"/>
              <a:buFont typeface="Arial"/>
              <a:buNone/>
            </a:pPr>
            <a:r>
              <a:t/>
            </a:r>
            <a:endParaRPr b="0" i="0" sz="185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50"/>
              <a:buFont typeface="Arial"/>
              <a:buNone/>
            </a:pPr>
            <a:r>
              <a:t/>
            </a:r>
            <a:endParaRPr b="0" i="0" sz="185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50"/>
              <a:buFont typeface="Arial"/>
              <a:buNone/>
            </a:pPr>
            <a:r>
              <a:t/>
            </a:r>
            <a:endParaRPr b="0" i="0" sz="185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50"/>
              <a:buFont typeface="Arial"/>
              <a:buNone/>
            </a:pPr>
            <a:r>
              <a:t/>
            </a:r>
            <a:endParaRPr b="0" i="0" sz="185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50"/>
              <a:buFont typeface="Arial"/>
              <a:buNone/>
            </a:pPr>
            <a:r>
              <a:t/>
            </a:r>
            <a:endParaRPr b="0" i="0" sz="185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50"/>
              <a:buFont typeface="Arial"/>
              <a:buNone/>
            </a:pPr>
            <a:r>
              <a:t/>
            </a:r>
            <a:endParaRPr b="0" i="0" sz="185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50"/>
              <a:buFont typeface="Arial"/>
              <a:buNone/>
            </a:pPr>
            <a:r>
              <a:t/>
            </a:r>
            <a:endParaRPr b="0" i="0" sz="185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50"/>
              <a:buFont typeface="Arial"/>
              <a:buNone/>
            </a:pPr>
            <a:r>
              <a:t/>
            </a:r>
            <a:endParaRPr b="0" i="0" sz="185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50"/>
              <a:buFont typeface="Arial"/>
              <a:buNone/>
            </a:pPr>
            <a:r>
              <a:t/>
            </a:r>
            <a:endParaRPr b="0" i="0" sz="185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50"/>
              <a:buFont typeface="Arial"/>
              <a:buNone/>
            </a:pPr>
            <a:r>
              <a:t/>
            </a:r>
            <a:endParaRPr b="0" i="0" sz="185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8D8D8"/>
        </a:solidFill>
      </p:bgPr>
    </p:bg>
    <p:spTree>
      <p:nvGrpSpPr>
        <p:cNvPr id="1802" name="Shape 1802"/>
        <p:cNvGrpSpPr/>
        <p:nvPr/>
      </p:nvGrpSpPr>
      <p:grpSpPr>
        <a:xfrm>
          <a:off x="0" y="0"/>
          <a:ext cx="0" cy="0"/>
          <a:chOff x="0" y="0"/>
          <a:chExt cx="0" cy="0"/>
        </a:xfrm>
      </p:grpSpPr>
      <p:pic>
        <p:nvPicPr>
          <p:cNvPr descr="A sophisticated and modern digital background for an AI presentation. The image features soft, glowing blue neural network patterns, abstract data connections, and a clean, high-tech aesthetic with ample dark space for white text legibility. The style is professional and minimalist." id="1803" name="Google Shape;1803;g3e33499f370_0_457"/>
          <p:cNvPicPr preferRelativeResize="0"/>
          <p:nvPr/>
        </p:nvPicPr>
        <p:blipFill rotWithShape="1">
          <a:blip r:embed="rId3">
            <a:alphaModFix/>
          </a:blip>
          <a:srcRect b="0" l="9376" r="9376" t="0"/>
          <a:stretch/>
        </p:blipFill>
        <p:spPr>
          <a:xfrm>
            <a:off x="0" y="0"/>
            <a:ext cx="9906000" cy="6858001"/>
          </a:xfrm>
          <a:prstGeom prst="rect">
            <a:avLst/>
          </a:prstGeom>
          <a:noFill/>
          <a:ln>
            <a:noFill/>
          </a:ln>
        </p:spPr>
      </p:pic>
      <p:sp>
        <p:nvSpPr>
          <p:cNvPr id="1804" name="Google Shape;1804;g3e33499f370_0_457"/>
          <p:cNvSpPr/>
          <p:nvPr/>
        </p:nvSpPr>
        <p:spPr>
          <a:xfrm>
            <a:off x="0" y="0"/>
            <a:ext cx="9906000" cy="6858000"/>
          </a:xfrm>
          <a:prstGeom prst="rect">
            <a:avLst/>
          </a:prstGeom>
          <a:solidFill>
            <a:srgbClr val="0B1A2A">
              <a:alpha val="60000"/>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5" name="Google Shape;1805;g3e33499f370_0_457"/>
          <p:cNvSpPr/>
          <p:nvPr/>
        </p:nvSpPr>
        <p:spPr>
          <a:xfrm>
            <a:off x="0" y="0"/>
            <a:ext cx="9906000" cy="1047900"/>
          </a:xfrm>
          <a:prstGeom prst="rect">
            <a:avLst/>
          </a:prstGeom>
          <a:solidFill>
            <a:srgbClr val="FFFFFF"/>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806" name="Google Shape;1806;g3e33499f370_0_457"/>
          <p:cNvPicPr preferRelativeResize="0"/>
          <p:nvPr/>
        </p:nvPicPr>
        <p:blipFill rotWithShape="1">
          <a:blip r:embed="rId4">
            <a:alphaModFix/>
          </a:blip>
          <a:srcRect b="0" l="387" r="387" t="0"/>
          <a:stretch/>
        </p:blipFill>
        <p:spPr>
          <a:xfrm>
            <a:off x="381000" y="285750"/>
            <a:ext cx="1904999" cy="495300"/>
          </a:xfrm>
          <a:prstGeom prst="rect">
            <a:avLst/>
          </a:prstGeom>
          <a:noFill/>
          <a:ln>
            <a:noFill/>
          </a:ln>
        </p:spPr>
      </p:pic>
      <p:sp>
        <p:nvSpPr>
          <p:cNvPr id="1807" name="Google Shape;1807;g3e33499f370_0_457"/>
          <p:cNvSpPr txBox="1"/>
          <p:nvPr>
            <p:ph idx="1" type="subTitle"/>
          </p:nvPr>
        </p:nvSpPr>
        <p:spPr>
          <a:xfrm>
            <a:off x="666750" y="4191000"/>
            <a:ext cx="8572500" cy="1428900"/>
          </a:xfrm>
          <a:prstGeom prst="rect">
            <a:avLst/>
          </a:prstGeom>
          <a:solidFill>
            <a:srgbClr val="000000">
              <a:alpha val="0"/>
            </a:srgbClr>
          </a:solidFill>
          <a:ln>
            <a:noFill/>
          </a:ln>
        </p:spPr>
        <p:txBody>
          <a:bodyPr anchorCtr="0" anchor="ctr" bIns="0" lIns="0" spcFirstLastPara="1" rIns="0" wrap="square" tIns="0">
            <a:normAutofit/>
          </a:bodyPr>
          <a:lstStyle/>
          <a:p>
            <a:pPr indent="0" lvl="0" marL="0" rtl="0" algn="ctr">
              <a:lnSpc>
                <a:spcPct val="90000"/>
              </a:lnSpc>
              <a:spcBef>
                <a:spcPts val="1000"/>
              </a:spcBef>
              <a:spcAft>
                <a:spcPts val="0"/>
              </a:spcAft>
              <a:buSzPts val="2000"/>
              <a:buNone/>
            </a:pPr>
            <a:r>
              <a:rPr b="0" lang="en-US" sz="2000">
                <a:solidFill>
                  <a:srgbClr val="E0E0E0"/>
                </a:solidFill>
                <a:latin typeface="Arial"/>
                <a:ea typeface="Arial"/>
                <a:cs typeface="Arial"/>
                <a:sym typeface="Arial"/>
              </a:rPr>
              <a:t>Carlos Eduardo Pantoja, Nilson Mori, Tielle Alexandre, Flavia Bernardini, </a:t>
            </a:r>
            <a:r>
              <a:rPr b="0" lang="en-US">
                <a:solidFill>
                  <a:srgbClr val="E0E0E0"/>
                </a:solidFill>
              </a:rPr>
              <a:t>Fredrik Heintz</a:t>
            </a:r>
            <a:endParaRPr b="0" sz="2000">
              <a:solidFill>
                <a:srgbClr val="E0E0E0"/>
              </a:solidFill>
              <a:latin typeface="Arial"/>
              <a:ea typeface="Arial"/>
              <a:cs typeface="Arial"/>
              <a:sym typeface="Arial"/>
            </a:endParaRPr>
          </a:p>
          <a:p>
            <a:pPr indent="0" lvl="0" marL="0" rtl="0" algn="ctr">
              <a:lnSpc>
                <a:spcPct val="90000"/>
              </a:lnSpc>
              <a:spcBef>
                <a:spcPts val="3000"/>
              </a:spcBef>
              <a:spcAft>
                <a:spcPts val="0"/>
              </a:spcAft>
              <a:buSzPts val="2000"/>
              <a:buNone/>
            </a:pPr>
            <a:r>
              <a:rPr lang="en-US" sz="1800">
                <a:solidFill>
                  <a:srgbClr val="B0BEC5"/>
                </a:solidFill>
                <a:latin typeface="Arial"/>
                <a:ea typeface="Arial"/>
                <a:cs typeface="Arial"/>
                <a:sym typeface="Arial"/>
              </a:rPr>
              <a:t>202</a:t>
            </a:r>
            <a:r>
              <a:rPr lang="en-US" sz="1800">
                <a:solidFill>
                  <a:srgbClr val="B0BEC5"/>
                </a:solidFill>
              </a:rPr>
              <a:t>6</a:t>
            </a:r>
            <a:endParaRPr sz="1800">
              <a:solidFill>
                <a:srgbClr val="B0BEC5"/>
              </a:solidFill>
              <a:latin typeface="Arial"/>
              <a:ea typeface="Arial"/>
              <a:cs typeface="Arial"/>
              <a:sym typeface="Arial"/>
            </a:endParaRPr>
          </a:p>
        </p:txBody>
      </p:sp>
      <p:pic>
        <p:nvPicPr>
          <p:cNvPr id="1808" name="Google Shape;1808;g3e33499f370_0_457"/>
          <p:cNvPicPr preferRelativeResize="0"/>
          <p:nvPr/>
        </p:nvPicPr>
        <p:blipFill rotWithShape="1">
          <a:blip r:embed="rId5">
            <a:alphaModFix/>
          </a:blip>
          <a:srcRect b="0" l="50" r="40" t="0"/>
          <a:stretch/>
        </p:blipFill>
        <p:spPr>
          <a:xfrm>
            <a:off x="7620000" y="204788"/>
            <a:ext cx="1904998" cy="657300"/>
          </a:xfrm>
          <a:prstGeom prst="rect">
            <a:avLst/>
          </a:prstGeom>
          <a:noFill/>
          <a:ln>
            <a:noFill/>
          </a:ln>
        </p:spPr>
      </p:pic>
      <p:cxnSp>
        <p:nvCxnSpPr>
          <p:cNvPr id="1809" name="Google Shape;1809;g3e33499f370_0_457"/>
          <p:cNvCxnSpPr/>
          <p:nvPr/>
        </p:nvCxnSpPr>
        <p:spPr>
          <a:xfrm>
            <a:off x="4000500" y="4095750"/>
            <a:ext cx="1905000" cy="0"/>
          </a:xfrm>
          <a:prstGeom prst="straightConnector1">
            <a:avLst/>
          </a:prstGeom>
          <a:solidFill>
            <a:srgbClr val="FFFFFF"/>
          </a:solidFill>
          <a:ln cap="flat" cmpd="sng" w="19050">
            <a:solidFill>
              <a:srgbClr val="4FC3F7"/>
            </a:solidFill>
            <a:prstDash val="solid"/>
            <a:round/>
            <a:headEnd len="sm" w="sm" type="none"/>
            <a:tailEnd len="sm" w="sm" type="none"/>
          </a:ln>
        </p:spPr>
      </p:cxnSp>
      <p:sp>
        <p:nvSpPr>
          <p:cNvPr id="1810" name="Google Shape;1810;g3e33499f370_0_457"/>
          <p:cNvSpPr txBox="1"/>
          <p:nvPr>
            <p:ph type="ctrTitle"/>
          </p:nvPr>
        </p:nvSpPr>
        <p:spPr>
          <a:xfrm>
            <a:off x="666750" y="1714500"/>
            <a:ext cx="8572500" cy="2286000"/>
          </a:xfrm>
          <a:prstGeom prst="rect">
            <a:avLst/>
          </a:prstGeom>
          <a:solidFill>
            <a:srgbClr val="000000">
              <a:alpha val="0"/>
            </a:srgbClr>
          </a:solidFill>
          <a:ln>
            <a:noFill/>
          </a:ln>
        </p:spPr>
        <p:txBody>
          <a:bodyPr anchorCtr="0" anchor="ctr" bIns="0" lIns="0" spcFirstLastPara="1" rIns="0" wrap="square" tIns="0">
            <a:normAutofit fontScale="90000"/>
          </a:bodyPr>
          <a:lstStyle/>
          <a:p>
            <a:pPr indent="0" lvl="0" marL="0" rtl="0" algn="ctr">
              <a:lnSpc>
                <a:spcPct val="90000"/>
              </a:lnSpc>
              <a:spcBef>
                <a:spcPts val="0"/>
              </a:spcBef>
              <a:spcAft>
                <a:spcPts val="0"/>
              </a:spcAft>
              <a:buSzPct val="75000"/>
              <a:buNone/>
            </a:pPr>
            <a:r>
              <a:rPr b="0" i="0" lang="en-US" sz="4800">
                <a:solidFill>
                  <a:srgbClr val="FFFFFF"/>
                </a:solidFill>
                <a:latin typeface="Arial Black"/>
                <a:ea typeface="Arial Black"/>
                <a:cs typeface="Arial Black"/>
                <a:sym typeface="Arial Black"/>
              </a:rPr>
              <a:t>Responsible Artificial Intelligence</a:t>
            </a:r>
            <a:endParaRPr b="0" i="0" sz="4800">
              <a:solidFill>
                <a:srgbClr val="FFFFFF"/>
              </a:solidFill>
              <a:latin typeface="Arial Black"/>
              <a:ea typeface="Arial Black"/>
              <a:cs typeface="Arial Black"/>
              <a:sym typeface="Arial Black"/>
            </a:endParaRPr>
          </a:p>
          <a:p>
            <a:pPr indent="0" lvl="0" marL="0" rtl="0" algn="ctr">
              <a:lnSpc>
                <a:spcPct val="90000"/>
              </a:lnSpc>
              <a:spcBef>
                <a:spcPts val="0"/>
              </a:spcBef>
              <a:spcAft>
                <a:spcPts val="0"/>
              </a:spcAft>
              <a:buClr>
                <a:srgbClr val="000000"/>
              </a:buClr>
              <a:buSzPct val="75000"/>
              <a:buFont typeface="Arial"/>
              <a:buNone/>
            </a:pPr>
            <a:r>
              <a:t/>
            </a:r>
            <a:endParaRPr b="0" sz="4800">
              <a:solidFill>
                <a:srgbClr val="FFFFFF"/>
              </a:solidFill>
            </a:endParaRPr>
          </a:p>
          <a:p>
            <a:pPr indent="0" lvl="0" marL="0" rtl="0" algn="ctr">
              <a:lnSpc>
                <a:spcPct val="90000"/>
              </a:lnSpc>
              <a:spcBef>
                <a:spcPts val="0"/>
              </a:spcBef>
              <a:spcAft>
                <a:spcPts val="0"/>
              </a:spcAft>
              <a:buClr>
                <a:srgbClr val="000000"/>
              </a:buClr>
              <a:buSzPct val="128571"/>
              <a:buFont typeface="Arial"/>
              <a:buNone/>
            </a:pPr>
            <a:r>
              <a:rPr lang="en-US" sz="2800">
                <a:solidFill>
                  <a:srgbClr val="4FC3F7"/>
                </a:solidFill>
                <a:latin typeface="Arial"/>
                <a:ea typeface="Arial"/>
                <a:cs typeface="Arial"/>
                <a:sym typeface="Arial"/>
              </a:rPr>
              <a:t>Scooter Distribution System</a:t>
            </a:r>
            <a:endParaRPr i="0" sz="2800">
              <a:solidFill>
                <a:srgbClr val="FFFFFF"/>
              </a:solidFill>
              <a:latin typeface="Arial"/>
              <a:ea typeface="Arial"/>
              <a:cs typeface="Arial"/>
              <a:sym typeface="Arial"/>
            </a:endParaRPr>
          </a:p>
        </p:txBody>
      </p:sp>
      <p:sp>
        <p:nvSpPr>
          <p:cNvPr id="1811" name="Google Shape;1811;g3e33499f370_0_457"/>
          <p:cNvSpPr txBox="1"/>
          <p:nvPr>
            <p:ph idx="12" type="sldNum"/>
          </p:nvPr>
        </p:nvSpPr>
        <p:spPr>
          <a:xfrm>
            <a:off x="8749502" y="6424086"/>
            <a:ext cx="1008000" cy="365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rgbClr val="000000"/>
              </a:buClr>
              <a:buSzPts val="2800"/>
              <a:buFont typeface="Arial"/>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theme/theme1.xml><?xml version="1.0" encoding="utf-8"?>
<a:theme xmlns:a="http://schemas.openxmlformats.org/drawingml/2006/main" xmlns:r="http://schemas.openxmlformats.org/officeDocument/2006/relationships" name="Personalizar design">
  <a:themeElements>
    <a:clrScheme name="Escritório">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ma do Office">
  <a:themeElements>
    <a:clrScheme name="Escritório">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Personalizar design">
  <a:themeElements>
    <a:clrScheme name="Escritório">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Personalizar design">
  <a:themeElements>
    <a:clrScheme name="Escritório">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2015-01-07T16:05:10Z</dcterms:created>
  <dc:creator>Giovanni</dc:creator>
</cp:coreProperties>
</file>